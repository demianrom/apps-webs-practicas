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1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1" r:id="rId35"/>
    <p:sldId id="293" r:id="rId36"/>
    <p:sldId id="290" r:id="rId37"/>
    <p:sldId id="292" r:id="rId38"/>
    <p:sldId id="294" r:id="rId39"/>
    <p:sldId id="295" r:id="rId40"/>
    <p:sldId id="297" r:id="rId41"/>
    <p:sldId id="296" r:id="rId42"/>
    <p:sldId id="298" r:id="rId43"/>
    <p:sldId id="299" r:id="rId44"/>
    <p:sldId id="300" r:id="rId45"/>
    <p:sldId id="303" r:id="rId46"/>
    <p:sldId id="302" r:id="rId47"/>
    <p:sldId id="304" r:id="rId48"/>
    <p:sldId id="305" r:id="rId49"/>
    <p:sldId id="306" r:id="rId50"/>
    <p:sldId id="307" r:id="rId51"/>
    <p:sldId id="308" r:id="rId52"/>
    <p:sldId id="309" r:id="rId53"/>
    <p:sldId id="323" r:id="rId54"/>
    <p:sldId id="324" r:id="rId55"/>
    <p:sldId id="301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2" r:id="rId68"/>
    <p:sldId id="321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6" r:id="rId80"/>
    <p:sldId id="337" r:id="rId81"/>
    <p:sldId id="341" r:id="rId82"/>
    <p:sldId id="338" r:id="rId83"/>
    <p:sldId id="342" r:id="rId84"/>
    <p:sldId id="339" r:id="rId85"/>
    <p:sldId id="343" r:id="rId86"/>
    <p:sldId id="340" r:id="rId87"/>
    <p:sldId id="344" r:id="rId88"/>
    <p:sldId id="345" r:id="rId89"/>
    <p:sldId id="346" r:id="rId90"/>
    <p:sldId id="347" r:id="rId91"/>
    <p:sldId id="348" r:id="rId92"/>
    <p:sldId id="349" r:id="rId93"/>
    <p:sldId id="350" r:id="rId94"/>
    <p:sldId id="351" r:id="rId95"/>
    <p:sldId id="353" r:id="rId96"/>
    <p:sldId id="352" r:id="rId97"/>
    <p:sldId id="355" r:id="rId98"/>
    <p:sldId id="354" r:id="rId99"/>
    <p:sldId id="357" r:id="rId100"/>
    <p:sldId id="358" r:id="rId101"/>
    <p:sldId id="359" r:id="rId102"/>
    <p:sldId id="361" r:id="rId103"/>
    <p:sldId id="360" r:id="rId104"/>
    <p:sldId id="362" r:id="rId105"/>
    <p:sldId id="363" r:id="rId106"/>
    <p:sldId id="364" r:id="rId107"/>
    <p:sldId id="365" r:id="rId108"/>
    <p:sldId id="262" r:id="rId10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1D3A"/>
    <a:srgbClr val="2EF424"/>
    <a:srgbClr val="FE71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2833802-FEF1-4C79-8D5D-14CF1EAF98D9}" styleName="Estilo claro 2 - Acent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Estilo claro 3 - Acento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456" y="-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heme" Target="theme/theme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tableStyles" Target="tableStyle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4985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9730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411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070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9213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2937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3/25/2024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0592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0880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35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897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272376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8329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767839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89824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980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065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005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xel.redesyaplicaciones@gmail.com" TargetMode="External"/><Relationship Id="rId2" Type="http://schemas.openxmlformats.org/officeDocument/2006/relationships/hyperlink" Target="mailto:axel.escom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heducation.es/bcv/guide/capitulo/8448147715.pdf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redcomputadora.wordpress.com/2016/06/27/clasificacion-segun-su-relacion-funcional/#:~:text=1.,vez%20que%20estos%20son%20solicitados.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hyperlink" Target="http://ual.dyndns.org/biblioteca/redes/pdf/unidad%2003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gif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hyperlink" Target="https://redcomputadora.wordpress.com/2016/06/27/clasificacion-segun-su-relacion-funcional/#:~:text=1.,vez%20que%20estos%20son%20solicitados.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hyperlink" Target="https://redcomputadora.wordpress.com/2016/06/27/clasificacion-segun-su-relacion-funcional/#:~:text=1.,vez%20que%20estos%20son%20solicitados.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2.ulpgc.es/hege/almacen/download/29/29237/3protocolosyarquitecturas.pdf" TargetMode="External"/><Relationship Id="rId2" Type="http://schemas.openxmlformats.org/officeDocument/2006/relationships/hyperlink" Target="http://www.ptolomeo.unam.mx:8080/xmlui/bitstream/handle/132.248.52.100/734/A6.pdf?sequence=6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bravelearn.com/header-format-for-tcp-transmission-control-protocol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bravelearn.com/header-format-for-tcp-transmission-control-protocol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bravelearn.com/header-format-for-tcp-transmission-control-protocol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richardfong.files.wordpress.com/2011/02/stallings-william-comunicaciones-y-redes-de-computadores.pdf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://www.exa.unicen.edu.ar/catedras/comdat1/material/ElmodeloOSI.pdf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hyperlink" Target="http://www.exa.unicen.edu.ar/catedras/comdat1/material/ElmodeloOSI.pdf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://www.ingenieriasystems.com/2016/11/Estandares-de-la-capa-de-enlace-de-datos-y-control-de-acceso-a-los-medios-CCNA1-V5-CISCO-C4.html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gif"/><Relationship Id="rId2" Type="http://schemas.openxmlformats.org/officeDocument/2006/relationships/hyperlink" Target="http://www.ingenieriasystems.com/2016/11/Estandares-de-la-capa-de-enlace-de-datos-y-control-de-acceso-a-los-medios-CCNA1-V5-CISCO-C4.html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://www.ingenieriasystems.com/2016/11/Estandares-de-la-capa-de-enlace-de-datos-y-control-de-acceso-a-los-medios-CCNA1-V5-CISCO-C4.html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tools.ietf.org/html/rfc1700" TargetMode="External"/><Relationship Id="rId2" Type="http://schemas.openxmlformats.org/officeDocument/2006/relationships/hyperlink" Target="http://www.ingenieriasystems.com/2016/11/Estandares-de-la-capa-de-enlace-de-datos-y-control-de-acceso-a-los-medios-CCNA1-V5-CISCO-C4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redtransatlantica.com/2013/09/11/taller-de-redes-sociales-y-comunicacion/" TargetMode="External"/><Relationship Id="rId2" Type="http://schemas.openxmlformats.org/officeDocument/2006/relationships/hyperlink" Target="http://www.ingenieriasystems.com/2016/11/Estandares-de-la-capa-de-enlace-de-datos-y-control-de-acceso-a-los-medios-CCNA1-V5-CISCO-C4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://www.exa.unicen.edu.ar/catedras/comdat1/material/ElmodeloOSI.pdf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hyperlink" Target="https://planificacionadministracionredes.readthedocs.io/es/latest/Tema02/Teoria.html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hyperlink" Target="http://www.mailxmail.com/curso-redes-area-local-conmutadas/tipos-conmutacion-lan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hyperlink" Target="http://personales.upv.es/rmartin/TcpIp/cap02s03.html" TargetMode="Externa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jcomautomation.ca/frame-prioritization-within-ethernet-ip-and-profinet/" TargetMode="Externa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hyperlink" Target="http://www.mailxmail.com/curso-redes-area-local-conmutadas/tipos-conmutacion-lan" TargetMode="Externa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hyperlink" Target="http://personales.upv.es/rmartin/TcpIp/cap02s03.html" TargetMode="Externa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hyperlink" Target="http://personales.upv.es/rmartin/TcpIp/cap02s03.html" TargetMode="Externa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jcomautomation.ca/frame-prioritization-within-ethernet-ip-and-profinet/" TargetMode="Externa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comautomation.ca/frame-prioritization-within-ethernet-ip-and-profinet/" TargetMode="External"/><Relationship Id="rId2" Type="http://schemas.openxmlformats.org/officeDocument/2006/relationships/hyperlink" Target="http://www.arcesio.net/checksum/checksumTCP.html" TargetMode="Externa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ificacionadministracionredes.readthedocs.io/es/latest/Tema02/Teoria.html" TargetMode="External"/><Relationship Id="rId2" Type="http://schemas.openxmlformats.org/officeDocument/2006/relationships/hyperlink" Target="http://www.arcesio.net/checksum/checksumTCP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://personales.upv.es/rmartin/TcpIp/cap02s03.html" TargetMode="External"/><Relationship Id="rId2" Type="http://schemas.openxmlformats.org/officeDocument/2006/relationships/hyperlink" Target="http://www.arcesio.net/checksum/checksumTCP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hyperlink" Target="http://www.mailxmail.com/curso-redes-area-local-conmutadas/tipos-conmutacion-lan" TargetMode="External"/><Relationship Id="rId4" Type="http://schemas.openxmlformats.org/officeDocument/2006/relationships/image" Target="../media/image42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ciencedirect.com/topics/engineering/parity-bit" TargetMode="Externa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topics/engineering/parity-bit" TargetMode="External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ciencedirect.com/topics/engineering/parity-bit" TargetMode="Externa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topics/engineering/parity-bit" TargetMode="External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topics/engineering/parity-bit" TargetMode="External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topics/engineering/parity-bit" TargetMode="External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://www.exa.unicen.edu.ar/catedras/comdat1/material/ElmodeloOSI.pdf" TargetMode="Externa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hyperlink" Target="http://personales.upv.es/rmartin/TcpIp/cap02s03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bravelearn.com/header-format-for-tcp-transmission-control-protocol/" TargetMode="External"/><Relationship Id="rId4" Type="http://schemas.openxmlformats.org/officeDocument/2006/relationships/image" Target="../media/image18.pn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hyperlink" Target="http://personales.upv.es/rmartin/TcpIp/cap02s03.html" TargetMode="Externa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hyperlink" Target="https://tools.ietf.org/html/rfc2474" TargetMode="Externa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xa.unicen.edu.ar/catedras/comdat1/material/ElmodeloOSI.pdf" TargetMode="External"/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hyperlink" Target="https://tools.ietf.org/html/rfc1191" TargetMode="External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hyperlink" Target="http://sistemasc.blogspot.com/2008/08/segmentacin-y-ensamblado-si-un-paquete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hyperlink" Target="http://exa.unne.edu.ar/depar/areas/informatica/teleproc/Comunicaciones/Presentaciones_Proyector/ControldelEnlacedeDatos.pdf" TargetMode="Externa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hyperlink" Target="http://exa.unne.edu.ar/depar/areas/informatica/teleproc/Comunicaciones/Presentaciones_Proyector/ControldelEnlacedeDatos.pdf" TargetMode="External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hyperlink" Target="http://exa.unne.edu.ar/depar/areas/informatica/teleproc/Comunicaciones/Presentaciones_Proyector/ControldelEnlacedeDatos.pdf" TargetMode="Externa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hyperlink" Target="http://exa.unne.edu.ar/depar/areas/informatica/teleproc/Comunicaciones/Presentaciones_Proyector/ControldelEnlacedeDatos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hyperlink" Target="http://exa.unne.edu.ar/depar/areas/informatica/teleproc/Comunicaciones/Presentaciones_Proyector/ControldelEnlacedeDatos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hyperlink" Target="http://exa.unne.edu.ar/depar/areas/informatica/teleproc/Comunicaciones/Presentaciones_Proyector/ControldelEnlacedeDatos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hyperlink" Target="http://exa.unne.edu.ar/depar/areas/informatica/teleproc/Comunicaciones/Presentaciones_Proyector/ControldelEnlacedeDatos.pdf" TargetMode="Externa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hyperlink" Target="http://electiva3iutllkerlyortega.blogspot.com/2017/04/comunicacion-por-satelite.html" TargetMode="External"/><Relationship Id="rId2" Type="http://schemas.openxmlformats.org/officeDocument/2006/relationships/hyperlink" Target="http://exa.unne.edu.ar/depar/areas/informatica/teleproc/Comunicaciones/Presentaciones_Proyector/ControldelEnlacedeDatos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jp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hyperlink" Target="http://exa.unne.edu.ar/depar/areas/informatica/teleproc/Comunicaciones/Presentaciones_Proyector/ControldelEnlacedeDatos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hyperlink" Target="http://exa.unne.edu.ar/depar/areas/informatica/teleproc/Comunicaciones/Presentaciones_Proyector/ControldelEnlacedeDatos.pdf" TargetMode="Externa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hyperlink" Target="http://exa.unne.edu.ar/depar/areas/informatica/teleproc/Comunicaciones/Presentaciones_Proyector/ControldelEnlacedeDatos.pdf" TargetMode="External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hyperlink" Target="http://exa.unne.edu.ar/depar/areas/informatica/teleproc/Comunicaciones/Presentaciones_Proyector/ControldelEnlacedeDatos.pdf" TargetMode="Externa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hyperlink" Target="http://exa.unne.edu.ar/depar/areas/informatica/teleproc/Comunicaciones/Presentaciones_Proyector/ControldelEnlacedeDatos.pdf" TargetMode="Externa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hyperlink" Target="http://exa.unne.edu.ar/depar/areas/informatica/teleproc/Comunicaciones/Presentaciones_Proyector/ControldelEnlacedeDatos.pdf" TargetMode="Externa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hyperlink" Target="http://exa.unne.edu.ar/depar/areas/informatica/teleproc/Comunicaciones/Presentaciones_Proyector/ControldelEnlacedeDatos.pdf" TargetMode="Externa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hyperlink" Target="http://exa.unne.edu.ar/depar/areas/informatica/teleproc/Comunicaciones/Presentaciones_Proyector/ControldelEnlacedeDatos.pdf" TargetMode="Externa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hyperlink" Target="http://exa.unne.edu.ar/depar/areas/informatica/teleproc/Comunicaciones/Presentaciones_Proyector/ControldelEnlacedeDatos.pdf" TargetMode="Externa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hyperlink" Target="http://exa.unne.edu.ar/depar/areas/informatica/teleproc/Comunicaciones/Presentaciones_Proyector/ControldelEnlacedeDatos.pdf" TargetMode="Externa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hyperlink" Target="http://exa.unne.edu.ar/depar/areas/informatica/teleproc/Comunicaciones/Presentaciones_Proyector/ControldelEnlacedeDatos.pdf" TargetMode="Externa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hyperlink" Target="http://exa.unne.edu.ar/depar/areas/informatica/teleproc/Comunicaciones/Presentaciones_Proyector/ControldelEnlacedeDatos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hyperlink" Target="http://exa.unne.edu.ar/depar/areas/informatica/teleproc/Comunicaciones/Presentaciones_Proyector/ControldelEnlacedeDatos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9.png"/><Relationship Id="rId4" Type="http://schemas.openxmlformats.org/officeDocument/2006/relationships/image" Target="../media/image73.png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ve.org/details/Transmision.de.Datos.y.Redes.de.Comunicaciones.2da.Edicion.Behrouz.A.Forouzan/page/n206/mode/1up?q=cap%C3%ADtulo+12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589212" y="739588"/>
            <a:ext cx="8915399" cy="2262781"/>
          </a:xfrm>
        </p:spPr>
        <p:txBody>
          <a:bodyPr/>
          <a:lstStyle/>
          <a:p>
            <a:r>
              <a:rPr lang="es-ES" dirty="0"/>
              <a:t>Redes de Computadoras</a:t>
            </a:r>
            <a:endParaRPr lang="es-MX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589212" y="3889873"/>
            <a:ext cx="8915399" cy="1811680"/>
          </a:xfrm>
        </p:spPr>
        <p:txBody>
          <a:bodyPr>
            <a:normAutofit/>
          </a:bodyPr>
          <a:lstStyle/>
          <a:p>
            <a:endParaRPr lang="es-ES" dirty="0"/>
          </a:p>
          <a:p>
            <a:r>
              <a:rPr lang="es-ES" b="1" dirty="0"/>
              <a:t>Prof. Axel Ernesto Moreno Cervantes</a:t>
            </a:r>
          </a:p>
          <a:p>
            <a:r>
              <a:rPr lang="es-ES" dirty="0">
                <a:solidFill>
                  <a:schemeClr val="tx1"/>
                </a:solidFill>
                <a:hlinkClick r:id="rId2"/>
              </a:rPr>
              <a:t>axel.escom@gmail.com</a:t>
            </a:r>
            <a:r>
              <a:rPr lang="es-ES" dirty="0"/>
              <a:t> (para dudas)</a:t>
            </a:r>
          </a:p>
          <a:p>
            <a:r>
              <a:rPr lang="es-MX" dirty="0">
                <a:hlinkClick r:id="rId3"/>
              </a:rPr>
              <a:t>axel.redesyaplicaciones@gmail.com</a:t>
            </a:r>
            <a:r>
              <a:rPr lang="es-MX" dirty="0"/>
              <a:t> (para entregar evidencias, drive)</a:t>
            </a:r>
          </a:p>
        </p:txBody>
      </p:sp>
    </p:spTree>
    <p:extLst>
      <p:ext uri="{BB962C8B-B14F-4D97-AF65-F5344CB8AC3E}">
        <p14:creationId xmlns:p14="http://schemas.microsoft.com/office/powerpoint/2010/main" val="626387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Red de Computadoras (</a:t>
            </a:r>
            <a:r>
              <a:rPr lang="es-ES" dirty="0" err="1"/>
              <a:t>def</a:t>
            </a:r>
            <a:r>
              <a:rPr lang="es-ES" dirty="0"/>
              <a:t>.)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400" dirty="0"/>
              <a:t>Conjunto de nodos interconectados por un medio físico y que implementa una pila de protocolos para poder comunicarse entre sí para compartir recursos.</a:t>
            </a:r>
            <a:endParaRPr lang="es-MX" sz="2400" dirty="0"/>
          </a:p>
        </p:txBody>
      </p:sp>
    </p:spTree>
    <p:extLst>
      <p:ext uri="{BB962C8B-B14F-4D97-AF65-F5344CB8AC3E}">
        <p14:creationId xmlns:p14="http://schemas.microsoft.com/office/powerpoint/2010/main" val="490371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Clasificación de las redes de computadoras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Por su alcance</a:t>
            </a:r>
          </a:p>
          <a:p>
            <a:pPr lvl="1"/>
            <a:r>
              <a:rPr lang="es-ES" sz="1800" dirty="0"/>
              <a:t>Redes de Área Personal (PAN)</a:t>
            </a:r>
          </a:p>
          <a:p>
            <a:pPr lvl="1"/>
            <a:r>
              <a:rPr lang="es-ES" sz="1800" dirty="0"/>
              <a:t>Redes de Área Local (LAN)</a:t>
            </a:r>
          </a:p>
          <a:p>
            <a:pPr lvl="1"/>
            <a:r>
              <a:rPr lang="es-ES" sz="1800" dirty="0"/>
              <a:t>Redes de Área de Campus (CAN)</a:t>
            </a:r>
          </a:p>
          <a:p>
            <a:pPr lvl="1"/>
            <a:r>
              <a:rPr lang="es-ES" sz="1800" dirty="0"/>
              <a:t>Redes de Área Metropolitana (MAN)</a:t>
            </a:r>
          </a:p>
          <a:p>
            <a:pPr lvl="1"/>
            <a:r>
              <a:rPr lang="es-ES" sz="1800" dirty="0"/>
              <a:t>Redes de Área Amplia (WAN)</a:t>
            </a:r>
          </a:p>
          <a:p>
            <a:endParaRPr lang="es-MX" dirty="0"/>
          </a:p>
        </p:txBody>
      </p:sp>
      <p:sp>
        <p:nvSpPr>
          <p:cNvPr id="4" name="CuadroTexto 3"/>
          <p:cNvSpPr txBox="1"/>
          <p:nvPr/>
        </p:nvSpPr>
        <p:spPr>
          <a:xfrm>
            <a:off x="1519518" y="6306670"/>
            <a:ext cx="67778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*Fuente: </a:t>
            </a:r>
            <a:r>
              <a:rPr lang="es-MX" sz="1400" dirty="0">
                <a:hlinkClick r:id="rId2"/>
              </a:rPr>
              <a:t>https://www.mheducation.es/bcv/guide/capitulo/8448147715.pdf</a:t>
            </a:r>
            <a:r>
              <a:rPr lang="es-ES" sz="1400" dirty="0"/>
              <a:t> </a:t>
            </a:r>
            <a:endParaRPr lang="es-MX" sz="1400" dirty="0"/>
          </a:p>
        </p:txBody>
      </p:sp>
    </p:spTree>
    <p:extLst>
      <p:ext uri="{BB962C8B-B14F-4D97-AF65-F5344CB8AC3E}">
        <p14:creationId xmlns:p14="http://schemas.microsoft.com/office/powerpoint/2010/main" val="925148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Clasificación de las redes de computadoras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935223" y="2066365"/>
            <a:ext cx="8915400" cy="3777622"/>
          </a:xfrm>
        </p:spPr>
        <p:txBody>
          <a:bodyPr/>
          <a:lstStyle/>
          <a:p>
            <a:r>
              <a:rPr lang="es-ES" sz="2000" dirty="0"/>
              <a:t>Redes de Área Personal (PAN)</a:t>
            </a:r>
          </a:p>
          <a:p>
            <a:pPr lvl="1"/>
            <a:r>
              <a:rPr lang="es-ES" sz="1800" dirty="0"/>
              <a:t>Velocidad entre 20kbps hasta 55Mbps </a:t>
            </a:r>
          </a:p>
          <a:p>
            <a:pPr lvl="1"/>
            <a:r>
              <a:rPr lang="es-ES" sz="1800" dirty="0"/>
              <a:t>Rango de alcance cerca de 10mts.</a:t>
            </a:r>
          </a:p>
          <a:p>
            <a:pPr lvl="1"/>
            <a:r>
              <a:rPr lang="es-ES" sz="1800" dirty="0"/>
              <a:t>Bajo costo</a:t>
            </a:r>
          </a:p>
          <a:p>
            <a:pPr lvl="1"/>
            <a:r>
              <a:rPr lang="es-ES" sz="1800" dirty="0"/>
              <a:t>Tecnologías usadas: bluetooth, infrarrojo, USB, </a:t>
            </a:r>
            <a:r>
              <a:rPr lang="es-ES" sz="1800" dirty="0" err="1"/>
              <a:t>Firewire</a:t>
            </a:r>
            <a:endParaRPr lang="es-ES" sz="1800" dirty="0"/>
          </a:p>
          <a:p>
            <a:pPr lvl="1"/>
            <a:r>
              <a:rPr lang="es-ES" sz="1800" dirty="0"/>
              <a:t>Pocos dispositivos</a:t>
            </a:r>
          </a:p>
          <a:p>
            <a:endParaRPr lang="es-MX" dirty="0"/>
          </a:p>
        </p:txBody>
      </p:sp>
      <p:sp>
        <p:nvSpPr>
          <p:cNvPr id="4" name="CuadroTexto 3"/>
          <p:cNvSpPr txBox="1"/>
          <p:nvPr/>
        </p:nvSpPr>
        <p:spPr>
          <a:xfrm>
            <a:off x="1519518" y="6306670"/>
            <a:ext cx="101296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*Fuente: </a:t>
            </a:r>
            <a:r>
              <a:rPr lang="en-US" sz="1400" dirty="0"/>
              <a:t>International Journal of Advanced Research in Computer and Communication Engineering Vol. 4, Issue 1,</a:t>
            </a:r>
          </a:p>
          <a:p>
            <a:r>
              <a:rPr lang="en-US" sz="1400" dirty="0"/>
              <a:t> January 2015</a:t>
            </a:r>
            <a:endParaRPr lang="es-MX" sz="140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423" y="2282637"/>
            <a:ext cx="3374338" cy="2786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213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Clasificación de las redes de computadoras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935223" y="2066365"/>
            <a:ext cx="8915400" cy="3777622"/>
          </a:xfrm>
        </p:spPr>
        <p:txBody>
          <a:bodyPr/>
          <a:lstStyle/>
          <a:p>
            <a:r>
              <a:rPr lang="es-ES" sz="2000" dirty="0"/>
              <a:t>Redes de Área Local (LAN)</a:t>
            </a:r>
          </a:p>
          <a:p>
            <a:pPr lvl="1"/>
            <a:r>
              <a:rPr lang="es-ES" sz="1800" dirty="0"/>
              <a:t>Velocidad entre Mbps hasta </a:t>
            </a:r>
            <a:r>
              <a:rPr lang="es-ES" sz="1800" dirty="0" err="1"/>
              <a:t>Gbps</a:t>
            </a:r>
            <a:r>
              <a:rPr lang="es-ES" sz="1800" dirty="0"/>
              <a:t> </a:t>
            </a:r>
          </a:p>
          <a:p>
            <a:pPr lvl="1"/>
            <a:r>
              <a:rPr lang="es-ES" sz="1800" dirty="0"/>
              <a:t>Rango de alcance cerca de 100mts (1 edificio).</a:t>
            </a:r>
          </a:p>
          <a:p>
            <a:pPr lvl="1"/>
            <a:r>
              <a:rPr lang="es-ES" sz="1800" dirty="0"/>
              <a:t>Tecnologías usadas: Ethernet, IEEE802.3, </a:t>
            </a:r>
            <a:r>
              <a:rPr lang="es-ES" sz="1800" dirty="0" err="1"/>
              <a:t>Token</a:t>
            </a:r>
            <a:r>
              <a:rPr lang="es-ES" sz="1800" dirty="0"/>
              <a:t> Ring, FDDI</a:t>
            </a:r>
          </a:p>
          <a:p>
            <a:pPr lvl="1"/>
            <a:r>
              <a:rPr lang="es-ES" sz="1800" dirty="0"/>
              <a:t>Número de dispositivos es dependiente de cantidad de </a:t>
            </a:r>
          </a:p>
          <a:p>
            <a:pPr marL="457200" lvl="1" indent="0">
              <a:buNone/>
            </a:pPr>
            <a:r>
              <a:rPr lang="es-ES" sz="1800" dirty="0"/>
              <a:t>     </a:t>
            </a:r>
            <a:r>
              <a:rPr lang="es-ES" sz="1800" dirty="0" err="1"/>
              <a:t>switches</a:t>
            </a:r>
            <a:r>
              <a:rPr lang="es-ES" sz="1800" dirty="0"/>
              <a:t> usados.</a:t>
            </a:r>
          </a:p>
          <a:p>
            <a:endParaRPr lang="es-MX" dirty="0"/>
          </a:p>
        </p:txBody>
      </p:sp>
      <p:sp>
        <p:nvSpPr>
          <p:cNvPr id="4" name="CuadroTexto 3"/>
          <p:cNvSpPr txBox="1"/>
          <p:nvPr/>
        </p:nvSpPr>
        <p:spPr>
          <a:xfrm>
            <a:off x="1519518" y="6306670"/>
            <a:ext cx="102194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*Fuente: Transmisión de datos y redes de comunicaciones". 4ª edición. </a:t>
            </a:r>
            <a:r>
              <a:rPr lang="es-ES" sz="1400" dirty="0" err="1"/>
              <a:t>Behrouz</a:t>
            </a:r>
            <a:r>
              <a:rPr lang="es-ES" sz="1400" dirty="0"/>
              <a:t> A. </a:t>
            </a:r>
            <a:r>
              <a:rPr lang="es-ES" sz="1400" dirty="0" err="1"/>
              <a:t>Forouzan</a:t>
            </a:r>
            <a:r>
              <a:rPr lang="es-ES" sz="1400" dirty="0"/>
              <a:t>. Ed. McGraw-Hill. 2007.</a:t>
            </a:r>
            <a:endParaRPr lang="es-MX" sz="1400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0578" y="2066365"/>
            <a:ext cx="4010577" cy="3352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313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Clasificación de las redes de computadoras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935223" y="2066365"/>
            <a:ext cx="8915400" cy="3777622"/>
          </a:xfrm>
        </p:spPr>
        <p:txBody>
          <a:bodyPr/>
          <a:lstStyle/>
          <a:p>
            <a:r>
              <a:rPr lang="es-ES" sz="2000" dirty="0"/>
              <a:t>Redes de Área de Campus (CAN)</a:t>
            </a:r>
          </a:p>
          <a:p>
            <a:pPr lvl="1"/>
            <a:r>
              <a:rPr lang="es-ES" sz="1800" dirty="0"/>
              <a:t>(Red de Campos o Red Corporativa)</a:t>
            </a:r>
          </a:p>
          <a:p>
            <a:pPr lvl="1"/>
            <a:r>
              <a:rPr lang="es-ES" sz="1800" dirty="0"/>
              <a:t>Velocidad entre Mbps hasta </a:t>
            </a:r>
            <a:r>
              <a:rPr lang="es-ES" sz="1800" dirty="0" err="1"/>
              <a:t>Gbps</a:t>
            </a:r>
            <a:r>
              <a:rPr lang="es-ES" sz="1800" dirty="0"/>
              <a:t> </a:t>
            </a:r>
          </a:p>
          <a:p>
            <a:pPr lvl="1"/>
            <a:r>
              <a:rPr lang="es-ES" sz="1800" dirty="0"/>
              <a:t>Rango de alcance cerca de 1 a 5 km</a:t>
            </a:r>
          </a:p>
          <a:p>
            <a:pPr lvl="1"/>
            <a:r>
              <a:rPr lang="es-ES" sz="1800" dirty="0"/>
              <a:t>Tecnologías usadas: Gigabit Ethernet, FDDI</a:t>
            </a:r>
          </a:p>
          <a:p>
            <a:pPr lvl="1"/>
            <a:r>
              <a:rPr lang="es-ES" sz="1800" dirty="0"/>
              <a:t>Conectividad de </a:t>
            </a:r>
            <a:r>
              <a:rPr lang="es-ES" sz="1800" dirty="0" err="1"/>
              <a:t>LAN’s</a:t>
            </a:r>
            <a:r>
              <a:rPr lang="es-ES" sz="1800" dirty="0"/>
              <a:t> mediante enrutadores y </a:t>
            </a:r>
          </a:p>
          <a:p>
            <a:pPr marL="457200" lvl="1" indent="0">
              <a:buNone/>
            </a:pPr>
            <a:r>
              <a:rPr lang="es-ES" sz="1800" dirty="0"/>
              <a:t>     </a:t>
            </a:r>
            <a:r>
              <a:rPr lang="es-ES" sz="1800" dirty="0" err="1"/>
              <a:t>switches</a:t>
            </a:r>
            <a:r>
              <a:rPr lang="es-ES" sz="1800" dirty="0"/>
              <a:t>.</a:t>
            </a:r>
          </a:p>
          <a:p>
            <a:endParaRPr lang="es-MX" dirty="0"/>
          </a:p>
        </p:txBody>
      </p:sp>
      <p:sp>
        <p:nvSpPr>
          <p:cNvPr id="4" name="CuadroTexto 3"/>
          <p:cNvSpPr txBox="1"/>
          <p:nvPr/>
        </p:nvSpPr>
        <p:spPr>
          <a:xfrm>
            <a:off x="1519518" y="6306670"/>
            <a:ext cx="86389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*Fuente: https://www.quickstart.com/blog/networking-fundamentals-campus-area-network-can/</a:t>
            </a:r>
            <a:endParaRPr lang="es-MX" sz="140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0139" y="2707171"/>
            <a:ext cx="4081862" cy="2590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167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6211" y="2962335"/>
            <a:ext cx="3848823" cy="325867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Clasificación de las redes de computadoras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935223" y="2066365"/>
            <a:ext cx="8915400" cy="3777622"/>
          </a:xfrm>
        </p:spPr>
        <p:txBody>
          <a:bodyPr/>
          <a:lstStyle/>
          <a:p>
            <a:r>
              <a:rPr lang="es-ES" sz="2000" dirty="0"/>
              <a:t>Redes de Área de Metropolitana (MAN)</a:t>
            </a:r>
          </a:p>
          <a:p>
            <a:pPr lvl="1"/>
            <a:r>
              <a:rPr lang="es-ES" sz="1800" dirty="0"/>
              <a:t>Tan pequeña como un grupo de edificios, o tan grande como una ciudad</a:t>
            </a:r>
          </a:p>
          <a:p>
            <a:pPr lvl="1"/>
            <a:r>
              <a:rPr lang="es-ES" sz="1800" dirty="0"/>
              <a:t>Velocidad  Mbps </a:t>
            </a:r>
          </a:p>
          <a:p>
            <a:pPr lvl="1"/>
            <a:r>
              <a:rPr lang="es-ES" sz="1800" dirty="0"/>
              <a:t>Rango de alcance cerca de 5 a 50 km</a:t>
            </a:r>
          </a:p>
          <a:p>
            <a:pPr lvl="1"/>
            <a:r>
              <a:rPr lang="es-ES" sz="1800" dirty="0"/>
              <a:t>Tecnologías usadas: X.25, </a:t>
            </a:r>
            <a:r>
              <a:rPr lang="es-ES" sz="1800" dirty="0" err="1"/>
              <a:t>Frame</a:t>
            </a:r>
            <a:r>
              <a:rPr lang="es-ES" sz="1800" dirty="0"/>
              <a:t> </a:t>
            </a:r>
            <a:r>
              <a:rPr lang="es-ES" sz="1800" dirty="0" err="1"/>
              <a:t>Relay</a:t>
            </a:r>
            <a:r>
              <a:rPr lang="es-ES" sz="1800" dirty="0"/>
              <a:t>, ATM, SONET,</a:t>
            </a:r>
          </a:p>
          <a:p>
            <a:pPr marL="457200" lvl="1" indent="0">
              <a:buNone/>
            </a:pPr>
            <a:r>
              <a:rPr lang="es-ES" sz="1800" dirty="0"/>
              <a:t>                                         </a:t>
            </a:r>
            <a:r>
              <a:rPr lang="es-ES" sz="1800"/>
              <a:t>Metro Ethernet</a:t>
            </a:r>
            <a:endParaRPr lang="es-ES" sz="1800" dirty="0"/>
          </a:p>
          <a:p>
            <a:pPr marL="0" indent="0">
              <a:buNone/>
            </a:pPr>
            <a:endParaRPr lang="es-MX" dirty="0"/>
          </a:p>
        </p:txBody>
      </p:sp>
      <p:sp>
        <p:nvSpPr>
          <p:cNvPr id="4" name="CuadroTexto 3"/>
          <p:cNvSpPr txBox="1"/>
          <p:nvPr/>
        </p:nvSpPr>
        <p:spPr>
          <a:xfrm>
            <a:off x="83192" y="6359961"/>
            <a:ext cx="122504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*Fuente: https://www.ukessays.com/essays/information-technology/metropolitan-area-network-in-detail-information-technology-essay.php</a:t>
            </a:r>
            <a:endParaRPr lang="es-MX" sz="1400" dirty="0"/>
          </a:p>
        </p:txBody>
      </p:sp>
    </p:spTree>
    <p:extLst>
      <p:ext uri="{BB962C8B-B14F-4D97-AF65-F5344CB8AC3E}">
        <p14:creationId xmlns:p14="http://schemas.microsoft.com/office/powerpoint/2010/main" val="4458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3947" y="2787525"/>
            <a:ext cx="4133351" cy="3056462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Clasificación de las redes de computadoras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935223" y="2066365"/>
            <a:ext cx="8915400" cy="3777622"/>
          </a:xfrm>
        </p:spPr>
        <p:txBody>
          <a:bodyPr/>
          <a:lstStyle/>
          <a:p>
            <a:r>
              <a:rPr lang="es-ES" sz="2000" dirty="0"/>
              <a:t>Redes de Área de Amplia (WAN)</a:t>
            </a:r>
          </a:p>
          <a:p>
            <a:pPr lvl="1"/>
            <a:r>
              <a:rPr lang="es-ES" sz="1800" dirty="0"/>
              <a:t>Cubre áreas tan extensas como un estado, un país, un continente, etc.</a:t>
            </a:r>
          </a:p>
          <a:p>
            <a:pPr lvl="1"/>
            <a:r>
              <a:rPr lang="es-ES" sz="1800" dirty="0"/>
              <a:t>Comunicación por fibra óptica, o satelital</a:t>
            </a:r>
          </a:p>
          <a:p>
            <a:pPr lvl="1"/>
            <a:r>
              <a:rPr lang="es-ES" sz="1800" dirty="0"/>
              <a:t>Velocidad  Mbps </a:t>
            </a:r>
          </a:p>
          <a:p>
            <a:pPr lvl="1"/>
            <a:r>
              <a:rPr lang="es-ES" sz="1800" dirty="0"/>
              <a:t>Rango de alcance cerca de 100 a cientos de miles km</a:t>
            </a:r>
          </a:p>
          <a:p>
            <a:pPr lvl="1"/>
            <a:r>
              <a:rPr lang="es-ES" sz="1800" dirty="0"/>
              <a:t>Tecnologías usadas: ADSL, </a:t>
            </a:r>
            <a:r>
              <a:rPr lang="es-ES" sz="1800" dirty="0" err="1"/>
              <a:t>WiMAX</a:t>
            </a:r>
            <a:r>
              <a:rPr lang="es-ES" sz="1800" dirty="0"/>
              <a:t>, 4G</a:t>
            </a:r>
          </a:p>
          <a:p>
            <a:pPr marL="0" indent="0">
              <a:buNone/>
            </a:pPr>
            <a:endParaRPr lang="es-MX" dirty="0"/>
          </a:p>
        </p:txBody>
      </p:sp>
      <p:sp>
        <p:nvSpPr>
          <p:cNvPr id="4" name="CuadroTexto 3"/>
          <p:cNvSpPr txBox="1"/>
          <p:nvPr/>
        </p:nvSpPr>
        <p:spPr>
          <a:xfrm>
            <a:off x="1616157" y="6550223"/>
            <a:ext cx="63401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*</a:t>
            </a:r>
            <a:r>
              <a:rPr lang="es-ES" sz="1400" dirty="0" err="1"/>
              <a:t>Fuente:https</a:t>
            </a:r>
            <a:r>
              <a:rPr lang="es-ES" sz="1400" dirty="0"/>
              <a:t>://www.softwaretestinghelp.com/lan-wan-man-networks/</a:t>
            </a:r>
            <a:endParaRPr lang="es-MX" sz="1400" dirty="0"/>
          </a:p>
        </p:txBody>
      </p:sp>
    </p:spTree>
    <p:extLst>
      <p:ext uri="{BB962C8B-B14F-4D97-AF65-F5344CB8AC3E}">
        <p14:creationId xmlns:p14="http://schemas.microsoft.com/office/powerpoint/2010/main" val="226104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Clasificación de las redes de computadoras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935223" y="2066365"/>
            <a:ext cx="8915400" cy="3777622"/>
          </a:xfrm>
        </p:spPr>
        <p:txBody>
          <a:bodyPr/>
          <a:lstStyle/>
          <a:p>
            <a:r>
              <a:rPr lang="es-ES" sz="2000" dirty="0"/>
              <a:t>Por su relación funcional</a:t>
            </a:r>
          </a:p>
          <a:p>
            <a:pPr marL="457200" lvl="1" indent="0">
              <a:buNone/>
            </a:pPr>
            <a:endParaRPr lang="es-ES" sz="1800" dirty="0"/>
          </a:p>
          <a:p>
            <a:pPr lvl="1"/>
            <a:r>
              <a:rPr lang="es-ES" sz="1800" dirty="0"/>
              <a:t>Cliente-Servidor</a:t>
            </a:r>
          </a:p>
          <a:p>
            <a:pPr lvl="1"/>
            <a:endParaRPr lang="es-ES" sz="1800" dirty="0"/>
          </a:p>
          <a:p>
            <a:pPr lvl="1"/>
            <a:endParaRPr lang="es-ES" sz="1800" dirty="0"/>
          </a:p>
          <a:p>
            <a:pPr lvl="1"/>
            <a:endParaRPr lang="es-ES" sz="1800" dirty="0"/>
          </a:p>
          <a:p>
            <a:pPr lvl="1"/>
            <a:endParaRPr lang="es-ES" sz="1800" dirty="0"/>
          </a:p>
          <a:p>
            <a:pPr lvl="1"/>
            <a:r>
              <a:rPr lang="es-ES" sz="1800" dirty="0"/>
              <a:t>Peer </a:t>
            </a:r>
            <a:r>
              <a:rPr lang="es-ES" sz="1800" dirty="0" err="1"/>
              <a:t>to</a:t>
            </a:r>
            <a:r>
              <a:rPr lang="es-ES" sz="1800" dirty="0"/>
              <a:t> Peer</a:t>
            </a:r>
          </a:p>
          <a:p>
            <a:pPr marL="0" indent="0">
              <a:buNone/>
            </a:pPr>
            <a:endParaRPr lang="es-MX" dirty="0"/>
          </a:p>
        </p:txBody>
      </p:sp>
      <p:sp>
        <p:nvSpPr>
          <p:cNvPr id="4" name="CuadroTexto 3"/>
          <p:cNvSpPr txBox="1"/>
          <p:nvPr/>
        </p:nvSpPr>
        <p:spPr>
          <a:xfrm>
            <a:off x="157936" y="6300765"/>
            <a:ext cx="120340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*Fuente:</a:t>
            </a:r>
            <a:r>
              <a:rPr lang="es-MX" sz="1400" dirty="0">
                <a:hlinkClick r:id="rId2"/>
              </a:rPr>
              <a:t>https://redcomputadora.wordpress.com/2016/06/27/clasificacion-segun-su-relacion-funcional/#:~:text=1.,vez%20que%20estos%</a:t>
            </a:r>
          </a:p>
          <a:p>
            <a:r>
              <a:rPr lang="es-MX" sz="1400" dirty="0">
                <a:hlinkClick r:id="rId2"/>
              </a:rPr>
              <a:t>20son%20solicitados.</a:t>
            </a:r>
            <a:endParaRPr lang="es-MX" sz="1400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8080" y="2169491"/>
            <a:ext cx="2857500" cy="1714500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1955" y="4043202"/>
            <a:ext cx="2333625" cy="196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487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Clasificación de las redes de computadoras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935223" y="2066365"/>
            <a:ext cx="8915400" cy="3777622"/>
          </a:xfrm>
        </p:spPr>
        <p:txBody>
          <a:bodyPr/>
          <a:lstStyle/>
          <a:p>
            <a:r>
              <a:rPr lang="es-ES" sz="2000" dirty="0"/>
              <a:t>Por su Topología</a:t>
            </a:r>
          </a:p>
          <a:p>
            <a:pPr marL="457200" lvl="1" indent="0">
              <a:buNone/>
            </a:pPr>
            <a:endParaRPr lang="es-ES" sz="1800" dirty="0"/>
          </a:p>
          <a:p>
            <a:pPr lvl="1"/>
            <a:r>
              <a:rPr lang="es-ES" sz="1800" dirty="0"/>
              <a:t>Bus</a:t>
            </a:r>
          </a:p>
          <a:p>
            <a:pPr lvl="1"/>
            <a:endParaRPr lang="es-ES" sz="1800" dirty="0"/>
          </a:p>
          <a:p>
            <a:pPr lvl="1"/>
            <a:endParaRPr lang="es-ES" sz="1800" dirty="0"/>
          </a:p>
          <a:p>
            <a:pPr lvl="1"/>
            <a:endParaRPr lang="es-ES" sz="1800" dirty="0"/>
          </a:p>
          <a:p>
            <a:pPr lvl="1"/>
            <a:endParaRPr lang="es-ES" sz="1800" dirty="0"/>
          </a:p>
          <a:p>
            <a:pPr lvl="1"/>
            <a:r>
              <a:rPr lang="es-ES" sz="1800" dirty="0"/>
              <a:t>Anillo</a:t>
            </a:r>
          </a:p>
          <a:p>
            <a:pPr marL="0" indent="0">
              <a:buNone/>
            </a:pPr>
            <a:endParaRPr lang="es-MX" dirty="0"/>
          </a:p>
        </p:txBody>
      </p:sp>
      <p:sp>
        <p:nvSpPr>
          <p:cNvPr id="4" name="CuadroTexto 3"/>
          <p:cNvSpPr txBox="1"/>
          <p:nvPr/>
        </p:nvSpPr>
        <p:spPr>
          <a:xfrm>
            <a:off x="157936" y="6300765"/>
            <a:ext cx="62504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*Fuente:</a:t>
            </a:r>
            <a:r>
              <a:rPr lang="es-MX" sz="1400" dirty="0">
                <a:hlinkClick r:id="rId2"/>
              </a:rPr>
              <a:t>http://ual.dyndns.org/biblioteca/redes/pdf/unidad%2003.pdf</a:t>
            </a:r>
            <a:endParaRPr lang="es-MX" sz="140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3156" y="1906129"/>
            <a:ext cx="2895600" cy="1514475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0973" y="1972104"/>
            <a:ext cx="1699300" cy="1403470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8318" y="4065933"/>
            <a:ext cx="2152650" cy="2124075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1524" y="3537693"/>
            <a:ext cx="2909258" cy="2652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177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Clasificación de las redes de computadoras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935223" y="2066365"/>
            <a:ext cx="8915400" cy="3777622"/>
          </a:xfrm>
        </p:spPr>
        <p:txBody>
          <a:bodyPr/>
          <a:lstStyle/>
          <a:p>
            <a:r>
              <a:rPr lang="es-ES" sz="2000" dirty="0"/>
              <a:t>Por su Topología</a:t>
            </a:r>
          </a:p>
          <a:p>
            <a:pPr marL="457200" lvl="1" indent="0">
              <a:buNone/>
            </a:pPr>
            <a:endParaRPr lang="es-ES" sz="1800" dirty="0"/>
          </a:p>
          <a:p>
            <a:pPr lvl="1"/>
            <a:r>
              <a:rPr lang="es-ES" sz="1800" dirty="0"/>
              <a:t>Estrella</a:t>
            </a:r>
          </a:p>
          <a:p>
            <a:pPr lvl="1"/>
            <a:endParaRPr lang="es-ES" sz="1800" dirty="0"/>
          </a:p>
          <a:p>
            <a:pPr lvl="1"/>
            <a:endParaRPr lang="es-ES" sz="1800" dirty="0"/>
          </a:p>
          <a:p>
            <a:pPr lvl="1"/>
            <a:endParaRPr lang="es-ES" sz="1800" dirty="0"/>
          </a:p>
          <a:p>
            <a:pPr lvl="1"/>
            <a:endParaRPr lang="es-ES" sz="1800" dirty="0"/>
          </a:p>
          <a:p>
            <a:pPr lvl="1"/>
            <a:r>
              <a:rPr lang="es-ES" sz="1800" dirty="0"/>
              <a:t>Árbol</a:t>
            </a:r>
          </a:p>
          <a:p>
            <a:pPr marL="0" indent="0">
              <a:buNone/>
            </a:pPr>
            <a:endParaRPr lang="es-MX" dirty="0"/>
          </a:p>
        </p:txBody>
      </p:sp>
      <p:sp>
        <p:nvSpPr>
          <p:cNvPr id="4" name="CuadroTexto 3"/>
          <p:cNvSpPr txBox="1"/>
          <p:nvPr/>
        </p:nvSpPr>
        <p:spPr>
          <a:xfrm>
            <a:off x="157936" y="6300765"/>
            <a:ext cx="120340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*Fuente:</a:t>
            </a:r>
            <a:r>
              <a:rPr lang="es-MX" sz="1400" dirty="0">
                <a:hlinkClick r:id="rId2"/>
              </a:rPr>
              <a:t>https://redcomputadora.wordpress.com/2016/06/27/clasificacion-segun-su-relacion-funcional/#:~:text=1.,vez%20que%20estos%</a:t>
            </a:r>
          </a:p>
          <a:p>
            <a:r>
              <a:rPr lang="es-MX" sz="1400" dirty="0">
                <a:hlinkClick r:id="rId2"/>
              </a:rPr>
              <a:t>20son%20solicitados.</a:t>
            </a:r>
            <a:endParaRPr lang="es-MX" sz="1400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4783" y="2306351"/>
            <a:ext cx="2780539" cy="1843618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5322" y="4051296"/>
            <a:ext cx="3616466" cy="2025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4046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Clasificación de las redes de computadoras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935223" y="2066365"/>
            <a:ext cx="8915400" cy="3777622"/>
          </a:xfrm>
        </p:spPr>
        <p:txBody>
          <a:bodyPr/>
          <a:lstStyle/>
          <a:p>
            <a:r>
              <a:rPr lang="es-ES" sz="2000" dirty="0"/>
              <a:t>Por su Topología</a:t>
            </a:r>
          </a:p>
          <a:p>
            <a:pPr marL="457200" lvl="1" indent="0">
              <a:buNone/>
            </a:pPr>
            <a:endParaRPr lang="es-ES" sz="1800" dirty="0"/>
          </a:p>
          <a:p>
            <a:pPr lvl="1"/>
            <a:r>
              <a:rPr lang="es-ES" sz="1800" dirty="0"/>
              <a:t>Malla</a:t>
            </a:r>
          </a:p>
          <a:p>
            <a:pPr lvl="1"/>
            <a:endParaRPr lang="es-ES" sz="1800" dirty="0"/>
          </a:p>
          <a:p>
            <a:pPr lvl="1"/>
            <a:endParaRPr lang="es-ES" sz="1800" dirty="0"/>
          </a:p>
          <a:p>
            <a:pPr lvl="1"/>
            <a:endParaRPr lang="es-ES" sz="1800" dirty="0"/>
          </a:p>
          <a:p>
            <a:pPr lvl="1"/>
            <a:endParaRPr lang="es-ES" sz="1800" dirty="0"/>
          </a:p>
          <a:p>
            <a:pPr marL="457200" lvl="1" indent="0">
              <a:buNone/>
            </a:pPr>
            <a:endParaRPr lang="es-ES" sz="1800" dirty="0"/>
          </a:p>
          <a:p>
            <a:pPr marL="0" indent="0">
              <a:buNone/>
            </a:pPr>
            <a:endParaRPr lang="es-MX" dirty="0"/>
          </a:p>
        </p:txBody>
      </p:sp>
      <p:sp>
        <p:nvSpPr>
          <p:cNvPr id="4" name="CuadroTexto 3"/>
          <p:cNvSpPr txBox="1"/>
          <p:nvPr/>
        </p:nvSpPr>
        <p:spPr>
          <a:xfrm>
            <a:off x="157936" y="6300765"/>
            <a:ext cx="120340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*Fuente:</a:t>
            </a:r>
            <a:r>
              <a:rPr lang="es-MX" sz="1400" dirty="0">
                <a:hlinkClick r:id="rId2"/>
              </a:rPr>
              <a:t>https://redcomputadora.wordpress.com/2016/06/27/clasificacion-segun-su-relacion-funcional/#:~:text=1.,vez%20que%20estos%</a:t>
            </a:r>
          </a:p>
          <a:p>
            <a:r>
              <a:rPr lang="es-MX" sz="1400" dirty="0">
                <a:hlinkClick r:id="rId2"/>
              </a:rPr>
              <a:t>20son%20solicitados.</a:t>
            </a:r>
            <a:endParaRPr lang="es-MX" sz="140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871" y="3457505"/>
            <a:ext cx="3678610" cy="2386482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3128" y="2628646"/>
            <a:ext cx="6337803" cy="2938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5579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Protocolo de comunicación (</a:t>
            </a:r>
            <a:r>
              <a:rPr lang="es-ES" dirty="0" err="1"/>
              <a:t>def</a:t>
            </a:r>
            <a:r>
              <a:rPr lang="es-ES" dirty="0"/>
              <a:t>.)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400" dirty="0"/>
              <a:t>Conjunto de reglas que gobierna el intercambio ordenado de datos entre dos puntos</a:t>
            </a:r>
            <a:r>
              <a:rPr lang="es-ES" sz="2400" baseline="30000" dirty="0"/>
              <a:t>1</a:t>
            </a:r>
            <a:r>
              <a:rPr lang="es-ES" sz="2400" dirty="0"/>
              <a:t>.</a:t>
            </a:r>
          </a:p>
          <a:p>
            <a:pPr lvl="1"/>
            <a:r>
              <a:rPr lang="es-ES" sz="2200" dirty="0"/>
              <a:t>Elementos</a:t>
            </a:r>
            <a:r>
              <a:rPr lang="es-ES" sz="2200" baseline="30000" dirty="0"/>
              <a:t>2</a:t>
            </a:r>
            <a:r>
              <a:rPr lang="es-ES" sz="2200" dirty="0"/>
              <a:t>:</a:t>
            </a:r>
          </a:p>
          <a:p>
            <a:pPr marL="457200" lvl="1" indent="0">
              <a:buNone/>
            </a:pPr>
            <a:r>
              <a:rPr lang="es-ES" sz="2200" dirty="0"/>
              <a:t>    - </a:t>
            </a:r>
            <a:r>
              <a:rPr lang="es-ES" sz="2200" b="1" dirty="0"/>
              <a:t>Sintaxis</a:t>
            </a:r>
            <a:r>
              <a:rPr lang="es-ES" sz="2200" dirty="0"/>
              <a:t>: Formato de datos.</a:t>
            </a:r>
          </a:p>
          <a:p>
            <a:pPr marL="900113" lvl="1" indent="-442913">
              <a:buNone/>
            </a:pPr>
            <a:r>
              <a:rPr lang="es-ES" sz="2200" dirty="0"/>
              <a:t>    - </a:t>
            </a:r>
            <a:r>
              <a:rPr lang="es-ES" sz="2200" b="1" dirty="0"/>
              <a:t>Semántica</a:t>
            </a:r>
            <a:r>
              <a:rPr lang="es-ES" sz="2200" dirty="0"/>
              <a:t>: Información de control, coordinación, control de errores.</a:t>
            </a:r>
          </a:p>
          <a:p>
            <a:pPr marL="900113" lvl="1" indent="-442913">
              <a:buNone/>
            </a:pPr>
            <a:r>
              <a:rPr lang="es-ES" sz="2200" dirty="0"/>
              <a:t>    - </a:t>
            </a:r>
            <a:r>
              <a:rPr lang="es-ES" sz="2200" b="1" dirty="0"/>
              <a:t>Temporización</a:t>
            </a:r>
            <a:r>
              <a:rPr lang="es-ES" sz="2200" dirty="0"/>
              <a:t>: Coordinación de velocidad, orden secuencial de mensajes.</a:t>
            </a:r>
            <a:endParaRPr lang="es-MX" sz="2200" dirty="0"/>
          </a:p>
        </p:txBody>
      </p:sp>
      <p:sp>
        <p:nvSpPr>
          <p:cNvPr id="4" name="CuadroTexto 3"/>
          <p:cNvSpPr txBox="1"/>
          <p:nvPr/>
        </p:nvSpPr>
        <p:spPr>
          <a:xfrm>
            <a:off x="268735" y="6348047"/>
            <a:ext cx="85459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*1Fuente: </a:t>
            </a:r>
            <a:r>
              <a:rPr lang="es-MX" sz="1200" dirty="0">
                <a:hlinkClick r:id="rId2"/>
              </a:rPr>
              <a:t>http://www.ptolomeo.unam.mx:8080/xmlui/bitstream/handle/132.248.52.100/734/A6.pdf?sequence=6</a:t>
            </a:r>
            <a:endParaRPr lang="es-MX" sz="1200" dirty="0"/>
          </a:p>
          <a:p>
            <a:r>
              <a:rPr lang="es-ES" sz="1200" dirty="0"/>
              <a:t>*2Fuente: </a:t>
            </a:r>
            <a:r>
              <a:rPr lang="es-MX" sz="1200" dirty="0">
                <a:hlinkClick r:id="rId3"/>
              </a:rPr>
              <a:t>http://www2.ulpgc.es/hege/almacen/download/29/29237/3protocolosyarquitecturas.pdf</a:t>
            </a:r>
            <a:endParaRPr lang="es-MX" sz="1200" dirty="0"/>
          </a:p>
        </p:txBody>
      </p:sp>
    </p:spTree>
    <p:extLst>
      <p:ext uri="{BB962C8B-B14F-4D97-AF65-F5344CB8AC3E}">
        <p14:creationId xmlns:p14="http://schemas.microsoft.com/office/powerpoint/2010/main" val="21617533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Ej. Protocolo TCP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715154" y="1770530"/>
            <a:ext cx="8915400" cy="3777622"/>
          </a:xfrm>
        </p:spPr>
        <p:txBody>
          <a:bodyPr>
            <a:normAutofit/>
          </a:bodyPr>
          <a:lstStyle/>
          <a:p>
            <a:r>
              <a:rPr lang="es-ES" sz="2400" dirty="0"/>
              <a:t>Sintaxis</a:t>
            </a:r>
            <a:endParaRPr lang="es-MX" sz="2200" dirty="0"/>
          </a:p>
        </p:txBody>
      </p:sp>
      <p:sp>
        <p:nvSpPr>
          <p:cNvPr id="4" name="CuadroTexto 3"/>
          <p:cNvSpPr txBox="1"/>
          <p:nvPr/>
        </p:nvSpPr>
        <p:spPr>
          <a:xfrm>
            <a:off x="268735" y="6348047"/>
            <a:ext cx="666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 </a:t>
            </a:r>
            <a:r>
              <a:rPr lang="es-MX" sz="1200" dirty="0">
                <a:hlinkClick r:id="rId2"/>
              </a:rPr>
              <a:t>https://bravelearn.com/header-format-for-tcp-transmission-control-protocol/</a:t>
            </a:r>
            <a:endParaRPr lang="es-MX" sz="120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0764" y="2265028"/>
            <a:ext cx="7251047" cy="3683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6959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Ej. Protocolo TCP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77272" y="1770530"/>
            <a:ext cx="8915400" cy="3777622"/>
          </a:xfrm>
        </p:spPr>
        <p:txBody>
          <a:bodyPr>
            <a:normAutofit/>
          </a:bodyPr>
          <a:lstStyle/>
          <a:p>
            <a:r>
              <a:rPr lang="es-ES" sz="2400" dirty="0"/>
              <a:t>Semántica:</a:t>
            </a:r>
          </a:p>
          <a:p>
            <a:pPr marL="0" indent="0">
              <a:buNone/>
            </a:pPr>
            <a:r>
              <a:rPr lang="es-ES" sz="2400" dirty="0"/>
              <a:t> + Banderas</a:t>
            </a:r>
          </a:p>
          <a:p>
            <a:pPr marL="0" indent="0">
              <a:buNone/>
            </a:pPr>
            <a:r>
              <a:rPr lang="es-ES" sz="2400" dirty="0"/>
              <a:t> + #Secuencia</a:t>
            </a:r>
          </a:p>
          <a:p>
            <a:pPr marL="0" indent="0">
              <a:buNone/>
            </a:pPr>
            <a:r>
              <a:rPr lang="es-ES" sz="2400" dirty="0"/>
              <a:t> + #</a:t>
            </a:r>
            <a:r>
              <a:rPr lang="es-ES" sz="2400" dirty="0" err="1"/>
              <a:t>Ack</a:t>
            </a:r>
            <a:endParaRPr lang="es-ES" sz="2400" dirty="0"/>
          </a:p>
          <a:p>
            <a:pPr marL="0" indent="0">
              <a:buNone/>
            </a:pPr>
            <a:r>
              <a:rPr lang="es-ES" sz="2400" dirty="0"/>
              <a:t> + </a:t>
            </a:r>
            <a:r>
              <a:rPr lang="es-ES" sz="2400" dirty="0" err="1"/>
              <a:t>Checksum</a:t>
            </a:r>
            <a:endParaRPr lang="es-MX" sz="2200" dirty="0"/>
          </a:p>
        </p:txBody>
      </p:sp>
      <p:sp>
        <p:nvSpPr>
          <p:cNvPr id="4" name="CuadroTexto 3"/>
          <p:cNvSpPr txBox="1"/>
          <p:nvPr/>
        </p:nvSpPr>
        <p:spPr>
          <a:xfrm>
            <a:off x="268735" y="6348047"/>
            <a:ext cx="666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 </a:t>
            </a:r>
            <a:r>
              <a:rPr lang="es-MX" sz="1200" dirty="0">
                <a:hlinkClick r:id="rId2"/>
              </a:rPr>
              <a:t>https://bravelearn.com/header-format-for-tcp-transmission-control-protocol/</a:t>
            </a:r>
            <a:endParaRPr lang="es-MX" sz="120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3565" y="2265028"/>
            <a:ext cx="7251047" cy="3683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5647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Ej. Protocolo TCP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204166" y="1297078"/>
            <a:ext cx="8915400" cy="908240"/>
          </a:xfrm>
        </p:spPr>
        <p:txBody>
          <a:bodyPr>
            <a:normAutofit lnSpcReduction="10000"/>
          </a:bodyPr>
          <a:lstStyle/>
          <a:p>
            <a:r>
              <a:rPr lang="es-ES" sz="2400" dirty="0"/>
              <a:t>Temporización:</a:t>
            </a:r>
          </a:p>
          <a:p>
            <a:pPr marL="0" indent="0">
              <a:buNone/>
            </a:pPr>
            <a:r>
              <a:rPr lang="es-ES" sz="2400" dirty="0"/>
              <a:t> </a:t>
            </a:r>
            <a:endParaRPr lang="es-MX" sz="2200" dirty="0"/>
          </a:p>
        </p:txBody>
      </p:sp>
      <p:sp>
        <p:nvSpPr>
          <p:cNvPr id="4" name="CuadroTexto 3"/>
          <p:cNvSpPr txBox="1"/>
          <p:nvPr/>
        </p:nvSpPr>
        <p:spPr>
          <a:xfrm>
            <a:off x="5661866" y="6581001"/>
            <a:ext cx="666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 </a:t>
            </a:r>
            <a:r>
              <a:rPr lang="es-MX" sz="1200" dirty="0">
                <a:hlinkClick r:id="rId2"/>
              </a:rPr>
              <a:t>https://bravelearn.com/header-format-for-tcp-transmission-control-protocol/</a:t>
            </a:r>
            <a:endParaRPr lang="es-MX" sz="1200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7548" y="2205318"/>
            <a:ext cx="5201246" cy="4310622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982" y="1942398"/>
            <a:ext cx="6046825" cy="4573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8963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Protocolo estándar vs no estándar</a:t>
            </a:r>
            <a:br>
              <a:rPr lang="es-ES" dirty="0"/>
            </a:br>
            <a:endParaRPr lang="es-MX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7133" y="1393452"/>
            <a:ext cx="8074679" cy="4429125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1277264" y="6581001"/>
            <a:ext cx="102002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</a:t>
            </a:r>
            <a:r>
              <a:rPr lang="es-MX" sz="1200" dirty="0" err="1"/>
              <a:t>Stallings</a:t>
            </a:r>
            <a:r>
              <a:rPr lang="es-MX" sz="1200" dirty="0"/>
              <a:t> W. (2004). Protocolos y Arquitecturas. En Comunicaciones y redes de computadores. (pp. 33).USA: Pearson </a:t>
            </a:r>
            <a:r>
              <a:rPr lang="es-MX" sz="1200" dirty="0" err="1"/>
              <a:t>Education</a:t>
            </a:r>
            <a:r>
              <a:rPr lang="es-MX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073698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Organizaciones de estandarización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77272" y="1770530"/>
            <a:ext cx="8915400" cy="3777622"/>
          </a:xfrm>
        </p:spPr>
        <p:txBody>
          <a:bodyPr>
            <a:normAutofit/>
          </a:bodyPr>
          <a:lstStyle/>
          <a:p>
            <a:pPr algn="just"/>
            <a:r>
              <a:rPr lang="es-ES" b="1" dirty="0"/>
              <a:t>IETF</a:t>
            </a:r>
            <a:r>
              <a:rPr lang="es-ES" dirty="0"/>
              <a:t>(Internet </a:t>
            </a:r>
            <a:r>
              <a:rPr lang="es-ES" dirty="0" err="1"/>
              <a:t>Engineering</a:t>
            </a:r>
            <a:r>
              <a:rPr lang="es-ES" dirty="0"/>
              <a:t> </a:t>
            </a:r>
            <a:r>
              <a:rPr lang="es-ES" dirty="0" err="1"/>
              <a:t>Task</a:t>
            </a:r>
            <a:r>
              <a:rPr lang="es-ES" dirty="0"/>
              <a:t> </a:t>
            </a:r>
            <a:r>
              <a:rPr lang="es-ES" dirty="0" err="1"/>
              <a:t>Force</a:t>
            </a:r>
            <a:r>
              <a:rPr lang="es-ES" dirty="0"/>
              <a:t>, Comité para la Ingeniería en Internet): Responsable del desarrollo e ingeniería de los protocolos a </a:t>
            </a:r>
            <a:r>
              <a:rPr lang="es-ES" b="1" dirty="0"/>
              <a:t>corto plazo</a:t>
            </a:r>
            <a:r>
              <a:rPr lang="es-ES" dirty="0"/>
              <a:t>.</a:t>
            </a:r>
          </a:p>
          <a:p>
            <a:pPr algn="just"/>
            <a:r>
              <a:rPr lang="es-ES" b="1" dirty="0"/>
              <a:t>ISO</a:t>
            </a:r>
            <a:r>
              <a:rPr lang="es-ES" dirty="0"/>
              <a:t>(International </a:t>
            </a:r>
            <a:r>
              <a:rPr lang="es-ES" dirty="0" err="1"/>
              <a:t>Organization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Standarization</a:t>
            </a:r>
            <a:r>
              <a:rPr lang="es-ES" dirty="0"/>
              <a:t>, Organización Internacional para la Estandarización): Desarrollo de estándares y la terminología relacionados con áreas de tecnología eléctrica y electrónica.</a:t>
            </a:r>
          </a:p>
          <a:p>
            <a:pPr algn="just"/>
            <a:r>
              <a:rPr lang="es-ES" b="1" dirty="0"/>
              <a:t>UIT-T</a:t>
            </a:r>
            <a:r>
              <a:rPr lang="es-ES" dirty="0"/>
              <a:t>(Unión Internacional de Telecomunicaciones): Estandarización de técnicas y modos de operación en telecomunicaciones para llevar a cabo la compatibilidad extremo a extremo en conexiones internacionales de telecomunicación(funcionamiento, tarificación, equipamiento, etc.)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268735" y="6348047"/>
            <a:ext cx="9169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</a:t>
            </a:r>
            <a:r>
              <a:rPr lang="es-MX" sz="1200" dirty="0">
                <a:hlinkClick r:id="rId2"/>
              </a:rPr>
              <a:t>https://richardfong.files.wordpress.com/2011/02/stallings-william-comunicaciones-y-redes-de-computadores.pdf</a:t>
            </a:r>
            <a:endParaRPr lang="es-MX" sz="1200" dirty="0"/>
          </a:p>
        </p:txBody>
      </p:sp>
    </p:spTree>
    <p:extLst>
      <p:ext uri="{BB962C8B-B14F-4D97-AF65-F5344CB8AC3E}">
        <p14:creationId xmlns:p14="http://schemas.microsoft.com/office/powerpoint/2010/main" val="39019138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Modelo de Interconexión de Sistemas Abiertos (OSI)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02460" y="1905000"/>
            <a:ext cx="4806669" cy="3777622"/>
          </a:xfrm>
        </p:spPr>
        <p:txBody>
          <a:bodyPr>
            <a:normAutofit/>
          </a:bodyPr>
          <a:lstStyle/>
          <a:p>
            <a:pPr algn="just"/>
            <a:r>
              <a:rPr lang="es-ES" b="1" dirty="0"/>
              <a:t>Creado por la ISO como marco de referencia para el desarrollo de protocolos estándares.</a:t>
            </a:r>
          </a:p>
          <a:p>
            <a:pPr algn="just"/>
            <a:r>
              <a:rPr lang="es-ES" b="1" dirty="0"/>
              <a:t>Obtuvo el grado de estándar internacional en 1983 (TCP/IP en 1982)</a:t>
            </a:r>
            <a:endParaRPr lang="es-ES" dirty="0"/>
          </a:p>
        </p:txBody>
      </p:sp>
      <p:sp>
        <p:nvSpPr>
          <p:cNvPr id="4" name="CuadroTexto 3"/>
          <p:cNvSpPr txBox="1"/>
          <p:nvPr/>
        </p:nvSpPr>
        <p:spPr>
          <a:xfrm>
            <a:off x="1277264" y="6581001"/>
            <a:ext cx="73404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</a:t>
            </a:r>
            <a:r>
              <a:rPr lang="es-MX" sz="1200" dirty="0" err="1"/>
              <a:t>Stallings</a:t>
            </a:r>
            <a:r>
              <a:rPr lang="es-MX" sz="1200" dirty="0"/>
              <a:t> W. (2004). Comunicaciones y redes de computadores.  Pearson </a:t>
            </a:r>
            <a:r>
              <a:rPr lang="es-MX" sz="1200" dirty="0" err="1"/>
              <a:t>Education:USA</a:t>
            </a:r>
            <a:endParaRPr lang="es-MX" sz="1200" dirty="0"/>
          </a:p>
        </p:txBody>
      </p:sp>
      <p:sp>
        <p:nvSpPr>
          <p:cNvPr id="7" name="CuadroTexto 6"/>
          <p:cNvSpPr txBox="1"/>
          <p:nvPr/>
        </p:nvSpPr>
        <p:spPr>
          <a:xfrm>
            <a:off x="6231714" y="6015335"/>
            <a:ext cx="59602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200" dirty="0">
                <a:hlinkClick r:id="rId2"/>
              </a:rPr>
              <a:t>http://www.exa.unicen.edu.ar/catedras/comdat1/material/ElmodeloOSI.pdf</a:t>
            </a:r>
            <a:endParaRPr lang="es-MX" sz="120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1714" y="2101818"/>
            <a:ext cx="5233707" cy="3383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3244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Modelo de Interconexión de Sistemas Abiertos (OSI)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02460" y="1757083"/>
            <a:ext cx="4918747" cy="4535251"/>
          </a:xfrm>
        </p:spPr>
        <p:txBody>
          <a:bodyPr>
            <a:normAutofit/>
          </a:bodyPr>
          <a:lstStyle/>
          <a:p>
            <a:pPr algn="just"/>
            <a:r>
              <a:rPr lang="es-ES" b="1" dirty="0"/>
              <a:t>Capa Física</a:t>
            </a:r>
          </a:p>
          <a:p>
            <a:pPr marL="444500" indent="-444500" algn="just">
              <a:buNone/>
            </a:pPr>
            <a:r>
              <a:rPr lang="es-ES" b="1" dirty="0"/>
              <a:t>   + Transmisión de cadenas de bits no estructurados sobre el medio físico.</a:t>
            </a:r>
          </a:p>
          <a:p>
            <a:pPr marL="444500" indent="-444500" algn="just">
              <a:buNone/>
            </a:pPr>
            <a:r>
              <a:rPr lang="es-ES" b="1" dirty="0"/>
              <a:t>      (voltajes empleados, duración de símbolo, # de terminales en el conector, etc.)</a:t>
            </a:r>
          </a:p>
          <a:p>
            <a:pPr marL="444500" indent="-444500" algn="just">
              <a:buNone/>
            </a:pPr>
            <a:endParaRPr lang="es-ES" b="1" dirty="0"/>
          </a:p>
          <a:p>
            <a:pPr marL="444500" indent="-444500" algn="just">
              <a:buNone/>
            </a:pPr>
            <a:r>
              <a:rPr lang="es-ES" b="1" dirty="0"/>
              <a:t>     Ej. Par trenzado UTP </a:t>
            </a:r>
            <a:r>
              <a:rPr lang="es-ES" b="1" dirty="0" err="1"/>
              <a:t>cat</a:t>
            </a:r>
            <a:r>
              <a:rPr lang="es-ES" b="1" dirty="0"/>
              <a:t> 7.: 8 hilos, 4 pares, Frecuencia 4-600MHz, Tensión máxima 60V</a:t>
            </a:r>
            <a:endParaRPr lang="es-ES" dirty="0"/>
          </a:p>
        </p:txBody>
      </p:sp>
      <p:sp>
        <p:nvSpPr>
          <p:cNvPr id="4" name="CuadroTexto 3"/>
          <p:cNvSpPr txBox="1"/>
          <p:nvPr/>
        </p:nvSpPr>
        <p:spPr>
          <a:xfrm>
            <a:off x="1277264" y="6581001"/>
            <a:ext cx="94003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</a:t>
            </a:r>
            <a:r>
              <a:rPr lang="es-MX" sz="1200" dirty="0" err="1"/>
              <a:t>Stallings</a:t>
            </a:r>
            <a:r>
              <a:rPr lang="es-MX" sz="1200" dirty="0"/>
              <a:t> W. (2004). Introducción. En Comunicaciones y redes de computadores. (pp. 4-20).USA: Pearson </a:t>
            </a:r>
            <a:r>
              <a:rPr lang="es-MX" sz="1200" dirty="0" err="1"/>
              <a:t>Education</a:t>
            </a:r>
            <a:r>
              <a:rPr lang="es-MX" sz="1200" dirty="0"/>
              <a:t>.</a:t>
            </a:r>
          </a:p>
        </p:txBody>
      </p:sp>
      <p:sp>
        <p:nvSpPr>
          <p:cNvPr id="7" name="CuadroTexto 6"/>
          <p:cNvSpPr txBox="1"/>
          <p:nvPr/>
        </p:nvSpPr>
        <p:spPr>
          <a:xfrm>
            <a:off x="6231714" y="6015335"/>
            <a:ext cx="59602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200" dirty="0">
                <a:hlinkClick r:id="rId2"/>
              </a:rPr>
              <a:t>http://www.exa.unicen.edu.ar/catedras/comdat1/material/ElmodeloOSI.pdf</a:t>
            </a:r>
            <a:endParaRPr lang="es-MX" sz="120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762" y="2303929"/>
            <a:ext cx="3068731" cy="3068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0152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Modelo de Interconexión de Sistemas Abiertos (OSI)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02460" y="1757083"/>
            <a:ext cx="4918747" cy="4535251"/>
          </a:xfrm>
        </p:spPr>
        <p:txBody>
          <a:bodyPr>
            <a:normAutofit/>
          </a:bodyPr>
          <a:lstStyle/>
          <a:p>
            <a:pPr algn="just"/>
            <a:r>
              <a:rPr lang="es-ES" b="1" dirty="0"/>
              <a:t>Capa de Enlace de datos</a:t>
            </a:r>
          </a:p>
          <a:p>
            <a:pPr marL="444500" indent="-444500" algn="just">
              <a:buNone/>
            </a:pPr>
            <a:r>
              <a:rPr lang="es-ES" b="1" dirty="0"/>
              <a:t>   + Servicio de transferencia de datos seguro a través del enlace físico; envía bloques de datos (tramas) llevando a cabo la sincronización, control de errores y de flujo.</a:t>
            </a:r>
          </a:p>
          <a:p>
            <a:pPr marL="444500" indent="-444500" algn="just">
              <a:buNone/>
            </a:pPr>
            <a:r>
              <a:rPr lang="es-ES" b="1" dirty="0"/>
              <a:t>    + Direccionamiento físico.</a:t>
            </a:r>
            <a:endParaRPr lang="es-ES" dirty="0"/>
          </a:p>
        </p:txBody>
      </p:sp>
      <p:sp>
        <p:nvSpPr>
          <p:cNvPr id="7" name="CuadroTexto 6"/>
          <p:cNvSpPr txBox="1"/>
          <p:nvPr/>
        </p:nvSpPr>
        <p:spPr>
          <a:xfrm>
            <a:off x="5654938" y="5792564"/>
            <a:ext cx="67329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200" dirty="0">
                <a:hlinkClick r:id="rId2"/>
              </a:rPr>
              <a:t>*</a:t>
            </a:r>
            <a:r>
              <a:rPr lang="es-MX" sz="1200" dirty="0" err="1">
                <a:hlinkClick r:id="rId2"/>
              </a:rPr>
              <a:t>imagen:http</a:t>
            </a:r>
            <a:r>
              <a:rPr lang="es-MX" sz="1200" dirty="0">
                <a:hlinkClick r:id="rId2"/>
              </a:rPr>
              <a:t>://www.ingenieriasystems.com/2016/11/Estandares-de-la-capa-de-enlace</a:t>
            </a:r>
          </a:p>
          <a:p>
            <a:r>
              <a:rPr lang="es-MX" sz="1200" dirty="0">
                <a:hlinkClick r:id="rId2"/>
              </a:rPr>
              <a:t>-de-datos-y-control-de-acceso-a-los-medios-CCNA1-V5-CISCO-C4.html</a:t>
            </a:r>
            <a:endParaRPr lang="es-MX" sz="1200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6687" y="2605917"/>
            <a:ext cx="5630340" cy="2952209"/>
          </a:xfrm>
          <a:prstGeom prst="rect">
            <a:avLst/>
          </a:prstGeom>
        </p:spPr>
      </p:pic>
      <p:sp>
        <p:nvSpPr>
          <p:cNvPr id="8" name="CuadroTexto 7"/>
          <p:cNvSpPr txBox="1"/>
          <p:nvPr/>
        </p:nvSpPr>
        <p:spPr>
          <a:xfrm>
            <a:off x="1277264" y="6581001"/>
            <a:ext cx="94003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</a:t>
            </a:r>
            <a:r>
              <a:rPr lang="es-MX" sz="1200" dirty="0" err="1"/>
              <a:t>Stallings</a:t>
            </a:r>
            <a:r>
              <a:rPr lang="es-MX" sz="1200" dirty="0"/>
              <a:t> W. (2004). Introducción. En Comunicaciones y redes de computadores. (pp. 4-20).USA: Pearson </a:t>
            </a:r>
            <a:r>
              <a:rPr lang="es-MX" sz="1200" dirty="0" err="1"/>
              <a:t>Education</a:t>
            </a:r>
            <a:r>
              <a:rPr lang="es-MX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97784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Modelo de Interconexión de Sistemas Abiertos (OSI)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02460" y="1757083"/>
            <a:ext cx="4918747" cy="4535251"/>
          </a:xfrm>
        </p:spPr>
        <p:txBody>
          <a:bodyPr>
            <a:normAutofit/>
          </a:bodyPr>
          <a:lstStyle/>
          <a:p>
            <a:pPr algn="just"/>
            <a:r>
              <a:rPr lang="es-ES" b="1" dirty="0"/>
              <a:t>Capa de Red</a:t>
            </a:r>
          </a:p>
          <a:p>
            <a:pPr marL="444500" indent="-444500" algn="just">
              <a:buNone/>
            </a:pPr>
            <a:r>
              <a:rPr lang="es-ES" b="1" dirty="0"/>
              <a:t>   + Direccionamiento lógico</a:t>
            </a:r>
          </a:p>
          <a:p>
            <a:pPr marL="444500" indent="-444500" algn="just">
              <a:buNone/>
            </a:pPr>
            <a:r>
              <a:rPr lang="es-ES" b="1" dirty="0"/>
              <a:t>   + Enrutamiento</a:t>
            </a:r>
            <a:endParaRPr lang="es-ES" dirty="0"/>
          </a:p>
        </p:txBody>
      </p:sp>
      <p:sp>
        <p:nvSpPr>
          <p:cNvPr id="7" name="CuadroTexto 6"/>
          <p:cNvSpPr txBox="1"/>
          <p:nvPr/>
        </p:nvSpPr>
        <p:spPr>
          <a:xfrm>
            <a:off x="5365473" y="5765449"/>
            <a:ext cx="66335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200" dirty="0">
                <a:hlinkClick r:id="rId2"/>
              </a:rPr>
              <a:t>*</a:t>
            </a:r>
            <a:r>
              <a:rPr lang="es-MX" sz="1200" dirty="0" err="1">
                <a:hlinkClick r:id="rId2"/>
              </a:rPr>
              <a:t>imagen:</a:t>
            </a:r>
            <a:r>
              <a:rPr lang="es-MX" sz="1200" dirty="0" err="1"/>
              <a:t>http</a:t>
            </a:r>
            <a:r>
              <a:rPr lang="es-MX" sz="1200" dirty="0"/>
              <a:t>://www.winex.com.py/2017/03/05/segmentacion-y-direccionamiento-ip/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1277264" y="6581001"/>
            <a:ext cx="94003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</a:t>
            </a:r>
            <a:r>
              <a:rPr lang="es-MX" sz="1200" dirty="0" err="1"/>
              <a:t>Stallings</a:t>
            </a:r>
            <a:r>
              <a:rPr lang="es-MX" sz="1200" dirty="0"/>
              <a:t> W. (2004). Introducción. En Comunicaciones y redes de computadores. (pp. 4-20).USA: Pearson </a:t>
            </a:r>
            <a:r>
              <a:rPr lang="es-MX" sz="1200" dirty="0" err="1"/>
              <a:t>Education</a:t>
            </a:r>
            <a:r>
              <a:rPr lang="es-MX" sz="1200" dirty="0"/>
              <a:t>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9573812-5B89-4E1D-B9BB-E4C4D3ED7D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473" y="2069697"/>
            <a:ext cx="5956587" cy="3722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7034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Modelo de Interconexión de Sistemas Abiertos (OSI)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02460" y="1757083"/>
            <a:ext cx="4918747" cy="4535251"/>
          </a:xfrm>
        </p:spPr>
        <p:txBody>
          <a:bodyPr>
            <a:normAutofit/>
          </a:bodyPr>
          <a:lstStyle/>
          <a:p>
            <a:pPr algn="just"/>
            <a:r>
              <a:rPr lang="es-ES" b="1" dirty="0"/>
              <a:t>Capa de Transporte</a:t>
            </a:r>
          </a:p>
          <a:p>
            <a:pPr marL="444500" indent="-444500" algn="just">
              <a:buNone/>
            </a:pPr>
            <a:r>
              <a:rPr lang="es-ES" b="1" dirty="0"/>
              <a:t>   + Transferencia transparente de datos extremo a extremo.</a:t>
            </a:r>
          </a:p>
          <a:p>
            <a:pPr marL="444500" indent="-444500" algn="just">
              <a:buNone/>
            </a:pPr>
            <a:r>
              <a:rPr lang="es-ES" b="1" dirty="0"/>
              <a:t>   + Procedimientos de recuperación de errores y control de flujo entre puntos finales.</a:t>
            </a:r>
          </a:p>
          <a:p>
            <a:pPr marL="444500" indent="-444500" algn="just">
              <a:buNone/>
            </a:pPr>
            <a:r>
              <a:rPr lang="es-ES" b="1" dirty="0"/>
              <a:t>   + Direccionamiento en punto de servicio</a:t>
            </a:r>
            <a:endParaRPr lang="es-ES" dirty="0"/>
          </a:p>
        </p:txBody>
      </p:sp>
      <p:sp>
        <p:nvSpPr>
          <p:cNvPr id="7" name="CuadroTexto 6"/>
          <p:cNvSpPr txBox="1"/>
          <p:nvPr/>
        </p:nvSpPr>
        <p:spPr>
          <a:xfrm>
            <a:off x="4541880" y="5931063"/>
            <a:ext cx="76113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200" dirty="0">
                <a:hlinkClick r:id="rId2"/>
              </a:rPr>
              <a:t>*</a:t>
            </a:r>
            <a:r>
              <a:rPr lang="es-MX" sz="1200" dirty="0" err="1">
                <a:hlinkClick r:id="rId2"/>
              </a:rPr>
              <a:t>imagen:</a:t>
            </a:r>
            <a:r>
              <a:rPr lang="es-MX" sz="1200" dirty="0" err="1"/>
              <a:t>http</a:t>
            </a:r>
            <a:r>
              <a:rPr lang="es-MX" sz="1200" dirty="0"/>
              <a:t>://reader.digitalbooks.pro/</a:t>
            </a:r>
            <a:r>
              <a:rPr lang="es-MX" sz="1200" dirty="0" err="1"/>
              <a:t>content</a:t>
            </a:r>
            <a:r>
              <a:rPr lang="es-MX" sz="1200" dirty="0"/>
              <a:t>/</a:t>
            </a:r>
            <a:r>
              <a:rPr lang="es-MX" sz="1200" dirty="0" err="1"/>
              <a:t>preview</a:t>
            </a:r>
            <a:r>
              <a:rPr lang="es-MX" sz="1200" dirty="0"/>
              <a:t>/</a:t>
            </a:r>
            <a:r>
              <a:rPr lang="es-MX" sz="1200" dirty="0" err="1"/>
              <a:t>books</a:t>
            </a:r>
            <a:r>
              <a:rPr lang="es-MX" sz="1200" dirty="0"/>
              <a:t>/37922/</a:t>
            </a:r>
            <a:r>
              <a:rPr lang="es-MX" sz="1200" dirty="0" err="1"/>
              <a:t>book</a:t>
            </a:r>
            <a:r>
              <a:rPr lang="es-MX" sz="1200" dirty="0"/>
              <a:t>/OEBPS/</a:t>
            </a:r>
            <a:r>
              <a:rPr lang="es-MX" sz="1200" dirty="0" err="1"/>
              <a:t>Images</a:t>
            </a:r>
            <a:r>
              <a:rPr lang="es-MX" sz="1200" dirty="0"/>
              <a:t>/88.png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1277264" y="6581001"/>
            <a:ext cx="94003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</a:t>
            </a:r>
            <a:r>
              <a:rPr lang="es-MX" sz="1200" dirty="0" err="1"/>
              <a:t>Stallings</a:t>
            </a:r>
            <a:r>
              <a:rPr lang="es-MX" sz="1200" dirty="0"/>
              <a:t> W. (2004). Introducción. En Comunicaciones y redes de computadores. (pp. 4-20).USA: Pearson </a:t>
            </a:r>
            <a:r>
              <a:rPr lang="es-MX" sz="1200" dirty="0" err="1"/>
              <a:t>Education</a:t>
            </a:r>
            <a:r>
              <a:rPr lang="es-MX" sz="1200" dirty="0"/>
              <a:t>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8F857BD-B67B-4ED3-8E66-BFF7FBAD3F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1207" y="1904999"/>
            <a:ext cx="6011412" cy="357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7968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Modelo de Interconexión de Sistemas Abiertos (OSI)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02460" y="1757083"/>
            <a:ext cx="4918747" cy="4535251"/>
          </a:xfrm>
        </p:spPr>
        <p:txBody>
          <a:bodyPr>
            <a:normAutofit/>
          </a:bodyPr>
          <a:lstStyle/>
          <a:p>
            <a:pPr algn="just"/>
            <a:r>
              <a:rPr lang="es-ES" b="1" dirty="0"/>
              <a:t>Capa de Transporte</a:t>
            </a:r>
          </a:p>
          <a:p>
            <a:pPr marL="444500" indent="-444500" algn="just">
              <a:buNone/>
            </a:pPr>
            <a:r>
              <a:rPr lang="es-ES" b="1" dirty="0"/>
              <a:t>   + Direccionamiento en punto de servicio</a:t>
            </a:r>
          </a:p>
          <a:p>
            <a:pPr marL="444500" indent="-444500" algn="just">
              <a:buNone/>
            </a:pPr>
            <a:r>
              <a:rPr lang="es-ES" b="1" dirty="0"/>
              <a:t>      (RFC 1340, RFC1700)</a:t>
            </a:r>
            <a:endParaRPr lang="es-ES" dirty="0"/>
          </a:p>
        </p:txBody>
      </p:sp>
      <p:sp>
        <p:nvSpPr>
          <p:cNvPr id="7" name="CuadroTexto 6"/>
          <p:cNvSpPr txBox="1"/>
          <p:nvPr/>
        </p:nvSpPr>
        <p:spPr>
          <a:xfrm>
            <a:off x="6569860" y="6060817"/>
            <a:ext cx="33185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200" dirty="0">
                <a:hlinkClick r:id="rId2"/>
              </a:rPr>
              <a:t>*</a:t>
            </a:r>
            <a:r>
              <a:rPr lang="es-MX" sz="1200" dirty="0" err="1">
                <a:hlinkClick r:id="rId2"/>
              </a:rPr>
              <a:t>imagen:</a:t>
            </a:r>
            <a:r>
              <a:rPr lang="es-MX" sz="1200" dirty="0" err="1">
                <a:hlinkClick r:id="rId3"/>
              </a:rPr>
              <a:t>https</a:t>
            </a:r>
            <a:r>
              <a:rPr lang="es-MX" sz="1200" dirty="0">
                <a:hlinkClick r:id="rId3"/>
              </a:rPr>
              <a:t>://tools.ietf.org/</a:t>
            </a:r>
            <a:r>
              <a:rPr lang="es-MX" sz="1200" dirty="0" err="1">
                <a:hlinkClick r:id="rId3"/>
              </a:rPr>
              <a:t>html</a:t>
            </a:r>
            <a:r>
              <a:rPr lang="es-MX" sz="1200" dirty="0">
                <a:hlinkClick r:id="rId3"/>
              </a:rPr>
              <a:t>/rfc1700</a:t>
            </a:r>
            <a:endParaRPr lang="es-MX" sz="120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9859" y="1904999"/>
            <a:ext cx="4416387" cy="4169891"/>
          </a:xfrm>
          <a:prstGeom prst="rect">
            <a:avLst/>
          </a:prstGeom>
        </p:spPr>
      </p:pic>
      <p:sp>
        <p:nvSpPr>
          <p:cNvPr id="8" name="CuadroTexto 7"/>
          <p:cNvSpPr txBox="1"/>
          <p:nvPr/>
        </p:nvSpPr>
        <p:spPr>
          <a:xfrm>
            <a:off x="1277264" y="6581001"/>
            <a:ext cx="94003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</a:t>
            </a:r>
            <a:r>
              <a:rPr lang="es-MX" sz="1200" dirty="0" err="1"/>
              <a:t>Stallings</a:t>
            </a:r>
            <a:r>
              <a:rPr lang="es-MX" sz="1200" dirty="0"/>
              <a:t> W. (2004). Introducción. En Comunicaciones y redes de computadores. (pp. 4-20).USA: Pearson </a:t>
            </a:r>
            <a:r>
              <a:rPr lang="es-MX" sz="1200" dirty="0" err="1"/>
              <a:t>Education</a:t>
            </a:r>
            <a:r>
              <a:rPr lang="es-MX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287355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6E351C8D-922D-4409-8BA9-4358669DA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430" y="3347418"/>
            <a:ext cx="6849296" cy="3510581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Modelo de Interconexión de Sistemas Abiertos (OSI)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02460" y="1757084"/>
            <a:ext cx="10502152" cy="1671916"/>
          </a:xfrm>
        </p:spPr>
        <p:txBody>
          <a:bodyPr>
            <a:normAutofit/>
          </a:bodyPr>
          <a:lstStyle/>
          <a:p>
            <a:pPr algn="just"/>
            <a:r>
              <a:rPr lang="es-ES" b="1" dirty="0"/>
              <a:t>Capa de Sesión</a:t>
            </a:r>
          </a:p>
          <a:p>
            <a:pPr marL="444500" indent="-444500" algn="just">
              <a:buNone/>
            </a:pPr>
            <a:r>
              <a:rPr lang="es-ES" b="1" dirty="0"/>
              <a:t>   + Establecimiento, gestión y cierre de sesiones entre aplicaciones  </a:t>
            </a:r>
          </a:p>
          <a:p>
            <a:pPr marL="444500" indent="-444500" algn="just">
              <a:buNone/>
            </a:pPr>
            <a:r>
              <a:rPr lang="es-ES" b="1" dirty="0"/>
              <a:t>      (autenticación, autorización de privilegios, restauración de sesión&lt;</a:t>
            </a:r>
            <a:r>
              <a:rPr lang="es-ES" b="1" dirty="0" err="1"/>
              <a:t>checkpoints</a:t>
            </a:r>
            <a:r>
              <a:rPr lang="es-ES" b="1" dirty="0"/>
              <a:t>&gt;, sincronización de información (ej. audio, video)).</a:t>
            </a:r>
            <a:endParaRPr lang="es-ES" dirty="0"/>
          </a:p>
        </p:txBody>
      </p:sp>
      <p:sp>
        <p:nvSpPr>
          <p:cNvPr id="4" name="CuadroTexto 3"/>
          <p:cNvSpPr txBox="1"/>
          <p:nvPr/>
        </p:nvSpPr>
        <p:spPr>
          <a:xfrm>
            <a:off x="1801699" y="6482834"/>
            <a:ext cx="2419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200" dirty="0"/>
              <a:t>https://youtu.be/2Abjxmp7TfU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1156240" y="6205835"/>
            <a:ext cx="94003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</a:t>
            </a:r>
            <a:r>
              <a:rPr lang="es-MX" sz="1200" dirty="0" err="1"/>
              <a:t>Stallings</a:t>
            </a:r>
            <a:r>
              <a:rPr lang="es-MX" sz="1200" dirty="0"/>
              <a:t> W. (2004). Introducción. En Comunicaciones y redes de computadores. (pp. 4-20).USA: Pearson </a:t>
            </a:r>
            <a:r>
              <a:rPr lang="es-MX" sz="1200" dirty="0" err="1"/>
              <a:t>Education</a:t>
            </a:r>
            <a:r>
              <a:rPr lang="es-MX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430540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Modelo de Interconexión de Sistemas Abiertos (OSI)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02460" y="1757083"/>
            <a:ext cx="4918747" cy="4535251"/>
          </a:xfrm>
        </p:spPr>
        <p:txBody>
          <a:bodyPr>
            <a:normAutofit/>
          </a:bodyPr>
          <a:lstStyle/>
          <a:p>
            <a:pPr algn="just"/>
            <a:r>
              <a:rPr lang="es-ES" b="1" dirty="0"/>
              <a:t>Capa de Presentación</a:t>
            </a:r>
          </a:p>
          <a:p>
            <a:pPr marL="444500" indent="-444500" algn="just">
              <a:buNone/>
            </a:pPr>
            <a:r>
              <a:rPr lang="es-ES" b="1" dirty="0"/>
              <a:t>   + Brinda independencia respecto a las diferencias en la representación de datos (sintaxis). </a:t>
            </a:r>
          </a:p>
          <a:p>
            <a:pPr marL="444500" indent="-444500" algn="just">
              <a:buNone/>
            </a:pPr>
            <a:r>
              <a:rPr lang="es-ES" b="1" dirty="0"/>
              <a:t>   + Cifrado de datos</a:t>
            </a:r>
          </a:p>
          <a:p>
            <a:pPr marL="444500" indent="-444500" algn="just">
              <a:buNone/>
            </a:pPr>
            <a:r>
              <a:rPr lang="es-ES" b="1" dirty="0"/>
              <a:t>   + Compresión de datos</a:t>
            </a:r>
            <a:endParaRPr lang="es-ES" dirty="0"/>
          </a:p>
        </p:txBody>
      </p:sp>
      <p:sp>
        <p:nvSpPr>
          <p:cNvPr id="6" name="CuadroTexto 5"/>
          <p:cNvSpPr txBox="1"/>
          <p:nvPr/>
        </p:nvSpPr>
        <p:spPr>
          <a:xfrm>
            <a:off x="7732059" y="270285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Ej.</a:t>
            </a:r>
            <a:endParaRPr lang="es-MX" dirty="0"/>
          </a:p>
        </p:txBody>
      </p:sp>
      <p:graphicFrame>
        <p:nvGraphicFramePr>
          <p:cNvPr id="8" name="Tab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806396"/>
              </p:ext>
            </p:extLst>
          </p:nvPr>
        </p:nvGraphicFramePr>
        <p:xfrm>
          <a:off x="4984506" y="3247713"/>
          <a:ext cx="6875800" cy="1920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7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1" i="1" dirty="0" err="1"/>
                        <a:t>int</a:t>
                      </a:r>
                      <a:r>
                        <a:rPr lang="es-ES" b="1" i="1" dirty="0"/>
                        <a:t> v = 19,088,743;</a:t>
                      </a:r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1" i="1" dirty="0"/>
                        <a:t>v=0x01234567;</a:t>
                      </a:r>
                      <a:endParaRPr lang="es-MX" b="1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Big-</a:t>
                      </a:r>
                      <a:r>
                        <a:rPr lang="es-ES" dirty="0" err="1"/>
                        <a:t>Endian</a:t>
                      </a:r>
                      <a:endParaRPr lang="es-ES" dirty="0"/>
                    </a:p>
                    <a:p>
                      <a:pPr algn="ctr"/>
                      <a:r>
                        <a:rPr lang="es-ES" dirty="0"/>
                        <a:t>(Motorola)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Little-</a:t>
                      </a:r>
                      <a:r>
                        <a:rPr lang="es-ES" dirty="0" err="1"/>
                        <a:t>Endian</a:t>
                      </a:r>
                      <a:endParaRPr lang="es-ES" dirty="0"/>
                    </a:p>
                    <a:p>
                      <a:pPr algn="ctr"/>
                      <a:r>
                        <a:rPr lang="es-ES" dirty="0"/>
                        <a:t>(Intel)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v=0x01234567;</a:t>
                      </a:r>
                    </a:p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v=0x67452301;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CuadroTexto 8"/>
          <p:cNvSpPr txBox="1"/>
          <p:nvPr/>
        </p:nvSpPr>
        <p:spPr>
          <a:xfrm>
            <a:off x="1277264" y="6581001"/>
            <a:ext cx="94003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</a:t>
            </a:r>
            <a:r>
              <a:rPr lang="es-MX" sz="1200" dirty="0" err="1"/>
              <a:t>Stallings</a:t>
            </a:r>
            <a:r>
              <a:rPr lang="es-MX" sz="1200" dirty="0"/>
              <a:t> W. (2004). Introducción. En Comunicaciones y redes de computadores. (pp. 4-20).USA: Pearson </a:t>
            </a:r>
            <a:r>
              <a:rPr lang="es-MX" sz="1200" dirty="0" err="1"/>
              <a:t>Education</a:t>
            </a:r>
            <a:r>
              <a:rPr lang="es-MX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917769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Modelo de Interconexión de Sistemas Abiertos (OSI)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02460" y="1757083"/>
            <a:ext cx="4918747" cy="4535251"/>
          </a:xfrm>
        </p:spPr>
        <p:txBody>
          <a:bodyPr>
            <a:normAutofit/>
          </a:bodyPr>
          <a:lstStyle/>
          <a:p>
            <a:pPr algn="just"/>
            <a:r>
              <a:rPr lang="es-ES" b="1" dirty="0"/>
              <a:t>Capa de Aplicación</a:t>
            </a:r>
          </a:p>
          <a:p>
            <a:pPr marL="444500" indent="-444500" algn="just">
              <a:buNone/>
            </a:pPr>
            <a:r>
              <a:rPr lang="es-ES" b="1" dirty="0"/>
              <a:t>   + Aquí residen las aplicaciones de uso general:</a:t>
            </a:r>
          </a:p>
          <a:p>
            <a:pPr marL="444500" indent="-444500" algn="just">
              <a:buNone/>
            </a:pPr>
            <a:r>
              <a:rPr lang="es-ES" b="1" dirty="0"/>
              <a:t>     - Transferencia de archivos (FTP, TFTP).</a:t>
            </a:r>
          </a:p>
          <a:p>
            <a:pPr marL="444500" indent="-444500" algn="just">
              <a:buNone/>
            </a:pPr>
            <a:r>
              <a:rPr lang="es-ES" b="1" dirty="0"/>
              <a:t>     - Correo electrónico (SMTP, POP3).</a:t>
            </a:r>
          </a:p>
          <a:p>
            <a:pPr marL="444500" indent="-444500" algn="just">
              <a:buNone/>
            </a:pPr>
            <a:r>
              <a:rPr lang="es-ES" b="1" dirty="0"/>
              <a:t>     - Acceso terminal a computadoras remotas (telnet, </a:t>
            </a:r>
            <a:r>
              <a:rPr lang="es-ES" b="1" dirty="0" err="1"/>
              <a:t>ssh</a:t>
            </a:r>
            <a:r>
              <a:rPr lang="es-ES" b="1" dirty="0"/>
              <a:t>). </a:t>
            </a:r>
            <a:endParaRPr lang="es-ES" dirty="0"/>
          </a:p>
        </p:txBody>
      </p:sp>
      <p:sp>
        <p:nvSpPr>
          <p:cNvPr id="7" name="CuadroTexto 6"/>
          <p:cNvSpPr txBox="1"/>
          <p:nvPr/>
        </p:nvSpPr>
        <p:spPr>
          <a:xfrm>
            <a:off x="6906036" y="5875466"/>
            <a:ext cx="40398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200" dirty="0">
                <a:hlinkClick r:id="rId2"/>
              </a:rPr>
              <a:t>*</a:t>
            </a:r>
            <a:r>
              <a:rPr lang="es-MX" sz="1200" dirty="0" err="1">
                <a:hlinkClick r:id="rId2"/>
              </a:rPr>
              <a:t>imagen:</a:t>
            </a:r>
            <a:r>
              <a:rPr lang="es-MX" sz="1200" dirty="0" err="1">
                <a:hlinkClick r:id="rId3"/>
              </a:rPr>
              <a:t>https</a:t>
            </a:r>
            <a:r>
              <a:rPr lang="es-MX" sz="1200" dirty="0">
                <a:hlinkClick r:id="rId3"/>
              </a:rPr>
              <a:t>://redtransatlantica.com/2013/09/11/</a:t>
            </a:r>
          </a:p>
          <a:p>
            <a:r>
              <a:rPr lang="es-MX" sz="1200" dirty="0">
                <a:hlinkClick r:id="rId3"/>
              </a:rPr>
              <a:t>taller-de-redes-sociales-y-</a:t>
            </a:r>
            <a:r>
              <a:rPr lang="es-MX" sz="1200" dirty="0" err="1">
                <a:hlinkClick r:id="rId3"/>
              </a:rPr>
              <a:t>comunicacion</a:t>
            </a:r>
            <a:r>
              <a:rPr lang="es-MX" sz="1200" dirty="0">
                <a:hlinkClick r:id="rId3"/>
              </a:rPr>
              <a:t>/</a:t>
            </a:r>
            <a:endParaRPr lang="es-MX" sz="120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4151" y="1940116"/>
            <a:ext cx="3877516" cy="3877516"/>
          </a:xfrm>
          <a:prstGeom prst="rect">
            <a:avLst/>
          </a:prstGeom>
        </p:spPr>
      </p:pic>
      <p:sp>
        <p:nvSpPr>
          <p:cNvPr id="10" name="CuadroTexto 9"/>
          <p:cNvSpPr txBox="1"/>
          <p:nvPr/>
        </p:nvSpPr>
        <p:spPr>
          <a:xfrm>
            <a:off x="1277264" y="6581001"/>
            <a:ext cx="94003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</a:t>
            </a:r>
            <a:r>
              <a:rPr lang="es-MX" sz="1200" dirty="0" err="1"/>
              <a:t>Stallings</a:t>
            </a:r>
            <a:r>
              <a:rPr lang="es-MX" sz="1200" dirty="0"/>
              <a:t> W. (2004). Introducción. En Comunicaciones y redes de computadores. (pp. 4-20).USA: Pearson </a:t>
            </a:r>
            <a:r>
              <a:rPr lang="es-MX" sz="1200" dirty="0" err="1"/>
              <a:t>Education</a:t>
            </a:r>
            <a:r>
              <a:rPr lang="es-MX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639732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Modelo de Interconexión de Sistemas Abiertos (OSI)</a:t>
            </a:r>
            <a:endParaRPr lang="es-MX" dirty="0"/>
          </a:p>
        </p:txBody>
      </p:sp>
      <p:sp>
        <p:nvSpPr>
          <p:cNvPr id="9" name="CuadroTexto 8"/>
          <p:cNvSpPr txBox="1"/>
          <p:nvPr/>
        </p:nvSpPr>
        <p:spPr>
          <a:xfrm>
            <a:off x="2592925" y="6581001"/>
            <a:ext cx="59602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200" dirty="0">
                <a:hlinkClick r:id="rId2"/>
              </a:rPr>
              <a:t>http://www.exa.unicen.edu.ar/catedras/comdat1/material/ElmodeloOSI.pdf</a:t>
            </a:r>
            <a:endParaRPr lang="es-MX" sz="1200" dirty="0"/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2925" y="1905000"/>
            <a:ext cx="6953250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0092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Funciones que deben desempeñar todas las redes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02460" y="1757083"/>
            <a:ext cx="10502152" cy="4535251"/>
          </a:xfrm>
        </p:spPr>
        <p:txBody>
          <a:bodyPr>
            <a:normAutofit/>
          </a:bodyPr>
          <a:lstStyle/>
          <a:p>
            <a:pPr algn="just"/>
            <a:endParaRPr lang="es-ES" b="1" dirty="0"/>
          </a:p>
          <a:p>
            <a:pPr algn="just"/>
            <a:endParaRPr lang="es-ES" b="1" dirty="0"/>
          </a:p>
          <a:p>
            <a:pPr algn="just"/>
            <a:r>
              <a:rPr lang="es-ES" b="1" dirty="0"/>
              <a:t>Encapsulamiento</a:t>
            </a:r>
          </a:p>
          <a:p>
            <a:pPr algn="just"/>
            <a:r>
              <a:rPr lang="es-ES" b="1" dirty="0"/>
              <a:t>Control de error</a:t>
            </a:r>
          </a:p>
          <a:p>
            <a:pPr algn="just"/>
            <a:r>
              <a:rPr lang="es-ES" b="1" dirty="0"/>
              <a:t>Direccionamiento</a:t>
            </a:r>
          </a:p>
          <a:p>
            <a:pPr algn="just"/>
            <a:r>
              <a:rPr lang="es-ES" b="1" dirty="0"/>
              <a:t>Entrega en orden</a:t>
            </a:r>
          </a:p>
          <a:p>
            <a:pPr algn="just"/>
            <a:r>
              <a:rPr lang="es-ES" b="1" dirty="0"/>
              <a:t>Control de conexión</a:t>
            </a:r>
          </a:p>
          <a:p>
            <a:pPr algn="just"/>
            <a:r>
              <a:rPr lang="es-ES" b="1" dirty="0"/>
              <a:t>Servicios de transmisión</a:t>
            </a:r>
          </a:p>
          <a:p>
            <a:pPr algn="just"/>
            <a:r>
              <a:rPr lang="es-ES" b="1" dirty="0" err="1"/>
              <a:t>Multiplexación</a:t>
            </a:r>
            <a:endParaRPr lang="es-ES" b="1" dirty="0"/>
          </a:p>
          <a:p>
            <a:pPr algn="just"/>
            <a:r>
              <a:rPr lang="es-ES" b="1" dirty="0"/>
              <a:t>Segmentación y ensamblado</a:t>
            </a:r>
          </a:p>
          <a:p>
            <a:pPr algn="just"/>
            <a:r>
              <a:rPr lang="es-ES" b="1" dirty="0"/>
              <a:t>Control de flujo</a:t>
            </a:r>
            <a:endParaRPr lang="es-ES" dirty="0"/>
          </a:p>
        </p:txBody>
      </p:sp>
      <p:sp>
        <p:nvSpPr>
          <p:cNvPr id="5" name="CuadroTexto 4"/>
          <p:cNvSpPr txBox="1"/>
          <p:nvPr/>
        </p:nvSpPr>
        <p:spPr>
          <a:xfrm>
            <a:off x="1277264" y="6581001"/>
            <a:ext cx="10421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</a:t>
            </a:r>
            <a:r>
              <a:rPr lang="es-MX" sz="1200" dirty="0" err="1"/>
              <a:t>Stallings</a:t>
            </a:r>
            <a:r>
              <a:rPr lang="es-MX" sz="1200" dirty="0"/>
              <a:t> W. (2004). Protocolos y Arquitectura. En Comunicaciones y redes de computadores. (pp. 27-57).USA: Pearson </a:t>
            </a:r>
            <a:r>
              <a:rPr lang="es-MX" sz="1200" dirty="0" err="1"/>
              <a:t>Education</a:t>
            </a:r>
            <a:r>
              <a:rPr lang="es-MX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656421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Funciones que deben desempeñar todas las redes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02460" y="1757083"/>
            <a:ext cx="10502152" cy="4535251"/>
          </a:xfrm>
        </p:spPr>
        <p:txBody>
          <a:bodyPr>
            <a:normAutofit/>
          </a:bodyPr>
          <a:lstStyle/>
          <a:p>
            <a:pPr algn="just"/>
            <a:endParaRPr lang="es-ES" b="1" dirty="0"/>
          </a:p>
          <a:p>
            <a:pPr algn="just"/>
            <a:endParaRPr lang="es-ES" b="1" dirty="0"/>
          </a:p>
          <a:p>
            <a:pPr algn="just"/>
            <a:r>
              <a:rPr lang="es-ES" b="1" dirty="0"/>
              <a:t>Encapsulamiento</a:t>
            </a:r>
          </a:p>
          <a:p>
            <a:pPr marL="0" indent="0" algn="just">
              <a:buNone/>
            </a:pPr>
            <a:r>
              <a:rPr lang="es-ES" b="1" dirty="0"/>
              <a:t>Cada PDU contiene los datos de aplicación,</a:t>
            </a:r>
          </a:p>
          <a:p>
            <a:pPr marL="0" indent="0" algn="just">
              <a:buNone/>
            </a:pPr>
            <a:r>
              <a:rPr lang="es-ES" b="1" dirty="0"/>
              <a:t>además de información de control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1277264" y="6581001"/>
            <a:ext cx="10421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</a:t>
            </a:r>
            <a:r>
              <a:rPr lang="es-MX" sz="1200" dirty="0" err="1"/>
              <a:t>Stallings</a:t>
            </a:r>
            <a:r>
              <a:rPr lang="es-MX" sz="1200" dirty="0"/>
              <a:t> W. (2004). Protocolos y Arquitectura. En Comunicaciones y redes de computadores. (pp. 27-57).USA: Pearson </a:t>
            </a:r>
            <a:r>
              <a:rPr lang="es-MX" sz="1200" dirty="0" err="1"/>
              <a:t>Education</a:t>
            </a:r>
            <a:r>
              <a:rPr lang="es-MX" sz="1200" dirty="0"/>
              <a:t>.</a:t>
            </a:r>
          </a:p>
        </p:txBody>
      </p:sp>
      <p:sp>
        <p:nvSpPr>
          <p:cNvPr id="4" name="Rectángulo 3"/>
          <p:cNvSpPr/>
          <p:nvPr/>
        </p:nvSpPr>
        <p:spPr>
          <a:xfrm>
            <a:off x="4823012" y="6153834"/>
            <a:ext cx="762896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200" dirty="0">
                <a:hlinkClick r:id="rId2"/>
              </a:rPr>
              <a:t>Imagen: https://planificacionadministracionredes.readthedocs.io/es/latest/Tema02/Teoria.html</a:t>
            </a:r>
            <a:endParaRPr lang="es-MX" sz="1200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1560" y="1813902"/>
            <a:ext cx="4773052" cy="4421612"/>
          </a:xfrm>
          <a:prstGeom prst="rect">
            <a:avLst/>
          </a:prstGeom>
        </p:spPr>
      </p:pic>
      <p:sp>
        <p:nvSpPr>
          <p:cNvPr id="7" name="Abrir llave 6"/>
          <p:cNvSpPr/>
          <p:nvPr/>
        </p:nvSpPr>
        <p:spPr>
          <a:xfrm rot="5400000">
            <a:off x="9548215" y="1287326"/>
            <a:ext cx="169917" cy="115251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CuadroTexto 7"/>
          <p:cNvSpPr txBox="1"/>
          <p:nvPr/>
        </p:nvSpPr>
        <p:spPr>
          <a:xfrm>
            <a:off x="9414024" y="1557229"/>
            <a:ext cx="46519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b="1" dirty="0"/>
              <a:t>PDU</a:t>
            </a:r>
            <a:endParaRPr lang="es-MX" sz="1100" b="1" dirty="0"/>
          </a:p>
        </p:txBody>
      </p:sp>
    </p:spTree>
    <p:extLst>
      <p:ext uri="{BB962C8B-B14F-4D97-AF65-F5344CB8AC3E}">
        <p14:creationId xmlns:p14="http://schemas.microsoft.com/office/powerpoint/2010/main" val="25592976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Funciones que deben desempeñar todas las redes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02460" y="1757083"/>
            <a:ext cx="10502152" cy="4535251"/>
          </a:xfrm>
        </p:spPr>
        <p:txBody>
          <a:bodyPr>
            <a:normAutofit/>
          </a:bodyPr>
          <a:lstStyle/>
          <a:p>
            <a:pPr algn="just"/>
            <a:endParaRPr lang="es-ES" b="1" dirty="0"/>
          </a:p>
          <a:p>
            <a:pPr algn="just"/>
            <a:endParaRPr lang="es-ES" b="1" dirty="0"/>
          </a:p>
          <a:p>
            <a:pPr algn="just"/>
            <a:r>
              <a:rPr lang="es-ES" b="1" dirty="0"/>
              <a:t>Control de error</a:t>
            </a:r>
          </a:p>
          <a:p>
            <a:pPr marL="0" indent="0" algn="just">
              <a:buNone/>
            </a:pPr>
            <a:r>
              <a:rPr lang="es-ES" b="1" dirty="0"/>
              <a:t>Necesarias para recuperar de pérdida o deterioro de datos. Algunos de los principales algoritmos son:</a:t>
            </a:r>
          </a:p>
          <a:p>
            <a:pPr marL="0" indent="0" algn="just">
              <a:buNone/>
            </a:pPr>
            <a:r>
              <a:rPr lang="es-ES" b="1" dirty="0"/>
              <a:t>  + Comprobación de Redundancia Cíclica (CRC)</a:t>
            </a:r>
          </a:p>
          <a:p>
            <a:pPr marL="0" indent="0" algn="just">
              <a:buNone/>
            </a:pPr>
            <a:r>
              <a:rPr lang="es-ES" b="1" dirty="0"/>
              <a:t>  + Suma de comprobación (</a:t>
            </a:r>
            <a:r>
              <a:rPr lang="es-ES" b="1" dirty="0" err="1"/>
              <a:t>Checksum</a:t>
            </a:r>
            <a:r>
              <a:rPr lang="es-ES" b="1" dirty="0"/>
              <a:t>)</a:t>
            </a:r>
          </a:p>
          <a:p>
            <a:pPr marL="0" indent="0" algn="just">
              <a:buNone/>
            </a:pPr>
            <a:r>
              <a:rPr lang="es-ES" b="1" dirty="0"/>
              <a:t>  + Código de </a:t>
            </a:r>
            <a:r>
              <a:rPr lang="es-ES" b="1" dirty="0" err="1"/>
              <a:t>Hamming</a:t>
            </a:r>
            <a:endParaRPr lang="es-ES" b="1" dirty="0"/>
          </a:p>
          <a:p>
            <a:pPr marL="0" indent="0" algn="just">
              <a:buNone/>
            </a:pPr>
            <a:r>
              <a:rPr lang="es-ES" b="1" dirty="0"/>
              <a:t>  + Bit de paridad</a:t>
            </a:r>
          </a:p>
          <a:p>
            <a:pPr marL="0" indent="0" algn="just">
              <a:buNone/>
            </a:pPr>
            <a:endParaRPr lang="es-ES" b="1" dirty="0"/>
          </a:p>
        </p:txBody>
      </p:sp>
      <p:sp>
        <p:nvSpPr>
          <p:cNvPr id="5" name="CuadroTexto 4"/>
          <p:cNvSpPr txBox="1"/>
          <p:nvPr/>
        </p:nvSpPr>
        <p:spPr>
          <a:xfrm>
            <a:off x="1277264" y="6581001"/>
            <a:ext cx="10421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</a:t>
            </a:r>
            <a:r>
              <a:rPr lang="es-MX" sz="1200" dirty="0" err="1"/>
              <a:t>Stallings</a:t>
            </a:r>
            <a:r>
              <a:rPr lang="es-MX" sz="1200" dirty="0"/>
              <a:t> W. (2004). Protocolos y Arquitectura. En Comunicaciones y redes de computadores. (pp. 27-57).USA: Pearson </a:t>
            </a:r>
            <a:r>
              <a:rPr lang="es-MX" sz="1200" dirty="0" err="1"/>
              <a:t>Education</a:t>
            </a:r>
            <a:r>
              <a:rPr lang="es-MX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379922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Control de error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02459" y="1757083"/>
            <a:ext cx="11140279" cy="4535251"/>
          </a:xfrm>
        </p:spPr>
        <p:txBody>
          <a:bodyPr>
            <a:normAutofit/>
          </a:bodyPr>
          <a:lstStyle/>
          <a:p>
            <a:pPr algn="just"/>
            <a:r>
              <a:rPr lang="es-ES" b="1" dirty="0"/>
              <a:t>CRC (Comprobación de Redundancia Cíclica)</a:t>
            </a:r>
          </a:p>
          <a:p>
            <a:pPr marL="0" indent="0" algn="just">
              <a:buNone/>
            </a:pPr>
            <a:r>
              <a:rPr lang="es-ES" b="1" dirty="0"/>
              <a:t>  </a:t>
            </a:r>
          </a:p>
          <a:p>
            <a:pPr marL="0" indent="0" algn="just">
              <a:buNone/>
            </a:pPr>
            <a:r>
              <a:rPr lang="es-ES" b="1" dirty="0"/>
              <a:t>  + Creado por Wesley Patterson en 1961</a:t>
            </a:r>
          </a:p>
          <a:p>
            <a:pPr marL="0" indent="0" algn="just">
              <a:buNone/>
            </a:pPr>
            <a:r>
              <a:rPr lang="es-ES" b="1" dirty="0"/>
              <a:t>  + Utilizado para detectar errores en la transmisión de datos digitales (ej. Ethernet)</a:t>
            </a:r>
          </a:p>
          <a:p>
            <a:pPr marL="0" indent="0" algn="just">
              <a:buNone/>
            </a:pPr>
            <a:r>
              <a:rPr lang="es-ES" b="1" dirty="0"/>
              <a:t>  + </a:t>
            </a:r>
            <a:r>
              <a:rPr lang="es-MX" b="1" dirty="0"/>
              <a:t>Adecuado para la detección de errores de ráfaga (comunes en canales de comunicación)</a:t>
            </a:r>
            <a:endParaRPr lang="es-ES" b="1" dirty="0"/>
          </a:p>
          <a:p>
            <a:pPr marL="0" indent="0" algn="just">
              <a:buNone/>
            </a:pPr>
            <a:endParaRPr lang="es-ES" b="1" dirty="0"/>
          </a:p>
          <a:p>
            <a:pPr marL="0" indent="0" algn="just">
              <a:buNone/>
            </a:pPr>
            <a:r>
              <a:rPr lang="es-ES" b="1" dirty="0"/>
              <a:t> </a:t>
            </a:r>
          </a:p>
          <a:p>
            <a:pPr marL="0" indent="0" algn="just">
              <a:buNone/>
            </a:pPr>
            <a:endParaRPr lang="es-ES" b="1" dirty="0"/>
          </a:p>
        </p:txBody>
      </p:sp>
      <p:sp>
        <p:nvSpPr>
          <p:cNvPr id="5" name="CuadroTexto 4"/>
          <p:cNvSpPr txBox="1"/>
          <p:nvPr/>
        </p:nvSpPr>
        <p:spPr>
          <a:xfrm>
            <a:off x="1277264" y="6581001"/>
            <a:ext cx="108654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</a:t>
            </a:r>
            <a:r>
              <a:rPr lang="es-MX" sz="1200" dirty="0" err="1"/>
              <a:t>Stallings</a:t>
            </a:r>
            <a:r>
              <a:rPr lang="es-MX" sz="1200" dirty="0"/>
              <a:t> W. (2004). Control de Enlace de Datos. En Comunicaciones y redes de computadores. (pp. 181-220).USA: Pearson </a:t>
            </a:r>
            <a:r>
              <a:rPr lang="es-MX" sz="1200" dirty="0" err="1"/>
              <a:t>Education</a:t>
            </a:r>
            <a:r>
              <a:rPr lang="es-MX" sz="1200" dirty="0"/>
              <a:t>.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4760590" y="6153834"/>
            <a:ext cx="73821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Imagen: </a:t>
            </a:r>
            <a:r>
              <a:rPr lang="es-MX" sz="1200" dirty="0">
                <a:hlinkClick r:id="rId2"/>
              </a:rPr>
              <a:t>http://www.mailxmail.com/curso-redes-area-local-conmutadas/tipos-conmutacion-lan</a:t>
            </a:r>
            <a:endParaRPr lang="es-MX" sz="1200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081" y="4206241"/>
            <a:ext cx="6882249" cy="1797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8994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Control de error</a:t>
            </a:r>
            <a:endParaRPr lang="es-MX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1002460" y="1757083"/>
                <a:ext cx="10502152" cy="4535251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s-ES" b="1" dirty="0"/>
                  <a:t>CRC- Algoritmo (Cálculo):</a:t>
                </a:r>
              </a:p>
              <a:p>
                <a:pPr marL="0" indent="0" algn="just">
                  <a:buNone/>
                </a:pPr>
                <a:r>
                  <a:rPr lang="es-ES" b="1" dirty="0"/>
                  <a:t>  </a:t>
                </a:r>
              </a:p>
              <a:p>
                <a:pPr marL="0" indent="0" algn="just">
                  <a:buNone/>
                </a:pPr>
                <a:r>
                  <a:rPr lang="es-ES" b="1" dirty="0"/>
                  <a:t>  + Dado M(x)= mensaje de tamaño m bits de longitud</a:t>
                </a:r>
              </a:p>
              <a:p>
                <a:pPr marL="0" indent="0" algn="just">
                  <a:buNone/>
                </a:pPr>
                <a:r>
                  <a:rPr lang="es-ES" b="1" dirty="0"/>
                  <a:t>  + n = número de bits de paridad añadidos al mensaje para formar la trama T(x)</a:t>
                </a:r>
              </a:p>
              <a:p>
                <a:pPr marL="0" indent="0" algn="just">
                  <a:buNone/>
                </a:pPr>
                <a:r>
                  <a:rPr lang="es-ES" b="1" dirty="0"/>
                  <a:t>  + T(x) = Trama de información de tamaño </a:t>
                </a:r>
                <a:r>
                  <a:rPr lang="es-ES" b="1" dirty="0" err="1"/>
                  <a:t>m+n</a:t>
                </a:r>
                <a:r>
                  <a:rPr lang="es-ES" b="1" dirty="0"/>
                  <a:t> bits, formada a partir de</a:t>
                </a:r>
              </a:p>
              <a:p>
                <a:pPr marL="0" indent="0" algn="just">
                  <a:buNone/>
                </a:pPr>
                <a:r>
                  <a:rPr lang="es-ES" b="1" dirty="0"/>
                  <a:t>                 </a:t>
                </a:r>
                <a14:m>
                  <m:oMath xmlns:m="http://schemas.openxmlformats.org/officeDocument/2006/math">
                    <m:r>
                      <a:rPr lang="es-ES" b="1" i="0" smtClean="0">
                        <a:latin typeface="Cambria Math" panose="02040503050406030204" pitchFamily="18" charset="0"/>
                      </a:rPr>
                      <m:t>𝐓</m:t>
                    </m:r>
                    <m:d>
                      <m:dPr>
                        <m:ctrlPr>
                          <a:rPr lang="es-E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s-ES" b="1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  <m:r>
                      <a:rPr lang="es-ES" b="1" i="1">
                        <a:latin typeface="Cambria Math" panose="02040503050406030204" pitchFamily="18" charset="0"/>
                      </a:rPr>
                      <m:t>𝑴</m:t>
                    </m:r>
                    <m:d>
                      <m:dPr>
                        <m:ctrlPr>
                          <a:rPr lang="es-E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s-ES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ES" b="1" i="1" smtClean="0">
                        <a:latin typeface="Cambria Math" panose="02040503050406030204" pitchFamily="18" charset="0"/>
                      </a:rPr>
                      <m:t>𝑭𝑪𝑺</m:t>
                    </m:r>
                  </m:oMath>
                </a14:m>
                <a:r>
                  <a:rPr lang="es-ES" b="1" dirty="0"/>
                  <a:t>  ; donde</a:t>
                </a:r>
              </a:p>
              <a:p>
                <a:pPr marL="0" indent="0" algn="just">
                  <a:buNone/>
                </a:pPr>
                <a:r>
                  <a:rPr lang="es-ES" b="1" dirty="0"/>
                  <a:t>  + FCS = Secuencia de comprobación de la trama, obtenida del residuo (n bits) de</a:t>
                </a:r>
              </a:p>
              <a:p>
                <a:pPr marL="0" indent="0" algn="just">
                  <a:buNone/>
                </a:pPr>
                <a:r>
                  <a:rPr lang="es-ES" b="1" dirty="0"/>
                  <a:t>        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ES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s-ES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sup>
                            <m:r>
                              <a:rPr lang="es-ES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</m:sSup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𝑴</m:t>
                        </m:r>
                        <m:r>
                          <a:rPr lang="es-ES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s-ES" b="1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s-ES" b="1" dirty="0"/>
              </a:p>
              <a:p>
                <a:pPr marL="0" indent="0" algn="just">
                  <a:buNone/>
                </a:pPr>
                <a:r>
                  <a:rPr lang="es-ES" b="1" dirty="0"/>
                  <a:t>   + P(x) = Polinomio generador de la FCS de tamaño n+1 bits y grado n</a:t>
                </a:r>
              </a:p>
              <a:p>
                <a:pPr marL="0" indent="0" algn="just">
                  <a:buNone/>
                </a:pPr>
                <a:endParaRPr lang="es-ES" b="1" dirty="0"/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02460" y="1757083"/>
                <a:ext cx="10502152" cy="4535251"/>
              </a:xfrm>
              <a:blipFill rotWithShape="0">
                <a:blip r:embed="rId2"/>
                <a:stretch>
                  <a:fillRect l="-406" t="-67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uadroTexto 4"/>
          <p:cNvSpPr txBox="1"/>
          <p:nvPr/>
        </p:nvSpPr>
        <p:spPr>
          <a:xfrm>
            <a:off x="1277264" y="6581001"/>
            <a:ext cx="108654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</a:t>
            </a:r>
            <a:r>
              <a:rPr lang="es-MX" sz="1200" dirty="0" err="1"/>
              <a:t>Stallings</a:t>
            </a:r>
            <a:r>
              <a:rPr lang="es-MX" sz="1200" dirty="0"/>
              <a:t> W. (2004). Control de Enlace de Datos. En Comunicaciones y redes de computadores. (pp. 181-220).USA: Pearson </a:t>
            </a:r>
            <a:r>
              <a:rPr lang="es-MX" sz="1200" dirty="0" err="1"/>
              <a:t>Education</a:t>
            </a:r>
            <a:r>
              <a:rPr lang="es-MX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59066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Control de error</a:t>
            </a:r>
            <a:endParaRPr lang="es-MX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1002460" y="1532965"/>
                <a:ext cx="10502152" cy="4759369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s-ES" b="1" dirty="0"/>
                  <a:t>CRC- Algoritmo (Ejemplo): </a:t>
                </a:r>
                <a:r>
                  <a:rPr lang="es-ES" b="1" dirty="0">
                    <a:solidFill>
                      <a:srgbClr val="FF0000"/>
                    </a:solidFill>
                  </a:rPr>
                  <a:t>Dado el mensaje M(x)= “1011100111” y P(x)= “11011”, generar la trama T(x) a ser transmitida.</a:t>
                </a:r>
              </a:p>
              <a:p>
                <a:pPr marL="0" indent="0" algn="just">
                  <a:buNone/>
                </a:pPr>
                <a:r>
                  <a:rPr lang="es-ES" b="1" dirty="0"/>
                  <a:t>  </a:t>
                </a:r>
              </a:p>
              <a:p>
                <a:pPr marL="0" indent="0" algn="just">
                  <a:buNone/>
                </a:pPr>
                <a:r>
                  <a:rPr lang="es-ES" b="1" dirty="0"/>
                  <a:t>  1. Dado que  </a:t>
                </a:r>
                <a14:m>
                  <m:oMath xmlns:m="http://schemas.openxmlformats.org/officeDocument/2006/math">
                    <m:r>
                      <a:rPr lang="es-ES" b="1">
                        <a:latin typeface="Cambria Math" panose="02040503050406030204" pitchFamily="18" charset="0"/>
                      </a:rPr>
                      <m:t>𝐓</m:t>
                    </m:r>
                    <m:d>
                      <m:dPr>
                        <m:ctrlPr>
                          <a:rPr lang="es-E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s-ES" b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  <m:r>
                      <a:rPr lang="es-ES" b="1" i="1">
                        <a:latin typeface="Cambria Math" panose="02040503050406030204" pitchFamily="18" charset="0"/>
                      </a:rPr>
                      <m:t>𝑴</m:t>
                    </m:r>
                    <m:d>
                      <m:dPr>
                        <m:ctrlPr>
                          <a:rPr lang="es-E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s-E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s-ES" b="1" i="1">
                        <a:latin typeface="Cambria Math" panose="02040503050406030204" pitchFamily="18" charset="0"/>
                      </a:rPr>
                      <m:t>𝑭𝑪𝑺</m:t>
                    </m:r>
                  </m:oMath>
                </a14:m>
                <a:r>
                  <a:rPr lang="es-ES" b="1" dirty="0"/>
                  <a:t>  ; comenzamos por el término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  <m:r>
                      <a:rPr lang="es-ES" b="1" i="1">
                        <a:latin typeface="Cambria Math" panose="02040503050406030204" pitchFamily="18" charset="0"/>
                      </a:rPr>
                      <m:t>𝑴</m:t>
                    </m:r>
                    <m:d>
                      <m:dPr>
                        <m:ctrlPr>
                          <a:rPr lang="es-E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s-ES" b="1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s-ES" b="1" dirty="0"/>
                  <a:t> Dado que n=4,</a:t>
                </a:r>
              </a:p>
              <a:p>
                <a:pPr marL="0" indent="0" algn="just">
                  <a:buNone/>
                </a:pPr>
                <a:endParaRPr lang="es-ES" b="1" i="1" dirty="0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r>
                  <a:rPr lang="es-ES" b="1" i="1" dirty="0">
                    <a:latin typeface="Cambria Math" panose="02040503050406030204" pitchFamily="18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s-ES" b="1" i="1" smtClean="0">
                        <a:latin typeface="Cambria Math" panose="02040503050406030204" pitchFamily="18" charset="0"/>
                      </a:rPr>
                      <m:t>     </m:t>
                    </m:r>
                    <m:sSup>
                      <m:sSupPr>
                        <m:ctrlPr>
                          <a:rPr lang="es-E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sup>
                    </m:sSup>
                    <m:r>
                      <a:rPr lang="es-ES" b="1" i="1">
                        <a:latin typeface="Cambria Math" panose="02040503050406030204" pitchFamily="18" charset="0"/>
                      </a:rPr>
                      <m:t>𝑴</m:t>
                    </m:r>
                    <m:d>
                      <m:dPr>
                        <m:ctrlPr>
                          <a:rPr lang="es-E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s-ES" b="1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𝟒</m:t>
                        </m:r>
                      </m:sup>
                    </m:sSup>
                    <m:d>
                      <m:dPr>
                        <m:ctrlPr>
                          <a:rPr lang="es-E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𝟏𝟎𝟏𝟏𝟏𝟎𝟎𝟏𝟏𝟏</m:t>
                        </m:r>
                      </m:e>
                    </m:d>
                  </m:oMath>
                </a14:m>
                <a:r>
                  <a:rPr lang="es-ES" b="1" dirty="0"/>
                  <a:t>, para hacer la multiplicación considerar lo siguiente:</a:t>
                </a:r>
              </a:p>
              <a:p>
                <a:pPr marL="0" indent="0" algn="ctr">
                  <a:buNone/>
                </a:pPr>
                <a:r>
                  <a:rPr lang="es-ES" b="1" dirty="0"/>
                  <a:t>   (2)</a:t>
                </a:r>
                <a:r>
                  <a:rPr lang="es-ES" b="1" baseline="-25000" dirty="0"/>
                  <a:t>10</a:t>
                </a:r>
                <a:r>
                  <a:rPr lang="es-ES" b="1" dirty="0"/>
                  <a:t> = (10)</a:t>
                </a:r>
                <a:r>
                  <a:rPr lang="es-ES" b="1" baseline="-25000" dirty="0"/>
                  <a:t>2</a:t>
                </a:r>
                <a:r>
                  <a:rPr lang="es-ES" b="1" dirty="0"/>
                  <a:t> , si aplicamos &lt;&lt; 1</a:t>
                </a:r>
              </a:p>
              <a:p>
                <a:pPr marL="0" indent="0" algn="ctr">
                  <a:buNone/>
                </a:pPr>
                <a:r>
                  <a:rPr lang="es-ES" b="1" dirty="0"/>
                  <a:t>     (4)</a:t>
                </a:r>
                <a:r>
                  <a:rPr lang="es-ES" b="1" baseline="-25000" dirty="0"/>
                  <a:t>10</a:t>
                </a:r>
                <a:r>
                  <a:rPr lang="es-ES" b="1" dirty="0"/>
                  <a:t> = (100)</a:t>
                </a:r>
                <a:r>
                  <a:rPr lang="es-ES" b="1" baseline="-25000" dirty="0"/>
                  <a:t>2</a:t>
                </a:r>
                <a:r>
                  <a:rPr lang="es-ES" b="1" dirty="0"/>
                  <a:t> , si aplicamos &lt;&lt; 1</a:t>
                </a:r>
              </a:p>
              <a:p>
                <a:pPr marL="0" indent="0" algn="ctr">
                  <a:buNone/>
                </a:pPr>
                <a:r>
                  <a:rPr lang="es-ES" b="1" dirty="0"/>
                  <a:t>       (8)</a:t>
                </a:r>
                <a:r>
                  <a:rPr lang="es-ES" b="1" baseline="-25000" dirty="0"/>
                  <a:t>10</a:t>
                </a:r>
                <a:r>
                  <a:rPr lang="es-ES" b="1" dirty="0"/>
                  <a:t> = (1000)</a:t>
                </a:r>
                <a:r>
                  <a:rPr lang="es-ES" b="1" baseline="-25000" dirty="0"/>
                  <a:t>2</a:t>
                </a:r>
                <a:r>
                  <a:rPr lang="es-ES" b="1" dirty="0"/>
                  <a:t> , si aplicamos &lt;&lt; 1</a:t>
                </a:r>
              </a:p>
              <a:p>
                <a:pPr marL="0" indent="0" algn="ctr">
                  <a:buNone/>
                </a:pPr>
                <a:r>
                  <a:rPr lang="es-ES" b="1" dirty="0"/>
                  <a:t>        (16)</a:t>
                </a:r>
                <a:r>
                  <a:rPr lang="es-ES" b="1" baseline="-25000" dirty="0"/>
                  <a:t>10</a:t>
                </a:r>
                <a:r>
                  <a:rPr lang="es-ES" b="1" dirty="0"/>
                  <a:t> = (10000)</a:t>
                </a:r>
                <a:r>
                  <a:rPr lang="es-ES" b="1" baseline="-25000" dirty="0"/>
                  <a:t>2</a:t>
                </a:r>
                <a:r>
                  <a:rPr lang="es-ES" b="1" dirty="0"/>
                  <a:t> , si aplicamos &lt;&lt; 1</a:t>
                </a:r>
              </a:p>
              <a:p>
                <a:pPr marL="0" indent="0" algn="ctr">
                  <a:buNone/>
                </a:pPr>
                <a:r>
                  <a:rPr lang="es-ES" b="1" dirty="0"/>
                  <a:t>….</a:t>
                </a:r>
              </a:p>
              <a:p>
                <a:pPr marL="0" indent="0" algn="ctr">
                  <a:buNone/>
                </a:pPr>
                <a:r>
                  <a:rPr lang="es-ES" b="1" dirty="0"/>
                  <a:t>(2</a:t>
                </a:r>
                <a:r>
                  <a:rPr lang="es-ES" b="1" baseline="30000" dirty="0"/>
                  <a:t>n</a:t>
                </a:r>
                <a:r>
                  <a:rPr lang="es-ES" b="1" dirty="0"/>
                  <a:t>)</a:t>
                </a:r>
                <a:r>
                  <a:rPr lang="es-ES" b="1" baseline="-25000" dirty="0"/>
                  <a:t>10</a:t>
                </a:r>
                <a:r>
                  <a:rPr lang="es-ES" b="1" dirty="0"/>
                  <a:t> = (1x10</a:t>
                </a:r>
                <a:r>
                  <a:rPr lang="es-ES" b="1" baseline="30000" dirty="0"/>
                  <a:t>n</a:t>
                </a:r>
                <a:r>
                  <a:rPr lang="es-ES" b="1" dirty="0"/>
                  <a:t>)</a:t>
                </a:r>
                <a:r>
                  <a:rPr lang="es-ES" b="1" baseline="-25000" dirty="0"/>
                  <a:t>2</a:t>
                </a:r>
                <a:r>
                  <a:rPr lang="es-ES" b="1" dirty="0"/>
                  <a:t> , si aplicamos &lt;&lt; n</a:t>
                </a:r>
              </a:p>
              <a:p>
                <a:pPr marL="0" indent="0" algn="ctr">
                  <a:buNone/>
                </a:pPr>
                <a:endParaRPr lang="es-ES" b="1" dirty="0"/>
              </a:p>
              <a:p>
                <a:pPr marL="0" indent="0" algn="ctr">
                  <a:buNone/>
                </a:pPr>
                <a:endParaRPr lang="es-ES" b="1" dirty="0"/>
              </a:p>
              <a:p>
                <a:pPr marL="0" indent="0" algn="just">
                  <a:buNone/>
                </a:pPr>
                <a:endParaRPr lang="es-ES" b="1" dirty="0"/>
              </a:p>
              <a:p>
                <a:pPr marL="0" indent="0" algn="just">
                  <a:buNone/>
                </a:pPr>
                <a:endParaRPr lang="es-ES" b="1" dirty="0"/>
              </a:p>
              <a:p>
                <a:pPr marL="0" indent="0" algn="just">
                  <a:buNone/>
                </a:pPr>
                <a:endParaRPr lang="es-ES" b="1" dirty="0"/>
              </a:p>
              <a:p>
                <a:pPr marL="0" indent="0" algn="just">
                  <a:buNone/>
                </a:pPr>
                <a:endParaRPr lang="es-ES" b="1" dirty="0"/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02460" y="1532965"/>
                <a:ext cx="10502152" cy="4759369"/>
              </a:xfrm>
              <a:blipFill rotWithShape="0">
                <a:blip r:embed="rId2"/>
                <a:stretch>
                  <a:fillRect l="-406" t="-640" r="-52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uadroTexto 4"/>
          <p:cNvSpPr txBox="1"/>
          <p:nvPr/>
        </p:nvSpPr>
        <p:spPr>
          <a:xfrm>
            <a:off x="1277264" y="6581001"/>
            <a:ext cx="108654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</a:t>
            </a:r>
            <a:r>
              <a:rPr lang="es-MX" sz="1200" dirty="0" err="1"/>
              <a:t>Stallings</a:t>
            </a:r>
            <a:r>
              <a:rPr lang="es-MX" sz="1200" dirty="0"/>
              <a:t> W. (2004). Control de Enlace de Datos. En Comunicaciones y redes de computadores. (pp. 181-220).USA: Pearson </a:t>
            </a:r>
            <a:r>
              <a:rPr lang="es-MX" sz="1200" dirty="0" err="1"/>
              <a:t>Education</a:t>
            </a:r>
            <a:r>
              <a:rPr lang="es-MX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650253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92925" y="354785"/>
            <a:ext cx="8911687" cy="814726"/>
          </a:xfrm>
        </p:spPr>
        <p:txBody>
          <a:bodyPr/>
          <a:lstStyle/>
          <a:p>
            <a:pPr algn="ctr"/>
            <a:r>
              <a:rPr lang="es-ES" dirty="0"/>
              <a:t>Control de error</a:t>
            </a:r>
            <a:endParaRPr lang="es-MX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822644" y="1450851"/>
                <a:ext cx="10502152" cy="4103923"/>
              </a:xfrm>
            </p:spPr>
            <p:txBody>
              <a:bodyPr>
                <a:normAutofit fontScale="92500" lnSpcReduction="10000"/>
              </a:bodyPr>
              <a:lstStyle/>
              <a:p>
                <a:pPr algn="just"/>
                <a:r>
                  <a:rPr lang="es-ES" b="1" dirty="0"/>
                  <a:t>CRC- Algoritmo (Ejemplo): </a:t>
                </a:r>
                <a:r>
                  <a:rPr lang="es-ES" b="1" dirty="0">
                    <a:solidFill>
                      <a:srgbClr val="FF0000"/>
                    </a:solidFill>
                  </a:rPr>
                  <a:t>Dado el mensaje M(x)= “1011100111” y P(x)= “11001”, generar la trama T(x) a ser transmitida.</a:t>
                </a:r>
              </a:p>
              <a:p>
                <a:pPr marL="0" indent="0" algn="just">
                  <a:buNone/>
                </a:pPr>
                <a:r>
                  <a:rPr lang="es-ES" b="1" dirty="0"/>
                  <a:t>    1. Entonces,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𝟒</m:t>
                        </m:r>
                      </m:sup>
                    </m:sSup>
                    <m:d>
                      <m:dPr>
                        <m:ctrlPr>
                          <a:rPr lang="es-E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𝟏𝟎𝟏𝟏𝟏𝟎𝟎𝟏𝟏𝟏</m:t>
                        </m:r>
                      </m:e>
                    </m:d>
                  </m:oMath>
                </a14:m>
                <a:r>
                  <a:rPr lang="es-ES" b="1" dirty="0"/>
                  <a:t> = 1011100111</a:t>
                </a:r>
                <a:r>
                  <a:rPr lang="es-ES" b="1" dirty="0">
                    <a:solidFill>
                      <a:srgbClr val="FF0000"/>
                    </a:solidFill>
                  </a:rPr>
                  <a:t>0000</a:t>
                </a:r>
                <a:r>
                  <a:rPr lang="es-ES" b="1" dirty="0"/>
                  <a:t>; </a:t>
                </a:r>
              </a:p>
              <a:p>
                <a:pPr marL="0" indent="0" algn="just">
                  <a:buNone/>
                </a:pPr>
                <a:r>
                  <a:rPr lang="es-ES" b="1" dirty="0"/>
                  <a:t>    2.Ahora vamos con el término   FCS = residuo de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ES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s-ES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sup>
                            <m:r>
                              <a:rPr lang="es-ES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</m:sSup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𝑴</m:t>
                        </m:r>
                        <m:r>
                          <a:rPr lang="es-ES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s-ES" b="1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𝑷</m:t>
                        </m:r>
                        <m:r>
                          <a:rPr lang="es-ES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s-ES" b="1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s-ES" b="1" dirty="0"/>
              </a:p>
              <a:p>
                <a:pPr marL="0" indent="0" algn="just">
                  <a:buNone/>
                </a:pPr>
                <a:endParaRPr lang="es-ES" b="1" i="1" dirty="0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r>
                  <a:rPr lang="es-ES" b="1" i="1" dirty="0">
                    <a:latin typeface="Cambria Math" panose="02040503050406030204" pitchFamily="18" charset="0"/>
                  </a:rPr>
                  <a:t>    3. </a:t>
                </a:r>
                <a:r>
                  <a:rPr lang="es-ES" dirty="0"/>
                  <a:t>  </a:t>
                </a:r>
                <a:endParaRPr lang="es-MX" dirty="0">
                  <a:solidFill>
                    <a:srgbClr val="FF0000"/>
                  </a:solidFill>
                </a:endParaRPr>
              </a:p>
              <a:p>
                <a:pPr marL="0" indent="0" algn="just">
                  <a:buNone/>
                </a:pPr>
                <a:endParaRPr lang="es-ES" b="1" i="1" dirty="0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s-ES" b="1" i="1" dirty="0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s-ES" b="1" i="1" dirty="0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r>
                  <a:rPr lang="es-ES" b="1" i="1" dirty="0">
                    <a:latin typeface="Cambria Math" panose="02040503050406030204" pitchFamily="18" charset="0"/>
                  </a:rPr>
                  <a:t>   4.    T(x)= 10111001111001</a:t>
                </a:r>
              </a:p>
              <a:p>
                <a:pPr marL="0" indent="0" algn="just">
                  <a:buNone/>
                </a:pPr>
                <a:r>
                  <a:rPr lang="es-ES" b="1" i="1" dirty="0">
                    <a:latin typeface="Cambria Math" panose="02040503050406030204" pitchFamily="18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s-ES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s-ES" b="1" dirty="0"/>
              </a:p>
              <a:p>
                <a:pPr marL="0" indent="0" algn="ctr">
                  <a:buNone/>
                </a:pPr>
                <a:endParaRPr lang="es-ES" b="1" dirty="0"/>
              </a:p>
              <a:p>
                <a:pPr marL="0" indent="0" algn="just">
                  <a:buNone/>
                </a:pPr>
                <a:endParaRPr lang="es-ES" b="1" dirty="0"/>
              </a:p>
              <a:p>
                <a:pPr marL="0" indent="0" algn="just">
                  <a:buNone/>
                </a:pPr>
                <a:endParaRPr lang="es-ES" b="1" dirty="0"/>
              </a:p>
              <a:p>
                <a:pPr marL="0" indent="0" algn="just">
                  <a:buNone/>
                </a:pPr>
                <a:endParaRPr lang="es-ES" b="1" dirty="0"/>
              </a:p>
              <a:p>
                <a:pPr marL="0" indent="0" algn="just">
                  <a:buNone/>
                </a:pPr>
                <a:endParaRPr lang="es-ES" b="1" dirty="0"/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2644" y="1450851"/>
                <a:ext cx="10502152" cy="4103923"/>
              </a:xfrm>
              <a:blipFill rotWithShape="0">
                <a:blip r:embed="rId2"/>
                <a:stretch>
                  <a:fillRect l="-290" t="-892" r="-348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uadroTexto 4"/>
          <p:cNvSpPr txBox="1"/>
          <p:nvPr/>
        </p:nvSpPr>
        <p:spPr>
          <a:xfrm>
            <a:off x="201600" y="6257161"/>
            <a:ext cx="58721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</a:t>
            </a:r>
            <a:r>
              <a:rPr lang="es-MX" sz="1200" dirty="0" err="1"/>
              <a:t>Stallings</a:t>
            </a:r>
            <a:r>
              <a:rPr lang="es-MX" sz="1200" dirty="0"/>
              <a:t> W. (2004). Control de Enlace de Datos. En Comunicaciones</a:t>
            </a:r>
          </a:p>
          <a:p>
            <a:r>
              <a:rPr lang="es-MX" sz="1200" dirty="0"/>
              <a:t> y redes de computadores. (pp. 181-220).USA: Pearson </a:t>
            </a:r>
            <a:r>
              <a:rPr lang="es-MX" sz="1200" dirty="0" err="1"/>
              <a:t>Education</a:t>
            </a:r>
            <a:r>
              <a:rPr lang="es-MX" sz="1200" dirty="0"/>
              <a:t>.</a:t>
            </a:r>
          </a:p>
        </p:txBody>
      </p:sp>
      <p:cxnSp>
        <p:nvCxnSpPr>
          <p:cNvPr id="6" name="Conector recto 5"/>
          <p:cNvCxnSpPr/>
          <p:nvPr/>
        </p:nvCxnSpPr>
        <p:spPr>
          <a:xfrm flipV="1">
            <a:off x="7232726" y="3469842"/>
            <a:ext cx="13447" cy="434775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/>
          <p:cNvSpPr txBox="1"/>
          <p:nvPr/>
        </p:nvSpPr>
        <p:spPr>
          <a:xfrm>
            <a:off x="7246173" y="3563971"/>
            <a:ext cx="1980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1011100111</a:t>
            </a:r>
            <a:r>
              <a:rPr lang="es-ES" dirty="0">
                <a:solidFill>
                  <a:srgbClr val="FF0000"/>
                </a:solidFill>
              </a:rPr>
              <a:t>0000</a:t>
            </a:r>
            <a:endParaRPr lang="es-MX" dirty="0">
              <a:solidFill>
                <a:srgbClr val="FF0000"/>
              </a:solidFill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6400135" y="3572820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11001</a:t>
            </a:r>
            <a:endParaRPr lang="es-MX" dirty="0">
              <a:solidFill>
                <a:srgbClr val="FF0000"/>
              </a:solidFill>
            </a:endParaRPr>
          </a:p>
        </p:txBody>
      </p:sp>
      <p:cxnSp>
        <p:nvCxnSpPr>
          <p:cNvPr id="12" name="Conector recto 11"/>
          <p:cNvCxnSpPr/>
          <p:nvPr/>
        </p:nvCxnSpPr>
        <p:spPr>
          <a:xfrm>
            <a:off x="7246173" y="3469842"/>
            <a:ext cx="2138083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/>
          <p:cNvSpPr txBox="1"/>
          <p:nvPr/>
        </p:nvSpPr>
        <p:spPr>
          <a:xfrm>
            <a:off x="7266344" y="3842765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11001</a:t>
            </a:r>
            <a:endParaRPr lang="es-MX" dirty="0">
              <a:solidFill>
                <a:srgbClr val="FF0000"/>
              </a:solidFill>
            </a:endParaRPr>
          </a:p>
        </p:txBody>
      </p:sp>
      <p:cxnSp>
        <p:nvCxnSpPr>
          <p:cNvPr id="15" name="Conector recto 14"/>
          <p:cNvCxnSpPr/>
          <p:nvPr/>
        </p:nvCxnSpPr>
        <p:spPr>
          <a:xfrm>
            <a:off x="7309886" y="4139527"/>
            <a:ext cx="6906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adroTexto 15"/>
          <p:cNvSpPr txBox="1"/>
          <p:nvPr/>
        </p:nvSpPr>
        <p:spPr>
          <a:xfrm>
            <a:off x="7266344" y="4161086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01110</a:t>
            </a:r>
            <a:r>
              <a:rPr lang="es-ES" dirty="0">
                <a:solidFill>
                  <a:srgbClr val="C00000"/>
                </a:solidFill>
              </a:rPr>
              <a:t>0</a:t>
            </a:r>
            <a:endParaRPr lang="es-MX" dirty="0">
              <a:solidFill>
                <a:srgbClr val="C00000"/>
              </a:solidFill>
            </a:endParaRPr>
          </a:p>
        </p:txBody>
      </p:sp>
      <p:sp>
        <p:nvSpPr>
          <p:cNvPr id="17" name="CuadroTexto 16"/>
          <p:cNvSpPr txBox="1"/>
          <p:nvPr/>
        </p:nvSpPr>
        <p:spPr>
          <a:xfrm>
            <a:off x="7754173" y="3108905"/>
            <a:ext cx="2138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1101100001</a:t>
            </a:r>
            <a:endParaRPr lang="es-MX" dirty="0">
              <a:solidFill>
                <a:srgbClr val="FF0000"/>
              </a:solidFill>
            </a:endParaRPr>
          </a:p>
        </p:txBody>
      </p:sp>
      <p:sp>
        <p:nvSpPr>
          <p:cNvPr id="18" name="CuadroTexto 17"/>
          <p:cNvSpPr txBox="1"/>
          <p:nvPr/>
        </p:nvSpPr>
        <p:spPr>
          <a:xfrm>
            <a:off x="7410320" y="4377734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11001</a:t>
            </a:r>
            <a:endParaRPr lang="es-MX" dirty="0">
              <a:solidFill>
                <a:srgbClr val="FF0000"/>
              </a:solidFill>
            </a:endParaRPr>
          </a:p>
        </p:txBody>
      </p:sp>
      <p:cxnSp>
        <p:nvCxnSpPr>
          <p:cNvPr id="19" name="Conector recto 18"/>
          <p:cNvCxnSpPr/>
          <p:nvPr/>
        </p:nvCxnSpPr>
        <p:spPr>
          <a:xfrm>
            <a:off x="7510966" y="4685915"/>
            <a:ext cx="6906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uadroTexto 19"/>
          <p:cNvSpPr txBox="1"/>
          <p:nvPr/>
        </p:nvSpPr>
        <p:spPr>
          <a:xfrm>
            <a:off x="7421994" y="4666401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00101</a:t>
            </a:r>
            <a:r>
              <a:rPr lang="es-ES" dirty="0">
                <a:solidFill>
                  <a:srgbClr val="C00000"/>
                </a:solidFill>
              </a:rPr>
              <a:t>01</a:t>
            </a:r>
            <a:endParaRPr lang="es-MX" dirty="0">
              <a:solidFill>
                <a:srgbClr val="C00000"/>
              </a:solidFill>
            </a:endParaRPr>
          </a:p>
        </p:txBody>
      </p:sp>
      <p:sp>
        <p:nvSpPr>
          <p:cNvPr id="21" name="CuadroTexto 20"/>
          <p:cNvSpPr txBox="1"/>
          <p:nvPr/>
        </p:nvSpPr>
        <p:spPr>
          <a:xfrm>
            <a:off x="7683919" y="4872626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11001</a:t>
            </a:r>
            <a:endParaRPr lang="es-MX" dirty="0">
              <a:solidFill>
                <a:srgbClr val="FF0000"/>
              </a:solidFill>
            </a:endParaRPr>
          </a:p>
        </p:txBody>
      </p:sp>
      <p:cxnSp>
        <p:nvCxnSpPr>
          <p:cNvPr id="22" name="Conector recto 21"/>
          <p:cNvCxnSpPr/>
          <p:nvPr/>
        </p:nvCxnSpPr>
        <p:spPr>
          <a:xfrm>
            <a:off x="7779549" y="5151779"/>
            <a:ext cx="6906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uadroTexto 22"/>
          <p:cNvSpPr txBox="1"/>
          <p:nvPr/>
        </p:nvSpPr>
        <p:spPr>
          <a:xfrm>
            <a:off x="7697696" y="5120952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01100</a:t>
            </a:r>
            <a:r>
              <a:rPr lang="es-ES" dirty="0">
                <a:solidFill>
                  <a:srgbClr val="C00000"/>
                </a:solidFill>
              </a:rPr>
              <a:t>1</a:t>
            </a:r>
            <a:endParaRPr lang="es-MX" dirty="0">
              <a:solidFill>
                <a:srgbClr val="C00000"/>
              </a:solidFill>
            </a:endParaRPr>
          </a:p>
        </p:txBody>
      </p:sp>
      <p:sp>
        <p:nvSpPr>
          <p:cNvPr id="24" name="CuadroTexto 23"/>
          <p:cNvSpPr txBox="1"/>
          <p:nvPr/>
        </p:nvSpPr>
        <p:spPr>
          <a:xfrm>
            <a:off x="7825936" y="5314399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11001</a:t>
            </a:r>
            <a:endParaRPr lang="es-MX" dirty="0">
              <a:solidFill>
                <a:srgbClr val="FF0000"/>
              </a:solidFill>
            </a:endParaRPr>
          </a:p>
        </p:txBody>
      </p:sp>
      <p:sp>
        <p:nvSpPr>
          <p:cNvPr id="25" name="CuadroTexto 24"/>
          <p:cNvSpPr txBox="1"/>
          <p:nvPr/>
        </p:nvSpPr>
        <p:spPr>
          <a:xfrm>
            <a:off x="7828880" y="5554775"/>
            <a:ext cx="146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00000</a:t>
            </a:r>
            <a:r>
              <a:rPr lang="es-ES" dirty="0">
                <a:solidFill>
                  <a:srgbClr val="C00000"/>
                </a:solidFill>
              </a:rPr>
              <a:t>10000</a:t>
            </a:r>
            <a:endParaRPr lang="es-MX" dirty="0">
              <a:solidFill>
                <a:srgbClr val="C00000"/>
              </a:solidFill>
            </a:endParaRPr>
          </a:p>
        </p:txBody>
      </p:sp>
      <p:cxnSp>
        <p:nvCxnSpPr>
          <p:cNvPr id="26" name="Conector recto 25"/>
          <p:cNvCxnSpPr/>
          <p:nvPr/>
        </p:nvCxnSpPr>
        <p:spPr>
          <a:xfrm>
            <a:off x="7926452" y="5605436"/>
            <a:ext cx="6906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uadroTexto 26"/>
          <p:cNvSpPr txBox="1"/>
          <p:nvPr/>
        </p:nvSpPr>
        <p:spPr>
          <a:xfrm>
            <a:off x="8465367" y="5740963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11001</a:t>
            </a:r>
            <a:endParaRPr lang="es-MX" dirty="0">
              <a:solidFill>
                <a:srgbClr val="FF0000"/>
              </a:solidFill>
            </a:endParaRPr>
          </a:p>
        </p:txBody>
      </p:sp>
      <p:cxnSp>
        <p:nvCxnSpPr>
          <p:cNvPr id="28" name="Conector recto 27"/>
          <p:cNvCxnSpPr/>
          <p:nvPr/>
        </p:nvCxnSpPr>
        <p:spPr>
          <a:xfrm>
            <a:off x="8542881" y="6022204"/>
            <a:ext cx="6906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uadroTexto 28"/>
          <p:cNvSpPr txBox="1"/>
          <p:nvPr/>
        </p:nvSpPr>
        <p:spPr>
          <a:xfrm>
            <a:off x="8476861" y="5969429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01001</a:t>
            </a:r>
            <a:endParaRPr lang="es-MX" dirty="0">
              <a:solidFill>
                <a:srgbClr val="C00000"/>
              </a:solidFill>
            </a:endParaRPr>
          </a:p>
        </p:txBody>
      </p:sp>
      <p:sp>
        <p:nvSpPr>
          <p:cNvPr id="36" name="Rectángulo 35"/>
          <p:cNvSpPr/>
          <p:nvPr/>
        </p:nvSpPr>
        <p:spPr>
          <a:xfrm>
            <a:off x="8684244" y="6050631"/>
            <a:ext cx="618103" cy="264895"/>
          </a:xfrm>
          <a:prstGeom prst="rect">
            <a:avLst/>
          </a:prstGeom>
          <a:noFill/>
          <a:ln w="22225">
            <a:solidFill>
              <a:srgbClr val="0E1D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38" name="Conector recto de flecha 37"/>
          <p:cNvCxnSpPr/>
          <p:nvPr/>
        </p:nvCxnSpPr>
        <p:spPr>
          <a:xfrm>
            <a:off x="9426138" y="6178592"/>
            <a:ext cx="3708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uadroTexto 38"/>
          <p:cNvSpPr txBox="1"/>
          <p:nvPr/>
        </p:nvSpPr>
        <p:spPr>
          <a:xfrm>
            <a:off x="9797023" y="5986537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FCS</a:t>
            </a:r>
            <a:endParaRPr lang="es-MX" dirty="0"/>
          </a:p>
        </p:txBody>
      </p:sp>
      <p:sp>
        <p:nvSpPr>
          <p:cNvPr id="56" name="CuadroTexto 55"/>
          <p:cNvSpPr txBox="1"/>
          <p:nvPr/>
        </p:nvSpPr>
        <p:spPr>
          <a:xfrm>
            <a:off x="1631360" y="3285176"/>
            <a:ext cx="1980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1011100111</a:t>
            </a:r>
            <a:r>
              <a:rPr lang="es-ES" dirty="0">
                <a:solidFill>
                  <a:srgbClr val="FF0000"/>
                </a:solidFill>
              </a:rPr>
              <a:t>0000</a:t>
            </a:r>
            <a:endParaRPr lang="es-MX" dirty="0">
              <a:solidFill>
                <a:srgbClr val="FF0000"/>
              </a:solidFill>
            </a:endParaRPr>
          </a:p>
        </p:txBody>
      </p:sp>
      <p:sp>
        <p:nvSpPr>
          <p:cNvPr id="58" name="CuadroTexto 57"/>
          <p:cNvSpPr txBox="1"/>
          <p:nvPr/>
        </p:nvSpPr>
        <p:spPr>
          <a:xfrm>
            <a:off x="2916147" y="3552758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1001</a:t>
            </a:r>
            <a:endParaRPr lang="es-MX" dirty="0">
              <a:solidFill>
                <a:srgbClr val="C00000"/>
              </a:solidFill>
            </a:endParaRPr>
          </a:p>
        </p:txBody>
      </p:sp>
      <p:cxnSp>
        <p:nvCxnSpPr>
          <p:cNvPr id="9" name="Conector recto 8"/>
          <p:cNvCxnSpPr/>
          <p:nvPr/>
        </p:nvCxnSpPr>
        <p:spPr>
          <a:xfrm>
            <a:off x="1650673" y="4027431"/>
            <a:ext cx="18941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/>
          <p:cNvSpPr txBox="1"/>
          <p:nvPr/>
        </p:nvSpPr>
        <p:spPr>
          <a:xfrm>
            <a:off x="1449125" y="3568638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+</a:t>
            </a:r>
            <a:endParaRPr lang="es-MX" dirty="0"/>
          </a:p>
        </p:txBody>
      </p:sp>
      <p:sp>
        <p:nvSpPr>
          <p:cNvPr id="59" name="CuadroTexto 58"/>
          <p:cNvSpPr txBox="1"/>
          <p:nvPr/>
        </p:nvSpPr>
        <p:spPr>
          <a:xfrm>
            <a:off x="1650673" y="4008402"/>
            <a:ext cx="1980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1011100111</a:t>
            </a:r>
            <a:r>
              <a:rPr lang="es-ES" dirty="0">
                <a:solidFill>
                  <a:srgbClr val="FF0000"/>
                </a:solidFill>
              </a:rPr>
              <a:t>1001</a:t>
            </a:r>
            <a:endParaRPr lang="es-MX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19145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Control de error</a:t>
            </a:r>
            <a:endParaRPr lang="es-MX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1002460" y="1757083"/>
                <a:ext cx="10502152" cy="4535251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s-ES" b="1" dirty="0"/>
                  <a:t>CRC- Algoritmo (Verificación):</a:t>
                </a:r>
              </a:p>
              <a:p>
                <a:pPr marL="0" indent="0" algn="just">
                  <a:buNone/>
                </a:pPr>
                <a:r>
                  <a:rPr lang="es-ES" b="1" dirty="0"/>
                  <a:t>  </a:t>
                </a:r>
              </a:p>
              <a:p>
                <a:pPr marL="0" indent="0" algn="just">
                  <a:buNone/>
                </a:pPr>
                <a:r>
                  <a:rPr lang="es-ES" b="1" dirty="0"/>
                  <a:t>  + Dado T(x)= Trama de información de tamaño </a:t>
                </a:r>
                <a:r>
                  <a:rPr lang="es-ES" b="1" dirty="0" err="1"/>
                  <a:t>m+n</a:t>
                </a:r>
                <a:r>
                  <a:rPr lang="es-ES" b="1" dirty="0"/>
                  <a:t> bits, se realiza la siguiente operación:</a:t>
                </a:r>
              </a:p>
              <a:p>
                <a:pPr marL="0" indent="0" algn="just">
                  <a:buNone/>
                </a:pPr>
                <a:endParaRPr lang="es-ES" b="1" dirty="0"/>
              </a:p>
              <a:p>
                <a:pPr marL="0" indent="0">
                  <a:buNone/>
                </a:pPr>
                <a:r>
                  <a:rPr lang="es-ES" sz="2000" b="1" dirty="0"/>
                  <a:t>     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ES" sz="20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s-ES" sz="2000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ES" sz="2000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s-ES" sz="2000" b="1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s-ES" b="1" dirty="0"/>
                  <a:t>; donde   </a:t>
                </a:r>
              </a:p>
              <a:p>
                <a:pPr marL="0" indent="0" algn="just">
                  <a:buNone/>
                </a:pPr>
                <a:endParaRPr lang="es-ES" b="1" dirty="0"/>
              </a:p>
              <a:p>
                <a:pPr marL="0" indent="0" algn="just">
                  <a:buNone/>
                </a:pPr>
                <a:endParaRPr lang="es-ES" b="1" dirty="0"/>
              </a:p>
              <a:p>
                <a:pPr marL="0" indent="0" algn="just">
                  <a:buNone/>
                </a:pPr>
                <a:endParaRPr lang="es-ES" b="1" dirty="0"/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02460" y="1757083"/>
                <a:ext cx="10502152" cy="4535251"/>
              </a:xfrm>
              <a:blipFill rotWithShape="0">
                <a:blip r:embed="rId2"/>
                <a:stretch>
                  <a:fillRect l="-406" t="-67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uadroTexto 4"/>
          <p:cNvSpPr txBox="1"/>
          <p:nvPr/>
        </p:nvSpPr>
        <p:spPr>
          <a:xfrm>
            <a:off x="1277264" y="6581001"/>
            <a:ext cx="108654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</a:t>
            </a:r>
            <a:r>
              <a:rPr lang="es-MX" sz="1200" dirty="0" err="1"/>
              <a:t>Stallings</a:t>
            </a:r>
            <a:r>
              <a:rPr lang="es-MX" sz="1200" dirty="0"/>
              <a:t> W. (2004). Control de Enlace de Datos. En Comunicaciones y redes de computadores. (pp. 181-220).USA: Pearson </a:t>
            </a:r>
            <a:r>
              <a:rPr lang="es-MX" sz="1200" dirty="0" err="1"/>
              <a:t>Education</a:t>
            </a:r>
            <a:r>
              <a:rPr lang="es-MX" sz="1200" dirty="0"/>
              <a:t>.</a:t>
            </a:r>
          </a:p>
        </p:txBody>
      </p:sp>
      <p:sp>
        <p:nvSpPr>
          <p:cNvPr id="4" name="Abrir llave 3"/>
          <p:cNvSpPr/>
          <p:nvPr/>
        </p:nvSpPr>
        <p:spPr>
          <a:xfrm>
            <a:off x="3574923" y="3347815"/>
            <a:ext cx="59376" cy="67689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CuadroTexto 5"/>
          <p:cNvSpPr txBox="1"/>
          <p:nvPr/>
        </p:nvSpPr>
        <p:spPr>
          <a:xfrm>
            <a:off x="3634299" y="3363095"/>
            <a:ext cx="39469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Residuo  = 0 =&gt; Trama sin errores</a:t>
            </a:r>
          </a:p>
          <a:p>
            <a:r>
              <a:rPr lang="es-ES" dirty="0"/>
              <a:t>Residuo != 0 =&gt; Trama con errores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716030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92925" y="354785"/>
            <a:ext cx="8911687" cy="814726"/>
          </a:xfrm>
        </p:spPr>
        <p:txBody>
          <a:bodyPr/>
          <a:lstStyle/>
          <a:p>
            <a:pPr algn="ctr"/>
            <a:r>
              <a:rPr lang="es-ES" dirty="0"/>
              <a:t>Control de error</a:t>
            </a:r>
            <a:endParaRPr lang="es-MX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975641" y="1236175"/>
                <a:ext cx="10502152" cy="2334681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s-ES" b="1" dirty="0"/>
                  <a:t>Procedemos a realizar la operación</a:t>
                </a:r>
                <a:r>
                  <a:rPr lang="es-ES" b="1" dirty="0">
                    <a:solidFill>
                      <a:srgbClr val="FF0000"/>
                    </a:solidFill>
                  </a:rPr>
                  <a:t>  </a:t>
                </a:r>
                <a:r>
                  <a:rPr lang="es-ES" b="1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ES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s-ES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s-ES" b="1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𝑷</m:t>
                        </m:r>
                        <m:r>
                          <a:rPr lang="es-ES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s-ES" b="1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s-ES" b="1" dirty="0"/>
              </a:p>
              <a:p>
                <a:pPr marL="0" indent="0" algn="just">
                  <a:buNone/>
                </a:pPr>
                <a:endParaRPr lang="es-ES" b="1" i="1" dirty="0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r>
                  <a:rPr lang="es-ES" b="1" i="1" dirty="0">
                    <a:latin typeface="Cambria Math" panose="02040503050406030204" pitchFamily="18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s-ES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s-ES" b="1" dirty="0"/>
              </a:p>
              <a:p>
                <a:pPr marL="0" indent="0" algn="ctr">
                  <a:buNone/>
                </a:pPr>
                <a:endParaRPr lang="es-ES" b="1" dirty="0"/>
              </a:p>
              <a:p>
                <a:pPr marL="0" indent="0" algn="just">
                  <a:buNone/>
                </a:pPr>
                <a:endParaRPr lang="es-ES" b="1" dirty="0"/>
              </a:p>
              <a:p>
                <a:pPr marL="0" indent="0" algn="just">
                  <a:buNone/>
                </a:pPr>
                <a:endParaRPr lang="es-ES" b="1" dirty="0"/>
              </a:p>
              <a:p>
                <a:pPr marL="0" indent="0" algn="just">
                  <a:buNone/>
                </a:pPr>
                <a:endParaRPr lang="es-ES" b="1" dirty="0"/>
              </a:p>
              <a:p>
                <a:pPr marL="0" indent="0" algn="just">
                  <a:buNone/>
                </a:pPr>
                <a:endParaRPr lang="es-ES" b="1" dirty="0"/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75641" y="1236175"/>
                <a:ext cx="10502152" cy="2334681"/>
              </a:xfrm>
              <a:blipFill rotWithShape="0"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uadroTexto 4"/>
          <p:cNvSpPr txBox="1"/>
          <p:nvPr/>
        </p:nvSpPr>
        <p:spPr>
          <a:xfrm>
            <a:off x="201600" y="6257161"/>
            <a:ext cx="58721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</a:t>
            </a:r>
            <a:r>
              <a:rPr lang="es-MX" sz="1200" dirty="0" err="1"/>
              <a:t>Stallings</a:t>
            </a:r>
            <a:r>
              <a:rPr lang="es-MX" sz="1200" dirty="0"/>
              <a:t> W. (2004). Control de Enlace de Datos. En Comunicaciones</a:t>
            </a:r>
          </a:p>
          <a:p>
            <a:r>
              <a:rPr lang="es-MX" sz="1200" dirty="0"/>
              <a:t> y redes de computadores. (pp. 181-220).USA: Pearson </a:t>
            </a:r>
            <a:r>
              <a:rPr lang="es-MX" sz="1200" dirty="0" err="1"/>
              <a:t>Education</a:t>
            </a:r>
            <a:r>
              <a:rPr lang="es-MX" sz="1200" dirty="0"/>
              <a:t>.</a:t>
            </a:r>
          </a:p>
        </p:txBody>
      </p:sp>
      <p:cxnSp>
        <p:nvCxnSpPr>
          <p:cNvPr id="6" name="Conector recto 5"/>
          <p:cNvCxnSpPr/>
          <p:nvPr/>
        </p:nvCxnSpPr>
        <p:spPr>
          <a:xfrm flipV="1">
            <a:off x="3970251" y="2548272"/>
            <a:ext cx="13447" cy="434775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/>
          <p:cNvSpPr txBox="1"/>
          <p:nvPr/>
        </p:nvSpPr>
        <p:spPr>
          <a:xfrm>
            <a:off x="3983698" y="2642401"/>
            <a:ext cx="1980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1011100111</a:t>
            </a:r>
            <a:r>
              <a:rPr lang="es-ES" dirty="0">
                <a:solidFill>
                  <a:srgbClr val="FF0000"/>
                </a:solidFill>
              </a:rPr>
              <a:t>1001</a:t>
            </a:r>
            <a:endParaRPr lang="es-MX" dirty="0">
              <a:solidFill>
                <a:srgbClr val="FF0000"/>
              </a:solidFill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3137660" y="2651250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11001</a:t>
            </a:r>
            <a:endParaRPr lang="es-MX" dirty="0">
              <a:solidFill>
                <a:srgbClr val="FF0000"/>
              </a:solidFill>
            </a:endParaRPr>
          </a:p>
        </p:txBody>
      </p:sp>
      <p:cxnSp>
        <p:nvCxnSpPr>
          <p:cNvPr id="12" name="Conector recto 11"/>
          <p:cNvCxnSpPr/>
          <p:nvPr/>
        </p:nvCxnSpPr>
        <p:spPr>
          <a:xfrm>
            <a:off x="3983698" y="2548272"/>
            <a:ext cx="2138083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/>
          <p:cNvSpPr txBox="1"/>
          <p:nvPr/>
        </p:nvSpPr>
        <p:spPr>
          <a:xfrm>
            <a:off x="4003869" y="2921195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11001</a:t>
            </a:r>
            <a:endParaRPr lang="es-MX" dirty="0">
              <a:solidFill>
                <a:srgbClr val="FF0000"/>
              </a:solidFill>
            </a:endParaRPr>
          </a:p>
        </p:txBody>
      </p:sp>
      <p:cxnSp>
        <p:nvCxnSpPr>
          <p:cNvPr id="15" name="Conector recto 14"/>
          <p:cNvCxnSpPr/>
          <p:nvPr/>
        </p:nvCxnSpPr>
        <p:spPr>
          <a:xfrm>
            <a:off x="4047411" y="3217957"/>
            <a:ext cx="6906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adroTexto 15"/>
          <p:cNvSpPr txBox="1"/>
          <p:nvPr/>
        </p:nvSpPr>
        <p:spPr>
          <a:xfrm>
            <a:off x="4003869" y="3239516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01110</a:t>
            </a:r>
            <a:r>
              <a:rPr lang="es-ES" dirty="0">
                <a:solidFill>
                  <a:srgbClr val="C00000"/>
                </a:solidFill>
              </a:rPr>
              <a:t>0</a:t>
            </a:r>
            <a:endParaRPr lang="es-MX" dirty="0">
              <a:solidFill>
                <a:srgbClr val="C00000"/>
              </a:solidFill>
            </a:endParaRPr>
          </a:p>
        </p:txBody>
      </p:sp>
      <p:sp>
        <p:nvSpPr>
          <p:cNvPr id="17" name="CuadroTexto 16"/>
          <p:cNvSpPr txBox="1"/>
          <p:nvPr/>
        </p:nvSpPr>
        <p:spPr>
          <a:xfrm>
            <a:off x="4491698" y="2187335"/>
            <a:ext cx="2138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1101100001</a:t>
            </a:r>
            <a:endParaRPr lang="es-MX" dirty="0">
              <a:solidFill>
                <a:srgbClr val="FF0000"/>
              </a:solidFill>
            </a:endParaRPr>
          </a:p>
        </p:txBody>
      </p:sp>
      <p:sp>
        <p:nvSpPr>
          <p:cNvPr id="18" name="CuadroTexto 17"/>
          <p:cNvSpPr txBox="1"/>
          <p:nvPr/>
        </p:nvSpPr>
        <p:spPr>
          <a:xfrm>
            <a:off x="4147845" y="3456164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11001</a:t>
            </a:r>
            <a:endParaRPr lang="es-MX" dirty="0">
              <a:solidFill>
                <a:srgbClr val="FF0000"/>
              </a:solidFill>
            </a:endParaRPr>
          </a:p>
        </p:txBody>
      </p:sp>
      <p:cxnSp>
        <p:nvCxnSpPr>
          <p:cNvPr id="19" name="Conector recto 18"/>
          <p:cNvCxnSpPr/>
          <p:nvPr/>
        </p:nvCxnSpPr>
        <p:spPr>
          <a:xfrm>
            <a:off x="4248491" y="3764345"/>
            <a:ext cx="6906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uadroTexto 19"/>
          <p:cNvSpPr txBox="1"/>
          <p:nvPr/>
        </p:nvSpPr>
        <p:spPr>
          <a:xfrm>
            <a:off x="4159519" y="3744831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00101</a:t>
            </a:r>
            <a:r>
              <a:rPr lang="es-ES" dirty="0">
                <a:solidFill>
                  <a:srgbClr val="C00000"/>
                </a:solidFill>
              </a:rPr>
              <a:t>01</a:t>
            </a:r>
            <a:endParaRPr lang="es-MX" dirty="0">
              <a:solidFill>
                <a:srgbClr val="C00000"/>
              </a:solidFill>
            </a:endParaRPr>
          </a:p>
        </p:txBody>
      </p:sp>
      <p:sp>
        <p:nvSpPr>
          <p:cNvPr id="21" name="CuadroTexto 20"/>
          <p:cNvSpPr txBox="1"/>
          <p:nvPr/>
        </p:nvSpPr>
        <p:spPr>
          <a:xfrm>
            <a:off x="4421444" y="3951056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11001</a:t>
            </a:r>
            <a:endParaRPr lang="es-MX" dirty="0">
              <a:solidFill>
                <a:srgbClr val="FF0000"/>
              </a:solidFill>
            </a:endParaRPr>
          </a:p>
        </p:txBody>
      </p:sp>
      <p:cxnSp>
        <p:nvCxnSpPr>
          <p:cNvPr id="22" name="Conector recto 21"/>
          <p:cNvCxnSpPr/>
          <p:nvPr/>
        </p:nvCxnSpPr>
        <p:spPr>
          <a:xfrm>
            <a:off x="4517074" y="4230209"/>
            <a:ext cx="6906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uadroTexto 22"/>
          <p:cNvSpPr txBox="1"/>
          <p:nvPr/>
        </p:nvSpPr>
        <p:spPr>
          <a:xfrm>
            <a:off x="4435221" y="4199382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01100</a:t>
            </a:r>
            <a:r>
              <a:rPr lang="es-ES" dirty="0">
                <a:solidFill>
                  <a:srgbClr val="C00000"/>
                </a:solidFill>
              </a:rPr>
              <a:t>1</a:t>
            </a:r>
            <a:endParaRPr lang="es-MX" dirty="0">
              <a:solidFill>
                <a:srgbClr val="C00000"/>
              </a:solidFill>
            </a:endParaRPr>
          </a:p>
        </p:txBody>
      </p:sp>
      <p:sp>
        <p:nvSpPr>
          <p:cNvPr id="24" name="CuadroTexto 23"/>
          <p:cNvSpPr txBox="1"/>
          <p:nvPr/>
        </p:nvSpPr>
        <p:spPr>
          <a:xfrm>
            <a:off x="4563461" y="4392829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11001</a:t>
            </a:r>
            <a:endParaRPr lang="es-MX" dirty="0">
              <a:solidFill>
                <a:srgbClr val="FF0000"/>
              </a:solidFill>
            </a:endParaRPr>
          </a:p>
        </p:txBody>
      </p:sp>
      <p:sp>
        <p:nvSpPr>
          <p:cNvPr id="25" name="CuadroTexto 24"/>
          <p:cNvSpPr txBox="1"/>
          <p:nvPr/>
        </p:nvSpPr>
        <p:spPr>
          <a:xfrm>
            <a:off x="4566405" y="4633205"/>
            <a:ext cx="146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00000</a:t>
            </a:r>
            <a:r>
              <a:rPr lang="es-ES" dirty="0">
                <a:solidFill>
                  <a:srgbClr val="C00000"/>
                </a:solidFill>
              </a:rPr>
              <a:t>11001</a:t>
            </a:r>
            <a:endParaRPr lang="es-MX" dirty="0">
              <a:solidFill>
                <a:srgbClr val="C00000"/>
              </a:solidFill>
            </a:endParaRPr>
          </a:p>
        </p:txBody>
      </p:sp>
      <p:cxnSp>
        <p:nvCxnSpPr>
          <p:cNvPr id="26" name="Conector recto 25"/>
          <p:cNvCxnSpPr/>
          <p:nvPr/>
        </p:nvCxnSpPr>
        <p:spPr>
          <a:xfrm>
            <a:off x="4663977" y="4683866"/>
            <a:ext cx="6906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uadroTexto 26"/>
          <p:cNvSpPr txBox="1"/>
          <p:nvPr/>
        </p:nvSpPr>
        <p:spPr>
          <a:xfrm>
            <a:off x="5202892" y="4819393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11001</a:t>
            </a:r>
            <a:endParaRPr lang="es-MX" dirty="0">
              <a:solidFill>
                <a:srgbClr val="FF0000"/>
              </a:solidFill>
            </a:endParaRPr>
          </a:p>
        </p:txBody>
      </p:sp>
      <p:cxnSp>
        <p:nvCxnSpPr>
          <p:cNvPr id="28" name="Conector recto 27"/>
          <p:cNvCxnSpPr/>
          <p:nvPr/>
        </p:nvCxnSpPr>
        <p:spPr>
          <a:xfrm>
            <a:off x="5280406" y="5100634"/>
            <a:ext cx="6906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uadroTexto 28"/>
          <p:cNvSpPr txBox="1"/>
          <p:nvPr/>
        </p:nvSpPr>
        <p:spPr>
          <a:xfrm>
            <a:off x="5214386" y="5047859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00000</a:t>
            </a:r>
            <a:endParaRPr lang="es-MX" dirty="0">
              <a:solidFill>
                <a:srgbClr val="C00000"/>
              </a:solidFill>
            </a:endParaRPr>
          </a:p>
        </p:txBody>
      </p:sp>
      <p:sp>
        <p:nvSpPr>
          <p:cNvPr id="36" name="Rectángulo 35"/>
          <p:cNvSpPr/>
          <p:nvPr/>
        </p:nvSpPr>
        <p:spPr>
          <a:xfrm>
            <a:off x="5421769" y="5129061"/>
            <a:ext cx="618103" cy="264895"/>
          </a:xfrm>
          <a:prstGeom prst="rect">
            <a:avLst/>
          </a:prstGeom>
          <a:noFill/>
          <a:ln w="22225">
            <a:solidFill>
              <a:srgbClr val="0E1D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38" name="Conector recto de flecha 37"/>
          <p:cNvCxnSpPr/>
          <p:nvPr/>
        </p:nvCxnSpPr>
        <p:spPr>
          <a:xfrm>
            <a:off x="6163663" y="5257022"/>
            <a:ext cx="3708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uadroTexto 38"/>
          <p:cNvSpPr txBox="1"/>
          <p:nvPr/>
        </p:nvSpPr>
        <p:spPr>
          <a:xfrm>
            <a:off x="6534548" y="5064967"/>
            <a:ext cx="13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Residuo=0</a:t>
            </a:r>
            <a:endParaRPr lang="es-MX" dirty="0"/>
          </a:p>
        </p:txBody>
      </p:sp>
      <p:pic>
        <p:nvPicPr>
          <p:cNvPr id="40" name="Imagen 3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3758" y="4718813"/>
            <a:ext cx="658091" cy="658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398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92925" y="354785"/>
            <a:ext cx="8911687" cy="814726"/>
          </a:xfrm>
        </p:spPr>
        <p:txBody>
          <a:bodyPr/>
          <a:lstStyle/>
          <a:p>
            <a:pPr algn="ctr"/>
            <a:r>
              <a:rPr lang="es-ES" dirty="0"/>
              <a:t>Control de error</a:t>
            </a:r>
            <a:endParaRPr lang="es-MX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975641" y="1236175"/>
                <a:ext cx="10502152" cy="2334681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s-ES" b="1" dirty="0"/>
                  <a:t>Supongamos que T(x) sufriera una distorsión y quedara como T(x) = </a:t>
                </a:r>
                <a:r>
                  <a:rPr lang="es-ES" b="1" i="1" dirty="0">
                    <a:latin typeface="Cambria Math" panose="02040503050406030204" pitchFamily="18" charset="0"/>
                  </a:rPr>
                  <a:t>10111001111111</a:t>
                </a:r>
                <a:endParaRPr lang="es-ES" b="1" dirty="0"/>
              </a:p>
              <a:p>
                <a:pPr algn="just"/>
                <a:r>
                  <a:rPr lang="es-ES" b="1" dirty="0"/>
                  <a:t>Procedemos a realizar la operación</a:t>
                </a:r>
                <a:r>
                  <a:rPr lang="es-ES" b="1" dirty="0">
                    <a:solidFill>
                      <a:srgbClr val="FF0000"/>
                    </a:solidFill>
                  </a:rPr>
                  <a:t>  </a:t>
                </a:r>
                <a:r>
                  <a:rPr lang="es-ES" b="1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ES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s-ES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s-ES" b="1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𝑷</m:t>
                        </m:r>
                        <m:r>
                          <a:rPr lang="es-ES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s-ES" b="1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s-ES" b="1" dirty="0"/>
              </a:p>
              <a:p>
                <a:pPr marL="0" indent="0" algn="just">
                  <a:buNone/>
                </a:pPr>
                <a:endParaRPr lang="es-ES" b="1" i="1" dirty="0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r>
                  <a:rPr lang="es-ES" b="1" i="1" dirty="0">
                    <a:latin typeface="Cambria Math" panose="02040503050406030204" pitchFamily="18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s-ES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s-ES" b="1" dirty="0"/>
              </a:p>
              <a:p>
                <a:pPr marL="0" indent="0" algn="ctr">
                  <a:buNone/>
                </a:pPr>
                <a:endParaRPr lang="es-ES" b="1" dirty="0"/>
              </a:p>
              <a:p>
                <a:pPr marL="0" indent="0" algn="just">
                  <a:buNone/>
                </a:pPr>
                <a:endParaRPr lang="es-ES" b="1" dirty="0"/>
              </a:p>
              <a:p>
                <a:pPr marL="0" indent="0" algn="just">
                  <a:buNone/>
                </a:pPr>
                <a:endParaRPr lang="es-ES" b="1" dirty="0"/>
              </a:p>
              <a:p>
                <a:pPr marL="0" indent="0" algn="just">
                  <a:buNone/>
                </a:pPr>
                <a:endParaRPr lang="es-ES" b="1" dirty="0"/>
              </a:p>
              <a:p>
                <a:pPr marL="0" indent="0" algn="just">
                  <a:buNone/>
                </a:pPr>
                <a:endParaRPr lang="es-ES" b="1" dirty="0"/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75641" y="1236175"/>
                <a:ext cx="10502152" cy="2334681"/>
              </a:xfrm>
              <a:blipFill rotWithShape="0">
                <a:blip r:embed="rId2"/>
                <a:stretch>
                  <a:fillRect l="-406" t="-156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uadroTexto 4"/>
          <p:cNvSpPr txBox="1"/>
          <p:nvPr/>
        </p:nvSpPr>
        <p:spPr>
          <a:xfrm>
            <a:off x="201600" y="6257161"/>
            <a:ext cx="58721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</a:t>
            </a:r>
            <a:r>
              <a:rPr lang="es-MX" sz="1200" dirty="0" err="1"/>
              <a:t>Stallings</a:t>
            </a:r>
            <a:r>
              <a:rPr lang="es-MX" sz="1200" dirty="0"/>
              <a:t> W. (2004). Control de Enlace de Datos. En Comunicaciones</a:t>
            </a:r>
          </a:p>
          <a:p>
            <a:r>
              <a:rPr lang="es-MX" sz="1200" dirty="0"/>
              <a:t> y redes de computadores. (pp. 181-220).USA: Pearson </a:t>
            </a:r>
            <a:r>
              <a:rPr lang="es-MX" sz="1200" dirty="0" err="1"/>
              <a:t>Education</a:t>
            </a:r>
            <a:r>
              <a:rPr lang="es-MX" sz="1200" dirty="0"/>
              <a:t>.</a:t>
            </a:r>
          </a:p>
        </p:txBody>
      </p:sp>
      <p:cxnSp>
        <p:nvCxnSpPr>
          <p:cNvPr id="6" name="Conector recto 5"/>
          <p:cNvCxnSpPr/>
          <p:nvPr/>
        </p:nvCxnSpPr>
        <p:spPr>
          <a:xfrm flipV="1">
            <a:off x="3970251" y="2548272"/>
            <a:ext cx="13447" cy="434775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/>
          <p:cNvSpPr txBox="1"/>
          <p:nvPr/>
        </p:nvSpPr>
        <p:spPr>
          <a:xfrm>
            <a:off x="3983698" y="2642401"/>
            <a:ext cx="1980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1011100111</a:t>
            </a:r>
            <a:r>
              <a:rPr lang="es-ES" dirty="0">
                <a:solidFill>
                  <a:srgbClr val="FF0000"/>
                </a:solidFill>
              </a:rPr>
              <a:t>1111</a:t>
            </a:r>
            <a:endParaRPr lang="es-MX" dirty="0">
              <a:solidFill>
                <a:srgbClr val="FF0000"/>
              </a:solidFill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3137660" y="2651250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11001</a:t>
            </a:r>
            <a:endParaRPr lang="es-MX" dirty="0">
              <a:solidFill>
                <a:srgbClr val="FF0000"/>
              </a:solidFill>
            </a:endParaRPr>
          </a:p>
        </p:txBody>
      </p:sp>
      <p:cxnSp>
        <p:nvCxnSpPr>
          <p:cNvPr id="12" name="Conector recto 11"/>
          <p:cNvCxnSpPr/>
          <p:nvPr/>
        </p:nvCxnSpPr>
        <p:spPr>
          <a:xfrm>
            <a:off x="3983698" y="2548272"/>
            <a:ext cx="2138083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/>
          <p:cNvSpPr txBox="1"/>
          <p:nvPr/>
        </p:nvSpPr>
        <p:spPr>
          <a:xfrm>
            <a:off x="4003869" y="2921195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11001</a:t>
            </a:r>
            <a:endParaRPr lang="es-MX" dirty="0">
              <a:solidFill>
                <a:srgbClr val="FF0000"/>
              </a:solidFill>
            </a:endParaRPr>
          </a:p>
        </p:txBody>
      </p:sp>
      <p:cxnSp>
        <p:nvCxnSpPr>
          <p:cNvPr id="15" name="Conector recto 14"/>
          <p:cNvCxnSpPr/>
          <p:nvPr/>
        </p:nvCxnSpPr>
        <p:spPr>
          <a:xfrm>
            <a:off x="4047411" y="3217957"/>
            <a:ext cx="6906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adroTexto 15"/>
          <p:cNvSpPr txBox="1"/>
          <p:nvPr/>
        </p:nvSpPr>
        <p:spPr>
          <a:xfrm>
            <a:off x="4003869" y="3239516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01110</a:t>
            </a:r>
            <a:r>
              <a:rPr lang="es-ES" dirty="0">
                <a:solidFill>
                  <a:srgbClr val="C00000"/>
                </a:solidFill>
              </a:rPr>
              <a:t>0</a:t>
            </a:r>
            <a:endParaRPr lang="es-MX" dirty="0">
              <a:solidFill>
                <a:srgbClr val="C00000"/>
              </a:solidFill>
            </a:endParaRPr>
          </a:p>
        </p:txBody>
      </p:sp>
      <p:sp>
        <p:nvSpPr>
          <p:cNvPr id="17" name="CuadroTexto 16"/>
          <p:cNvSpPr txBox="1"/>
          <p:nvPr/>
        </p:nvSpPr>
        <p:spPr>
          <a:xfrm>
            <a:off x="4491698" y="2187335"/>
            <a:ext cx="2138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1101100001</a:t>
            </a:r>
            <a:endParaRPr lang="es-MX" dirty="0">
              <a:solidFill>
                <a:srgbClr val="FF0000"/>
              </a:solidFill>
            </a:endParaRPr>
          </a:p>
        </p:txBody>
      </p:sp>
      <p:sp>
        <p:nvSpPr>
          <p:cNvPr id="18" name="CuadroTexto 17"/>
          <p:cNvSpPr txBox="1"/>
          <p:nvPr/>
        </p:nvSpPr>
        <p:spPr>
          <a:xfrm>
            <a:off x="4147845" y="3456164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11001</a:t>
            </a:r>
            <a:endParaRPr lang="es-MX" dirty="0">
              <a:solidFill>
                <a:srgbClr val="FF0000"/>
              </a:solidFill>
            </a:endParaRPr>
          </a:p>
        </p:txBody>
      </p:sp>
      <p:cxnSp>
        <p:nvCxnSpPr>
          <p:cNvPr id="19" name="Conector recto 18"/>
          <p:cNvCxnSpPr/>
          <p:nvPr/>
        </p:nvCxnSpPr>
        <p:spPr>
          <a:xfrm>
            <a:off x="4248491" y="3764345"/>
            <a:ext cx="6906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uadroTexto 19"/>
          <p:cNvSpPr txBox="1"/>
          <p:nvPr/>
        </p:nvSpPr>
        <p:spPr>
          <a:xfrm>
            <a:off x="4159519" y="3744831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00101</a:t>
            </a:r>
            <a:r>
              <a:rPr lang="es-ES" dirty="0">
                <a:solidFill>
                  <a:srgbClr val="C00000"/>
                </a:solidFill>
              </a:rPr>
              <a:t>01</a:t>
            </a:r>
            <a:endParaRPr lang="es-MX" dirty="0">
              <a:solidFill>
                <a:srgbClr val="C00000"/>
              </a:solidFill>
            </a:endParaRPr>
          </a:p>
        </p:txBody>
      </p:sp>
      <p:sp>
        <p:nvSpPr>
          <p:cNvPr id="21" name="CuadroTexto 20"/>
          <p:cNvSpPr txBox="1"/>
          <p:nvPr/>
        </p:nvSpPr>
        <p:spPr>
          <a:xfrm>
            <a:off x="4421444" y="3951056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11001</a:t>
            </a:r>
            <a:endParaRPr lang="es-MX" dirty="0">
              <a:solidFill>
                <a:srgbClr val="FF0000"/>
              </a:solidFill>
            </a:endParaRPr>
          </a:p>
        </p:txBody>
      </p:sp>
      <p:cxnSp>
        <p:nvCxnSpPr>
          <p:cNvPr id="22" name="Conector recto 21"/>
          <p:cNvCxnSpPr/>
          <p:nvPr/>
        </p:nvCxnSpPr>
        <p:spPr>
          <a:xfrm>
            <a:off x="4517074" y="4230209"/>
            <a:ext cx="6906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uadroTexto 22"/>
          <p:cNvSpPr txBox="1"/>
          <p:nvPr/>
        </p:nvSpPr>
        <p:spPr>
          <a:xfrm>
            <a:off x="4435221" y="4199382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01100</a:t>
            </a:r>
            <a:r>
              <a:rPr lang="es-ES" dirty="0">
                <a:solidFill>
                  <a:srgbClr val="C00000"/>
                </a:solidFill>
              </a:rPr>
              <a:t>1</a:t>
            </a:r>
            <a:endParaRPr lang="es-MX" dirty="0">
              <a:solidFill>
                <a:srgbClr val="C00000"/>
              </a:solidFill>
            </a:endParaRPr>
          </a:p>
        </p:txBody>
      </p:sp>
      <p:sp>
        <p:nvSpPr>
          <p:cNvPr id="24" name="CuadroTexto 23"/>
          <p:cNvSpPr txBox="1"/>
          <p:nvPr/>
        </p:nvSpPr>
        <p:spPr>
          <a:xfrm>
            <a:off x="4563461" y="4392829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11001</a:t>
            </a:r>
            <a:endParaRPr lang="es-MX" dirty="0">
              <a:solidFill>
                <a:srgbClr val="FF0000"/>
              </a:solidFill>
            </a:endParaRPr>
          </a:p>
        </p:txBody>
      </p:sp>
      <p:sp>
        <p:nvSpPr>
          <p:cNvPr id="25" name="CuadroTexto 24"/>
          <p:cNvSpPr txBox="1"/>
          <p:nvPr/>
        </p:nvSpPr>
        <p:spPr>
          <a:xfrm>
            <a:off x="4566405" y="4633205"/>
            <a:ext cx="146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00000</a:t>
            </a:r>
            <a:r>
              <a:rPr lang="es-ES" dirty="0">
                <a:solidFill>
                  <a:srgbClr val="C00000"/>
                </a:solidFill>
              </a:rPr>
              <a:t>11111</a:t>
            </a:r>
            <a:endParaRPr lang="es-MX" dirty="0">
              <a:solidFill>
                <a:srgbClr val="C00000"/>
              </a:solidFill>
            </a:endParaRPr>
          </a:p>
        </p:txBody>
      </p:sp>
      <p:cxnSp>
        <p:nvCxnSpPr>
          <p:cNvPr id="26" name="Conector recto 25"/>
          <p:cNvCxnSpPr/>
          <p:nvPr/>
        </p:nvCxnSpPr>
        <p:spPr>
          <a:xfrm>
            <a:off x="4663977" y="4683866"/>
            <a:ext cx="6906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uadroTexto 26"/>
          <p:cNvSpPr txBox="1"/>
          <p:nvPr/>
        </p:nvSpPr>
        <p:spPr>
          <a:xfrm>
            <a:off x="5202892" y="4819393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11001</a:t>
            </a:r>
            <a:endParaRPr lang="es-MX" dirty="0">
              <a:solidFill>
                <a:srgbClr val="FF0000"/>
              </a:solidFill>
            </a:endParaRPr>
          </a:p>
        </p:txBody>
      </p:sp>
      <p:cxnSp>
        <p:nvCxnSpPr>
          <p:cNvPr id="28" name="Conector recto 27"/>
          <p:cNvCxnSpPr/>
          <p:nvPr/>
        </p:nvCxnSpPr>
        <p:spPr>
          <a:xfrm>
            <a:off x="5280406" y="5100634"/>
            <a:ext cx="6906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uadroTexto 28"/>
          <p:cNvSpPr txBox="1"/>
          <p:nvPr/>
        </p:nvSpPr>
        <p:spPr>
          <a:xfrm>
            <a:off x="5214386" y="5047859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00110</a:t>
            </a:r>
            <a:endParaRPr lang="es-MX" dirty="0">
              <a:solidFill>
                <a:srgbClr val="C00000"/>
              </a:solidFill>
            </a:endParaRPr>
          </a:p>
        </p:txBody>
      </p:sp>
      <p:sp>
        <p:nvSpPr>
          <p:cNvPr id="36" name="Rectángulo 35"/>
          <p:cNvSpPr/>
          <p:nvPr/>
        </p:nvSpPr>
        <p:spPr>
          <a:xfrm>
            <a:off x="5421769" y="5129061"/>
            <a:ext cx="618103" cy="264895"/>
          </a:xfrm>
          <a:prstGeom prst="rect">
            <a:avLst/>
          </a:prstGeom>
          <a:noFill/>
          <a:ln w="22225">
            <a:solidFill>
              <a:srgbClr val="0E1D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38" name="Conector recto de flecha 37"/>
          <p:cNvCxnSpPr/>
          <p:nvPr/>
        </p:nvCxnSpPr>
        <p:spPr>
          <a:xfrm>
            <a:off x="6163663" y="5257022"/>
            <a:ext cx="3708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uadroTexto 38"/>
          <p:cNvSpPr txBox="1"/>
          <p:nvPr/>
        </p:nvSpPr>
        <p:spPr>
          <a:xfrm>
            <a:off x="6534548" y="5064967"/>
            <a:ext cx="1524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Residuo != 0</a:t>
            </a:r>
            <a:endParaRPr lang="es-MX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7519" y="4856425"/>
            <a:ext cx="752199" cy="752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175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Control de error</a:t>
            </a:r>
            <a:endParaRPr lang="es-MX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1002460" y="1532965"/>
                <a:ext cx="10502152" cy="4759369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s-ES" b="1" dirty="0"/>
                  <a:t>(Ejemplo 2): </a:t>
                </a:r>
                <a:r>
                  <a:rPr lang="es-ES" b="1" dirty="0">
                    <a:solidFill>
                      <a:srgbClr val="FF0000"/>
                    </a:solidFill>
                  </a:rPr>
                  <a:t>Dado el mensaje M(x)= “11101000100”, generar la trama T(x) a ser transmitida.</a:t>
                </a:r>
              </a:p>
              <a:p>
                <a:pPr marL="0" indent="0" algn="just">
                  <a:buNone/>
                </a:pPr>
                <a:r>
                  <a:rPr lang="es-ES" b="1" dirty="0"/>
                  <a:t>  </a:t>
                </a:r>
              </a:p>
              <a:p>
                <a:pPr marL="355600" indent="-355600" algn="just">
                  <a:buNone/>
                </a:pPr>
                <a:r>
                  <a:rPr lang="es-ES" b="1" dirty="0"/>
                  <a:t>  1. Lo primero que se necesita conocer es P(x), para ello obtenemos el grado del polinomio a través de: </a:t>
                </a:r>
                <a14:m>
                  <m:oMath xmlns:m="http://schemas.openxmlformats.org/officeDocument/2006/math">
                    <m:r>
                      <a:rPr lang="es-ES" b="1" i="0" smtClean="0">
                        <a:latin typeface="Cambria Math" panose="02040503050406030204" pitchFamily="18" charset="0"/>
                      </a:rPr>
                      <m:t>             </m:t>
                    </m:r>
                    <m:sSup>
                      <m:sSupPr>
                        <m:ctrlPr>
                          <a:rPr lang="es-E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  <m:r>
                      <a:rPr lang="es-E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s-E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𝒎</m:t>
                    </m:r>
                    <m:r>
                      <a:rPr lang="es-E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s-E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  <m:r>
                      <a:rPr lang="es-E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s-E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s-ES" b="1" dirty="0"/>
                  <a:t> ; en este caso m=11. Entonces..</a:t>
                </a:r>
              </a:p>
              <a:p>
                <a:pPr marL="355600" indent="-355600" algn="just">
                  <a:buNone/>
                </a:pPr>
                <a:endParaRPr lang="es-ES" b="1" dirty="0"/>
              </a:p>
              <a:p>
                <a:pPr marL="355600" indent="-355600" algn="just">
                  <a:buNone/>
                </a:pPr>
                <a:r>
                  <a:rPr lang="es-ES" b="1" dirty="0"/>
                  <a:t>		Para n=3, 	</a:t>
                </a:r>
                <a14:m>
                  <m:oMath xmlns:m="http://schemas.openxmlformats.org/officeDocument/2006/math">
                    <m:r>
                      <a:rPr lang="es-ES" b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s-E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s-E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𝟏𝟏</m:t>
                    </m:r>
                    <m:r>
                      <a:rPr lang="es-E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s-E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  <m:r>
                      <a:rPr lang="es-E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s-E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s-E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⇒</m:t>
                    </m:r>
                    <m:r>
                      <a:rPr lang="es-ES" b="1" i="1" smtClean="0">
                        <a:latin typeface="Cambria Math" panose="02040503050406030204" pitchFamily="18" charset="0"/>
                      </a:rPr>
                      <m:t>𝟖</m:t>
                    </m:r>
                    <m:r>
                      <a:rPr lang="es-E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s-E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𝟏𝟓</m:t>
                    </m:r>
                  </m:oMath>
                </a14:m>
                <a:endParaRPr lang="es-ES" b="1" dirty="0"/>
              </a:p>
              <a:p>
                <a:pPr marL="355600" indent="-355600" algn="just">
                  <a:buNone/>
                </a:pPr>
                <a:r>
                  <a:rPr lang="es-ES" b="1" dirty="0"/>
                  <a:t>		Para n=4, 	</a:t>
                </a:r>
                <a14:m>
                  <m:oMath xmlns:m="http://schemas.openxmlformats.org/officeDocument/2006/math">
                    <m:r>
                      <a:rPr lang="es-ES" b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s-E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sup>
                    </m:sSup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s-E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𝟏𝟏</m:t>
                    </m:r>
                    <m:r>
                      <a:rPr lang="es-E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s-E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𝟒</m:t>
                    </m:r>
                    <m:r>
                      <a:rPr lang="es-E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s-E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s-E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⇒</m:t>
                    </m:r>
                    <m:r>
                      <a:rPr lang="es-E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𝟏𝟔</m:t>
                    </m:r>
                    <m:r>
                      <a:rPr lang="es-E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s-E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𝟏𝟔</m:t>
                    </m:r>
                  </m:oMath>
                </a14:m>
                <a:endParaRPr lang="es-ES" b="1" dirty="0"/>
              </a:p>
              <a:p>
                <a:pPr marL="355600" indent="-355600" algn="just">
                  <a:buNone/>
                </a:pPr>
                <a:r>
                  <a:rPr lang="es-ES" b="1" dirty="0"/>
                  <a:t>		Para n=4, 	</a:t>
                </a:r>
                <a14:m>
                  <m:oMath xmlns:m="http://schemas.openxmlformats.org/officeDocument/2006/math">
                    <m:r>
                      <a:rPr lang="es-ES" b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s-E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sup>
                    </m:sSup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s-E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𝟏𝟏</m:t>
                    </m:r>
                    <m:r>
                      <a:rPr lang="es-E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s-E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𝟓</m:t>
                    </m:r>
                    <m:r>
                      <a:rPr lang="es-E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s-E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s-E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⇒</m:t>
                    </m:r>
                    <m:r>
                      <a:rPr lang="es-E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𝟑𝟐</m:t>
                    </m:r>
                    <m:r>
                      <a:rPr lang="es-E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s-E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𝟏𝟕</m:t>
                    </m:r>
                  </m:oMath>
                </a14:m>
                <a:endParaRPr lang="es-ES" b="1" dirty="0"/>
              </a:p>
              <a:p>
                <a:pPr marL="355600" indent="-355600" algn="just">
                  <a:buNone/>
                </a:pPr>
                <a:endParaRPr lang="es-ES" b="1" dirty="0"/>
              </a:p>
              <a:p>
                <a:pPr marL="0" indent="0" algn="just">
                  <a:buNone/>
                </a:pPr>
                <a:r>
                  <a:rPr lang="es-ES" b="1" dirty="0"/>
                  <a:t>El primer n aceptable es n=4, este será el orden del polinomio, por lo que el tamaño de P(x) es 5 bits</a:t>
                </a:r>
              </a:p>
              <a:p>
                <a:pPr marL="0" indent="0" algn="ctr">
                  <a:buNone/>
                </a:pPr>
                <a:endParaRPr lang="es-ES" b="1" dirty="0"/>
              </a:p>
              <a:p>
                <a:pPr marL="0" indent="0" algn="just">
                  <a:buNone/>
                </a:pPr>
                <a:endParaRPr lang="es-ES" b="1" dirty="0"/>
              </a:p>
              <a:p>
                <a:pPr marL="0" indent="0" algn="just">
                  <a:buNone/>
                </a:pPr>
                <a:endParaRPr lang="es-ES" b="1" dirty="0"/>
              </a:p>
              <a:p>
                <a:pPr marL="0" indent="0" algn="just">
                  <a:buNone/>
                </a:pPr>
                <a:endParaRPr lang="es-ES" b="1" dirty="0"/>
              </a:p>
              <a:p>
                <a:pPr marL="0" indent="0" algn="just">
                  <a:buNone/>
                </a:pPr>
                <a:endParaRPr lang="es-ES" b="1" dirty="0"/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02460" y="1532965"/>
                <a:ext cx="10502152" cy="4759369"/>
              </a:xfrm>
              <a:blipFill rotWithShape="0">
                <a:blip r:embed="rId2"/>
                <a:stretch>
                  <a:fillRect l="-464" t="-640" r="-52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uadroTexto 4"/>
          <p:cNvSpPr txBox="1"/>
          <p:nvPr/>
        </p:nvSpPr>
        <p:spPr>
          <a:xfrm>
            <a:off x="1277264" y="6581001"/>
            <a:ext cx="108654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</a:t>
            </a:r>
            <a:r>
              <a:rPr lang="es-MX" sz="1200" dirty="0" err="1"/>
              <a:t>Stallings</a:t>
            </a:r>
            <a:r>
              <a:rPr lang="es-MX" sz="1200" dirty="0"/>
              <a:t> W. (2004). Control de Enlace de Datos. En Comunicaciones y redes de computadores. (pp. 181-220).USA: Pearson </a:t>
            </a:r>
            <a:r>
              <a:rPr lang="es-MX" sz="1200" dirty="0" err="1"/>
              <a:t>Education</a:t>
            </a:r>
            <a:r>
              <a:rPr lang="es-MX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431093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Control de error</a:t>
            </a:r>
            <a:endParaRPr lang="es-MX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1002460" y="1532965"/>
                <a:ext cx="10502152" cy="5048036"/>
              </a:xfrm>
            </p:spPr>
            <p:txBody>
              <a:bodyPr>
                <a:normAutofit lnSpcReduction="10000"/>
              </a:bodyPr>
              <a:lstStyle/>
              <a:p>
                <a:pPr algn="just"/>
                <a:r>
                  <a:rPr lang="es-ES" b="1" dirty="0"/>
                  <a:t>Para sugerir un polinomio válido a ser usado, éste deberá iniciar y terminar con bits 1.</a:t>
                </a:r>
                <a:endParaRPr lang="es-ES" b="1" dirty="0">
                  <a:solidFill>
                    <a:srgbClr val="FF0000"/>
                  </a:solidFill>
                </a:endParaRPr>
              </a:p>
              <a:p>
                <a:pPr marL="0" indent="0" algn="just">
                  <a:buNone/>
                </a:pPr>
                <a:r>
                  <a:rPr lang="es-ES" b="1" dirty="0"/>
                  <a:t>  </a:t>
                </a:r>
              </a:p>
              <a:p>
                <a:pPr marL="355600" indent="-355600" algn="ctr">
                  <a:buNone/>
                </a:pPr>
                <a:r>
                  <a:rPr lang="es-ES" b="1" dirty="0"/>
                  <a:t>P(x)= </a:t>
                </a:r>
                <a:r>
                  <a:rPr lang="es-ES" b="1" u="sng" dirty="0"/>
                  <a:t>1</a:t>
                </a:r>
                <a:r>
                  <a:rPr lang="es-ES" b="1" dirty="0"/>
                  <a:t> _ _ _ </a:t>
                </a:r>
                <a:r>
                  <a:rPr lang="es-ES" b="1" u="sng" dirty="0"/>
                  <a:t>1</a:t>
                </a:r>
              </a:p>
              <a:p>
                <a:pPr marL="0" indent="0" algn="ctr">
                  <a:buNone/>
                </a:pPr>
                <a:r>
                  <a:rPr lang="es-ES" b="1" dirty="0"/>
                  <a:t>           1 </a:t>
                </a:r>
                <a:r>
                  <a:rPr lang="es-ES" b="1" u="sng" dirty="0">
                    <a:solidFill>
                      <a:srgbClr val="C00000"/>
                    </a:solidFill>
                  </a:rPr>
                  <a:t>0</a:t>
                </a:r>
                <a:r>
                  <a:rPr lang="es-ES" b="1" dirty="0">
                    <a:solidFill>
                      <a:srgbClr val="C00000"/>
                    </a:solidFill>
                  </a:rPr>
                  <a:t> </a:t>
                </a:r>
                <a:r>
                  <a:rPr lang="es-ES" b="1" u="sng" dirty="0">
                    <a:solidFill>
                      <a:srgbClr val="C00000"/>
                    </a:solidFill>
                  </a:rPr>
                  <a:t>0</a:t>
                </a:r>
                <a:r>
                  <a:rPr lang="es-ES" b="1" dirty="0">
                    <a:solidFill>
                      <a:srgbClr val="C00000"/>
                    </a:solidFill>
                  </a:rPr>
                  <a:t> </a:t>
                </a:r>
                <a:r>
                  <a:rPr lang="es-ES" b="1" u="sng" dirty="0">
                    <a:solidFill>
                      <a:srgbClr val="C00000"/>
                    </a:solidFill>
                  </a:rPr>
                  <a:t>0</a:t>
                </a:r>
                <a:r>
                  <a:rPr lang="es-ES" b="1" dirty="0"/>
                  <a:t> 1</a:t>
                </a:r>
              </a:p>
              <a:p>
                <a:pPr marL="0" indent="0" algn="ctr">
                  <a:buNone/>
                </a:pPr>
                <a:r>
                  <a:rPr lang="es-ES" b="1" dirty="0"/>
                  <a:t>           1 </a:t>
                </a:r>
                <a:r>
                  <a:rPr lang="es-ES" b="1" u="sng" dirty="0">
                    <a:solidFill>
                      <a:srgbClr val="C00000"/>
                    </a:solidFill>
                  </a:rPr>
                  <a:t>0</a:t>
                </a:r>
                <a:r>
                  <a:rPr lang="es-ES" b="1" dirty="0">
                    <a:solidFill>
                      <a:srgbClr val="C00000"/>
                    </a:solidFill>
                  </a:rPr>
                  <a:t> </a:t>
                </a:r>
                <a:r>
                  <a:rPr lang="es-ES" b="1" u="sng" dirty="0">
                    <a:solidFill>
                      <a:srgbClr val="C00000"/>
                    </a:solidFill>
                  </a:rPr>
                  <a:t>0</a:t>
                </a:r>
                <a:r>
                  <a:rPr lang="es-ES" b="1" dirty="0">
                    <a:solidFill>
                      <a:srgbClr val="C00000"/>
                    </a:solidFill>
                  </a:rPr>
                  <a:t> </a:t>
                </a:r>
                <a:r>
                  <a:rPr lang="es-ES" b="1" u="sng" dirty="0">
                    <a:solidFill>
                      <a:srgbClr val="C00000"/>
                    </a:solidFill>
                  </a:rPr>
                  <a:t>1</a:t>
                </a:r>
                <a:r>
                  <a:rPr lang="es-ES" b="1" dirty="0"/>
                  <a:t> 1</a:t>
                </a:r>
              </a:p>
              <a:p>
                <a:pPr marL="0" indent="0" algn="ctr">
                  <a:buNone/>
                </a:pPr>
                <a:r>
                  <a:rPr lang="es-ES" b="1" dirty="0"/>
                  <a:t>       Ej. 1 </a:t>
                </a:r>
                <a:r>
                  <a:rPr lang="es-ES" b="1" u="sng" dirty="0">
                    <a:solidFill>
                      <a:srgbClr val="C00000"/>
                    </a:solidFill>
                  </a:rPr>
                  <a:t>0</a:t>
                </a:r>
                <a:r>
                  <a:rPr lang="es-ES" b="1" dirty="0">
                    <a:solidFill>
                      <a:srgbClr val="C00000"/>
                    </a:solidFill>
                  </a:rPr>
                  <a:t> </a:t>
                </a:r>
                <a:r>
                  <a:rPr lang="es-ES" b="1" u="sng" dirty="0">
                    <a:solidFill>
                      <a:srgbClr val="C00000"/>
                    </a:solidFill>
                  </a:rPr>
                  <a:t>1</a:t>
                </a:r>
                <a:r>
                  <a:rPr lang="es-ES" b="1" dirty="0">
                    <a:solidFill>
                      <a:srgbClr val="C00000"/>
                    </a:solidFill>
                  </a:rPr>
                  <a:t> </a:t>
                </a:r>
                <a:r>
                  <a:rPr lang="es-ES" b="1" u="sng" dirty="0">
                    <a:solidFill>
                      <a:srgbClr val="C00000"/>
                    </a:solidFill>
                  </a:rPr>
                  <a:t>0</a:t>
                </a:r>
                <a:r>
                  <a:rPr lang="es-ES" b="1" dirty="0"/>
                  <a:t> 1</a:t>
                </a:r>
                <a:endParaRPr lang="es-ES" b="1" u="sng" dirty="0"/>
              </a:p>
              <a:p>
                <a:pPr marL="0" indent="0" algn="ctr">
                  <a:buNone/>
                </a:pPr>
                <a:r>
                  <a:rPr lang="es-ES" b="1" dirty="0"/>
                  <a:t>            1 </a:t>
                </a:r>
                <a:r>
                  <a:rPr lang="es-ES" b="1" u="sng" dirty="0">
                    <a:solidFill>
                      <a:srgbClr val="C00000"/>
                    </a:solidFill>
                  </a:rPr>
                  <a:t>0</a:t>
                </a:r>
                <a:r>
                  <a:rPr lang="es-ES" b="1" dirty="0">
                    <a:solidFill>
                      <a:srgbClr val="C00000"/>
                    </a:solidFill>
                  </a:rPr>
                  <a:t> </a:t>
                </a:r>
                <a:r>
                  <a:rPr lang="es-ES" b="1" u="sng" dirty="0">
                    <a:solidFill>
                      <a:srgbClr val="C00000"/>
                    </a:solidFill>
                  </a:rPr>
                  <a:t>1</a:t>
                </a:r>
                <a:r>
                  <a:rPr lang="es-ES" b="1" dirty="0">
                    <a:solidFill>
                      <a:srgbClr val="C00000"/>
                    </a:solidFill>
                  </a:rPr>
                  <a:t> </a:t>
                </a:r>
                <a:r>
                  <a:rPr lang="es-ES" b="1" u="sng" dirty="0">
                    <a:solidFill>
                      <a:srgbClr val="C00000"/>
                    </a:solidFill>
                  </a:rPr>
                  <a:t>1</a:t>
                </a:r>
                <a:r>
                  <a:rPr lang="es-ES" b="1" dirty="0"/>
                  <a:t> 1</a:t>
                </a:r>
              </a:p>
              <a:p>
                <a:pPr marL="0" indent="0" algn="ctr">
                  <a:buNone/>
                </a:pPr>
                <a:r>
                  <a:rPr lang="es-ES" b="1" dirty="0"/>
                  <a:t>            1 </a:t>
                </a:r>
                <a:r>
                  <a:rPr lang="es-ES" b="1" u="sng" dirty="0">
                    <a:solidFill>
                      <a:srgbClr val="C00000"/>
                    </a:solidFill>
                  </a:rPr>
                  <a:t>1</a:t>
                </a:r>
                <a:r>
                  <a:rPr lang="es-ES" b="1" dirty="0">
                    <a:solidFill>
                      <a:srgbClr val="C00000"/>
                    </a:solidFill>
                  </a:rPr>
                  <a:t> </a:t>
                </a:r>
                <a:r>
                  <a:rPr lang="es-ES" b="1" u="sng" dirty="0">
                    <a:solidFill>
                      <a:srgbClr val="C00000"/>
                    </a:solidFill>
                  </a:rPr>
                  <a:t>0</a:t>
                </a:r>
                <a:r>
                  <a:rPr lang="es-ES" b="1" dirty="0">
                    <a:solidFill>
                      <a:srgbClr val="C00000"/>
                    </a:solidFill>
                  </a:rPr>
                  <a:t> </a:t>
                </a:r>
                <a:r>
                  <a:rPr lang="es-ES" b="1" u="sng" dirty="0">
                    <a:solidFill>
                      <a:srgbClr val="C00000"/>
                    </a:solidFill>
                  </a:rPr>
                  <a:t>0</a:t>
                </a:r>
                <a:r>
                  <a:rPr lang="es-ES" b="1" dirty="0"/>
                  <a:t> 1</a:t>
                </a:r>
                <a:endParaRPr lang="es-ES" b="1" u="sng" dirty="0"/>
              </a:p>
              <a:p>
                <a:pPr marL="0" indent="0" algn="ctr">
                  <a:buNone/>
                </a:pPr>
                <a:r>
                  <a:rPr lang="es-ES" b="1" dirty="0"/>
                  <a:t>            1 </a:t>
                </a:r>
                <a:r>
                  <a:rPr lang="es-ES" b="1" u="sng" dirty="0">
                    <a:solidFill>
                      <a:srgbClr val="C00000"/>
                    </a:solidFill>
                  </a:rPr>
                  <a:t>1</a:t>
                </a:r>
                <a:r>
                  <a:rPr lang="es-ES" b="1" dirty="0">
                    <a:solidFill>
                      <a:srgbClr val="C00000"/>
                    </a:solidFill>
                  </a:rPr>
                  <a:t> </a:t>
                </a:r>
                <a:r>
                  <a:rPr lang="es-ES" b="1" u="sng" dirty="0">
                    <a:solidFill>
                      <a:srgbClr val="C00000"/>
                    </a:solidFill>
                  </a:rPr>
                  <a:t>0</a:t>
                </a:r>
                <a:r>
                  <a:rPr lang="es-ES" b="1" dirty="0">
                    <a:solidFill>
                      <a:srgbClr val="C00000"/>
                    </a:solidFill>
                  </a:rPr>
                  <a:t> </a:t>
                </a:r>
                <a:r>
                  <a:rPr lang="es-ES" b="1" u="sng" dirty="0">
                    <a:solidFill>
                      <a:srgbClr val="C00000"/>
                    </a:solidFill>
                  </a:rPr>
                  <a:t>1</a:t>
                </a:r>
                <a:r>
                  <a:rPr lang="es-ES" b="1" dirty="0"/>
                  <a:t> 1</a:t>
                </a:r>
              </a:p>
              <a:p>
                <a:pPr marL="0" indent="0" algn="ctr">
                  <a:buNone/>
                </a:pPr>
                <a:r>
                  <a:rPr lang="es-ES" b="1" dirty="0"/>
                  <a:t>            1 </a:t>
                </a:r>
                <a:r>
                  <a:rPr lang="es-ES" b="1" u="sng" dirty="0">
                    <a:solidFill>
                      <a:srgbClr val="C00000"/>
                    </a:solidFill>
                  </a:rPr>
                  <a:t>1</a:t>
                </a:r>
                <a:r>
                  <a:rPr lang="es-ES" b="1" dirty="0">
                    <a:solidFill>
                      <a:srgbClr val="C00000"/>
                    </a:solidFill>
                  </a:rPr>
                  <a:t> </a:t>
                </a:r>
                <a:r>
                  <a:rPr lang="es-ES" b="1" u="sng" dirty="0">
                    <a:solidFill>
                      <a:srgbClr val="C00000"/>
                    </a:solidFill>
                  </a:rPr>
                  <a:t>1</a:t>
                </a:r>
                <a:r>
                  <a:rPr lang="es-ES" b="1" dirty="0">
                    <a:solidFill>
                      <a:srgbClr val="C00000"/>
                    </a:solidFill>
                  </a:rPr>
                  <a:t> </a:t>
                </a:r>
                <a:r>
                  <a:rPr lang="es-ES" b="1" u="sng" dirty="0">
                    <a:solidFill>
                      <a:srgbClr val="C00000"/>
                    </a:solidFill>
                  </a:rPr>
                  <a:t>0</a:t>
                </a:r>
                <a:r>
                  <a:rPr lang="es-ES" b="1" dirty="0"/>
                  <a:t> 1</a:t>
                </a:r>
                <a:endParaRPr lang="es-ES" b="1" u="sng" dirty="0"/>
              </a:p>
              <a:p>
                <a:pPr marL="0" indent="0" algn="ctr">
                  <a:buNone/>
                </a:pPr>
                <a:r>
                  <a:rPr lang="es-ES" b="1" dirty="0"/>
                  <a:t>            1 </a:t>
                </a:r>
                <a:r>
                  <a:rPr lang="es-ES" b="1" u="sng" dirty="0">
                    <a:solidFill>
                      <a:srgbClr val="C00000"/>
                    </a:solidFill>
                  </a:rPr>
                  <a:t>1</a:t>
                </a:r>
                <a:r>
                  <a:rPr lang="es-ES" b="1" dirty="0">
                    <a:solidFill>
                      <a:srgbClr val="C00000"/>
                    </a:solidFill>
                  </a:rPr>
                  <a:t> </a:t>
                </a:r>
                <a:r>
                  <a:rPr lang="es-ES" b="1" u="sng" dirty="0">
                    <a:solidFill>
                      <a:srgbClr val="C00000"/>
                    </a:solidFill>
                  </a:rPr>
                  <a:t>1</a:t>
                </a:r>
                <a:r>
                  <a:rPr lang="es-ES" b="1" dirty="0">
                    <a:solidFill>
                      <a:srgbClr val="C00000"/>
                    </a:solidFill>
                  </a:rPr>
                  <a:t> </a:t>
                </a:r>
                <a:r>
                  <a:rPr lang="es-ES" b="1" u="sng" dirty="0">
                    <a:solidFill>
                      <a:srgbClr val="C00000"/>
                    </a:solidFill>
                  </a:rPr>
                  <a:t>1</a:t>
                </a:r>
                <a:r>
                  <a:rPr lang="es-ES" b="1" dirty="0"/>
                  <a:t> 1</a:t>
                </a:r>
              </a:p>
              <a:p>
                <a:pPr marL="0" indent="0" algn="ctr">
                  <a:buNone/>
                </a:pPr>
                <a:endParaRPr lang="es-ES" b="1" dirty="0"/>
              </a:p>
              <a:p>
                <a:pPr marL="0" indent="0" algn="ctr">
                  <a:buNone/>
                </a:pPr>
                <a:r>
                  <a:rPr lang="es-ES" b="1" dirty="0"/>
                  <a:t>P(x) = </a:t>
                </a:r>
                <a:r>
                  <a:rPr lang="es-ES" dirty="0"/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s-ES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s-ES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s-E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ES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s-MX" dirty="0"/>
              </a:p>
              <a:p>
                <a:pPr marL="0" indent="0" algn="ctr">
                  <a:buNone/>
                </a:pPr>
                <a:endParaRPr lang="es-ES" b="1" dirty="0"/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02460" y="1532965"/>
                <a:ext cx="10502152" cy="5048036"/>
              </a:xfrm>
              <a:blipFill rotWithShape="0">
                <a:blip r:embed="rId2"/>
                <a:stretch>
                  <a:fillRect l="-406" t="-120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uadroTexto 4"/>
          <p:cNvSpPr txBox="1"/>
          <p:nvPr/>
        </p:nvSpPr>
        <p:spPr>
          <a:xfrm>
            <a:off x="1277264" y="6581001"/>
            <a:ext cx="108654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</a:t>
            </a:r>
            <a:r>
              <a:rPr lang="es-MX" sz="1200" dirty="0" err="1"/>
              <a:t>Stallings</a:t>
            </a:r>
            <a:r>
              <a:rPr lang="es-MX" sz="1200" dirty="0"/>
              <a:t> W. (2004). Control de Enlace de Datos. En Comunicaciones y redes de computadores. (pp. 181-220).USA: Pearson </a:t>
            </a:r>
            <a:r>
              <a:rPr lang="es-MX" sz="1200" dirty="0" err="1"/>
              <a:t>Education</a:t>
            </a:r>
            <a:r>
              <a:rPr lang="es-MX" sz="1200" dirty="0"/>
              <a:t>.</a:t>
            </a:r>
          </a:p>
        </p:txBody>
      </p:sp>
      <p:sp>
        <p:nvSpPr>
          <p:cNvPr id="4" name="Elipse 3"/>
          <p:cNvSpPr/>
          <p:nvPr/>
        </p:nvSpPr>
        <p:spPr>
          <a:xfrm>
            <a:off x="6080610" y="3387371"/>
            <a:ext cx="1140031" cy="368135"/>
          </a:xfrm>
          <a:prstGeom prst="ellipse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/>
              <p:cNvSpPr txBox="1"/>
              <p:nvPr/>
            </p:nvSpPr>
            <p:spPr>
              <a:xfrm>
                <a:off x="7265257" y="3379925"/>
                <a:ext cx="16669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dirty="0"/>
                  <a:t>=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s-E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E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s-MX" dirty="0"/>
              </a:p>
            </p:txBody>
          </p:sp>
        </mc:Choice>
        <mc:Fallback xmlns="">
          <p:sp>
            <p:nvSpPr>
              <p:cNvPr id="6" name="CuadroTexto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5257" y="3379925"/>
                <a:ext cx="1666931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3297" t="-8197" b="-2459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88233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92925" y="354785"/>
            <a:ext cx="8911687" cy="814726"/>
          </a:xfrm>
        </p:spPr>
        <p:txBody>
          <a:bodyPr/>
          <a:lstStyle/>
          <a:p>
            <a:pPr algn="ctr"/>
            <a:r>
              <a:rPr lang="es-ES" dirty="0"/>
              <a:t>Control de error</a:t>
            </a:r>
            <a:endParaRPr lang="es-MX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822644" y="1450851"/>
                <a:ext cx="10502152" cy="4103923"/>
              </a:xfrm>
            </p:spPr>
            <p:txBody>
              <a:bodyPr>
                <a:normAutofit fontScale="92500" lnSpcReduction="10000"/>
              </a:bodyPr>
              <a:lstStyle/>
              <a:p>
                <a:pPr algn="just"/>
                <a:r>
                  <a:rPr lang="es-ES" b="1" dirty="0"/>
                  <a:t>2. Ya con </a:t>
                </a:r>
                <a:r>
                  <a:rPr lang="es-ES" b="1" dirty="0">
                    <a:solidFill>
                      <a:schemeClr val="tx1"/>
                    </a:solidFill>
                  </a:rPr>
                  <a:t>M(x)= “11101000100”, P(x)= “</a:t>
                </a:r>
                <a:r>
                  <a:rPr lang="es-ES" b="1" dirty="0"/>
                  <a:t>1</a:t>
                </a:r>
                <a:r>
                  <a:rPr lang="es-ES" b="1" dirty="0">
                    <a:solidFill>
                      <a:schemeClr val="tx1"/>
                    </a:solidFill>
                  </a:rPr>
                  <a:t>010</a:t>
                </a:r>
                <a:r>
                  <a:rPr lang="es-ES" b="1" dirty="0"/>
                  <a:t>1</a:t>
                </a:r>
                <a:r>
                  <a:rPr lang="es-ES" b="1" dirty="0">
                    <a:solidFill>
                      <a:schemeClr val="tx1"/>
                    </a:solidFill>
                  </a:rPr>
                  <a:t>” y n=4, obtenemos T(x) mediante </a:t>
                </a:r>
                <a14:m>
                  <m:oMath xmlns:m="http://schemas.openxmlformats.org/officeDocument/2006/math">
                    <m:r>
                      <a:rPr lang="es-ES" b="1">
                        <a:latin typeface="Cambria Math" panose="02040503050406030204" pitchFamily="18" charset="0"/>
                      </a:rPr>
                      <m:t>𝐓</m:t>
                    </m:r>
                    <m:d>
                      <m:dPr>
                        <m:ctrlPr>
                          <a:rPr lang="es-E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s-ES" b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  <m:r>
                      <a:rPr lang="es-ES" b="1" i="1">
                        <a:latin typeface="Cambria Math" panose="02040503050406030204" pitchFamily="18" charset="0"/>
                      </a:rPr>
                      <m:t>𝑴</m:t>
                    </m:r>
                    <m:d>
                      <m:dPr>
                        <m:ctrlPr>
                          <a:rPr lang="es-E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s-E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s-ES" b="1" i="1">
                        <a:latin typeface="Cambria Math" panose="02040503050406030204" pitchFamily="18" charset="0"/>
                      </a:rPr>
                      <m:t>𝑭𝑪𝑺</m:t>
                    </m:r>
                  </m:oMath>
                </a14:m>
                <a:r>
                  <a:rPr lang="es-ES" b="1" dirty="0">
                    <a:solidFill>
                      <a:schemeClr val="tx1"/>
                    </a:solidFill>
                  </a:rPr>
                  <a:t> </a:t>
                </a:r>
              </a:p>
              <a:p>
                <a:pPr algn="just"/>
                <a14:m>
                  <m:oMath xmlns:m="http://schemas.openxmlformats.org/officeDocument/2006/math">
                    <m:sSup>
                      <m:sSupPr>
                        <m:ctrlPr>
                          <a:rPr lang="es-E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  <m:r>
                      <a:rPr lang="es-ES" b="1" i="1">
                        <a:latin typeface="Cambria Math" panose="02040503050406030204" pitchFamily="18" charset="0"/>
                      </a:rPr>
                      <m:t>𝑴</m:t>
                    </m:r>
                    <m:d>
                      <m:dPr>
                        <m:ctrlPr>
                          <a:rPr lang="es-E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s-ES" b="1" dirty="0"/>
                  <a:t> = </a:t>
                </a:r>
                <a:r>
                  <a:rPr lang="es-ES" b="1" dirty="0">
                    <a:solidFill>
                      <a:schemeClr val="tx1"/>
                    </a:solidFill>
                  </a:rPr>
                  <a:t>11101000100</a:t>
                </a:r>
                <a:r>
                  <a:rPr lang="es-ES" b="1" dirty="0">
                    <a:solidFill>
                      <a:srgbClr val="FF0000"/>
                    </a:solidFill>
                  </a:rPr>
                  <a:t>0000</a:t>
                </a:r>
                <a:r>
                  <a:rPr lang="es-ES" b="1" dirty="0"/>
                  <a:t>; </a:t>
                </a:r>
              </a:p>
              <a:p>
                <a:pPr marL="0" indent="0" algn="just">
                  <a:buNone/>
                </a:pPr>
                <a:r>
                  <a:rPr lang="es-ES" b="1" dirty="0"/>
                  <a:t>    2.Ahora vamos con el término   FCS = residuo de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ES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s-ES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sup>
                            <m:r>
                              <a:rPr lang="es-ES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</m:sSup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𝑴</m:t>
                        </m:r>
                        <m:r>
                          <a:rPr lang="es-ES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s-ES" b="1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𝑷</m:t>
                        </m:r>
                        <m:r>
                          <a:rPr lang="es-ES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s-ES" b="1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s-ES" b="1" dirty="0"/>
              </a:p>
              <a:p>
                <a:pPr marL="0" indent="0" algn="just">
                  <a:buNone/>
                </a:pPr>
                <a:endParaRPr lang="es-ES" b="1" i="1" dirty="0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r>
                  <a:rPr lang="es-ES" b="1" i="1" dirty="0">
                    <a:latin typeface="Cambria Math" panose="02040503050406030204" pitchFamily="18" charset="0"/>
                  </a:rPr>
                  <a:t>     </a:t>
                </a:r>
                <a:r>
                  <a:rPr lang="es-ES" dirty="0"/>
                  <a:t>  </a:t>
                </a:r>
                <a:endParaRPr lang="es-MX" dirty="0">
                  <a:solidFill>
                    <a:srgbClr val="FF0000"/>
                  </a:solidFill>
                </a:endParaRPr>
              </a:p>
              <a:p>
                <a:pPr marL="0" indent="0" algn="just">
                  <a:buNone/>
                </a:pPr>
                <a:endParaRPr lang="es-ES" b="1" i="1" dirty="0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s-ES" b="1" i="1" dirty="0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s-ES" b="1" i="1" dirty="0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r>
                  <a:rPr lang="es-ES" b="1" i="1" dirty="0">
                    <a:latin typeface="Cambria Math" panose="02040503050406030204" pitchFamily="18" charset="0"/>
                  </a:rPr>
                  <a:t>   4.    T(x)= 111010001001000</a:t>
                </a:r>
              </a:p>
              <a:p>
                <a:pPr marL="0" indent="0" algn="just">
                  <a:buNone/>
                </a:pPr>
                <a:r>
                  <a:rPr lang="es-ES" b="1" i="1" dirty="0">
                    <a:latin typeface="Cambria Math" panose="02040503050406030204" pitchFamily="18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s-ES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s-ES" b="1" dirty="0"/>
              </a:p>
              <a:p>
                <a:pPr marL="0" indent="0" algn="ctr">
                  <a:buNone/>
                </a:pPr>
                <a:endParaRPr lang="es-ES" b="1" dirty="0"/>
              </a:p>
              <a:p>
                <a:pPr marL="0" indent="0" algn="just">
                  <a:buNone/>
                </a:pPr>
                <a:endParaRPr lang="es-ES" b="1" dirty="0"/>
              </a:p>
              <a:p>
                <a:pPr marL="0" indent="0" algn="just">
                  <a:buNone/>
                </a:pPr>
                <a:endParaRPr lang="es-ES" b="1" dirty="0"/>
              </a:p>
              <a:p>
                <a:pPr marL="0" indent="0" algn="just">
                  <a:buNone/>
                </a:pPr>
                <a:endParaRPr lang="es-ES" b="1" dirty="0"/>
              </a:p>
              <a:p>
                <a:pPr marL="0" indent="0" algn="just">
                  <a:buNone/>
                </a:pPr>
                <a:endParaRPr lang="es-ES" b="1" dirty="0"/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2644" y="1450851"/>
                <a:ext cx="10502152" cy="4103923"/>
              </a:xfrm>
              <a:blipFill rotWithShape="0">
                <a:blip r:embed="rId2"/>
                <a:stretch>
                  <a:fillRect l="-290" t="-104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uadroTexto 4"/>
          <p:cNvSpPr txBox="1"/>
          <p:nvPr/>
        </p:nvSpPr>
        <p:spPr>
          <a:xfrm>
            <a:off x="201600" y="6257161"/>
            <a:ext cx="58721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</a:t>
            </a:r>
            <a:r>
              <a:rPr lang="es-MX" sz="1200" dirty="0" err="1"/>
              <a:t>Stallings</a:t>
            </a:r>
            <a:r>
              <a:rPr lang="es-MX" sz="1200" dirty="0"/>
              <a:t> W. (2004). Control de Enlace de Datos. En Comunicaciones</a:t>
            </a:r>
          </a:p>
          <a:p>
            <a:r>
              <a:rPr lang="es-MX" sz="1200" dirty="0"/>
              <a:t> y redes de computadores. (pp. 181-220).USA: Pearson </a:t>
            </a:r>
            <a:r>
              <a:rPr lang="es-MX" sz="1200" dirty="0" err="1"/>
              <a:t>Education</a:t>
            </a:r>
            <a:r>
              <a:rPr lang="es-MX" sz="1200" dirty="0"/>
              <a:t>.</a:t>
            </a:r>
          </a:p>
        </p:txBody>
      </p:sp>
      <p:cxnSp>
        <p:nvCxnSpPr>
          <p:cNvPr id="6" name="Conector recto 5"/>
          <p:cNvCxnSpPr/>
          <p:nvPr/>
        </p:nvCxnSpPr>
        <p:spPr>
          <a:xfrm flipV="1">
            <a:off x="7980871" y="2542921"/>
            <a:ext cx="13447" cy="434775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/>
          <p:cNvSpPr txBox="1"/>
          <p:nvPr/>
        </p:nvSpPr>
        <p:spPr>
          <a:xfrm>
            <a:off x="7994318" y="2637050"/>
            <a:ext cx="2108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11101000100</a:t>
            </a:r>
            <a:r>
              <a:rPr lang="es-ES" dirty="0">
                <a:solidFill>
                  <a:srgbClr val="FF0000"/>
                </a:solidFill>
              </a:rPr>
              <a:t>0000</a:t>
            </a:r>
            <a:endParaRPr lang="es-MX" dirty="0">
              <a:solidFill>
                <a:srgbClr val="FF0000"/>
              </a:solidFill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7148280" y="2645899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10101</a:t>
            </a:r>
            <a:endParaRPr lang="es-MX" dirty="0">
              <a:solidFill>
                <a:srgbClr val="FF0000"/>
              </a:solidFill>
            </a:endParaRPr>
          </a:p>
        </p:txBody>
      </p:sp>
      <p:cxnSp>
        <p:nvCxnSpPr>
          <p:cNvPr id="12" name="Conector recto 11"/>
          <p:cNvCxnSpPr/>
          <p:nvPr/>
        </p:nvCxnSpPr>
        <p:spPr>
          <a:xfrm>
            <a:off x="7994318" y="2542921"/>
            <a:ext cx="2138083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/>
          <p:cNvSpPr txBox="1"/>
          <p:nvPr/>
        </p:nvSpPr>
        <p:spPr>
          <a:xfrm>
            <a:off x="8014489" y="2915844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10101</a:t>
            </a:r>
            <a:endParaRPr lang="es-MX" dirty="0">
              <a:solidFill>
                <a:srgbClr val="FF0000"/>
              </a:solidFill>
            </a:endParaRPr>
          </a:p>
        </p:txBody>
      </p:sp>
      <p:cxnSp>
        <p:nvCxnSpPr>
          <p:cNvPr id="15" name="Conector recto 14"/>
          <p:cNvCxnSpPr/>
          <p:nvPr/>
        </p:nvCxnSpPr>
        <p:spPr>
          <a:xfrm>
            <a:off x="8058031" y="3212606"/>
            <a:ext cx="6906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adroTexto 15"/>
          <p:cNvSpPr txBox="1"/>
          <p:nvPr/>
        </p:nvSpPr>
        <p:spPr>
          <a:xfrm>
            <a:off x="8014489" y="3234165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01000</a:t>
            </a:r>
            <a:r>
              <a:rPr lang="es-ES" dirty="0">
                <a:solidFill>
                  <a:srgbClr val="C00000"/>
                </a:solidFill>
              </a:rPr>
              <a:t>0</a:t>
            </a:r>
            <a:endParaRPr lang="es-MX" dirty="0">
              <a:solidFill>
                <a:srgbClr val="C00000"/>
              </a:solidFill>
            </a:endParaRPr>
          </a:p>
        </p:txBody>
      </p:sp>
      <p:sp>
        <p:nvSpPr>
          <p:cNvPr id="17" name="CuadroTexto 16"/>
          <p:cNvSpPr txBox="1"/>
          <p:nvPr/>
        </p:nvSpPr>
        <p:spPr>
          <a:xfrm>
            <a:off x="8502318" y="2181984"/>
            <a:ext cx="2138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1101000101</a:t>
            </a:r>
            <a:endParaRPr lang="es-MX" dirty="0">
              <a:solidFill>
                <a:srgbClr val="FF0000"/>
              </a:solidFill>
            </a:endParaRPr>
          </a:p>
        </p:txBody>
      </p:sp>
      <p:sp>
        <p:nvSpPr>
          <p:cNvPr id="18" name="CuadroTexto 17"/>
          <p:cNvSpPr txBox="1"/>
          <p:nvPr/>
        </p:nvSpPr>
        <p:spPr>
          <a:xfrm>
            <a:off x="8158465" y="3450813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10101</a:t>
            </a:r>
            <a:endParaRPr lang="es-MX" dirty="0">
              <a:solidFill>
                <a:srgbClr val="FF0000"/>
              </a:solidFill>
            </a:endParaRPr>
          </a:p>
        </p:txBody>
      </p:sp>
      <p:cxnSp>
        <p:nvCxnSpPr>
          <p:cNvPr id="19" name="Conector recto 18"/>
          <p:cNvCxnSpPr/>
          <p:nvPr/>
        </p:nvCxnSpPr>
        <p:spPr>
          <a:xfrm>
            <a:off x="8259111" y="3758994"/>
            <a:ext cx="6906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uadroTexto 19"/>
          <p:cNvSpPr txBox="1"/>
          <p:nvPr/>
        </p:nvSpPr>
        <p:spPr>
          <a:xfrm>
            <a:off x="8170139" y="3739480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00101</a:t>
            </a:r>
            <a:r>
              <a:rPr lang="es-ES" dirty="0">
                <a:solidFill>
                  <a:srgbClr val="C00000"/>
                </a:solidFill>
              </a:rPr>
              <a:t>00</a:t>
            </a:r>
            <a:endParaRPr lang="es-MX" dirty="0">
              <a:solidFill>
                <a:srgbClr val="C00000"/>
              </a:solidFill>
            </a:endParaRPr>
          </a:p>
        </p:txBody>
      </p:sp>
      <p:sp>
        <p:nvSpPr>
          <p:cNvPr id="21" name="CuadroTexto 20"/>
          <p:cNvSpPr txBox="1"/>
          <p:nvPr/>
        </p:nvSpPr>
        <p:spPr>
          <a:xfrm>
            <a:off x="8433851" y="3945705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10101</a:t>
            </a:r>
            <a:endParaRPr lang="es-MX" dirty="0">
              <a:solidFill>
                <a:srgbClr val="FF0000"/>
              </a:solidFill>
            </a:endParaRPr>
          </a:p>
        </p:txBody>
      </p:sp>
      <p:cxnSp>
        <p:nvCxnSpPr>
          <p:cNvPr id="22" name="Conector recto 21"/>
          <p:cNvCxnSpPr/>
          <p:nvPr/>
        </p:nvCxnSpPr>
        <p:spPr>
          <a:xfrm>
            <a:off x="8495795" y="4224858"/>
            <a:ext cx="6906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uadroTexto 22"/>
          <p:cNvSpPr txBox="1"/>
          <p:nvPr/>
        </p:nvSpPr>
        <p:spPr>
          <a:xfrm>
            <a:off x="8445843" y="419403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00001</a:t>
            </a:r>
            <a:r>
              <a:rPr lang="es-ES" dirty="0">
                <a:solidFill>
                  <a:srgbClr val="C00000"/>
                </a:solidFill>
              </a:rPr>
              <a:t>1000</a:t>
            </a:r>
            <a:endParaRPr lang="es-MX" dirty="0">
              <a:solidFill>
                <a:srgbClr val="C00000"/>
              </a:solidFill>
            </a:endParaRPr>
          </a:p>
        </p:txBody>
      </p:sp>
      <p:sp>
        <p:nvSpPr>
          <p:cNvPr id="24" name="CuadroTexto 23"/>
          <p:cNvSpPr txBox="1"/>
          <p:nvPr/>
        </p:nvSpPr>
        <p:spPr>
          <a:xfrm>
            <a:off x="8956862" y="4387478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11001</a:t>
            </a:r>
            <a:endParaRPr lang="es-MX" dirty="0">
              <a:solidFill>
                <a:srgbClr val="FF0000"/>
              </a:solidFill>
            </a:endParaRPr>
          </a:p>
        </p:txBody>
      </p:sp>
      <p:sp>
        <p:nvSpPr>
          <p:cNvPr id="25" name="CuadroTexto 24"/>
          <p:cNvSpPr txBox="1"/>
          <p:nvPr/>
        </p:nvSpPr>
        <p:spPr>
          <a:xfrm>
            <a:off x="8959792" y="4627854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00001</a:t>
            </a:r>
            <a:r>
              <a:rPr lang="es-ES" dirty="0">
                <a:solidFill>
                  <a:srgbClr val="C00000"/>
                </a:solidFill>
              </a:rPr>
              <a:t>000</a:t>
            </a:r>
            <a:endParaRPr lang="es-MX" dirty="0">
              <a:solidFill>
                <a:srgbClr val="C00000"/>
              </a:solidFill>
            </a:endParaRPr>
          </a:p>
        </p:txBody>
      </p:sp>
      <p:cxnSp>
        <p:nvCxnSpPr>
          <p:cNvPr id="26" name="Conector recto 25"/>
          <p:cNvCxnSpPr/>
          <p:nvPr/>
        </p:nvCxnSpPr>
        <p:spPr>
          <a:xfrm>
            <a:off x="9046750" y="4678515"/>
            <a:ext cx="6906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ángulo 35"/>
          <p:cNvSpPr/>
          <p:nvPr/>
        </p:nvSpPr>
        <p:spPr>
          <a:xfrm>
            <a:off x="9559981" y="4709027"/>
            <a:ext cx="618103" cy="264895"/>
          </a:xfrm>
          <a:prstGeom prst="rect">
            <a:avLst/>
          </a:prstGeom>
          <a:noFill/>
          <a:ln w="22225">
            <a:solidFill>
              <a:srgbClr val="0E1D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38" name="Conector recto de flecha 37"/>
          <p:cNvCxnSpPr/>
          <p:nvPr/>
        </p:nvCxnSpPr>
        <p:spPr>
          <a:xfrm>
            <a:off x="10247971" y="4847803"/>
            <a:ext cx="3708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uadroTexto 38"/>
          <p:cNvSpPr txBox="1"/>
          <p:nvPr/>
        </p:nvSpPr>
        <p:spPr>
          <a:xfrm>
            <a:off x="10618856" y="4655748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FCS</a:t>
            </a:r>
            <a:endParaRPr lang="es-MX" dirty="0"/>
          </a:p>
        </p:txBody>
      </p:sp>
      <p:sp>
        <p:nvSpPr>
          <p:cNvPr id="56" name="CuadroTexto 55"/>
          <p:cNvSpPr txBox="1"/>
          <p:nvPr/>
        </p:nvSpPr>
        <p:spPr>
          <a:xfrm>
            <a:off x="1631360" y="3285176"/>
            <a:ext cx="2108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11101000100</a:t>
            </a:r>
            <a:r>
              <a:rPr lang="es-ES" dirty="0">
                <a:solidFill>
                  <a:srgbClr val="FF0000"/>
                </a:solidFill>
              </a:rPr>
              <a:t>0000</a:t>
            </a:r>
            <a:endParaRPr lang="es-MX" dirty="0">
              <a:solidFill>
                <a:srgbClr val="FF0000"/>
              </a:solidFill>
            </a:endParaRPr>
          </a:p>
        </p:txBody>
      </p:sp>
      <p:sp>
        <p:nvSpPr>
          <p:cNvPr id="58" name="CuadroTexto 57"/>
          <p:cNvSpPr txBox="1"/>
          <p:nvPr/>
        </p:nvSpPr>
        <p:spPr>
          <a:xfrm>
            <a:off x="3022477" y="3552758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1000</a:t>
            </a:r>
            <a:endParaRPr lang="es-MX" dirty="0">
              <a:solidFill>
                <a:srgbClr val="C00000"/>
              </a:solidFill>
            </a:endParaRPr>
          </a:p>
        </p:txBody>
      </p:sp>
      <p:cxnSp>
        <p:nvCxnSpPr>
          <p:cNvPr id="9" name="Conector recto 8"/>
          <p:cNvCxnSpPr/>
          <p:nvPr/>
        </p:nvCxnSpPr>
        <p:spPr>
          <a:xfrm>
            <a:off x="1650673" y="4027431"/>
            <a:ext cx="18941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/>
          <p:cNvSpPr txBox="1"/>
          <p:nvPr/>
        </p:nvSpPr>
        <p:spPr>
          <a:xfrm>
            <a:off x="1449125" y="3568638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+</a:t>
            </a:r>
            <a:endParaRPr lang="es-MX" dirty="0"/>
          </a:p>
        </p:txBody>
      </p:sp>
      <p:sp>
        <p:nvSpPr>
          <p:cNvPr id="59" name="CuadroTexto 58"/>
          <p:cNvSpPr txBox="1"/>
          <p:nvPr/>
        </p:nvSpPr>
        <p:spPr>
          <a:xfrm>
            <a:off x="1650673" y="4008402"/>
            <a:ext cx="2108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11101000100</a:t>
            </a:r>
            <a:r>
              <a:rPr lang="es-ES" dirty="0">
                <a:solidFill>
                  <a:srgbClr val="FF0000"/>
                </a:solidFill>
              </a:rPr>
              <a:t>1000</a:t>
            </a:r>
            <a:endParaRPr lang="es-MX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31572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Control de error</a:t>
            </a:r>
            <a:endParaRPr lang="es-MX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1002460" y="1532965"/>
                <a:ext cx="10502152" cy="4759369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s-ES" b="1" dirty="0"/>
                  <a:t>(Ejercicio): </a:t>
                </a:r>
                <a:r>
                  <a:rPr lang="es-ES" b="1" dirty="0">
                    <a:solidFill>
                      <a:srgbClr val="FF0000"/>
                    </a:solidFill>
                  </a:rPr>
                  <a:t>Dado M(x)= “1100010110101” el mensaje a ser transmitido usando CRC como esquema de detección de error, cuyo P(x)=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s-E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s-E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s-E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s-E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s-E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s-E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s-E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s-E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s-E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s-E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s-ES" b="1" dirty="0">
                    <a:solidFill>
                      <a:srgbClr val="FF0000"/>
                    </a:solidFill>
                  </a:rPr>
                  <a:t>. En el camino se adicionan las ráfagas de error siguientes. Indique cual de ellas no es detectada.</a:t>
                </a:r>
              </a:p>
              <a:p>
                <a:pPr marL="0" indent="0" algn="just">
                  <a:buNone/>
                </a:pPr>
                <a:r>
                  <a:rPr lang="es-ES" b="1" dirty="0"/>
                  <a:t>  </a:t>
                </a:r>
              </a:p>
              <a:p>
                <a:pPr marL="355600" indent="-355600" algn="just">
                  <a:buNone/>
                </a:pPr>
                <a:r>
                  <a:rPr lang="es-ES" b="1" dirty="0"/>
                  <a:t>  a) 11010000110</a:t>
                </a:r>
              </a:p>
              <a:p>
                <a:pPr marL="355600" indent="-355600" algn="just">
                  <a:buNone/>
                </a:pPr>
                <a:r>
                  <a:rPr lang="es-ES" b="1" dirty="0"/>
                  <a:t>  b) 01110110001</a:t>
                </a:r>
              </a:p>
              <a:p>
                <a:pPr marL="355600" indent="-355600" algn="just">
                  <a:buNone/>
                </a:pPr>
                <a:r>
                  <a:rPr lang="es-ES" b="1" dirty="0"/>
                  <a:t>  c) 10100011111</a:t>
                </a:r>
              </a:p>
              <a:p>
                <a:pPr marL="355600" indent="-355600" algn="just">
                  <a:buNone/>
                </a:pPr>
                <a:r>
                  <a:rPr lang="es-ES" b="1" dirty="0"/>
                  <a:t>  d) ninguna de ellas</a:t>
                </a:r>
              </a:p>
              <a:p>
                <a:pPr marL="355600" indent="-355600" algn="just">
                  <a:buNone/>
                </a:pPr>
                <a:endParaRPr lang="es-ES" b="1" dirty="0"/>
              </a:p>
              <a:p>
                <a:pPr marL="0" indent="0">
                  <a:buNone/>
                </a:pPr>
                <a:r>
                  <a:rPr lang="es-ES" b="1" dirty="0"/>
                  <a:t>      Respuesta: d)</a:t>
                </a:r>
              </a:p>
              <a:p>
                <a:pPr marL="0" indent="0" algn="just">
                  <a:buNone/>
                </a:pPr>
                <a:endParaRPr lang="es-ES" b="1" dirty="0"/>
              </a:p>
              <a:p>
                <a:pPr marL="0" indent="0" algn="just">
                  <a:buNone/>
                </a:pPr>
                <a:endParaRPr lang="es-ES" b="1" dirty="0"/>
              </a:p>
              <a:p>
                <a:pPr marL="0" indent="0" algn="just">
                  <a:buNone/>
                </a:pPr>
                <a:endParaRPr lang="es-ES" b="1" dirty="0"/>
              </a:p>
              <a:p>
                <a:pPr marL="0" indent="0" algn="just">
                  <a:buNone/>
                </a:pPr>
                <a:endParaRPr lang="es-ES" b="1" dirty="0"/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02460" y="1532965"/>
                <a:ext cx="10502152" cy="4759369"/>
              </a:xfrm>
              <a:blipFill rotWithShape="0">
                <a:blip r:embed="rId2"/>
                <a:stretch>
                  <a:fillRect l="-406" t="-640" r="-52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uadroTexto 4"/>
          <p:cNvSpPr txBox="1"/>
          <p:nvPr/>
        </p:nvSpPr>
        <p:spPr>
          <a:xfrm>
            <a:off x="1277264" y="6581001"/>
            <a:ext cx="108654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</a:t>
            </a:r>
            <a:r>
              <a:rPr lang="es-MX" sz="1200" dirty="0" err="1"/>
              <a:t>Stallings</a:t>
            </a:r>
            <a:r>
              <a:rPr lang="es-MX" sz="1200" dirty="0"/>
              <a:t> W. (2004). Control de Enlace de Datos. En Comunicaciones y redes de computadores. (pp. 181-220).USA: Pearson </a:t>
            </a:r>
            <a:r>
              <a:rPr lang="es-MX" sz="1200" dirty="0" err="1"/>
              <a:t>Education</a:t>
            </a:r>
            <a:r>
              <a:rPr lang="es-MX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59712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Control de error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94642" y="1264555"/>
            <a:ext cx="5204376" cy="4535251"/>
          </a:xfrm>
        </p:spPr>
        <p:txBody>
          <a:bodyPr>
            <a:normAutofit/>
          </a:bodyPr>
          <a:lstStyle/>
          <a:p>
            <a:pPr algn="just"/>
            <a:endParaRPr lang="es-ES" b="1" dirty="0"/>
          </a:p>
          <a:p>
            <a:pPr algn="just"/>
            <a:r>
              <a:rPr lang="es-ES" b="1" dirty="0" err="1"/>
              <a:t>Checksum</a:t>
            </a:r>
            <a:r>
              <a:rPr lang="es-ES" b="1" dirty="0"/>
              <a:t> (Suma de comprobación)</a:t>
            </a:r>
          </a:p>
          <a:p>
            <a:pPr marL="0" indent="0" algn="just">
              <a:buNone/>
            </a:pPr>
            <a:r>
              <a:rPr lang="es-ES" b="1" dirty="0"/>
              <a:t>  </a:t>
            </a:r>
          </a:p>
          <a:p>
            <a:pPr marL="361950" indent="-361950" algn="just">
              <a:buNone/>
            </a:pPr>
            <a:r>
              <a:rPr lang="es-ES" b="1" dirty="0"/>
              <a:t>  + Creado por William W. </a:t>
            </a:r>
            <a:r>
              <a:rPr lang="es-ES" b="1" dirty="0" err="1"/>
              <a:t>Plummer</a:t>
            </a:r>
            <a:r>
              <a:rPr lang="es-ES" b="1" dirty="0"/>
              <a:t> en 1978</a:t>
            </a:r>
          </a:p>
          <a:p>
            <a:pPr marL="361950" indent="-361950" algn="just">
              <a:buNone/>
            </a:pPr>
            <a:r>
              <a:rPr lang="es-ES" b="1" dirty="0"/>
              <a:t>  + Utilizado para detectar errores en la transmisión de datos a nivel de software. Usado por los protocolos de TCP/IP.</a:t>
            </a:r>
          </a:p>
          <a:p>
            <a:pPr marL="0" indent="0" algn="just">
              <a:buNone/>
            </a:pPr>
            <a:r>
              <a:rPr lang="es-ES" b="1" dirty="0"/>
              <a:t> </a:t>
            </a:r>
          </a:p>
          <a:p>
            <a:pPr marL="0" indent="0" algn="just">
              <a:buNone/>
            </a:pPr>
            <a:endParaRPr lang="es-ES" b="1" dirty="0"/>
          </a:p>
        </p:txBody>
      </p:sp>
      <p:sp>
        <p:nvSpPr>
          <p:cNvPr id="5" name="CuadroTexto 4"/>
          <p:cNvSpPr txBox="1"/>
          <p:nvPr/>
        </p:nvSpPr>
        <p:spPr>
          <a:xfrm>
            <a:off x="1277264" y="6581001"/>
            <a:ext cx="88312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 </a:t>
            </a:r>
            <a:r>
              <a:rPr lang="es-ES" sz="1200" dirty="0" err="1"/>
              <a:t>Plummer</a:t>
            </a:r>
            <a:r>
              <a:rPr lang="es-ES" sz="1200" dirty="0"/>
              <a:t>, W. (1978). TCP </a:t>
            </a:r>
            <a:r>
              <a:rPr lang="es-ES" sz="1200" dirty="0" err="1"/>
              <a:t>Checksum</a:t>
            </a:r>
            <a:r>
              <a:rPr lang="es-ES" sz="1200" dirty="0"/>
              <a:t> </a:t>
            </a:r>
            <a:r>
              <a:rPr lang="es-ES" sz="1200" dirty="0" err="1"/>
              <a:t>Function</a:t>
            </a:r>
            <a:r>
              <a:rPr lang="es-ES" sz="1200" dirty="0"/>
              <a:t> </a:t>
            </a:r>
            <a:r>
              <a:rPr lang="es-ES" sz="1200" dirty="0" err="1"/>
              <a:t>Design</a:t>
            </a:r>
            <a:r>
              <a:rPr lang="es-ES" sz="1200" dirty="0"/>
              <a:t>. IEN 45 en RFC1071. Computing </a:t>
            </a:r>
            <a:r>
              <a:rPr lang="es-ES" sz="1200" dirty="0" err="1"/>
              <a:t>the</a:t>
            </a:r>
            <a:r>
              <a:rPr lang="es-ES" sz="1200" dirty="0"/>
              <a:t> Internet </a:t>
            </a:r>
            <a:r>
              <a:rPr lang="es-ES" sz="1200" dirty="0" err="1"/>
              <a:t>Checksum</a:t>
            </a:r>
            <a:r>
              <a:rPr lang="es-ES" sz="1200"/>
              <a:t>.</a:t>
            </a:r>
            <a:endParaRPr lang="es-MX" sz="1200" dirty="0"/>
          </a:p>
        </p:txBody>
      </p:sp>
      <p:sp>
        <p:nvSpPr>
          <p:cNvPr id="7" name="CuadroTexto 6"/>
          <p:cNvSpPr txBox="1"/>
          <p:nvPr/>
        </p:nvSpPr>
        <p:spPr>
          <a:xfrm>
            <a:off x="7153835" y="6255434"/>
            <a:ext cx="47836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Imagen</a:t>
            </a:r>
            <a:r>
              <a:rPr lang="es-MX" sz="1200" dirty="0">
                <a:hlinkClick r:id="rId2"/>
              </a:rPr>
              <a:t>http://personales.upv.es/rmartin/TcpIp/cap02s03.html</a:t>
            </a:r>
            <a:endParaRPr lang="es-MX" sz="1200"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8126" y="1437123"/>
            <a:ext cx="5243122" cy="2629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8975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Control de error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94641" y="1264555"/>
            <a:ext cx="10413685" cy="4535251"/>
          </a:xfrm>
        </p:spPr>
        <p:txBody>
          <a:bodyPr>
            <a:normAutofit/>
          </a:bodyPr>
          <a:lstStyle/>
          <a:p>
            <a:pPr algn="just"/>
            <a:endParaRPr lang="es-ES" b="1" dirty="0"/>
          </a:p>
          <a:p>
            <a:pPr algn="just"/>
            <a:r>
              <a:rPr lang="es-ES" b="1" dirty="0" err="1"/>
              <a:t>Checksum</a:t>
            </a:r>
            <a:r>
              <a:rPr lang="es-ES" b="1" dirty="0"/>
              <a:t> (Cálculo para la capa de Red)</a:t>
            </a:r>
          </a:p>
          <a:p>
            <a:pPr marL="0" indent="0" algn="just">
              <a:buNone/>
            </a:pPr>
            <a:r>
              <a:rPr lang="es-ES" b="1" dirty="0"/>
              <a:t>  </a:t>
            </a:r>
          </a:p>
          <a:p>
            <a:pPr marL="0" indent="0" algn="just">
              <a:buNone/>
            </a:pPr>
            <a:r>
              <a:rPr lang="es-ES" b="1" dirty="0"/>
              <a:t>Para obtener la suma de comprobación de la capa de Red deben seguirse los siguientes pasos de acuerdo al RFC 791:</a:t>
            </a:r>
          </a:p>
          <a:p>
            <a:pPr marL="361950" indent="-361950" algn="just">
              <a:buNone/>
            </a:pPr>
            <a:r>
              <a:rPr lang="es-ES" b="1" dirty="0"/>
              <a:t>  + Ordenar los datos en palabras de 16 bits. (solo los bits correspondientes al encabezado IP).</a:t>
            </a:r>
          </a:p>
          <a:p>
            <a:pPr marL="361950" indent="-361950" algn="just">
              <a:buNone/>
            </a:pPr>
            <a:r>
              <a:rPr lang="es-ES" b="1" dirty="0"/>
              <a:t>  + Poner ceros en la posición del </a:t>
            </a:r>
            <a:r>
              <a:rPr lang="es-ES" b="1" dirty="0" err="1"/>
              <a:t>checksum</a:t>
            </a:r>
            <a:r>
              <a:rPr lang="es-ES" b="1" dirty="0"/>
              <a:t> y sumar (considerando los acarreos).</a:t>
            </a:r>
          </a:p>
          <a:p>
            <a:pPr marL="361950" indent="-361950" algn="just">
              <a:buNone/>
            </a:pPr>
            <a:r>
              <a:rPr lang="es-ES" b="1" dirty="0"/>
              <a:t>  + Sumar cualquier acarreo fuera de los 16 bits.</a:t>
            </a:r>
          </a:p>
          <a:p>
            <a:pPr marL="361950" indent="-361950" algn="just">
              <a:buNone/>
            </a:pPr>
            <a:r>
              <a:rPr lang="es-ES" b="1" dirty="0"/>
              <a:t>  + Complementar a 1 el resultado.</a:t>
            </a:r>
          </a:p>
          <a:p>
            <a:pPr marL="0" indent="0" algn="just">
              <a:buNone/>
            </a:pPr>
            <a:r>
              <a:rPr lang="es-ES" b="1" dirty="0"/>
              <a:t> </a:t>
            </a:r>
          </a:p>
          <a:p>
            <a:pPr marL="0" indent="0" algn="just">
              <a:buNone/>
            </a:pPr>
            <a:endParaRPr lang="es-ES" b="1" dirty="0"/>
          </a:p>
        </p:txBody>
      </p:sp>
      <p:sp>
        <p:nvSpPr>
          <p:cNvPr id="5" name="CuadroTexto 4"/>
          <p:cNvSpPr txBox="1"/>
          <p:nvPr/>
        </p:nvSpPr>
        <p:spPr>
          <a:xfrm>
            <a:off x="1277264" y="6581001"/>
            <a:ext cx="88312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 </a:t>
            </a:r>
            <a:r>
              <a:rPr lang="es-ES" sz="1200" dirty="0" err="1"/>
              <a:t>Plummer</a:t>
            </a:r>
            <a:r>
              <a:rPr lang="es-ES" sz="1200" dirty="0"/>
              <a:t>, W. (1978). TCP </a:t>
            </a:r>
            <a:r>
              <a:rPr lang="es-ES" sz="1200" dirty="0" err="1"/>
              <a:t>Checksum</a:t>
            </a:r>
            <a:r>
              <a:rPr lang="es-ES" sz="1200" dirty="0"/>
              <a:t> </a:t>
            </a:r>
            <a:r>
              <a:rPr lang="es-ES" sz="1200" dirty="0" err="1"/>
              <a:t>Function</a:t>
            </a:r>
            <a:r>
              <a:rPr lang="es-ES" sz="1200" dirty="0"/>
              <a:t> </a:t>
            </a:r>
            <a:r>
              <a:rPr lang="es-ES" sz="1200" dirty="0" err="1"/>
              <a:t>Design</a:t>
            </a:r>
            <a:r>
              <a:rPr lang="es-ES" sz="1200" dirty="0"/>
              <a:t>. IEN 45 en RFC1071. Computing </a:t>
            </a:r>
            <a:r>
              <a:rPr lang="es-ES" sz="1200" dirty="0" err="1"/>
              <a:t>the</a:t>
            </a:r>
            <a:r>
              <a:rPr lang="es-ES" sz="1200" dirty="0"/>
              <a:t> Internet </a:t>
            </a:r>
            <a:r>
              <a:rPr lang="es-ES" sz="1200" dirty="0" err="1"/>
              <a:t>Checksum</a:t>
            </a:r>
            <a:r>
              <a:rPr lang="es-ES" sz="1200"/>
              <a:t>.</a:t>
            </a:r>
            <a:endParaRPr lang="es-MX" sz="1200" dirty="0"/>
          </a:p>
        </p:txBody>
      </p:sp>
      <p:sp>
        <p:nvSpPr>
          <p:cNvPr id="4" name="CuadroTexto 3"/>
          <p:cNvSpPr txBox="1"/>
          <p:nvPr/>
        </p:nvSpPr>
        <p:spPr>
          <a:xfrm>
            <a:off x="4760590" y="6153834"/>
            <a:ext cx="71561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Imagen:</a:t>
            </a:r>
            <a:r>
              <a:rPr lang="es-MX" sz="1200" dirty="0">
                <a:hlinkClick r:id="rId2"/>
              </a:rPr>
              <a:t>https://www.jcomautomation.ca/frame-prioritization-within-ethernet-ip-and-profinet/</a:t>
            </a:r>
            <a:endParaRPr lang="es-MX" sz="1200" dirty="0"/>
          </a:p>
        </p:txBody>
      </p:sp>
    </p:spTree>
    <p:extLst>
      <p:ext uri="{BB962C8B-B14F-4D97-AF65-F5344CB8AC3E}">
        <p14:creationId xmlns:p14="http://schemas.microsoft.com/office/powerpoint/2010/main" val="224084602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458454" y="131051"/>
            <a:ext cx="8911687" cy="1280890"/>
          </a:xfrm>
        </p:spPr>
        <p:txBody>
          <a:bodyPr/>
          <a:lstStyle/>
          <a:p>
            <a:r>
              <a:rPr lang="es-ES" dirty="0"/>
              <a:t>Control de error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903412" y="798389"/>
            <a:ext cx="5492470" cy="5965481"/>
          </a:xfrm>
        </p:spPr>
        <p:txBody>
          <a:bodyPr>
            <a:normAutofit/>
          </a:bodyPr>
          <a:lstStyle/>
          <a:p>
            <a:r>
              <a:rPr lang="es-ES" dirty="0"/>
              <a:t>Ej. Dada la sig. trama calcular el </a:t>
            </a:r>
            <a:r>
              <a:rPr lang="es-ES" dirty="0" err="1"/>
              <a:t>checksum</a:t>
            </a:r>
            <a:endParaRPr lang="es-ES" dirty="0"/>
          </a:p>
          <a:p>
            <a:pPr marL="0" indent="0">
              <a:buNone/>
            </a:pPr>
            <a:r>
              <a:rPr lang="es-ES" b="1" dirty="0"/>
              <a:t>E4 26 86 84 96 d2 80 2b f9 </a:t>
            </a:r>
            <a:r>
              <a:rPr lang="es-ES" b="1" dirty="0" err="1"/>
              <a:t>af</a:t>
            </a:r>
            <a:r>
              <a:rPr lang="es-ES" b="1" dirty="0"/>
              <a:t> 12 2d 08 00 45 00</a:t>
            </a:r>
          </a:p>
          <a:p>
            <a:pPr marL="0" indent="0">
              <a:buNone/>
            </a:pPr>
            <a:r>
              <a:rPr lang="es-ES" b="1" dirty="0"/>
              <a:t>01 e2 d7 db 40 00 80 06 8f a5 c0 a8 01 43 94 cc</a:t>
            </a:r>
          </a:p>
          <a:p>
            <a:pPr marL="0" indent="0">
              <a:buNone/>
            </a:pPr>
            <a:r>
              <a:rPr lang="es-ES" b="1" dirty="0"/>
              <a:t>3a dd c3 d4 00 50 0c cc a1 da 08 </a:t>
            </a:r>
            <a:r>
              <a:rPr lang="es-ES" b="1" dirty="0" err="1"/>
              <a:t>fb</a:t>
            </a:r>
            <a:r>
              <a:rPr lang="es-ES" b="1" dirty="0"/>
              <a:t> 7d 8c 50 18</a:t>
            </a:r>
          </a:p>
          <a:p>
            <a:pPr marL="0" indent="0">
              <a:buNone/>
            </a:pPr>
            <a:r>
              <a:rPr lang="es-ES" b="1" dirty="0"/>
              <a:t>02 01 88 94 00 00 47 45 54 20 2f 61 78 65 6c 2f</a:t>
            </a:r>
          </a:p>
          <a:p>
            <a:pPr marL="0" indent="0">
              <a:buNone/>
            </a:pPr>
            <a:r>
              <a:rPr lang="es-ES" b="1" dirty="0"/>
              <a:t>72 65 64 65 73 6e 70 2f 73 6e 69 66 66 65 72 20</a:t>
            </a:r>
          </a:p>
          <a:p>
            <a:pPr marL="0" indent="0">
              <a:buNone/>
            </a:pPr>
            <a:r>
              <a:rPr lang="es-ES" b="1" dirty="0"/>
              <a:t>48 54 54 50 2f 31 2e 31 0d 0a 48 6f 73 74 3a 20</a:t>
            </a:r>
          </a:p>
          <a:p>
            <a:pPr marL="0" indent="0">
              <a:buNone/>
            </a:pPr>
            <a:r>
              <a:rPr lang="es-ES" b="1" dirty="0"/>
              <a:t>31 34 38 2e 32 30 34 2e 35 38 2e 32 32 31 0d 0a</a:t>
            </a:r>
          </a:p>
          <a:p>
            <a:pPr marL="0" indent="0">
              <a:buNone/>
            </a:pPr>
            <a:r>
              <a:rPr lang="es-ES" b="1" dirty="0"/>
              <a:t>43 6f 6e </a:t>
            </a:r>
            <a:r>
              <a:rPr lang="es-ES" b="1" dirty="0" err="1"/>
              <a:t>6e</a:t>
            </a:r>
            <a:r>
              <a:rPr lang="es-ES" b="1" dirty="0"/>
              <a:t> 65 63 74 69 6f 6e 3a 20 6b 65 65 70</a:t>
            </a:r>
          </a:p>
          <a:p>
            <a:pPr marL="0" indent="0">
              <a:buNone/>
            </a:pPr>
            <a:r>
              <a:rPr lang="es-ES" b="1" dirty="0"/>
              <a:t>2d 61 6c 69 76 65 0d 0a 55 70 67 72 61 64 65 2d</a:t>
            </a:r>
          </a:p>
          <a:p>
            <a:pPr marL="0" indent="0">
              <a:buNone/>
            </a:pPr>
            <a:r>
              <a:rPr lang="es-ES" b="1" dirty="0"/>
              <a:t>49 6e 73 65 63 75 72 65 2d 52 65 71 75 65 73 74</a:t>
            </a:r>
          </a:p>
          <a:p>
            <a:pPr marL="0" indent="0">
              <a:buNone/>
            </a:pPr>
            <a:r>
              <a:rPr lang="es-ES" b="1" dirty="0"/>
              <a:t>73 3a 20 31 0d 0a 55 73 65 72 2d 41 67 65 6e 74</a:t>
            </a:r>
          </a:p>
          <a:p>
            <a:pPr marL="0" indent="0">
              <a:buNone/>
            </a:pPr>
            <a:r>
              <a:rPr lang="es-ES" dirty="0"/>
              <a:t>……</a:t>
            </a:r>
          </a:p>
        </p:txBody>
      </p:sp>
    </p:spTree>
    <p:extLst>
      <p:ext uri="{BB962C8B-B14F-4D97-AF65-F5344CB8AC3E}">
        <p14:creationId xmlns:p14="http://schemas.microsoft.com/office/powerpoint/2010/main" val="40659032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458454" y="131051"/>
            <a:ext cx="8911687" cy="1280890"/>
          </a:xfrm>
        </p:spPr>
        <p:txBody>
          <a:bodyPr/>
          <a:lstStyle/>
          <a:p>
            <a:r>
              <a:rPr lang="es-ES" dirty="0"/>
              <a:t>Control de error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421827" y="800147"/>
            <a:ext cx="5492470" cy="5965481"/>
          </a:xfrm>
        </p:spPr>
        <p:txBody>
          <a:bodyPr>
            <a:normAutofit/>
          </a:bodyPr>
          <a:lstStyle/>
          <a:p>
            <a:r>
              <a:rPr lang="es-ES" dirty="0"/>
              <a:t>Ej. Dada la sig. trama calcular el </a:t>
            </a:r>
            <a:r>
              <a:rPr lang="es-ES" dirty="0" err="1"/>
              <a:t>checksum</a:t>
            </a:r>
            <a:endParaRPr lang="es-ES" dirty="0"/>
          </a:p>
          <a:p>
            <a:pPr marL="0" indent="0" algn="just">
              <a:buNone/>
            </a:pPr>
            <a:r>
              <a:rPr lang="es-ES" b="1" dirty="0"/>
              <a:t>E4 26 86 84 96 d2 80 2b f9 </a:t>
            </a:r>
            <a:r>
              <a:rPr lang="es-ES" b="1" dirty="0" err="1"/>
              <a:t>af</a:t>
            </a:r>
            <a:r>
              <a:rPr lang="es-ES" b="1" dirty="0"/>
              <a:t> 12 2d 08 00 45 00</a:t>
            </a:r>
          </a:p>
          <a:p>
            <a:pPr marL="0" indent="0" algn="just">
              <a:buNone/>
            </a:pPr>
            <a:r>
              <a:rPr lang="es-ES" b="1" dirty="0"/>
              <a:t>01 e2 d7 db 40 00 80 06 __ __ c0 a8 01 43 94 cc</a:t>
            </a:r>
          </a:p>
          <a:p>
            <a:pPr marL="0" indent="0" algn="just">
              <a:buNone/>
            </a:pPr>
            <a:r>
              <a:rPr lang="es-ES" b="1" dirty="0"/>
              <a:t>3a dd c3 d4 00 50 0c cc a1 da 08 </a:t>
            </a:r>
            <a:r>
              <a:rPr lang="es-ES" b="1" dirty="0" err="1"/>
              <a:t>fb</a:t>
            </a:r>
            <a:r>
              <a:rPr lang="es-ES" b="1" dirty="0"/>
              <a:t> 7d 8c 50 18</a:t>
            </a:r>
          </a:p>
          <a:p>
            <a:pPr marL="0" indent="0" algn="just">
              <a:buNone/>
            </a:pPr>
            <a:r>
              <a:rPr lang="es-ES" b="1" dirty="0"/>
              <a:t>02 01 88 94 00 00 47 45 54 20 2f 61 78 65 6c 2f</a:t>
            </a:r>
          </a:p>
          <a:p>
            <a:pPr marL="0" indent="0" algn="just">
              <a:buNone/>
            </a:pPr>
            <a:r>
              <a:rPr lang="es-ES" b="1" dirty="0"/>
              <a:t>72 65 64 65 73 6e 70 2f 73 6e 69 66 66 65 72 20</a:t>
            </a:r>
          </a:p>
          <a:p>
            <a:pPr marL="0" indent="0" algn="just">
              <a:buNone/>
            </a:pPr>
            <a:r>
              <a:rPr lang="es-ES" b="1" dirty="0"/>
              <a:t>48 54 54 50 2f 31 2e 31 0d 0a 48 6f 73 74 3a 20</a:t>
            </a:r>
          </a:p>
          <a:p>
            <a:pPr marL="0" indent="0" algn="just">
              <a:buNone/>
            </a:pPr>
            <a:r>
              <a:rPr lang="es-ES" b="1" dirty="0"/>
              <a:t>31 34 38 2e 32 30 34 2e 35 38 2e 32 32 31 0d 0a</a:t>
            </a:r>
          </a:p>
          <a:p>
            <a:pPr marL="0" indent="0" algn="just">
              <a:buNone/>
            </a:pPr>
            <a:r>
              <a:rPr lang="es-ES" b="1" dirty="0"/>
              <a:t>43 6f 6e </a:t>
            </a:r>
            <a:r>
              <a:rPr lang="es-ES" b="1" dirty="0" err="1"/>
              <a:t>6e</a:t>
            </a:r>
            <a:r>
              <a:rPr lang="es-ES" b="1" dirty="0"/>
              <a:t> 65 63 74 69 6f 6e 3a 20 6b 65 65 70</a:t>
            </a:r>
          </a:p>
          <a:p>
            <a:pPr marL="0" indent="0" algn="just">
              <a:buNone/>
            </a:pPr>
            <a:r>
              <a:rPr lang="es-ES" b="1" dirty="0"/>
              <a:t>2d 61 6c 69 76 65 0d 0a 55 70 67 72 61 64 65 2d</a:t>
            </a:r>
          </a:p>
          <a:p>
            <a:pPr marL="0" indent="0" algn="just">
              <a:buNone/>
            </a:pPr>
            <a:r>
              <a:rPr lang="es-ES" b="1" dirty="0"/>
              <a:t>49 6e 73 65 63 75 72 65 2d 52 65 71 75 65 73 74</a:t>
            </a:r>
          </a:p>
          <a:p>
            <a:pPr marL="0" indent="0" algn="just">
              <a:buNone/>
            </a:pPr>
            <a:r>
              <a:rPr lang="es-ES" b="1" dirty="0"/>
              <a:t>73 3a 20 31 0d 0a 55 73 65 72 2d 41 67 65 6e 74</a:t>
            </a:r>
          </a:p>
          <a:p>
            <a:pPr marL="0" indent="0">
              <a:buNone/>
            </a:pPr>
            <a:r>
              <a:rPr lang="es-ES" dirty="0"/>
              <a:t>……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4760590" y="6153834"/>
            <a:ext cx="73821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Imagen: </a:t>
            </a:r>
            <a:r>
              <a:rPr lang="es-MX" sz="1200" dirty="0">
                <a:hlinkClick r:id="rId2"/>
              </a:rPr>
              <a:t>http://www.mailxmail.com/curso-redes-area-local-conmutadas/tipos-conmutacion-lan</a:t>
            </a:r>
            <a:endParaRPr lang="es-MX" sz="120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4773" y="1969380"/>
            <a:ext cx="5097966" cy="1331428"/>
          </a:xfrm>
          <a:prstGeom prst="rect">
            <a:avLst/>
          </a:prstGeom>
        </p:spPr>
      </p:pic>
      <p:cxnSp>
        <p:nvCxnSpPr>
          <p:cNvPr id="7" name="Conector recto 6"/>
          <p:cNvCxnSpPr/>
          <p:nvPr/>
        </p:nvCxnSpPr>
        <p:spPr>
          <a:xfrm>
            <a:off x="7153835" y="3312888"/>
            <a:ext cx="914400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/>
          <p:cNvCxnSpPr/>
          <p:nvPr/>
        </p:nvCxnSpPr>
        <p:spPr>
          <a:xfrm flipV="1">
            <a:off x="1529540" y="1524000"/>
            <a:ext cx="1837775" cy="425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/>
          <p:cNvCxnSpPr/>
          <p:nvPr/>
        </p:nvCxnSpPr>
        <p:spPr>
          <a:xfrm flipV="1">
            <a:off x="3438172" y="1516745"/>
            <a:ext cx="1837775" cy="425"/>
          </a:xfrm>
          <a:prstGeom prst="line">
            <a:avLst/>
          </a:prstGeom>
          <a:ln w="222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/>
          <p:cNvCxnSpPr/>
          <p:nvPr/>
        </p:nvCxnSpPr>
        <p:spPr>
          <a:xfrm>
            <a:off x="8148062" y="3305631"/>
            <a:ext cx="914400" cy="0"/>
          </a:xfrm>
          <a:prstGeom prst="line">
            <a:avLst/>
          </a:prstGeom>
          <a:ln w="222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/>
          <p:cNvCxnSpPr/>
          <p:nvPr/>
        </p:nvCxnSpPr>
        <p:spPr>
          <a:xfrm>
            <a:off x="9165584" y="3312888"/>
            <a:ext cx="914400" cy="0"/>
          </a:xfrm>
          <a:prstGeom prst="line">
            <a:avLst/>
          </a:prstGeom>
          <a:ln w="2222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/>
          <p:cNvCxnSpPr/>
          <p:nvPr/>
        </p:nvCxnSpPr>
        <p:spPr>
          <a:xfrm>
            <a:off x="5334003" y="1524000"/>
            <a:ext cx="544282" cy="0"/>
          </a:xfrm>
          <a:prstGeom prst="line">
            <a:avLst/>
          </a:prstGeom>
          <a:ln w="2222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/>
          <p:cNvCxnSpPr/>
          <p:nvPr/>
        </p:nvCxnSpPr>
        <p:spPr>
          <a:xfrm>
            <a:off x="5985383" y="1520374"/>
            <a:ext cx="517017" cy="3626"/>
          </a:xfrm>
          <a:prstGeom prst="line">
            <a:avLst/>
          </a:prstGeom>
          <a:ln w="22225">
            <a:solidFill>
              <a:srgbClr val="FE71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/>
          <p:cNvCxnSpPr/>
          <p:nvPr/>
        </p:nvCxnSpPr>
        <p:spPr>
          <a:xfrm>
            <a:off x="1494399" y="1936726"/>
            <a:ext cx="5226628" cy="32654"/>
          </a:xfrm>
          <a:prstGeom prst="line">
            <a:avLst/>
          </a:prstGeom>
          <a:ln w="22225">
            <a:solidFill>
              <a:srgbClr val="FE71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/>
          <p:cNvCxnSpPr/>
          <p:nvPr/>
        </p:nvCxnSpPr>
        <p:spPr>
          <a:xfrm>
            <a:off x="1529540" y="2306334"/>
            <a:ext cx="633089" cy="1"/>
          </a:xfrm>
          <a:prstGeom prst="line">
            <a:avLst/>
          </a:prstGeom>
          <a:ln w="22225">
            <a:solidFill>
              <a:srgbClr val="FE71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/>
          <p:cNvCxnSpPr/>
          <p:nvPr/>
        </p:nvCxnSpPr>
        <p:spPr>
          <a:xfrm flipV="1">
            <a:off x="2241883" y="2306334"/>
            <a:ext cx="4479144" cy="508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/>
          <p:cNvCxnSpPr/>
          <p:nvPr/>
        </p:nvCxnSpPr>
        <p:spPr>
          <a:xfrm>
            <a:off x="1494399" y="2727756"/>
            <a:ext cx="1872916" cy="931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52968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458454" y="131051"/>
            <a:ext cx="8911687" cy="1280890"/>
          </a:xfrm>
        </p:spPr>
        <p:txBody>
          <a:bodyPr/>
          <a:lstStyle/>
          <a:p>
            <a:r>
              <a:rPr lang="es-ES" dirty="0"/>
              <a:t>Control de error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421827" y="800147"/>
            <a:ext cx="5492470" cy="5965481"/>
          </a:xfrm>
        </p:spPr>
        <p:txBody>
          <a:bodyPr>
            <a:normAutofit/>
          </a:bodyPr>
          <a:lstStyle/>
          <a:p>
            <a:r>
              <a:rPr lang="es-ES" dirty="0"/>
              <a:t>Ej. Dada la sig. trama calcular el </a:t>
            </a:r>
            <a:r>
              <a:rPr lang="es-ES" dirty="0" err="1"/>
              <a:t>checksum</a:t>
            </a:r>
            <a:endParaRPr lang="es-ES" dirty="0"/>
          </a:p>
          <a:p>
            <a:pPr marL="0" indent="0" algn="just">
              <a:buNone/>
            </a:pPr>
            <a:r>
              <a:rPr lang="es-ES" b="1" dirty="0"/>
              <a:t>E4 26 86 84 96 d2 80 2b f9 </a:t>
            </a:r>
            <a:r>
              <a:rPr lang="es-ES" b="1" dirty="0" err="1"/>
              <a:t>af</a:t>
            </a:r>
            <a:r>
              <a:rPr lang="es-ES" b="1" dirty="0"/>
              <a:t> 12 2d 08 00 45 00</a:t>
            </a:r>
          </a:p>
          <a:p>
            <a:pPr marL="0" indent="0" algn="just">
              <a:buNone/>
            </a:pPr>
            <a:r>
              <a:rPr lang="es-ES" b="1" dirty="0"/>
              <a:t>01 e2 d7 db 40 00 80 06 __ __ c0 a8 01 43 94 cc</a:t>
            </a:r>
          </a:p>
          <a:p>
            <a:pPr marL="0" indent="0" algn="just">
              <a:buNone/>
            </a:pPr>
            <a:r>
              <a:rPr lang="es-ES" b="1" dirty="0"/>
              <a:t>3a dd c3 d4 00 50 0c cc a1 da 08 </a:t>
            </a:r>
            <a:r>
              <a:rPr lang="es-ES" b="1" dirty="0" err="1"/>
              <a:t>fb</a:t>
            </a:r>
            <a:r>
              <a:rPr lang="es-ES" b="1" dirty="0"/>
              <a:t> 7d 8c 50 18</a:t>
            </a:r>
          </a:p>
          <a:p>
            <a:pPr marL="0" indent="0" algn="just">
              <a:buNone/>
            </a:pPr>
            <a:r>
              <a:rPr lang="es-ES" b="1" dirty="0"/>
              <a:t>02 01 88 94 00 00 47 45 54 20 2f 61 78 65 6c 2f</a:t>
            </a:r>
          </a:p>
          <a:p>
            <a:pPr marL="0" indent="0" algn="just">
              <a:buNone/>
            </a:pPr>
            <a:r>
              <a:rPr lang="es-ES" b="1" dirty="0"/>
              <a:t>72 65 64 65 73 6e 70 2f 73 6e 69 66 66 65 72 20</a:t>
            </a:r>
          </a:p>
          <a:p>
            <a:pPr marL="0" indent="0" algn="just">
              <a:buNone/>
            </a:pPr>
            <a:r>
              <a:rPr lang="es-ES" b="1" dirty="0"/>
              <a:t>48 54 54 50 2f 31 2e 31 0d 0a 48 6f 73 74 3a 20</a:t>
            </a:r>
          </a:p>
          <a:p>
            <a:pPr marL="0" indent="0" algn="just">
              <a:buNone/>
            </a:pPr>
            <a:r>
              <a:rPr lang="es-ES" b="1" dirty="0"/>
              <a:t>31 34 38 2e 32 30 34 2e 35 38 2e 32 32 31 0d 0a</a:t>
            </a:r>
          </a:p>
          <a:p>
            <a:pPr marL="0" indent="0" algn="just">
              <a:buNone/>
            </a:pPr>
            <a:r>
              <a:rPr lang="es-ES" b="1" dirty="0"/>
              <a:t>43 6f 6e </a:t>
            </a:r>
            <a:r>
              <a:rPr lang="es-ES" b="1" dirty="0" err="1"/>
              <a:t>6e</a:t>
            </a:r>
            <a:r>
              <a:rPr lang="es-ES" b="1" dirty="0"/>
              <a:t> 65 63 74 69 6f 6e 3a 20 6b 65 65 70</a:t>
            </a:r>
          </a:p>
          <a:p>
            <a:pPr marL="0" indent="0" algn="just">
              <a:buNone/>
            </a:pPr>
            <a:r>
              <a:rPr lang="es-ES" b="1" dirty="0"/>
              <a:t>2d 61 6c 69 76 65 0d 0a 55 70 67 72 61 64 65 2d</a:t>
            </a:r>
          </a:p>
          <a:p>
            <a:pPr marL="0" indent="0" algn="just">
              <a:buNone/>
            </a:pPr>
            <a:r>
              <a:rPr lang="es-ES" b="1" dirty="0"/>
              <a:t>49 6e 73 65 63 75 72 65 2d 52 65 71 75 65 73 74</a:t>
            </a:r>
          </a:p>
          <a:p>
            <a:pPr marL="0" indent="0" algn="just">
              <a:buNone/>
            </a:pPr>
            <a:r>
              <a:rPr lang="es-ES" b="1" dirty="0"/>
              <a:t>73 3a 20 31 0d 0a 55 73 65 72 2d 41 67 65 6e 74</a:t>
            </a:r>
          </a:p>
          <a:p>
            <a:pPr marL="0" indent="0">
              <a:buNone/>
            </a:pPr>
            <a:r>
              <a:rPr lang="es-ES" dirty="0"/>
              <a:t>……</a:t>
            </a:r>
          </a:p>
        </p:txBody>
      </p:sp>
      <p:cxnSp>
        <p:nvCxnSpPr>
          <p:cNvPr id="10" name="Conector recto 9"/>
          <p:cNvCxnSpPr/>
          <p:nvPr/>
        </p:nvCxnSpPr>
        <p:spPr>
          <a:xfrm flipV="1">
            <a:off x="1529540" y="1524000"/>
            <a:ext cx="1837775" cy="425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/>
          <p:cNvCxnSpPr/>
          <p:nvPr/>
        </p:nvCxnSpPr>
        <p:spPr>
          <a:xfrm flipV="1">
            <a:off x="3438172" y="1516745"/>
            <a:ext cx="1837775" cy="425"/>
          </a:xfrm>
          <a:prstGeom prst="line">
            <a:avLst/>
          </a:prstGeom>
          <a:ln w="222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/>
          <p:cNvCxnSpPr/>
          <p:nvPr/>
        </p:nvCxnSpPr>
        <p:spPr>
          <a:xfrm>
            <a:off x="5334003" y="1524000"/>
            <a:ext cx="544282" cy="0"/>
          </a:xfrm>
          <a:prstGeom prst="line">
            <a:avLst/>
          </a:prstGeom>
          <a:ln w="2222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/>
          <p:cNvCxnSpPr/>
          <p:nvPr/>
        </p:nvCxnSpPr>
        <p:spPr>
          <a:xfrm>
            <a:off x="5985383" y="1520374"/>
            <a:ext cx="517017" cy="3626"/>
          </a:xfrm>
          <a:prstGeom prst="line">
            <a:avLst/>
          </a:prstGeom>
          <a:ln w="22225">
            <a:solidFill>
              <a:srgbClr val="FE71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/>
          <p:cNvCxnSpPr/>
          <p:nvPr/>
        </p:nvCxnSpPr>
        <p:spPr>
          <a:xfrm>
            <a:off x="1494399" y="1936726"/>
            <a:ext cx="5226628" cy="32654"/>
          </a:xfrm>
          <a:prstGeom prst="line">
            <a:avLst/>
          </a:prstGeom>
          <a:ln w="22225">
            <a:solidFill>
              <a:srgbClr val="FE71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/>
          <p:cNvCxnSpPr/>
          <p:nvPr/>
        </p:nvCxnSpPr>
        <p:spPr>
          <a:xfrm>
            <a:off x="1529540" y="2306334"/>
            <a:ext cx="633089" cy="1"/>
          </a:xfrm>
          <a:prstGeom prst="line">
            <a:avLst/>
          </a:prstGeom>
          <a:ln w="22225">
            <a:solidFill>
              <a:srgbClr val="FE71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/>
          <p:cNvCxnSpPr/>
          <p:nvPr/>
        </p:nvCxnSpPr>
        <p:spPr>
          <a:xfrm flipV="1">
            <a:off x="2241883" y="2306334"/>
            <a:ext cx="4479144" cy="508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/>
          <p:cNvCxnSpPr/>
          <p:nvPr/>
        </p:nvCxnSpPr>
        <p:spPr>
          <a:xfrm>
            <a:off x="1494399" y="2727756"/>
            <a:ext cx="1872916" cy="931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uadroTexto 17"/>
          <p:cNvSpPr txBox="1"/>
          <p:nvPr/>
        </p:nvSpPr>
        <p:spPr>
          <a:xfrm>
            <a:off x="7153835" y="6255434"/>
            <a:ext cx="47836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Imagen</a:t>
            </a:r>
            <a:r>
              <a:rPr lang="es-MX" sz="1200" dirty="0">
                <a:hlinkClick r:id="rId2"/>
              </a:rPr>
              <a:t>http://personales.upv.es/rmartin/TcpIp/cap02s03.html</a:t>
            </a:r>
            <a:endParaRPr lang="es-MX" sz="1200" dirty="0"/>
          </a:p>
        </p:txBody>
      </p:sp>
      <p:cxnSp>
        <p:nvCxnSpPr>
          <p:cNvPr id="21" name="Conector recto 20"/>
          <p:cNvCxnSpPr/>
          <p:nvPr/>
        </p:nvCxnSpPr>
        <p:spPr>
          <a:xfrm>
            <a:off x="6914063" y="4125109"/>
            <a:ext cx="5226628" cy="32654"/>
          </a:xfrm>
          <a:prstGeom prst="line">
            <a:avLst/>
          </a:prstGeom>
          <a:ln w="22225">
            <a:solidFill>
              <a:srgbClr val="FE71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n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8126" y="1437123"/>
            <a:ext cx="5243122" cy="2629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52663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458454" y="131051"/>
            <a:ext cx="8911687" cy="1280890"/>
          </a:xfrm>
        </p:spPr>
        <p:txBody>
          <a:bodyPr/>
          <a:lstStyle/>
          <a:p>
            <a:r>
              <a:rPr lang="es-ES" dirty="0"/>
              <a:t>Control de error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21941" y="1279118"/>
            <a:ext cx="5492470" cy="5965481"/>
          </a:xfrm>
        </p:spPr>
        <p:txBody>
          <a:bodyPr>
            <a:normAutofit/>
          </a:bodyPr>
          <a:lstStyle/>
          <a:p>
            <a:r>
              <a:rPr lang="es-ES" dirty="0"/>
              <a:t>Ej. Dada la sig. trama calcular el </a:t>
            </a:r>
            <a:r>
              <a:rPr lang="es-ES" dirty="0" err="1"/>
              <a:t>checksum</a:t>
            </a:r>
            <a:endParaRPr lang="es-ES" dirty="0"/>
          </a:p>
          <a:p>
            <a:pPr marL="0" indent="0" algn="just">
              <a:buNone/>
            </a:pPr>
            <a:r>
              <a:rPr lang="es-ES" b="1" dirty="0"/>
              <a:t>E4 26 86 84 96 d2 80 2b f9 </a:t>
            </a:r>
            <a:r>
              <a:rPr lang="es-ES" b="1" dirty="0" err="1"/>
              <a:t>af</a:t>
            </a:r>
            <a:r>
              <a:rPr lang="es-ES" b="1" dirty="0"/>
              <a:t> 12 2d 08 00 45 00</a:t>
            </a:r>
          </a:p>
          <a:p>
            <a:pPr marL="0" indent="0" algn="just">
              <a:buNone/>
            </a:pPr>
            <a:r>
              <a:rPr lang="es-ES" b="1" dirty="0"/>
              <a:t>01 e2 d7 db 40 00 80 06 __ __ c0 a8 01 43 94 cc</a:t>
            </a:r>
          </a:p>
          <a:p>
            <a:pPr marL="0" indent="0" algn="just">
              <a:buNone/>
            </a:pPr>
            <a:r>
              <a:rPr lang="es-ES" b="1" dirty="0"/>
              <a:t>3a dd c3 d4 00 50 0c cc a1 da 08 </a:t>
            </a:r>
            <a:r>
              <a:rPr lang="es-ES" b="1" dirty="0" err="1"/>
              <a:t>fb</a:t>
            </a:r>
            <a:r>
              <a:rPr lang="es-ES" b="1" dirty="0"/>
              <a:t> 7d 8c 50 18</a:t>
            </a:r>
          </a:p>
          <a:p>
            <a:pPr marL="0" indent="0" algn="just">
              <a:buNone/>
            </a:pPr>
            <a:r>
              <a:rPr lang="es-ES" b="1" dirty="0"/>
              <a:t>02 01 88 94 00 00 47 45 54 20 2f 61 78 65 6c 2f</a:t>
            </a:r>
          </a:p>
          <a:p>
            <a:pPr marL="0" indent="0" algn="just">
              <a:buNone/>
            </a:pPr>
            <a:r>
              <a:rPr lang="es-ES" b="1" dirty="0"/>
              <a:t>72 65 64 65 73 6e 70 2f 73 6e 69 66 66 65 72 20</a:t>
            </a:r>
          </a:p>
          <a:p>
            <a:pPr marL="0" indent="0" algn="just">
              <a:buNone/>
            </a:pPr>
            <a:r>
              <a:rPr lang="es-ES" b="1" dirty="0"/>
              <a:t>48 54 54 50 2f 31 2e 31 0d 0a 48 6f 73 74 3a 20</a:t>
            </a:r>
          </a:p>
          <a:p>
            <a:pPr marL="0" indent="0" algn="just">
              <a:buNone/>
            </a:pPr>
            <a:r>
              <a:rPr lang="es-ES" b="1" dirty="0"/>
              <a:t>31 34 38 2e 32 30 34 2e 35 38 2e 32 32 31 0d 0a</a:t>
            </a:r>
          </a:p>
          <a:p>
            <a:pPr marL="0" indent="0" algn="just">
              <a:buNone/>
            </a:pPr>
            <a:r>
              <a:rPr lang="es-ES" b="1" dirty="0"/>
              <a:t>43 6f 6e </a:t>
            </a:r>
            <a:r>
              <a:rPr lang="es-ES" b="1" dirty="0" err="1"/>
              <a:t>6e</a:t>
            </a:r>
            <a:r>
              <a:rPr lang="es-ES" b="1" dirty="0"/>
              <a:t> 65 63 74 69 6f 6e 3a 20 6b 65 65 70</a:t>
            </a:r>
          </a:p>
          <a:p>
            <a:pPr marL="0" indent="0" algn="just">
              <a:buNone/>
            </a:pPr>
            <a:r>
              <a:rPr lang="es-ES" b="1" dirty="0"/>
              <a:t>2d 61 6c 69 76 65 0d 0a 55 70 67 72 61 64 65 2d</a:t>
            </a:r>
          </a:p>
          <a:p>
            <a:pPr marL="0" indent="0" algn="just">
              <a:buNone/>
            </a:pPr>
            <a:r>
              <a:rPr lang="es-ES" b="1" dirty="0"/>
              <a:t>49 6e 73 65 63 75 72 65 2d 52 65 71 75 65 73 74</a:t>
            </a:r>
          </a:p>
          <a:p>
            <a:pPr marL="0" indent="0" algn="just">
              <a:buNone/>
            </a:pPr>
            <a:r>
              <a:rPr lang="es-ES" b="1" dirty="0"/>
              <a:t>73 3a 20 31 0d 0a 55 73 65 72 2d 41 67 65 6e 74</a:t>
            </a:r>
          </a:p>
          <a:p>
            <a:pPr marL="0" indent="0">
              <a:buNone/>
            </a:pPr>
            <a:r>
              <a:rPr lang="es-ES" dirty="0"/>
              <a:t>……</a:t>
            </a:r>
          </a:p>
        </p:txBody>
      </p:sp>
      <p:cxnSp>
        <p:nvCxnSpPr>
          <p:cNvPr id="10" name="Conector recto 9"/>
          <p:cNvCxnSpPr/>
          <p:nvPr/>
        </p:nvCxnSpPr>
        <p:spPr>
          <a:xfrm flipV="1">
            <a:off x="426454" y="1988455"/>
            <a:ext cx="1837775" cy="425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/>
          <p:cNvCxnSpPr/>
          <p:nvPr/>
        </p:nvCxnSpPr>
        <p:spPr>
          <a:xfrm flipV="1">
            <a:off x="2335086" y="1981200"/>
            <a:ext cx="1837775" cy="425"/>
          </a:xfrm>
          <a:prstGeom prst="line">
            <a:avLst/>
          </a:prstGeom>
          <a:ln w="222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/>
          <p:cNvCxnSpPr/>
          <p:nvPr/>
        </p:nvCxnSpPr>
        <p:spPr>
          <a:xfrm>
            <a:off x="4230917" y="1988455"/>
            <a:ext cx="544282" cy="0"/>
          </a:xfrm>
          <a:prstGeom prst="line">
            <a:avLst/>
          </a:prstGeom>
          <a:ln w="2222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/>
          <p:cNvCxnSpPr/>
          <p:nvPr/>
        </p:nvCxnSpPr>
        <p:spPr>
          <a:xfrm>
            <a:off x="4882297" y="1984829"/>
            <a:ext cx="517017" cy="3626"/>
          </a:xfrm>
          <a:prstGeom prst="line">
            <a:avLst/>
          </a:prstGeom>
          <a:ln w="22225">
            <a:solidFill>
              <a:srgbClr val="FE71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/>
          <p:cNvCxnSpPr/>
          <p:nvPr/>
        </p:nvCxnSpPr>
        <p:spPr>
          <a:xfrm>
            <a:off x="391313" y="2401181"/>
            <a:ext cx="5226628" cy="32654"/>
          </a:xfrm>
          <a:prstGeom prst="line">
            <a:avLst/>
          </a:prstGeom>
          <a:ln w="22225">
            <a:solidFill>
              <a:srgbClr val="FE71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/>
          <p:cNvCxnSpPr/>
          <p:nvPr/>
        </p:nvCxnSpPr>
        <p:spPr>
          <a:xfrm>
            <a:off x="426454" y="2770789"/>
            <a:ext cx="633089" cy="1"/>
          </a:xfrm>
          <a:prstGeom prst="line">
            <a:avLst/>
          </a:prstGeom>
          <a:ln w="22225">
            <a:solidFill>
              <a:srgbClr val="FE71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/>
          <p:cNvCxnSpPr/>
          <p:nvPr/>
        </p:nvCxnSpPr>
        <p:spPr>
          <a:xfrm flipV="1">
            <a:off x="1138797" y="2770789"/>
            <a:ext cx="4479144" cy="508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/>
          <p:cNvCxnSpPr/>
          <p:nvPr/>
        </p:nvCxnSpPr>
        <p:spPr>
          <a:xfrm>
            <a:off x="391313" y="3192211"/>
            <a:ext cx="1872916" cy="931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uadroTexto 17"/>
          <p:cNvSpPr txBox="1"/>
          <p:nvPr/>
        </p:nvSpPr>
        <p:spPr>
          <a:xfrm>
            <a:off x="7153835" y="6255434"/>
            <a:ext cx="47836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Imagen</a:t>
            </a:r>
            <a:r>
              <a:rPr lang="es-MX" sz="1200" dirty="0">
                <a:hlinkClick r:id="rId2"/>
              </a:rPr>
              <a:t>http://personales.upv.es/rmartin/TcpIp/cap02s03.html</a:t>
            </a:r>
            <a:endParaRPr lang="es-MX" sz="1200" dirty="0"/>
          </a:p>
        </p:txBody>
      </p:sp>
      <p:cxnSp>
        <p:nvCxnSpPr>
          <p:cNvPr id="21" name="Conector recto 20"/>
          <p:cNvCxnSpPr/>
          <p:nvPr/>
        </p:nvCxnSpPr>
        <p:spPr>
          <a:xfrm>
            <a:off x="6914063" y="4125109"/>
            <a:ext cx="5226628" cy="32654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5383" y="1708055"/>
            <a:ext cx="6247012" cy="234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85014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458454" y="131051"/>
            <a:ext cx="8911687" cy="1280890"/>
          </a:xfrm>
        </p:spPr>
        <p:txBody>
          <a:bodyPr/>
          <a:lstStyle/>
          <a:p>
            <a:r>
              <a:rPr lang="es-ES" dirty="0"/>
              <a:t>Control de error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421827" y="800147"/>
            <a:ext cx="5492470" cy="5965481"/>
          </a:xfrm>
        </p:spPr>
        <p:txBody>
          <a:bodyPr>
            <a:normAutofit/>
          </a:bodyPr>
          <a:lstStyle/>
          <a:p>
            <a:r>
              <a:rPr lang="es-ES" dirty="0"/>
              <a:t>Ej. Dada la sig. trama calcular el </a:t>
            </a:r>
            <a:r>
              <a:rPr lang="es-ES" dirty="0" err="1"/>
              <a:t>checksum</a:t>
            </a:r>
            <a:endParaRPr lang="es-ES" dirty="0"/>
          </a:p>
          <a:p>
            <a:pPr marL="0" indent="0" algn="just">
              <a:buNone/>
            </a:pPr>
            <a:r>
              <a:rPr lang="es-ES" b="1" dirty="0"/>
              <a:t>E4 26 86 84 96 d2 80 2b f9 </a:t>
            </a:r>
            <a:r>
              <a:rPr lang="es-ES" b="1" dirty="0" err="1"/>
              <a:t>af</a:t>
            </a:r>
            <a:r>
              <a:rPr lang="es-ES" b="1" dirty="0"/>
              <a:t> 12 2d 08 00 45 00</a:t>
            </a:r>
          </a:p>
          <a:p>
            <a:pPr marL="0" indent="0" algn="just">
              <a:buNone/>
            </a:pPr>
            <a:r>
              <a:rPr lang="es-ES" b="1" dirty="0"/>
              <a:t>01 e2 d7 db 40 00 80 06 __ __ c0 a8 01 43 94 cc</a:t>
            </a:r>
          </a:p>
          <a:p>
            <a:pPr marL="0" indent="0" algn="just">
              <a:buNone/>
            </a:pPr>
            <a:r>
              <a:rPr lang="es-ES" b="1" dirty="0"/>
              <a:t>3a dd c3 d4 00 50 0c cc a1 da 08 </a:t>
            </a:r>
            <a:r>
              <a:rPr lang="es-ES" b="1" dirty="0" err="1"/>
              <a:t>fb</a:t>
            </a:r>
            <a:r>
              <a:rPr lang="es-ES" b="1" dirty="0"/>
              <a:t> 7d 8c 50 18</a:t>
            </a:r>
          </a:p>
          <a:p>
            <a:pPr marL="0" indent="0" algn="just">
              <a:buNone/>
            </a:pPr>
            <a:r>
              <a:rPr lang="es-ES" b="1" dirty="0"/>
              <a:t>02 01 88 94 00 00 47 45 54 20 2f 61 78 65 6c 2f</a:t>
            </a:r>
          </a:p>
          <a:p>
            <a:pPr marL="0" indent="0" algn="just">
              <a:buNone/>
            </a:pPr>
            <a:r>
              <a:rPr lang="es-ES" b="1" dirty="0"/>
              <a:t>72 65 64 65 73 6e 70 2f 73 6e 69 66 66 65 72 20</a:t>
            </a:r>
          </a:p>
          <a:p>
            <a:pPr marL="0" indent="0" algn="just">
              <a:buNone/>
            </a:pPr>
            <a:r>
              <a:rPr lang="es-ES" b="1" dirty="0"/>
              <a:t>48 54 54 50 2f 31 2e 31 0d 0a 48 6f 73 74 3a 20</a:t>
            </a:r>
          </a:p>
          <a:p>
            <a:pPr marL="0" indent="0" algn="just">
              <a:buNone/>
            </a:pPr>
            <a:r>
              <a:rPr lang="es-ES" b="1" dirty="0"/>
              <a:t>31 34 38 2e 32 30 34 2e 35 38 2e 32 32 31 0d 0a</a:t>
            </a:r>
          </a:p>
          <a:p>
            <a:pPr marL="0" indent="0" algn="just">
              <a:buNone/>
            </a:pPr>
            <a:r>
              <a:rPr lang="es-ES" b="1" dirty="0"/>
              <a:t>43 6f 6e </a:t>
            </a:r>
            <a:r>
              <a:rPr lang="es-ES" b="1" dirty="0" err="1"/>
              <a:t>6e</a:t>
            </a:r>
            <a:r>
              <a:rPr lang="es-ES" b="1" dirty="0"/>
              <a:t> 65 63 74 69 6f 6e 3a 20 6b 65 65 70</a:t>
            </a:r>
          </a:p>
          <a:p>
            <a:pPr marL="0" indent="0" algn="just">
              <a:buNone/>
            </a:pPr>
            <a:r>
              <a:rPr lang="es-ES" b="1" dirty="0"/>
              <a:t>2d 61 6c 69 76 65 0d 0a 55 70 67 72 61 64 65 2d</a:t>
            </a:r>
          </a:p>
          <a:p>
            <a:pPr marL="0" indent="0" algn="just">
              <a:buNone/>
            </a:pPr>
            <a:r>
              <a:rPr lang="es-ES" b="1" dirty="0"/>
              <a:t>49 6e 73 65 63 75 72 65 2d 52 65 71 75 65 73 74</a:t>
            </a:r>
          </a:p>
          <a:p>
            <a:pPr marL="0" indent="0" algn="just">
              <a:buNone/>
            </a:pPr>
            <a:r>
              <a:rPr lang="es-ES" b="1" dirty="0"/>
              <a:t>73 3a 20 31 0d 0a 55 73 65 72 2d 41 67 65 6e 74</a:t>
            </a:r>
          </a:p>
          <a:p>
            <a:pPr marL="0" indent="0">
              <a:buNone/>
            </a:pPr>
            <a:r>
              <a:rPr lang="es-ES" dirty="0"/>
              <a:t>……</a:t>
            </a:r>
          </a:p>
        </p:txBody>
      </p:sp>
      <p:cxnSp>
        <p:nvCxnSpPr>
          <p:cNvPr id="10" name="Conector recto 9"/>
          <p:cNvCxnSpPr/>
          <p:nvPr/>
        </p:nvCxnSpPr>
        <p:spPr>
          <a:xfrm flipV="1">
            <a:off x="1529540" y="1524000"/>
            <a:ext cx="1837775" cy="425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/>
          <p:cNvCxnSpPr/>
          <p:nvPr/>
        </p:nvCxnSpPr>
        <p:spPr>
          <a:xfrm flipV="1">
            <a:off x="3438172" y="1516745"/>
            <a:ext cx="1837775" cy="425"/>
          </a:xfrm>
          <a:prstGeom prst="line">
            <a:avLst/>
          </a:prstGeom>
          <a:ln w="222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/>
          <p:cNvCxnSpPr/>
          <p:nvPr/>
        </p:nvCxnSpPr>
        <p:spPr>
          <a:xfrm>
            <a:off x="5334003" y="1524000"/>
            <a:ext cx="544282" cy="0"/>
          </a:xfrm>
          <a:prstGeom prst="line">
            <a:avLst/>
          </a:prstGeom>
          <a:ln w="2222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/>
          <p:cNvCxnSpPr/>
          <p:nvPr/>
        </p:nvCxnSpPr>
        <p:spPr>
          <a:xfrm>
            <a:off x="5985383" y="1520374"/>
            <a:ext cx="517017" cy="3626"/>
          </a:xfrm>
          <a:prstGeom prst="line">
            <a:avLst/>
          </a:prstGeom>
          <a:ln w="22225">
            <a:solidFill>
              <a:srgbClr val="FE71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/>
          <p:cNvCxnSpPr/>
          <p:nvPr/>
        </p:nvCxnSpPr>
        <p:spPr>
          <a:xfrm>
            <a:off x="1494399" y="1936726"/>
            <a:ext cx="5226628" cy="32654"/>
          </a:xfrm>
          <a:prstGeom prst="line">
            <a:avLst/>
          </a:prstGeom>
          <a:ln w="22225">
            <a:solidFill>
              <a:srgbClr val="FE71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/>
          <p:cNvCxnSpPr/>
          <p:nvPr/>
        </p:nvCxnSpPr>
        <p:spPr>
          <a:xfrm>
            <a:off x="1529540" y="2306334"/>
            <a:ext cx="633089" cy="1"/>
          </a:xfrm>
          <a:prstGeom prst="line">
            <a:avLst/>
          </a:prstGeom>
          <a:ln w="22225">
            <a:solidFill>
              <a:srgbClr val="FE71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/>
          <p:cNvCxnSpPr/>
          <p:nvPr/>
        </p:nvCxnSpPr>
        <p:spPr>
          <a:xfrm flipV="1">
            <a:off x="2241883" y="2306334"/>
            <a:ext cx="4479144" cy="508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/>
          <p:cNvCxnSpPr/>
          <p:nvPr/>
        </p:nvCxnSpPr>
        <p:spPr>
          <a:xfrm>
            <a:off x="1494399" y="2727756"/>
            <a:ext cx="1872916" cy="931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uadroTexto 17"/>
          <p:cNvSpPr txBox="1"/>
          <p:nvPr/>
        </p:nvSpPr>
        <p:spPr>
          <a:xfrm>
            <a:off x="7284464" y="771496"/>
            <a:ext cx="46317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Sumamos los bytes correspondientes al encabezado  IP tomando de 2 bytes en 2 bytes</a:t>
            </a:r>
            <a:endParaRPr lang="es-MX" sz="1200" dirty="0"/>
          </a:p>
        </p:txBody>
      </p:sp>
      <p:sp>
        <p:nvSpPr>
          <p:cNvPr id="4" name="CuadroTexto 3"/>
          <p:cNvSpPr txBox="1"/>
          <p:nvPr/>
        </p:nvSpPr>
        <p:spPr>
          <a:xfrm>
            <a:off x="8200571" y="1969380"/>
            <a:ext cx="851515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45  00</a:t>
            </a:r>
          </a:p>
          <a:p>
            <a:r>
              <a:rPr lang="es-ES" dirty="0"/>
              <a:t>01  e2</a:t>
            </a:r>
          </a:p>
          <a:p>
            <a:r>
              <a:rPr lang="es-ES" dirty="0"/>
              <a:t>d7 db</a:t>
            </a:r>
          </a:p>
          <a:p>
            <a:r>
              <a:rPr lang="es-ES" dirty="0"/>
              <a:t>40  00</a:t>
            </a:r>
          </a:p>
          <a:p>
            <a:r>
              <a:rPr lang="es-ES" dirty="0"/>
              <a:t>80  06</a:t>
            </a:r>
          </a:p>
          <a:p>
            <a:r>
              <a:rPr lang="es-ES" dirty="0"/>
              <a:t>00  00</a:t>
            </a:r>
          </a:p>
          <a:p>
            <a:endParaRPr lang="es-ES" dirty="0"/>
          </a:p>
          <a:p>
            <a:r>
              <a:rPr lang="es-ES" dirty="0"/>
              <a:t>de c3</a:t>
            </a:r>
          </a:p>
          <a:p>
            <a:r>
              <a:rPr lang="es-ES" dirty="0"/>
              <a:t>+      1</a:t>
            </a:r>
          </a:p>
          <a:p>
            <a:r>
              <a:rPr lang="es-ES" dirty="0"/>
              <a:t>de c4</a:t>
            </a:r>
            <a:endParaRPr lang="es-MX" dirty="0"/>
          </a:p>
        </p:txBody>
      </p:sp>
      <p:sp>
        <p:nvSpPr>
          <p:cNvPr id="5" name="CuadroTexto 4"/>
          <p:cNvSpPr txBox="1"/>
          <p:nvPr/>
        </p:nvSpPr>
        <p:spPr>
          <a:xfrm>
            <a:off x="11148070" y="2052386"/>
            <a:ext cx="70403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dirty="0">
                <a:solidFill>
                  <a:srgbClr val="FF0000"/>
                </a:solidFill>
              </a:rPr>
              <a:t>A=10</a:t>
            </a:r>
          </a:p>
          <a:p>
            <a:r>
              <a:rPr lang="es-ES" sz="1600" dirty="0">
                <a:solidFill>
                  <a:srgbClr val="FF0000"/>
                </a:solidFill>
              </a:rPr>
              <a:t>B=11</a:t>
            </a:r>
          </a:p>
          <a:p>
            <a:r>
              <a:rPr lang="es-ES" sz="1600" dirty="0">
                <a:solidFill>
                  <a:srgbClr val="FF0000"/>
                </a:solidFill>
              </a:rPr>
              <a:t>C=12</a:t>
            </a:r>
          </a:p>
          <a:p>
            <a:r>
              <a:rPr lang="es-ES" sz="1600" dirty="0">
                <a:solidFill>
                  <a:srgbClr val="FF0000"/>
                </a:solidFill>
              </a:rPr>
              <a:t>D=13</a:t>
            </a:r>
          </a:p>
          <a:p>
            <a:r>
              <a:rPr lang="es-ES" sz="1600" dirty="0">
                <a:solidFill>
                  <a:srgbClr val="FF0000"/>
                </a:solidFill>
              </a:rPr>
              <a:t>E=14</a:t>
            </a:r>
          </a:p>
          <a:p>
            <a:r>
              <a:rPr lang="es-ES" sz="1600" dirty="0">
                <a:solidFill>
                  <a:srgbClr val="FF0000"/>
                </a:solidFill>
              </a:rPr>
              <a:t>F=15</a:t>
            </a:r>
            <a:endParaRPr lang="es-MX" sz="1600" dirty="0">
              <a:solidFill>
                <a:srgbClr val="FF0000"/>
              </a:solidFill>
            </a:endParaRPr>
          </a:p>
        </p:txBody>
      </p:sp>
      <p:cxnSp>
        <p:nvCxnSpPr>
          <p:cNvPr id="19" name="Conector recto 18"/>
          <p:cNvCxnSpPr/>
          <p:nvPr/>
        </p:nvCxnSpPr>
        <p:spPr>
          <a:xfrm flipV="1">
            <a:off x="8055429" y="3720456"/>
            <a:ext cx="1113939" cy="325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/>
          <p:cNvSpPr txBox="1"/>
          <p:nvPr/>
        </p:nvSpPr>
        <p:spPr>
          <a:xfrm>
            <a:off x="7736114" y="3033486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+</a:t>
            </a:r>
            <a:endParaRPr lang="es-MX" b="1" dirty="0"/>
          </a:p>
        </p:txBody>
      </p:sp>
      <p:sp>
        <p:nvSpPr>
          <p:cNvPr id="9" name="CuadroTexto 8"/>
          <p:cNvSpPr txBox="1"/>
          <p:nvPr/>
        </p:nvSpPr>
        <p:spPr>
          <a:xfrm>
            <a:off x="6980170" y="5341257"/>
            <a:ext cx="6543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         1</a:t>
            </a:r>
          </a:p>
          <a:p>
            <a:r>
              <a:rPr lang="es-ES" sz="1200" dirty="0"/>
              <a:t>16   19</a:t>
            </a:r>
          </a:p>
          <a:p>
            <a:r>
              <a:rPr lang="es-ES" sz="1200" dirty="0"/>
              <a:t>         3</a:t>
            </a:r>
            <a:endParaRPr lang="es-MX" sz="1200" dirty="0"/>
          </a:p>
        </p:txBody>
      </p:sp>
      <p:cxnSp>
        <p:nvCxnSpPr>
          <p:cNvPr id="13" name="Conector recto 12"/>
          <p:cNvCxnSpPr/>
          <p:nvPr/>
        </p:nvCxnSpPr>
        <p:spPr>
          <a:xfrm>
            <a:off x="7307343" y="5544457"/>
            <a:ext cx="289134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/>
          <p:cNvCxnSpPr/>
          <p:nvPr/>
        </p:nvCxnSpPr>
        <p:spPr>
          <a:xfrm>
            <a:off x="7307343" y="5544457"/>
            <a:ext cx="0" cy="1199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/>
          <p:cNvSpPr txBox="1"/>
          <p:nvPr/>
        </p:nvSpPr>
        <p:spPr>
          <a:xfrm>
            <a:off x="8002212" y="1741715"/>
            <a:ext cx="8739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>
                <a:solidFill>
                  <a:srgbClr val="FF0000"/>
                </a:solidFill>
              </a:rPr>
              <a:t>        1    1</a:t>
            </a:r>
            <a:endParaRPr lang="es-MX" sz="1200" dirty="0">
              <a:solidFill>
                <a:srgbClr val="FF0000"/>
              </a:solidFill>
            </a:endParaRPr>
          </a:p>
        </p:txBody>
      </p:sp>
      <p:sp>
        <p:nvSpPr>
          <p:cNvPr id="29" name="CuadroTexto 28"/>
          <p:cNvSpPr txBox="1"/>
          <p:nvPr/>
        </p:nvSpPr>
        <p:spPr>
          <a:xfrm>
            <a:off x="7634516" y="5301699"/>
            <a:ext cx="7008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         1</a:t>
            </a:r>
          </a:p>
          <a:p>
            <a:r>
              <a:rPr lang="es-ES" sz="1200" dirty="0"/>
              <a:t>16   28</a:t>
            </a:r>
          </a:p>
          <a:p>
            <a:r>
              <a:rPr lang="es-ES" sz="1200" dirty="0"/>
              <a:t>        12</a:t>
            </a:r>
            <a:endParaRPr lang="es-MX" sz="1200" dirty="0"/>
          </a:p>
        </p:txBody>
      </p:sp>
      <p:cxnSp>
        <p:nvCxnSpPr>
          <p:cNvPr id="30" name="Conector recto 29"/>
          <p:cNvCxnSpPr/>
          <p:nvPr/>
        </p:nvCxnSpPr>
        <p:spPr>
          <a:xfrm>
            <a:off x="7961689" y="5504899"/>
            <a:ext cx="289134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/>
          <p:cNvCxnSpPr/>
          <p:nvPr/>
        </p:nvCxnSpPr>
        <p:spPr>
          <a:xfrm>
            <a:off x="7961689" y="5504899"/>
            <a:ext cx="0" cy="1199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uadroTexto 31"/>
          <p:cNvSpPr txBox="1"/>
          <p:nvPr/>
        </p:nvSpPr>
        <p:spPr>
          <a:xfrm>
            <a:off x="8366937" y="5301698"/>
            <a:ext cx="7008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         1</a:t>
            </a:r>
          </a:p>
          <a:p>
            <a:r>
              <a:rPr lang="es-ES" sz="1200" dirty="0"/>
              <a:t>16   29</a:t>
            </a:r>
          </a:p>
          <a:p>
            <a:r>
              <a:rPr lang="es-ES" sz="1200" dirty="0"/>
              <a:t>        13</a:t>
            </a:r>
            <a:endParaRPr lang="es-MX" sz="1200" dirty="0"/>
          </a:p>
        </p:txBody>
      </p:sp>
      <p:cxnSp>
        <p:nvCxnSpPr>
          <p:cNvPr id="33" name="Conector recto 32"/>
          <p:cNvCxnSpPr/>
          <p:nvPr/>
        </p:nvCxnSpPr>
        <p:spPr>
          <a:xfrm>
            <a:off x="8694110" y="5504898"/>
            <a:ext cx="289134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/>
          <p:cNvCxnSpPr/>
          <p:nvPr/>
        </p:nvCxnSpPr>
        <p:spPr>
          <a:xfrm>
            <a:off x="8694110" y="5504898"/>
            <a:ext cx="0" cy="1199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uadroTexto 34"/>
          <p:cNvSpPr txBox="1"/>
          <p:nvPr/>
        </p:nvSpPr>
        <p:spPr>
          <a:xfrm>
            <a:off x="9864366" y="1998169"/>
            <a:ext cx="116089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 de  c4</a:t>
            </a:r>
          </a:p>
          <a:p>
            <a:r>
              <a:rPr lang="es-ES" dirty="0"/>
              <a:t> c0  a8</a:t>
            </a:r>
          </a:p>
          <a:p>
            <a:r>
              <a:rPr lang="es-ES" dirty="0"/>
              <a:t> 01  43</a:t>
            </a:r>
          </a:p>
          <a:p>
            <a:r>
              <a:rPr lang="es-ES" dirty="0"/>
              <a:t> 94  cc</a:t>
            </a:r>
          </a:p>
          <a:p>
            <a:r>
              <a:rPr lang="es-ES" dirty="0"/>
              <a:t> 3a  dd</a:t>
            </a:r>
          </a:p>
          <a:p>
            <a:r>
              <a:rPr lang="es-ES" dirty="0"/>
              <a:t> 70  58</a:t>
            </a:r>
          </a:p>
          <a:p>
            <a:r>
              <a:rPr lang="es-ES" dirty="0"/>
              <a:t>+      2</a:t>
            </a:r>
          </a:p>
          <a:p>
            <a:r>
              <a:rPr lang="es-ES" dirty="0"/>
              <a:t>(70  5a)</a:t>
            </a:r>
            <a:r>
              <a:rPr lang="es-ES" baseline="30000" dirty="0"/>
              <a:t>-1</a:t>
            </a:r>
            <a:endParaRPr lang="es-MX" baseline="30000" dirty="0"/>
          </a:p>
        </p:txBody>
      </p:sp>
      <p:cxnSp>
        <p:nvCxnSpPr>
          <p:cNvPr id="36" name="Conector recto 35"/>
          <p:cNvCxnSpPr/>
          <p:nvPr/>
        </p:nvCxnSpPr>
        <p:spPr>
          <a:xfrm>
            <a:off x="9718978" y="3405184"/>
            <a:ext cx="107459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uadroTexto 36"/>
          <p:cNvSpPr txBox="1"/>
          <p:nvPr/>
        </p:nvSpPr>
        <p:spPr>
          <a:xfrm>
            <a:off x="9588167" y="2645418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+</a:t>
            </a:r>
            <a:endParaRPr lang="es-MX" b="1" dirty="0"/>
          </a:p>
        </p:txBody>
      </p:sp>
      <p:sp>
        <p:nvSpPr>
          <p:cNvPr id="38" name="CuadroTexto 37"/>
          <p:cNvSpPr txBox="1"/>
          <p:nvPr/>
        </p:nvSpPr>
        <p:spPr>
          <a:xfrm>
            <a:off x="9666007" y="1770504"/>
            <a:ext cx="10021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>
                <a:solidFill>
                  <a:srgbClr val="FF0000"/>
                </a:solidFill>
              </a:rPr>
              <a:t>        2 3    2</a:t>
            </a:r>
            <a:endParaRPr lang="es-MX" sz="1200" dirty="0">
              <a:solidFill>
                <a:srgbClr val="FF0000"/>
              </a:solidFill>
            </a:endParaRPr>
          </a:p>
        </p:txBody>
      </p:sp>
      <p:cxnSp>
        <p:nvCxnSpPr>
          <p:cNvPr id="44" name="Conector recto 43"/>
          <p:cNvCxnSpPr/>
          <p:nvPr/>
        </p:nvCxnSpPr>
        <p:spPr>
          <a:xfrm>
            <a:off x="9740750" y="3963984"/>
            <a:ext cx="107459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44"/>
          <p:cNvCxnSpPr/>
          <p:nvPr/>
        </p:nvCxnSpPr>
        <p:spPr>
          <a:xfrm>
            <a:off x="8086126" y="4486498"/>
            <a:ext cx="107459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uadroTexto 45"/>
          <p:cNvSpPr txBox="1"/>
          <p:nvPr/>
        </p:nvSpPr>
        <p:spPr>
          <a:xfrm>
            <a:off x="9491140" y="5152571"/>
            <a:ext cx="6543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         2</a:t>
            </a:r>
          </a:p>
          <a:p>
            <a:r>
              <a:rPr lang="es-ES" sz="1200" dirty="0"/>
              <a:t>16   40</a:t>
            </a:r>
          </a:p>
          <a:p>
            <a:r>
              <a:rPr lang="es-ES" sz="1200" dirty="0"/>
              <a:t>         8</a:t>
            </a:r>
            <a:endParaRPr lang="es-MX" sz="1200" dirty="0"/>
          </a:p>
        </p:txBody>
      </p:sp>
      <p:cxnSp>
        <p:nvCxnSpPr>
          <p:cNvPr id="47" name="Conector recto 46"/>
          <p:cNvCxnSpPr/>
          <p:nvPr/>
        </p:nvCxnSpPr>
        <p:spPr>
          <a:xfrm>
            <a:off x="9818313" y="5355771"/>
            <a:ext cx="289134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47"/>
          <p:cNvCxnSpPr/>
          <p:nvPr/>
        </p:nvCxnSpPr>
        <p:spPr>
          <a:xfrm>
            <a:off x="9818313" y="5355771"/>
            <a:ext cx="0" cy="1199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CuadroTexto 48"/>
          <p:cNvSpPr txBox="1"/>
          <p:nvPr/>
        </p:nvSpPr>
        <p:spPr>
          <a:xfrm>
            <a:off x="10145486" y="5113013"/>
            <a:ext cx="6591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         3</a:t>
            </a:r>
          </a:p>
          <a:p>
            <a:r>
              <a:rPr lang="es-ES" sz="1200" dirty="0"/>
              <a:t>16   53</a:t>
            </a:r>
          </a:p>
          <a:p>
            <a:r>
              <a:rPr lang="es-ES" sz="1200" dirty="0"/>
              <a:t>         5</a:t>
            </a:r>
            <a:endParaRPr lang="es-MX" sz="1200" dirty="0"/>
          </a:p>
        </p:txBody>
      </p:sp>
      <p:cxnSp>
        <p:nvCxnSpPr>
          <p:cNvPr id="50" name="Conector recto 49"/>
          <p:cNvCxnSpPr/>
          <p:nvPr/>
        </p:nvCxnSpPr>
        <p:spPr>
          <a:xfrm>
            <a:off x="10472659" y="5316213"/>
            <a:ext cx="289134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50"/>
          <p:cNvCxnSpPr/>
          <p:nvPr/>
        </p:nvCxnSpPr>
        <p:spPr>
          <a:xfrm>
            <a:off x="10472659" y="5316213"/>
            <a:ext cx="0" cy="1199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CuadroTexto 51"/>
          <p:cNvSpPr txBox="1"/>
          <p:nvPr/>
        </p:nvSpPr>
        <p:spPr>
          <a:xfrm>
            <a:off x="10877907" y="5113012"/>
            <a:ext cx="6591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         2</a:t>
            </a:r>
          </a:p>
          <a:p>
            <a:r>
              <a:rPr lang="es-ES" sz="1200" dirty="0"/>
              <a:t>16   32</a:t>
            </a:r>
          </a:p>
          <a:p>
            <a:r>
              <a:rPr lang="es-ES" sz="1200" dirty="0"/>
              <a:t>         0</a:t>
            </a:r>
            <a:endParaRPr lang="es-MX" sz="1200" dirty="0"/>
          </a:p>
        </p:txBody>
      </p:sp>
      <p:cxnSp>
        <p:nvCxnSpPr>
          <p:cNvPr id="53" name="Conector recto 52"/>
          <p:cNvCxnSpPr/>
          <p:nvPr/>
        </p:nvCxnSpPr>
        <p:spPr>
          <a:xfrm>
            <a:off x="11205080" y="5316212"/>
            <a:ext cx="289134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53"/>
          <p:cNvCxnSpPr/>
          <p:nvPr/>
        </p:nvCxnSpPr>
        <p:spPr>
          <a:xfrm>
            <a:off x="11205080" y="5316212"/>
            <a:ext cx="0" cy="1199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CuadroTexto 55"/>
          <p:cNvSpPr txBox="1"/>
          <p:nvPr/>
        </p:nvSpPr>
        <p:spPr>
          <a:xfrm>
            <a:off x="10841621" y="5947582"/>
            <a:ext cx="6591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         2</a:t>
            </a:r>
          </a:p>
          <a:p>
            <a:r>
              <a:rPr lang="es-ES" sz="1200" dirty="0"/>
              <a:t>16   39</a:t>
            </a:r>
          </a:p>
          <a:p>
            <a:r>
              <a:rPr lang="es-ES" sz="1200" dirty="0"/>
              <a:t>         7</a:t>
            </a:r>
            <a:endParaRPr lang="es-MX" sz="1200" dirty="0"/>
          </a:p>
        </p:txBody>
      </p:sp>
      <p:cxnSp>
        <p:nvCxnSpPr>
          <p:cNvPr id="57" name="Conector recto 56"/>
          <p:cNvCxnSpPr/>
          <p:nvPr/>
        </p:nvCxnSpPr>
        <p:spPr>
          <a:xfrm>
            <a:off x="11168794" y="6150782"/>
            <a:ext cx="289134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57"/>
          <p:cNvCxnSpPr/>
          <p:nvPr/>
        </p:nvCxnSpPr>
        <p:spPr>
          <a:xfrm>
            <a:off x="11168794" y="6150782"/>
            <a:ext cx="0" cy="1199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792674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458454" y="131051"/>
            <a:ext cx="8911687" cy="1280890"/>
          </a:xfrm>
        </p:spPr>
        <p:txBody>
          <a:bodyPr/>
          <a:lstStyle/>
          <a:p>
            <a:r>
              <a:rPr lang="es-ES" dirty="0"/>
              <a:t>Control de error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421827" y="800147"/>
            <a:ext cx="5492470" cy="5965481"/>
          </a:xfrm>
        </p:spPr>
        <p:txBody>
          <a:bodyPr>
            <a:normAutofit/>
          </a:bodyPr>
          <a:lstStyle/>
          <a:p>
            <a:r>
              <a:rPr lang="es-ES" dirty="0"/>
              <a:t>Ej. Dada la sig. trama calcular el </a:t>
            </a:r>
            <a:r>
              <a:rPr lang="es-ES" dirty="0" err="1"/>
              <a:t>checksum</a:t>
            </a:r>
            <a:endParaRPr lang="es-ES" dirty="0"/>
          </a:p>
          <a:p>
            <a:pPr marL="0" indent="0" algn="just">
              <a:buNone/>
            </a:pPr>
            <a:r>
              <a:rPr lang="es-ES" b="1" dirty="0"/>
              <a:t>E4 26 86 84 96 d2 80 2b f9 </a:t>
            </a:r>
            <a:r>
              <a:rPr lang="es-ES" b="1" dirty="0" err="1"/>
              <a:t>af</a:t>
            </a:r>
            <a:r>
              <a:rPr lang="es-ES" b="1" dirty="0"/>
              <a:t> 12 2d 08 00 45 00</a:t>
            </a:r>
          </a:p>
          <a:p>
            <a:pPr marL="0" indent="0" algn="just">
              <a:buNone/>
            </a:pPr>
            <a:r>
              <a:rPr lang="es-ES" b="1" dirty="0"/>
              <a:t>01 e2 d7 db 40 00 80 06 __ __ c0 a8 01 43 94 cc</a:t>
            </a:r>
          </a:p>
          <a:p>
            <a:pPr marL="0" indent="0" algn="just">
              <a:buNone/>
            </a:pPr>
            <a:r>
              <a:rPr lang="es-ES" b="1" dirty="0"/>
              <a:t>3a dd c3 d4 00 50 0c cc a1 da 08 </a:t>
            </a:r>
            <a:r>
              <a:rPr lang="es-ES" b="1" dirty="0" err="1"/>
              <a:t>fb</a:t>
            </a:r>
            <a:r>
              <a:rPr lang="es-ES" b="1" dirty="0"/>
              <a:t> 7d 8c 50 18</a:t>
            </a:r>
          </a:p>
          <a:p>
            <a:pPr marL="0" indent="0" algn="just">
              <a:buNone/>
            </a:pPr>
            <a:r>
              <a:rPr lang="es-ES" b="1" dirty="0"/>
              <a:t>02 01 88 94 00 00 47 45 54 20 2f 61 78 65 6c 2f</a:t>
            </a:r>
          </a:p>
          <a:p>
            <a:pPr marL="0" indent="0" algn="just">
              <a:buNone/>
            </a:pPr>
            <a:r>
              <a:rPr lang="es-ES" b="1" dirty="0"/>
              <a:t>72 65 64 65 73 6e 70 2f 73 6e 69 66 66 65 72 20</a:t>
            </a:r>
          </a:p>
          <a:p>
            <a:pPr marL="0" indent="0" algn="just">
              <a:buNone/>
            </a:pPr>
            <a:r>
              <a:rPr lang="es-ES" b="1" dirty="0"/>
              <a:t>48 54 54 50 2f 31 2e 31 0d 0a 48 6f 73 74 3a 20</a:t>
            </a:r>
          </a:p>
          <a:p>
            <a:pPr marL="0" indent="0" algn="just">
              <a:buNone/>
            </a:pPr>
            <a:r>
              <a:rPr lang="es-ES" b="1" dirty="0"/>
              <a:t>31 34 38 2e 32 30 34 2e 35 38 2e 32 32 31 0d 0a</a:t>
            </a:r>
          </a:p>
          <a:p>
            <a:pPr marL="0" indent="0" algn="just">
              <a:buNone/>
            </a:pPr>
            <a:r>
              <a:rPr lang="es-ES" b="1" dirty="0"/>
              <a:t>43 6f 6e </a:t>
            </a:r>
            <a:r>
              <a:rPr lang="es-ES" b="1" dirty="0" err="1"/>
              <a:t>6e</a:t>
            </a:r>
            <a:r>
              <a:rPr lang="es-ES" b="1" dirty="0"/>
              <a:t> 65 63 74 69 6f 6e 3a 20 6b 65 65 70</a:t>
            </a:r>
          </a:p>
          <a:p>
            <a:pPr marL="0" indent="0" algn="just">
              <a:buNone/>
            </a:pPr>
            <a:r>
              <a:rPr lang="es-ES" b="1" dirty="0"/>
              <a:t>2d 61 6c 69 76 65 0d 0a 55 70 67 72 61 64 65 2d</a:t>
            </a:r>
          </a:p>
          <a:p>
            <a:pPr marL="0" indent="0" algn="just">
              <a:buNone/>
            </a:pPr>
            <a:r>
              <a:rPr lang="es-ES" b="1" dirty="0"/>
              <a:t>49 6e 73 65 63 75 72 65 2d 52 65 71 75 65 73 74</a:t>
            </a:r>
          </a:p>
          <a:p>
            <a:pPr marL="0" indent="0" algn="just">
              <a:buNone/>
            </a:pPr>
            <a:r>
              <a:rPr lang="es-ES" b="1" dirty="0"/>
              <a:t>73 3a 20 31 0d 0a 55 73 65 72 2d 41 67 65 6e 74</a:t>
            </a:r>
          </a:p>
          <a:p>
            <a:pPr marL="0" indent="0">
              <a:buNone/>
            </a:pPr>
            <a:r>
              <a:rPr lang="es-ES" dirty="0"/>
              <a:t>……</a:t>
            </a:r>
          </a:p>
        </p:txBody>
      </p:sp>
      <p:cxnSp>
        <p:nvCxnSpPr>
          <p:cNvPr id="10" name="Conector recto 9"/>
          <p:cNvCxnSpPr/>
          <p:nvPr/>
        </p:nvCxnSpPr>
        <p:spPr>
          <a:xfrm flipV="1">
            <a:off x="1529540" y="1524000"/>
            <a:ext cx="1837775" cy="425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/>
          <p:cNvCxnSpPr/>
          <p:nvPr/>
        </p:nvCxnSpPr>
        <p:spPr>
          <a:xfrm flipV="1">
            <a:off x="3438172" y="1516745"/>
            <a:ext cx="1837775" cy="425"/>
          </a:xfrm>
          <a:prstGeom prst="line">
            <a:avLst/>
          </a:prstGeom>
          <a:ln w="222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/>
          <p:cNvCxnSpPr/>
          <p:nvPr/>
        </p:nvCxnSpPr>
        <p:spPr>
          <a:xfrm>
            <a:off x="5334003" y="1524000"/>
            <a:ext cx="544282" cy="0"/>
          </a:xfrm>
          <a:prstGeom prst="line">
            <a:avLst/>
          </a:prstGeom>
          <a:ln w="2222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/>
          <p:cNvCxnSpPr/>
          <p:nvPr/>
        </p:nvCxnSpPr>
        <p:spPr>
          <a:xfrm>
            <a:off x="5985383" y="1520374"/>
            <a:ext cx="517017" cy="3626"/>
          </a:xfrm>
          <a:prstGeom prst="line">
            <a:avLst/>
          </a:prstGeom>
          <a:ln w="22225">
            <a:solidFill>
              <a:srgbClr val="FE71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/>
          <p:cNvCxnSpPr/>
          <p:nvPr/>
        </p:nvCxnSpPr>
        <p:spPr>
          <a:xfrm>
            <a:off x="1494399" y="1936726"/>
            <a:ext cx="5226628" cy="32654"/>
          </a:xfrm>
          <a:prstGeom prst="line">
            <a:avLst/>
          </a:prstGeom>
          <a:ln w="22225">
            <a:solidFill>
              <a:srgbClr val="FE71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/>
          <p:cNvCxnSpPr/>
          <p:nvPr/>
        </p:nvCxnSpPr>
        <p:spPr>
          <a:xfrm>
            <a:off x="1529540" y="2306334"/>
            <a:ext cx="633089" cy="1"/>
          </a:xfrm>
          <a:prstGeom prst="line">
            <a:avLst/>
          </a:prstGeom>
          <a:ln w="22225">
            <a:solidFill>
              <a:srgbClr val="FE71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/>
          <p:cNvCxnSpPr/>
          <p:nvPr/>
        </p:nvCxnSpPr>
        <p:spPr>
          <a:xfrm flipV="1">
            <a:off x="2241883" y="2306334"/>
            <a:ext cx="4479144" cy="508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/>
          <p:cNvCxnSpPr/>
          <p:nvPr/>
        </p:nvCxnSpPr>
        <p:spPr>
          <a:xfrm>
            <a:off x="1494399" y="2727756"/>
            <a:ext cx="1872916" cy="931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uadroTexto 17"/>
          <p:cNvSpPr txBox="1"/>
          <p:nvPr/>
        </p:nvSpPr>
        <p:spPr>
          <a:xfrm>
            <a:off x="7284464" y="771496"/>
            <a:ext cx="46317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Sumamos los bytes correspondientes al encabezado  IP tomando de 2 bytes en 2 bytes</a:t>
            </a:r>
            <a:endParaRPr lang="es-MX" sz="1200" dirty="0"/>
          </a:p>
        </p:txBody>
      </p:sp>
      <p:sp>
        <p:nvSpPr>
          <p:cNvPr id="4" name="CuadroTexto 3"/>
          <p:cNvSpPr txBox="1"/>
          <p:nvPr/>
        </p:nvSpPr>
        <p:spPr>
          <a:xfrm>
            <a:off x="7662691" y="2413131"/>
            <a:ext cx="13420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7 -&gt;0 1 1 1</a:t>
            </a:r>
          </a:p>
          <a:p>
            <a:r>
              <a:rPr lang="es-ES" dirty="0"/>
              <a:t>0 -&gt;0 0 0 0</a:t>
            </a:r>
          </a:p>
          <a:p>
            <a:r>
              <a:rPr lang="es-ES" dirty="0"/>
              <a:t>5 -&gt;0 1 0 1</a:t>
            </a:r>
          </a:p>
          <a:p>
            <a:r>
              <a:rPr lang="es-ES" dirty="0"/>
              <a:t>A -&gt;1 0 1 0</a:t>
            </a:r>
            <a:endParaRPr lang="es-MX" dirty="0"/>
          </a:p>
        </p:txBody>
      </p:sp>
      <p:sp>
        <p:nvSpPr>
          <p:cNvPr id="5" name="CuadroTexto 4"/>
          <p:cNvSpPr txBox="1"/>
          <p:nvPr/>
        </p:nvSpPr>
        <p:spPr>
          <a:xfrm>
            <a:off x="11148070" y="2052386"/>
            <a:ext cx="70403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dirty="0">
                <a:solidFill>
                  <a:srgbClr val="FF0000"/>
                </a:solidFill>
              </a:rPr>
              <a:t>A=10</a:t>
            </a:r>
          </a:p>
          <a:p>
            <a:r>
              <a:rPr lang="es-ES" sz="1600" dirty="0">
                <a:solidFill>
                  <a:srgbClr val="FF0000"/>
                </a:solidFill>
              </a:rPr>
              <a:t>B=11</a:t>
            </a:r>
          </a:p>
          <a:p>
            <a:r>
              <a:rPr lang="es-ES" sz="1600" dirty="0">
                <a:solidFill>
                  <a:srgbClr val="FF0000"/>
                </a:solidFill>
              </a:rPr>
              <a:t>C=12</a:t>
            </a:r>
          </a:p>
          <a:p>
            <a:r>
              <a:rPr lang="es-ES" sz="1600" dirty="0">
                <a:solidFill>
                  <a:srgbClr val="FF0000"/>
                </a:solidFill>
              </a:rPr>
              <a:t>D=13</a:t>
            </a:r>
          </a:p>
          <a:p>
            <a:r>
              <a:rPr lang="es-ES" sz="1600" dirty="0">
                <a:solidFill>
                  <a:srgbClr val="FF0000"/>
                </a:solidFill>
              </a:rPr>
              <a:t>E=14</a:t>
            </a:r>
          </a:p>
          <a:p>
            <a:r>
              <a:rPr lang="es-ES" sz="1600" dirty="0">
                <a:solidFill>
                  <a:srgbClr val="FF0000"/>
                </a:solidFill>
              </a:rPr>
              <a:t>F=15</a:t>
            </a:r>
            <a:endParaRPr lang="es-MX" sz="1600" dirty="0">
              <a:solidFill>
                <a:srgbClr val="FF0000"/>
              </a:solidFill>
            </a:endParaRPr>
          </a:p>
        </p:txBody>
      </p:sp>
      <p:cxnSp>
        <p:nvCxnSpPr>
          <p:cNvPr id="19" name="Conector recto 18"/>
          <p:cNvCxnSpPr/>
          <p:nvPr/>
        </p:nvCxnSpPr>
        <p:spPr>
          <a:xfrm flipV="1">
            <a:off x="7908083" y="4087159"/>
            <a:ext cx="3059394" cy="14653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/>
          <p:cNvSpPr txBox="1"/>
          <p:nvPr/>
        </p:nvSpPr>
        <p:spPr>
          <a:xfrm>
            <a:off x="7908083" y="2185466"/>
            <a:ext cx="10005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>
                <a:solidFill>
                  <a:srgbClr val="FF0000"/>
                </a:solidFill>
              </a:rPr>
              <a:t>    8  4   2  1</a:t>
            </a:r>
            <a:endParaRPr lang="es-MX" sz="1200" dirty="0">
              <a:solidFill>
                <a:srgbClr val="FF0000"/>
              </a:solidFill>
            </a:endParaRPr>
          </a:p>
        </p:txBody>
      </p:sp>
      <p:sp>
        <p:nvSpPr>
          <p:cNvPr id="35" name="CuadroTexto 34"/>
          <p:cNvSpPr txBox="1"/>
          <p:nvPr/>
        </p:nvSpPr>
        <p:spPr>
          <a:xfrm>
            <a:off x="9447509" y="2441920"/>
            <a:ext cx="151996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1 0 0 0  -&gt;  8</a:t>
            </a:r>
            <a:endParaRPr lang="es-MX" baseline="30000" dirty="0"/>
          </a:p>
          <a:p>
            <a:r>
              <a:rPr lang="es-ES" dirty="0"/>
              <a:t>1 1 1 1  -&gt;  f</a:t>
            </a:r>
          </a:p>
          <a:p>
            <a:r>
              <a:rPr lang="es-ES" dirty="0"/>
              <a:t>1 0 1 0  -&gt;  a</a:t>
            </a:r>
          </a:p>
          <a:p>
            <a:r>
              <a:rPr lang="es-ES" dirty="0"/>
              <a:t>0 1 0 1  -&gt;  5</a:t>
            </a:r>
          </a:p>
        </p:txBody>
      </p:sp>
      <p:sp>
        <p:nvSpPr>
          <p:cNvPr id="55" name="CuadroTexto 54"/>
          <p:cNvSpPr txBox="1"/>
          <p:nvPr/>
        </p:nvSpPr>
        <p:spPr>
          <a:xfrm>
            <a:off x="7451503" y="1399877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(70  5a)</a:t>
            </a:r>
            <a:r>
              <a:rPr lang="es-ES" baseline="30000" dirty="0"/>
              <a:t>-1</a:t>
            </a:r>
            <a:endParaRPr lang="es-MX" baseline="30000" dirty="0"/>
          </a:p>
        </p:txBody>
      </p:sp>
      <p:cxnSp>
        <p:nvCxnSpPr>
          <p:cNvPr id="7" name="Conector recto 6"/>
          <p:cNvCxnSpPr/>
          <p:nvPr/>
        </p:nvCxnSpPr>
        <p:spPr>
          <a:xfrm>
            <a:off x="9354940" y="2306334"/>
            <a:ext cx="0" cy="1679093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uadroTexto 58"/>
          <p:cNvSpPr txBox="1"/>
          <p:nvPr/>
        </p:nvSpPr>
        <p:spPr>
          <a:xfrm>
            <a:off x="9311054" y="2189949"/>
            <a:ext cx="10005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>
                <a:solidFill>
                  <a:srgbClr val="FF0000"/>
                </a:solidFill>
              </a:rPr>
              <a:t>    8  4   2  1</a:t>
            </a:r>
            <a:endParaRPr lang="es-MX" sz="1200" dirty="0">
              <a:solidFill>
                <a:srgbClr val="FF0000"/>
              </a:solidFill>
            </a:endParaRPr>
          </a:p>
        </p:txBody>
      </p:sp>
      <p:sp>
        <p:nvSpPr>
          <p:cNvPr id="21" name="CuadroTexto 20"/>
          <p:cNvSpPr txBox="1"/>
          <p:nvPr/>
        </p:nvSpPr>
        <p:spPr>
          <a:xfrm>
            <a:off x="8031950" y="4294271"/>
            <a:ext cx="2193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Checksum</a:t>
            </a:r>
            <a:r>
              <a:rPr lang="es-ES" dirty="0"/>
              <a:t> = 8f a5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1746965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Control de error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94641" y="1264555"/>
            <a:ext cx="10413685" cy="4535251"/>
          </a:xfrm>
        </p:spPr>
        <p:txBody>
          <a:bodyPr>
            <a:normAutofit lnSpcReduction="10000"/>
          </a:bodyPr>
          <a:lstStyle/>
          <a:p>
            <a:pPr algn="just"/>
            <a:endParaRPr lang="es-ES" b="1" dirty="0"/>
          </a:p>
          <a:p>
            <a:pPr algn="just"/>
            <a:r>
              <a:rPr lang="es-ES" b="1" dirty="0" err="1"/>
              <a:t>Checksum</a:t>
            </a:r>
            <a:r>
              <a:rPr lang="es-ES" b="1" dirty="0"/>
              <a:t> (Verificación)</a:t>
            </a:r>
          </a:p>
          <a:p>
            <a:pPr marL="0" indent="0" algn="just">
              <a:buNone/>
            </a:pPr>
            <a:r>
              <a:rPr lang="es-ES" b="1" dirty="0"/>
              <a:t>  </a:t>
            </a:r>
          </a:p>
          <a:p>
            <a:pPr marL="0" indent="0" algn="just">
              <a:buNone/>
            </a:pPr>
            <a:r>
              <a:rPr lang="es-ES" b="1" dirty="0"/>
              <a:t>Para verificar la suma de comprobación de la capa de Red deben seguirse los siguientes pasos de acuerdo al RFC 791:</a:t>
            </a:r>
          </a:p>
          <a:p>
            <a:pPr marL="361950" indent="-361950" algn="just">
              <a:buNone/>
            </a:pPr>
            <a:r>
              <a:rPr lang="es-ES" b="1" dirty="0"/>
              <a:t>  + Ordenar los datos en palabras de 16 bits. (solo los bits correspondientes al encabezado IP).</a:t>
            </a:r>
          </a:p>
          <a:p>
            <a:pPr marL="361950" indent="-361950" algn="just">
              <a:buNone/>
            </a:pPr>
            <a:r>
              <a:rPr lang="es-ES" b="1" dirty="0"/>
              <a:t>  + Sumar (considerando los acarreos).</a:t>
            </a:r>
          </a:p>
          <a:p>
            <a:pPr marL="361950" indent="-361950" algn="just">
              <a:buNone/>
            </a:pPr>
            <a:r>
              <a:rPr lang="es-ES" b="1" dirty="0"/>
              <a:t>  + Sumar cualquier acarreo fuera de los 16 bits.</a:t>
            </a:r>
          </a:p>
          <a:p>
            <a:pPr marL="361950" indent="-361950" algn="just">
              <a:buNone/>
            </a:pPr>
            <a:r>
              <a:rPr lang="es-ES" b="1" dirty="0"/>
              <a:t>  + Complementar a 1 el resultado.</a:t>
            </a:r>
          </a:p>
          <a:p>
            <a:pPr marL="361950" indent="-361950" algn="just">
              <a:buNone/>
            </a:pPr>
            <a:r>
              <a:rPr lang="es-ES" b="1" dirty="0"/>
              <a:t>  + Si el resultado es igual a cero, la suma de comprobación es correcta, en otro caso es incorrecta.</a:t>
            </a:r>
          </a:p>
          <a:p>
            <a:pPr marL="0" indent="0" algn="just">
              <a:buNone/>
            </a:pPr>
            <a:r>
              <a:rPr lang="es-ES" b="1" dirty="0"/>
              <a:t> </a:t>
            </a:r>
          </a:p>
          <a:p>
            <a:pPr marL="0" indent="0" algn="just">
              <a:buNone/>
            </a:pPr>
            <a:endParaRPr lang="es-ES" b="1" dirty="0"/>
          </a:p>
        </p:txBody>
      </p:sp>
      <p:sp>
        <p:nvSpPr>
          <p:cNvPr id="5" name="CuadroTexto 4"/>
          <p:cNvSpPr txBox="1"/>
          <p:nvPr/>
        </p:nvSpPr>
        <p:spPr>
          <a:xfrm>
            <a:off x="1277264" y="6581001"/>
            <a:ext cx="88312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 </a:t>
            </a:r>
            <a:r>
              <a:rPr lang="es-ES" sz="1200" dirty="0" err="1"/>
              <a:t>Plummer</a:t>
            </a:r>
            <a:r>
              <a:rPr lang="es-ES" sz="1200" dirty="0"/>
              <a:t>, W. (1978). TCP </a:t>
            </a:r>
            <a:r>
              <a:rPr lang="es-ES" sz="1200" dirty="0" err="1"/>
              <a:t>Checksum</a:t>
            </a:r>
            <a:r>
              <a:rPr lang="es-ES" sz="1200" dirty="0"/>
              <a:t> </a:t>
            </a:r>
            <a:r>
              <a:rPr lang="es-ES" sz="1200" dirty="0" err="1"/>
              <a:t>Function</a:t>
            </a:r>
            <a:r>
              <a:rPr lang="es-ES" sz="1200" dirty="0"/>
              <a:t> </a:t>
            </a:r>
            <a:r>
              <a:rPr lang="es-ES" sz="1200" dirty="0" err="1"/>
              <a:t>Design</a:t>
            </a:r>
            <a:r>
              <a:rPr lang="es-ES" sz="1200" dirty="0"/>
              <a:t>. IEN 45 en RFC1071. Computing </a:t>
            </a:r>
            <a:r>
              <a:rPr lang="es-ES" sz="1200" dirty="0" err="1"/>
              <a:t>the</a:t>
            </a:r>
            <a:r>
              <a:rPr lang="es-ES" sz="1200" dirty="0"/>
              <a:t> Internet </a:t>
            </a:r>
            <a:r>
              <a:rPr lang="es-ES" sz="1200" dirty="0" err="1"/>
              <a:t>Checksum</a:t>
            </a:r>
            <a:r>
              <a:rPr lang="es-ES" sz="1200"/>
              <a:t>.</a:t>
            </a:r>
            <a:endParaRPr lang="es-MX" sz="1200" dirty="0"/>
          </a:p>
        </p:txBody>
      </p:sp>
      <p:sp>
        <p:nvSpPr>
          <p:cNvPr id="4" name="CuadroTexto 3"/>
          <p:cNvSpPr txBox="1"/>
          <p:nvPr/>
        </p:nvSpPr>
        <p:spPr>
          <a:xfrm>
            <a:off x="4760590" y="6153834"/>
            <a:ext cx="71561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Imagen:</a:t>
            </a:r>
            <a:r>
              <a:rPr lang="es-MX" sz="1200" dirty="0">
                <a:hlinkClick r:id="rId2"/>
              </a:rPr>
              <a:t>https://www.jcomautomation.ca/frame-prioritization-within-ethernet-ip-and-profinet/</a:t>
            </a:r>
            <a:endParaRPr lang="es-MX" sz="1200" dirty="0"/>
          </a:p>
        </p:txBody>
      </p:sp>
    </p:spTree>
    <p:extLst>
      <p:ext uri="{BB962C8B-B14F-4D97-AF65-F5344CB8AC3E}">
        <p14:creationId xmlns:p14="http://schemas.microsoft.com/office/powerpoint/2010/main" val="128194677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458454" y="131051"/>
            <a:ext cx="8911687" cy="1280890"/>
          </a:xfrm>
        </p:spPr>
        <p:txBody>
          <a:bodyPr/>
          <a:lstStyle/>
          <a:p>
            <a:r>
              <a:rPr lang="es-ES" dirty="0"/>
              <a:t>Control de error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421827" y="800147"/>
            <a:ext cx="5492470" cy="5965481"/>
          </a:xfrm>
        </p:spPr>
        <p:txBody>
          <a:bodyPr>
            <a:normAutofit/>
          </a:bodyPr>
          <a:lstStyle/>
          <a:p>
            <a:r>
              <a:rPr lang="es-ES" dirty="0"/>
              <a:t>Ej. Dada la sig. trama calcular el </a:t>
            </a:r>
            <a:r>
              <a:rPr lang="es-ES" dirty="0" err="1"/>
              <a:t>checksum</a:t>
            </a:r>
            <a:endParaRPr lang="es-ES" dirty="0"/>
          </a:p>
          <a:p>
            <a:pPr marL="0" indent="0" algn="just">
              <a:buNone/>
            </a:pPr>
            <a:r>
              <a:rPr lang="es-ES" b="1" dirty="0"/>
              <a:t>E4 26 86 84 96 d2 80 2b f9 </a:t>
            </a:r>
            <a:r>
              <a:rPr lang="es-ES" b="1" dirty="0" err="1"/>
              <a:t>af</a:t>
            </a:r>
            <a:r>
              <a:rPr lang="es-ES" b="1" dirty="0"/>
              <a:t> 12 2d 08 00 45 00</a:t>
            </a:r>
          </a:p>
          <a:p>
            <a:pPr marL="0" indent="0" algn="just">
              <a:buNone/>
            </a:pPr>
            <a:r>
              <a:rPr lang="es-ES" b="1" dirty="0"/>
              <a:t>01 e2 d7 db 40 00 80 06 </a:t>
            </a:r>
            <a:r>
              <a:rPr lang="es-ES" b="1" u="sng" dirty="0"/>
              <a:t>8f</a:t>
            </a:r>
            <a:r>
              <a:rPr lang="es-ES" b="1" dirty="0"/>
              <a:t> </a:t>
            </a:r>
            <a:r>
              <a:rPr lang="es-ES" b="1" u="sng" dirty="0"/>
              <a:t>a5</a:t>
            </a:r>
            <a:r>
              <a:rPr lang="es-ES" b="1" dirty="0"/>
              <a:t> c0 a8 01 43 94 cc</a:t>
            </a:r>
          </a:p>
          <a:p>
            <a:pPr marL="0" indent="0" algn="just">
              <a:buNone/>
            </a:pPr>
            <a:r>
              <a:rPr lang="es-ES" b="1" dirty="0"/>
              <a:t>3a dd c3 d4 00 50 0c cc a1 da 08 </a:t>
            </a:r>
            <a:r>
              <a:rPr lang="es-ES" b="1" dirty="0" err="1"/>
              <a:t>fb</a:t>
            </a:r>
            <a:r>
              <a:rPr lang="es-ES" b="1" dirty="0"/>
              <a:t> 7d 8c 50 18</a:t>
            </a:r>
          </a:p>
          <a:p>
            <a:pPr marL="0" indent="0" algn="just">
              <a:buNone/>
            </a:pPr>
            <a:r>
              <a:rPr lang="es-ES" b="1" dirty="0"/>
              <a:t>02 01 88 94 00 00 47 45 54 20 2f 61 78 65 6c 2f</a:t>
            </a:r>
          </a:p>
          <a:p>
            <a:pPr marL="0" indent="0" algn="just">
              <a:buNone/>
            </a:pPr>
            <a:r>
              <a:rPr lang="es-ES" b="1" dirty="0"/>
              <a:t>72 65 64 65 73 6e 70 2f 73 6e 69 66 66 65 72 20</a:t>
            </a:r>
          </a:p>
          <a:p>
            <a:pPr marL="0" indent="0" algn="just">
              <a:buNone/>
            </a:pPr>
            <a:r>
              <a:rPr lang="es-ES" b="1" dirty="0"/>
              <a:t>48 54 54 50 2f 31 2e 31 0d 0a 48 6f 73 74 3a 20</a:t>
            </a:r>
          </a:p>
          <a:p>
            <a:pPr marL="0" indent="0" algn="just">
              <a:buNone/>
            </a:pPr>
            <a:r>
              <a:rPr lang="es-ES" b="1" dirty="0"/>
              <a:t>31 34 38 2e 32 30 34 2e 35 38 2e 32 32 31 0d 0a</a:t>
            </a:r>
          </a:p>
          <a:p>
            <a:pPr marL="0" indent="0" algn="just">
              <a:buNone/>
            </a:pPr>
            <a:r>
              <a:rPr lang="es-ES" b="1" dirty="0"/>
              <a:t>43 6f 6e </a:t>
            </a:r>
            <a:r>
              <a:rPr lang="es-ES" b="1" dirty="0" err="1"/>
              <a:t>6e</a:t>
            </a:r>
            <a:r>
              <a:rPr lang="es-ES" b="1" dirty="0"/>
              <a:t> 65 63 74 69 6f 6e 3a 20 6b 65 65 70</a:t>
            </a:r>
          </a:p>
          <a:p>
            <a:pPr marL="0" indent="0" algn="just">
              <a:buNone/>
            </a:pPr>
            <a:r>
              <a:rPr lang="es-ES" b="1" dirty="0"/>
              <a:t>2d 61 6c 69 76 65 0d 0a 55 70 67 72 61 64 65 2d</a:t>
            </a:r>
          </a:p>
          <a:p>
            <a:pPr marL="0" indent="0" algn="just">
              <a:buNone/>
            </a:pPr>
            <a:r>
              <a:rPr lang="es-ES" b="1" dirty="0"/>
              <a:t>49 6e 73 65 63 75 72 65 2d 52 65 71 75 65 73 74</a:t>
            </a:r>
          </a:p>
          <a:p>
            <a:pPr marL="0" indent="0" algn="just">
              <a:buNone/>
            </a:pPr>
            <a:r>
              <a:rPr lang="es-ES" b="1" dirty="0"/>
              <a:t>73 3a 20 31 0d 0a 55 73 65 72 2d 41 67 65 6e 74</a:t>
            </a:r>
          </a:p>
          <a:p>
            <a:pPr marL="0" indent="0">
              <a:buNone/>
            </a:pPr>
            <a:r>
              <a:rPr lang="es-ES" dirty="0"/>
              <a:t>……</a:t>
            </a:r>
          </a:p>
        </p:txBody>
      </p:sp>
      <p:cxnSp>
        <p:nvCxnSpPr>
          <p:cNvPr id="10" name="Conector recto 9"/>
          <p:cNvCxnSpPr/>
          <p:nvPr/>
        </p:nvCxnSpPr>
        <p:spPr>
          <a:xfrm flipV="1">
            <a:off x="1529540" y="1524000"/>
            <a:ext cx="1837775" cy="425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/>
          <p:cNvCxnSpPr/>
          <p:nvPr/>
        </p:nvCxnSpPr>
        <p:spPr>
          <a:xfrm flipV="1">
            <a:off x="3438172" y="1516745"/>
            <a:ext cx="1837775" cy="425"/>
          </a:xfrm>
          <a:prstGeom prst="line">
            <a:avLst/>
          </a:prstGeom>
          <a:ln w="222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/>
          <p:cNvCxnSpPr/>
          <p:nvPr/>
        </p:nvCxnSpPr>
        <p:spPr>
          <a:xfrm>
            <a:off x="5334003" y="1524000"/>
            <a:ext cx="544282" cy="0"/>
          </a:xfrm>
          <a:prstGeom prst="line">
            <a:avLst/>
          </a:prstGeom>
          <a:ln w="2222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/>
          <p:cNvCxnSpPr/>
          <p:nvPr/>
        </p:nvCxnSpPr>
        <p:spPr>
          <a:xfrm>
            <a:off x="5985383" y="1520374"/>
            <a:ext cx="517017" cy="3626"/>
          </a:xfrm>
          <a:prstGeom prst="line">
            <a:avLst/>
          </a:prstGeom>
          <a:ln w="22225">
            <a:solidFill>
              <a:srgbClr val="FE71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/>
          <p:cNvCxnSpPr/>
          <p:nvPr/>
        </p:nvCxnSpPr>
        <p:spPr>
          <a:xfrm>
            <a:off x="1494399" y="1936726"/>
            <a:ext cx="5226628" cy="32654"/>
          </a:xfrm>
          <a:prstGeom prst="line">
            <a:avLst/>
          </a:prstGeom>
          <a:ln w="22225">
            <a:solidFill>
              <a:srgbClr val="FE71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/>
          <p:cNvCxnSpPr/>
          <p:nvPr/>
        </p:nvCxnSpPr>
        <p:spPr>
          <a:xfrm>
            <a:off x="1529540" y="2306334"/>
            <a:ext cx="633089" cy="1"/>
          </a:xfrm>
          <a:prstGeom prst="line">
            <a:avLst/>
          </a:prstGeom>
          <a:ln w="22225">
            <a:solidFill>
              <a:srgbClr val="FE71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/>
          <p:cNvCxnSpPr/>
          <p:nvPr/>
        </p:nvCxnSpPr>
        <p:spPr>
          <a:xfrm flipV="1">
            <a:off x="2241883" y="2306334"/>
            <a:ext cx="4479144" cy="508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/>
          <p:cNvCxnSpPr/>
          <p:nvPr/>
        </p:nvCxnSpPr>
        <p:spPr>
          <a:xfrm>
            <a:off x="1494399" y="2727756"/>
            <a:ext cx="1872916" cy="931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uadroTexto 17"/>
          <p:cNvSpPr txBox="1"/>
          <p:nvPr/>
        </p:nvSpPr>
        <p:spPr>
          <a:xfrm>
            <a:off x="7284464" y="771496"/>
            <a:ext cx="46317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Sumamos los bytes correspondientes al encabezado  IP tomando de 2 bytes en 2 bytes</a:t>
            </a:r>
            <a:endParaRPr lang="es-MX" sz="1200" dirty="0"/>
          </a:p>
        </p:txBody>
      </p:sp>
      <p:sp>
        <p:nvSpPr>
          <p:cNvPr id="4" name="CuadroTexto 3"/>
          <p:cNvSpPr txBox="1"/>
          <p:nvPr/>
        </p:nvSpPr>
        <p:spPr>
          <a:xfrm>
            <a:off x="8200571" y="1969380"/>
            <a:ext cx="85151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45  00</a:t>
            </a:r>
          </a:p>
          <a:p>
            <a:r>
              <a:rPr lang="es-ES" dirty="0"/>
              <a:t>01  e2</a:t>
            </a:r>
          </a:p>
          <a:p>
            <a:r>
              <a:rPr lang="es-ES" dirty="0"/>
              <a:t>d7 db</a:t>
            </a:r>
          </a:p>
          <a:p>
            <a:r>
              <a:rPr lang="es-ES" dirty="0"/>
              <a:t>40  00</a:t>
            </a:r>
          </a:p>
          <a:p>
            <a:r>
              <a:rPr lang="es-ES" dirty="0"/>
              <a:t>80  06</a:t>
            </a:r>
          </a:p>
          <a:p>
            <a:r>
              <a:rPr lang="es-ES" dirty="0"/>
              <a:t>de c3</a:t>
            </a:r>
          </a:p>
          <a:p>
            <a:r>
              <a:rPr lang="es-ES" dirty="0"/>
              <a:t>+      1</a:t>
            </a:r>
          </a:p>
          <a:p>
            <a:r>
              <a:rPr lang="es-ES" dirty="0"/>
              <a:t>de c4</a:t>
            </a:r>
            <a:endParaRPr lang="es-MX" dirty="0"/>
          </a:p>
        </p:txBody>
      </p:sp>
      <p:sp>
        <p:nvSpPr>
          <p:cNvPr id="5" name="CuadroTexto 4"/>
          <p:cNvSpPr txBox="1"/>
          <p:nvPr/>
        </p:nvSpPr>
        <p:spPr>
          <a:xfrm>
            <a:off x="11148070" y="2052386"/>
            <a:ext cx="70403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dirty="0">
                <a:solidFill>
                  <a:srgbClr val="FF0000"/>
                </a:solidFill>
              </a:rPr>
              <a:t>A=10</a:t>
            </a:r>
          </a:p>
          <a:p>
            <a:r>
              <a:rPr lang="es-ES" sz="1600" dirty="0">
                <a:solidFill>
                  <a:srgbClr val="FF0000"/>
                </a:solidFill>
              </a:rPr>
              <a:t>B=11</a:t>
            </a:r>
          </a:p>
          <a:p>
            <a:r>
              <a:rPr lang="es-ES" sz="1600" dirty="0">
                <a:solidFill>
                  <a:srgbClr val="FF0000"/>
                </a:solidFill>
              </a:rPr>
              <a:t>C=12</a:t>
            </a:r>
          </a:p>
          <a:p>
            <a:r>
              <a:rPr lang="es-ES" sz="1600" dirty="0">
                <a:solidFill>
                  <a:srgbClr val="FF0000"/>
                </a:solidFill>
              </a:rPr>
              <a:t>D=13</a:t>
            </a:r>
          </a:p>
          <a:p>
            <a:r>
              <a:rPr lang="es-ES" sz="1600" dirty="0">
                <a:solidFill>
                  <a:srgbClr val="FF0000"/>
                </a:solidFill>
              </a:rPr>
              <a:t>E=14</a:t>
            </a:r>
          </a:p>
          <a:p>
            <a:r>
              <a:rPr lang="es-ES" sz="1600" dirty="0">
                <a:solidFill>
                  <a:srgbClr val="FF0000"/>
                </a:solidFill>
              </a:rPr>
              <a:t>F=15</a:t>
            </a:r>
            <a:endParaRPr lang="es-MX" sz="1600" dirty="0">
              <a:solidFill>
                <a:srgbClr val="FF0000"/>
              </a:solidFill>
            </a:endParaRPr>
          </a:p>
        </p:txBody>
      </p:sp>
      <p:cxnSp>
        <p:nvCxnSpPr>
          <p:cNvPr id="19" name="Conector recto 18"/>
          <p:cNvCxnSpPr/>
          <p:nvPr/>
        </p:nvCxnSpPr>
        <p:spPr>
          <a:xfrm flipV="1">
            <a:off x="8055429" y="3411175"/>
            <a:ext cx="1113939" cy="325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/>
          <p:cNvSpPr txBox="1"/>
          <p:nvPr/>
        </p:nvSpPr>
        <p:spPr>
          <a:xfrm>
            <a:off x="7736114" y="3033486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+</a:t>
            </a:r>
            <a:endParaRPr lang="es-MX" b="1" dirty="0"/>
          </a:p>
        </p:txBody>
      </p:sp>
      <p:sp>
        <p:nvSpPr>
          <p:cNvPr id="9" name="CuadroTexto 8"/>
          <p:cNvSpPr txBox="1"/>
          <p:nvPr/>
        </p:nvSpPr>
        <p:spPr>
          <a:xfrm>
            <a:off x="6980170" y="5341257"/>
            <a:ext cx="6543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         1</a:t>
            </a:r>
          </a:p>
          <a:p>
            <a:r>
              <a:rPr lang="es-ES" sz="1200" dirty="0"/>
              <a:t>16   19</a:t>
            </a:r>
          </a:p>
          <a:p>
            <a:r>
              <a:rPr lang="es-ES" sz="1200" dirty="0"/>
              <a:t>         3</a:t>
            </a:r>
            <a:endParaRPr lang="es-MX" sz="1200" dirty="0"/>
          </a:p>
        </p:txBody>
      </p:sp>
      <p:cxnSp>
        <p:nvCxnSpPr>
          <p:cNvPr id="13" name="Conector recto 12"/>
          <p:cNvCxnSpPr/>
          <p:nvPr/>
        </p:nvCxnSpPr>
        <p:spPr>
          <a:xfrm>
            <a:off x="7307343" y="5544457"/>
            <a:ext cx="289134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/>
          <p:cNvCxnSpPr/>
          <p:nvPr/>
        </p:nvCxnSpPr>
        <p:spPr>
          <a:xfrm>
            <a:off x="7307343" y="5544457"/>
            <a:ext cx="0" cy="1199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/>
          <p:cNvSpPr txBox="1"/>
          <p:nvPr/>
        </p:nvSpPr>
        <p:spPr>
          <a:xfrm>
            <a:off x="8002212" y="1741715"/>
            <a:ext cx="8739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>
                <a:solidFill>
                  <a:srgbClr val="FF0000"/>
                </a:solidFill>
              </a:rPr>
              <a:t>        1    1</a:t>
            </a:r>
            <a:endParaRPr lang="es-MX" sz="1200" dirty="0">
              <a:solidFill>
                <a:srgbClr val="FF0000"/>
              </a:solidFill>
            </a:endParaRPr>
          </a:p>
        </p:txBody>
      </p:sp>
      <p:sp>
        <p:nvSpPr>
          <p:cNvPr id="29" name="CuadroTexto 28"/>
          <p:cNvSpPr txBox="1"/>
          <p:nvPr/>
        </p:nvSpPr>
        <p:spPr>
          <a:xfrm>
            <a:off x="7634516" y="5301699"/>
            <a:ext cx="7008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         1</a:t>
            </a:r>
          </a:p>
          <a:p>
            <a:r>
              <a:rPr lang="es-ES" sz="1200" dirty="0"/>
              <a:t>16   28</a:t>
            </a:r>
          </a:p>
          <a:p>
            <a:r>
              <a:rPr lang="es-ES" sz="1200" dirty="0"/>
              <a:t>        12</a:t>
            </a:r>
            <a:endParaRPr lang="es-MX" sz="1200" dirty="0"/>
          </a:p>
        </p:txBody>
      </p:sp>
      <p:cxnSp>
        <p:nvCxnSpPr>
          <p:cNvPr id="30" name="Conector recto 29"/>
          <p:cNvCxnSpPr/>
          <p:nvPr/>
        </p:nvCxnSpPr>
        <p:spPr>
          <a:xfrm>
            <a:off x="7961689" y="5504899"/>
            <a:ext cx="289134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/>
          <p:cNvCxnSpPr/>
          <p:nvPr/>
        </p:nvCxnSpPr>
        <p:spPr>
          <a:xfrm>
            <a:off x="7961689" y="5504899"/>
            <a:ext cx="0" cy="1199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uadroTexto 31"/>
          <p:cNvSpPr txBox="1"/>
          <p:nvPr/>
        </p:nvSpPr>
        <p:spPr>
          <a:xfrm>
            <a:off x="8366937" y="5301698"/>
            <a:ext cx="7008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         1</a:t>
            </a:r>
          </a:p>
          <a:p>
            <a:r>
              <a:rPr lang="es-ES" sz="1200" dirty="0"/>
              <a:t>16   29</a:t>
            </a:r>
          </a:p>
          <a:p>
            <a:r>
              <a:rPr lang="es-ES" sz="1200" dirty="0"/>
              <a:t>        13</a:t>
            </a:r>
            <a:endParaRPr lang="es-MX" sz="1200" dirty="0"/>
          </a:p>
        </p:txBody>
      </p:sp>
      <p:cxnSp>
        <p:nvCxnSpPr>
          <p:cNvPr id="33" name="Conector recto 32"/>
          <p:cNvCxnSpPr/>
          <p:nvPr/>
        </p:nvCxnSpPr>
        <p:spPr>
          <a:xfrm>
            <a:off x="8694110" y="5504898"/>
            <a:ext cx="289134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/>
          <p:cNvCxnSpPr/>
          <p:nvPr/>
        </p:nvCxnSpPr>
        <p:spPr>
          <a:xfrm>
            <a:off x="8694110" y="5504898"/>
            <a:ext cx="0" cy="1199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uadroTexto 34"/>
          <p:cNvSpPr txBox="1"/>
          <p:nvPr/>
        </p:nvSpPr>
        <p:spPr>
          <a:xfrm>
            <a:off x="9864366" y="1998169"/>
            <a:ext cx="1944763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 de  c4</a:t>
            </a:r>
          </a:p>
          <a:p>
            <a:r>
              <a:rPr lang="es-ES" dirty="0"/>
              <a:t> 8f    a5</a:t>
            </a:r>
          </a:p>
          <a:p>
            <a:r>
              <a:rPr lang="es-ES" dirty="0"/>
              <a:t> c0  a8</a:t>
            </a:r>
          </a:p>
          <a:p>
            <a:r>
              <a:rPr lang="es-ES" dirty="0"/>
              <a:t> 01  43</a:t>
            </a:r>
          </a:p>
          <a:p>
            <a:r>
              <a:rPr lang="es-ES" dirty="0"/>
              <a:t> 94  cc</a:t>
            </a:r>
          </a:p>
          <a:p>
            <a:r>
              <a:rPr lang="es-ES" dirty="0"/>
              <a:t> 3a  dd</a:t>
            </a:r>
          </a:p>
          <a:p>
            <a:r>
              <a:rPr lang="es-ES" dirty="0"/>
              <a:t> f </a:t>
            </a:r>
            <a:r>
              <a:rPr lang="es-ES" dirty="0" err="1"/>
              <a:t>f</a:t>
            </a:r>
            <a:r>
              <a:rPr lang="es-ES" dirty="0"/>
              <a:t>   </a:t>
            </a:r>
            <a:r>
              <a:rPr lang="es-ES" dirty="0" err="1"/>
              <a:t>f</a:t>
            </a:r>
            <a:r>
              <a:rPr lang="es-ES" dirty="0"/>
              <a:t> d</a:t>
            </a:r>
          </a:p>
          <a:p>
            <a:r>
              <a:rPr lang="es-ES" dirty="0"/>
              <a:t>+       2</a:t>
            </a:r>
          </a:p>
          <a:p>
            <a:r>
              <a:rPr lang="es-ES" dirty="0"/>
              <a:t>(f </a:t>
            </a:r>
            <a:r>
              <a:rPr lang="es-ES" dirty="0" err="1"/>
              <a:t>f</a:t>
            </a:r>
            <a:r>
              <a:rPr lang="es-ES" dirty="0"/>
              <a:t>   </a:t>
            </a:r>
            <a:r>
              <a:rPr lang="es-ES" dirty="0" err="1"/>
              <a:t>f</a:t>
            </a:r>
            <a:r>
              <a:rPr lang="es-ES" dirty="0"/>
              <a:t> f)</a:t>
            </a:r>
            <a:r>
              <a:rPr lang="es-ES" baseline="30000" dirty="0"/>
              <a:t>-1</a:t>
            </a:r>
            <a:r>
              <a:rPr lang="es-ES" dirty="0"/>
              <a:t> = 00 00</a:t>
            </a:r>
            <a:endParaRPr lang="es-MX" baseline="30000" dirty="0"/>
          </a:p>
        </p:txBody>
      </p:sp>
      <p:cxnSp>
        <p:nvCxnSpPr>
          <p:cNvPr id="36" name="Conector recto 35"/>
          <p:cNvCxnSpPr/>
          <p:nvPr/>
        </p:nvCxnSpPr>
        <p:spPr>
          <a:xfrm>
            <a:off x="9718978" y="3701018"/>
            <a:ext cx="107459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uadroTexto 36"/>
          <p:cNvSpPr txBox="1"/>
          <p:nvPr/>
        </p:nvSpPr>
        <p:spPr>
          <a:xfrm>
            <a:off x="9588167" y="2645418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+</a:t>
            </a:r>
            <a:endParaRPr lang="es-MX" b="1" dirty="0"/>
          </a:p>
        </p:txBody>
      </p:sp>
      <p:sp>
        <p:nvSpPr>
          <p:cNvPr id="38" name="CuadroTexto 37"/>
          <p:cNvSpPr txBox="1"/>
          <p:nvPr/>
        </p:nvSpPr>
        <p:spPr>
          <a:xfrm>
            <a:off x="9666007" y="1770504"/>
            <a:ext cx="10021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>
                <a:solidFill>
                  <a:srgbClr val="FF0000"/>
                </a:solidFill>
              </a:rPr>
              <a:t>        2 3    2</a:t>
            </a:r>
            <a:endParaRPr lang="es-MX" sz="1200" dirty="0">
              <a:solidFill>
                <a:srgbClr val="FF0000"/>
              </a:solidFill>
            </a:endParaRPr>
          </a:p>
        </p:txBody>
      </p:sp>
      <p:cxnSp>
        <p:nvCxnSpPr>
          <p:cNvPr id="44" name="Conector recto 43"/>
          <p:cNvCxnSpPr/>
          <p:nvPr/>
        </p:nvCxnSpPr>
        <p:spPr>
          <a:xfrm>
            <a:off x="9740750" y="4232924"/>
            <a:ext cx="107459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44"/>
          <p:cNvCxnSpPr/>
          <p:nvPr/>
        </p:nvCxnSpPr>
        <p:spPr>
          <a:xfrm>
            <a:off x="8086126" y="3948618"/>
            <a:ext cx="107459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uadroTexto 45"/>
          <p:cNvSpPr txBox="1"/>
          <p:nvPr/>
        </p:nvSpPr>
        <p:spPr>
          <a:xfrm>
            <a:off x="9491140" y="5152571"/>
            <a:ext cx="6591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         2</a:t>
            </a:r>
          </a:p>
          <a:p>
            <a:r>
              <a:rPr lang="es-ES" sz="1200" dirty="0"/>
              <a:t>16   47</a:t>
            </a:r>
          </a:p>
          <a:p>
            <a:r>
              <a:rPr lang="es-ES" sz="1200" dirty="0"/>
              <a:t>       15</a:t>
            </a:r>
            <a:endParaRPr lang="es-MX" sz="1200" dirty="0"/>
          </a:p>
        </p:txBody>
      </p:sp>
      <p:cxnSp>
        <p:nvCxnSpPr>
          <p:cNvPr id="47" name="Conector recto 46"/>
          <p:cNvCxnSpPr/>
          <p:nvPr/>
        </p:nvCxnSpPr>
        <p:spPr>
          <a:xfrm>
            <a:off x="9818313" y="5355771"/>
            <a:ext cx="289134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47"/>
          <p:cNvCxnSpPr/>
          <p:nvPr/>
        </p:nvCxnSpPr>
        <p:spPr>
          <a:xfrm>
            <a:off x="9818313" y="5355771"/>
            <a:ext cx="0" cy="1199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CuadroTexto 48"/>
          <p:cNvSpPr txBox="1"/>
          <p:nvPr/>
        </p:nvSpPr>
        <p:spPr>
          <a:xfrm>
            <a:off x="10145486" y="5113013"/>
            <a:ext cx="6591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         3</a:t>
            </a:r>
          </a:p>
          <a:p>
            <a:r>
              <a:rPr lang="es-ES" sz="1200" dirty="0"/>
              <a:t>16   63</a:t>
            </a:r>
          </a:p>
          <a:p>
            <a:r>
              <a:rPr lang="es-ES" sz="1200" dirty="0"/>
              <a:t>       15</a:t>
            </a:r>
            <a:endParaRPr lang="es-MX" sz="1200" dirty="0"/>
          </a:p>
        </p:txBody>
      </p:sp>
      <p:cxnSp>
        <p:nvCxnSpPr>
          <p:cNvPr id="50" name="Conector recto 49"/>
          <p:cNvCxnSpPr/>
          <p:nvPr/>
        </p:nvCxnSpPr>
        <p:spPr>
          <a:xfrm>
            <a:off x="10472659" y="5316213"/>
            <a:ext cx="289134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50"/>
          <p:cNvCxnSpPr/>
          <p:nvPr/>
        </p:nvCxnSpPr>
        <p:spPr>
          <a:xfrm>
            <a:off x="10472659" y="5316213"/>
            <a:ext cx="0" cy="1199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CuadroTexto 51"/>
          <p:cNvSpPr txBox="1"/>
          <p:nvPr/>
        </p:nvSpPr>
        <p:spPr>
          <a:xfrm>
            <a:off x="10877907" y="5113012"/>
            <a:ext cx="6591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         2</a:t>
            </a:r>
          </a:p>
          <a:p>
            <a:r>
              <a:rPr lang="es-ES" sz="1200" dirty="0"/>
              <a:t>16   45</a:t>
            </a:r>
          </a:p>
          <a:p>
            <a:r>
              <a:rPr lang="es-ES" sz="1200" dirty="0"/>
              <a:t>       13</a:t>
            </a:r>
            <a:endParaRPr lang="es-MX" sz="1200" dirty="0"/>
          </a:p>
        </p:txBody>
      </p:sp>
      <p:cxnSp>
        <p:nvCxnSpPr>
          <p:cNvPr id="53" name="Conector recto 52"/>
          <p:cNvCxnSpPr/>
          <p:nvPr/>
        </p:nvCxnSpPr>
        <p:spPr>
          <a:xfrm>
            <a:off x="11205080" y="5316212"/>
            <a:ext cx="289134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53"/>
          <p:cNvCxnSpPr/>
          <p:nvPr/>
        </p:nvCxnSpPr>
        <p:spPr>
          <a:xfrm>
            <a:off x="11205080" y="5316212"/>
            <a:ext cx="0" cy="1199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CuadroTexto 55"/>
          <p:cNvSpPr txBox="1"/>
          <p:nvPr/>
        </p:nvSpPr>
        <p:spPr>
          <a:xfrm>
            <a:off x="10841621" y="5947582"/>
            <a:ext cx="6591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         2</a:t>
            </a:r>
          </a:p>
          <a:p>
            <a:r>
              <a:rPr lang="es-ES" sz="1200" dirty="0"/>
              <a:t>16   39</a:t>
            </a:r>
          </a:p>
          <a:p>
            <a:r>
              <a:rPr lang="es-ES" sz="1200" dirty="0"/>
              <a:t>         7</a:t>
            </a:r>
            <a:endParaRPr lang="es-MX" sz="1200" dirty="0"/>
          </a:p>
        </p:txBody>
      </p:sp>
      <p:cxnSp>
        <p:nvCxnSpPr>
          <p:cNvPr id="57" name="Conector recto 56"/>
          <p:cNvCxnSpPr/>
          <p:nvPr/>
        </p:nvCxnSpPr>
        <p:spPr>
          <a:xfrm>
            <a:off x="11168794" y="6150782"/>
            <a:ext cx="289134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57"/>
          <p:cNvCxnSpPr/>
          <p:nvPr/>
        </p:nvCxnSpPr>
        <p:spPr>
          <a:xfrm>
            <a:off x="11168794" y="6150782"/>
            <a:ext cx="0" cy="1199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299738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458454" y="131051"/>
            <a:ext cx="8911687" cy="1280890"/>
          </a:xfrm>
        </p:spPr>
        <p:txBody>
          <a:bodyPr/>
          <a:lstStyle/>
          <a:p>
            <a:r>
              <a:rPr lang="es-ES" dirty="0"/>
              <a:t>Control de error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903411" y="798389"/>
            <a:ext cx="9687953" cy="5965481"/>
          </a:xfrm>
        </p:spPr>
        <p:txBody>
          <a:bodyPr>
            <a:normAutofit/>
          </a:bodyPr>
          <a:lstStyle/>
          <a:p>
            <a:r>
              <a:rPr lang="es-ES" dirty="0"/>
              <a:t>Ejercicio. Dada la sig. trama, verificar si el </a:t>
            </a:r>
            <a:r>
              <a:rPr lang="es-ES" dirty="0" err="1"/>
              <a:t>checksum</a:t>
            </a:r>
            <a:r>
              <a:rPr lang="es-ES" dirty="0"/>
              <a:t> de la capa de red es correcto, de no ser así, decir cual es el valor correcto.</a:t>
            </a:r>
          </a:p>
          <a:p>
            <a:pPr marL="0" indent="0">
              <a:buNone/>
            </a:pPr>
            <a:endParaRPr lang="es-ES" dirty="0"/>
          </a:p>
          <a:p>
            <a:pPr marL="0" indent="0" algn="just">
              <a:buNone/>
            </a:pPr>
            <a:r>
              <a:rPr lang="es-ES" b="1" dirty="0"/>
              <a:t>e4 26 86 84 96 d2 80 2b f9 </a:t>
            </a:r>
            <a:r>
              <a:rPr lang="es-ES" b="1" dirty="0" err="1"/>
              <a:t>af</a:t>
            </a:r>
            <a:r>
              <a:rPr lang="es-ES" b="1" dirty="0"/>
              <a:t> 12 2d 08 00 45 00</a:t>
            </a:r>
          </a:p>
          <a:p>
            <a:pPr marL="0" indent="0" algn="just">
              <a:buNone/>
            </a:pPr>
            <a:r>
              <a:rPr lang="es-ES" b="1" dirty="0"/>
              <a:t>01 9c d7 de 40 00 80 06 </a:t>
            </a:r>
            <a:r>
              <a:rPr lang="es-ES" b="1" u="sng" dirty="0"/>
              <a:t>88</a:t>
            </a:r>
            <a:r>
              <a:rPr lang="es-ES" b="1" dirty="0"/>
              <a:t> </a:t>
            </a:r>
            <a:r>
              <a:rPr lang="es-ES" b="1" u="sng" dirty="0"/>
              <a:t>9d</a:t>
            </a:r>
            <a:r>
              <a:rPr lang="es-ES" b="1" dirty="0"/>
              <a:t> c0 a8 01 43 94 cc</a:t>
            </a:r>
          </a:p>
          <a:p>
            <a:pPr marL="0" indent="0" algn="just">
              <a:buNone/>
            </a:pPr>
            <a:r>
              <a:rPr lang="es-ES" b="1" dirty="0"/>
              <a:t>3a dd c3 d4 00 50 0c cc a5 4f 08 </a:t>
            </a:r>
            <a:r>
              <a:rPr lang="es-ES" b="1" dirty="0" err="1"/>
              <a:t>fb</a:t>
            </a:r>
            <a:r>
              <a:rPr lang="es-ES" b="1" dirty="0"/>
              <a:t> 85 f0 50 18</a:t>
            </a:r>
          </a:p>
          <a:p>
            <a:pPr marL="0" indent="0" algn="just">
              <a:buNone/>
            </a:pPr>
            <a:r>
              <a:rPr lang="es-ES" b="1" dirty="0"/>
              <a:t>02 01 e1 98 00 00 47 45 54 20 2f 66 61 76 69 63</a:t>
            </a:r>
          </a:p>
          <a:p>
            <a:pPr marL="0" indent="0" algn="just">
              <a:buNone/>
            </a:pPr>
            <a:r>
              <a:rPr lang="es-ES" b="1" dirty="0"/>
              <a:t>6f 6e 2e 69 63 6f 20 48 54 54 50 2f 31 2e 31 0d</a:t>
            </a:r>
          </a:p>
          <a:p>
            <a:pPr marL="0" indent="0" algn="just">
              <a:buNone/>
            </a:pPr>
            <a:r>
              <a:rPr lang="es-ES" b="1" dirty="0"/>
              <a:t>0a 48 6f 73 74 3a 20 31 34 38 2e 32 30 34 2e 35</a:t>
            </a:r>
          </a:p>
          <a:p>
            <a:pPr marL="0" indent="0" algn="just">
              <a:buNone/>
            </a:pPr>
            <a:r>
              <a:rPr lang="es-ES" b="1" dirty="0"/>
              <a:t>38 2e 32 32 31 0d 0a 43 6f 6e </a:t>
            </a:r>
            <a:r>
              <a:rPr lang="es-ES" b="1" dirty="0" err="1"/>
              <a:t>6e</a:t>
            </a:r>
            <a:r>
              <a:rPr lang="es-ES" b="1" dirty="0"/>
              <a:t> 65 63 74 69 6f</a:t>
            </a:r>
          </a:p>
          <a:p>
            <a:pPr marL="0" indent="0" algn="just">
              <a:buNone/>
            </a:pPr>
            <a:r>
              <a:rPr lang="es-ES" b="1" dirty="0"/>
              <a:t>6e 3a 20 6b 65 65 70 2d 61 6c 69 76 65 0d 0a 55</a:t>
            </a:r>
          </a:p>
          <a:p>
            <a:pPr marL="0" indent="0">
              <a:buNone/>
            </a:pPr>
            <a:r>
              <a:rPr lang="es-ES" dirty="0"/>
              <a:t>……</a:t>
            </a:r>
          </a:p>
        </p:txBody>
      </p:sp>
    </p:spTree>
    <p:extLst>
      <p:ext uri="{BB962C8B-B14F-4D97-AF65-F5344CB8AC3E}">
        <p14:creationId xmlns:p14="http://schemas.microsoft.com/office/powerpoint/2010/main" val="85917150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458454" y="131051"/>
            <a:ext cx="8911687" cy="1280890"/>
          </a:xfrm>
        </p:spPr>
        <p:txBody>
          <a:bodyPr/>
          <a:lstStyle/>
          <a:p>
            <a:r>
              <a:rPr lang="es-ES" dirty="0"/>
              <a:t>Control de error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903411" y="798389"/>
            <a:ext cx="9687953" cy="5965481"/>
          </a:xfrm>
        </p:spPr>
        <p:txBody>
          <a:bodyPr>
            <a:normAutofit/>
          </a:bodyPr>
          <a:lstStyle/>
          <a:p>
            <a:r>
              <a:rPr lang="es-ES" dirty="0"/>
              <a:t>Ejercicio. Dada la sig. trama, verificar si el </a:t>
            </a:r>
            <a:r>
              <a:rPr lang="es-ES" dirty="0" err="1"/>
              <a:t>checksum</a:t>
            </a:r>
            <a:r>
              <a:rPr lang="es-ES" dirty="0"/>
              <a:t> de la capa de red es correcto, de no ser así, decir cual es el valor correcto.</a:t>
            </a:r>
          </a:p>
          <a:p>
            <a:pPr marL="0" indent="0">
              <a:buNone/>
            </a:pPr>
            <a:endParaRPr lang="es-ES" dirty="0"/>
          </a:p>
          <a:p>
            <a:pPr marL="0" indent="0" algn="just">
              <a:buNone/>
            </a:pPr>
            <a:r>
              <a:rPr lang="es-ES" b="1" dirty="0"/>
              <a:t>e4 26 86 84 96 d2 80 2b f9 </a:t>
            </a:r>
            <a:r>
              <a:rPr lang="es-ES" b="1" dirty="0" err="1"/>
              <a:t>af</a:t>
            </a:r>
            <a:r>
              <a:rPr lang="es-ES" b="1" dirty="0"/>
              <a:t> 12 2d 08 00 45 00</a:t>
            </a:r>
          </a:p>
          <a:p>
            <a:pPr marL="0" indent="0" algn="just">
              <a:buNone/>
            </a:pPr>
            <a:r>
              <a:rPr lang="es-ES" b="1" dirty="0"/>
              <a:t>01 9c d7 de 40 00 80 06 </a:t>
            </a:r>
            <a:r>
              <a:rPr lang="es-ES" b="1" u="sng" dirty="0"/>
              <a:t>8f</a:t>
            </a:r>
            <a:r>
              <a:rPr lang="es-ES" b="1" dirty="0"/>
              <a:t> </a:t>
            </a:r>
            <a:r>
              <a:rPr lang="es-ES" b="1" u="sng" dirty="0"/>
              <a:t>e8</a:t>
            </a:r>
            <a:r>
              <a:rPr lang="es-ES" b="1" dirty="0"/>
              <a:t> c0 a8 01 43 94 cc</a:t>
            </a:r>
          </a:p>
          <a:p>
            <a:pPr marL="0" indent="0" algn="just">
              <a:buNone/>
            </a:pPr>
            <a:r>
              <a:rPr lang="es-ES" b="1" dirty="0"/>
              <a:t>3a dd c3 d4 00 50 0c cc a5 4f 08 </a:t>
            </a:r>
            <a:r>
              <a:rPr lang="es-ES" b="1" dirty="0" err="1"/>
              <a:t>fb</a:t>
            </a:r>
            <a:r>
              <a:rPr lang="es-ES" b="1" dirty="0"/>
              <a:t> 85 f0 50 18</a:t>
            </a:r>
          </a:p>
          <a:p>
            <a:pPr marL="0" indent="0" algn="just">
              <a:buNone/>
            </a:pPr>
            <a:r>
              <a:rPr lang="es-ES" b="1" dirty="0"/>
              <a:t>02 01 e1 98 00 00 47 45 54 20 2f 66 61 76 69 63</a:t>
            </a:r>
          </a:p>
          <a:p>
            <a:pPr marL="0" indent="0" algn="just">
              <a:buNone/>
            </a:pPr>
            <a:r>
              <a:rPr lang="es-ES" b="1" dirty="0"/>
              <a:t>6f 6e 2e 69 63 6f 20 48 54 54 50 2f 31 2e 31 0d</a:t>
            </a:r>
          </a:p>
          <a:p>
            <a:pPr marL="0" indent="0" algn="just">
              <a:buNone/>
            </a:pPr>
            <a:r>
              <a:rPr lang="es-ES" b="1" dirty="0"/>
              <a:t>0a 48 6f 73 74 3a 20 31 34 38 2e 32 30 34 2e 35</a:t>
            </a:r>
          </a:p>
          <a:p>
            <a:pPr marL="0" indent="0" algn="just">
              <a:buNone/>
            </a:pPr>
            <a:r>
              <a:rPr lang="es-ES" b="1" dirty="0"/>
              <a:t>38 2e 32 32 31 0d 0a 43 6f 6e </a:t>
            </a:r>
            <a:r>
              <a:rPr lang="es-ES" b="1" dirty="0" err="1"/>
              <a:t>6e</a:t>
            </a:r>
            <a:r>
              <a:rPr lang="es-ES" b="1" dirty="0"/>
              <a:t> 65 63 74 69 6f</a:t>
            </a:r>
          </a:p>
          <a:p>
            <a:pPr marL="0" indent="0" algn="just">
              <a:buNone/>
            </a:pPr>
            <a:r>
              <a:rPr lang="es-ES" b="1" dirty="0"/>
              <a:t>6e 3a 20 6b 65 65 70 2d 61 6c 69 76 65 0d 0a 55</a:t>
            </a:r>
          </a:p>
          <a:p>
            <a:pPr marL="0" indent="0">
              <a:buNone/>
            </a:pPr>
            <a:r>
              <a:rPr lang="es-ES" dirty="0"/>
              <a:t>……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9036424" y="2675965"/>
            <a:ext cx="1649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dirty="0"/>
              <a:t>Solución</a:t>
            </a:r>
            <a:endParaRPr lang="es-MX" sz="2800" dirty="0"/>
          </a:p>
        </p:txBody>
      </p:sp>
    </p:spTree>
    <p:extLst>
      <p:ext uri="{BB962C8B-B14F-4D97-AF65-F5344CB8AC3E}">
        <p14:creationId xmlns:p14="http://schemas.microsoft.com/office/powerpoint/2010/main" val="2785881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Control de error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94641" y="1264555"/>
            <a:ext cx="10413685" cy="4535251"/>
          </a:xfrm>
        </p:spPr>
        <p:txBody>
          <a:bodyPr>
            <a:normAutofit lnSpcReduction="10000"/>
          </a:bodyPr>
          <a:lstStyle/>
          <a:p>
            <a:pPr algn="just"/>
            <a:endParaRPr lang="es-ES" b="1" dirty="0"/>
          </a:p>
          <a:p>
            <a:pPr algn="just"/>
            <a:r>
              <a:rPr lang="es-ES" b="1" dirty="0" err="1"/>
              <a:t>Checksum</a:t>
            </a:r>
            <a:r>
              <a:rPr lang="es-ES" b="1" dirty="0"/>
              <a:t> (Cálculo para la capa de Transporte)</a:t>
            </a:r>
          </a:p>
          <a:p>
            <a:pPr marL="0" indent="0" algn="just">
              <a:buNone/>
            </a:pPr>
            <a:r>
              <a:rPr lang="es-ES" b="1" dirty="0"/>
              <a:t>  </a:t>
            </a:r>
          </a:p>
          <a:p>
            <a:pPr marL="0" indent="0" algn="just">
              <a:buNone/>
            </a:pPr>
            <a:r>
              <a:rPr lang="es-ES" b="1" dirty="0"/>
              <a:t>Para obtener la suma de comprobación de la capa de Transporte deben seguirse los siguientes pasos de acuerdo al RFC 793:</a:t>
            </a:r>
          </a:p>
          <a:p>
            <a:pPr marL="361950" indent="-361950" algn="just">
              <a:buNone/>
            </a:pPr>
            <a:r>
              <a:rPr lang="es-ES" b="1" dirty="0"/>
              <a:t>  + Formar un </a:t>
            </a:r>
            <a:r>
              <a:rPr lang="es-ES" b="1" dirty="0" err="1"/>
              <a:t>pseudoencabezado</a:t>
            </a:r>
            <a:r>
              <a:rPr lang="es-ES" b="1" dirty="0"/>
              <a:t> con la siguiente información:</a:t>
            </a:r>
          </a:p>
          <a:p>
            <a:pPr marL="361950" indent="-361950" algn="just">
              <a:buNone/>
            </a:pPr>
            <a:r>
              <a:rPr lang="es-ES" b="1" dirty="0"/>
              <a:t>      (IP origen, IP destino, 0x00, Protocolo, longitud PDU Transporte)</a:t>
            </a:r>
          </a:p>
          <a:p>
            <a:pPr marL="361950" indent="-361950" algn="just">
              <a:buNone/>
            </a:pPr>
            <a:r>
              <a:rPr lang="es-ES" b="1" dirty="0"/>
              <a:t>  + Poner ceros en la posición del </a:t>
            </a:r>
            <a:r>
              <a:rPr lang="es-ES" b="1" dirty="0" err="1"/>
              <a:t>checksum</a:t>
            </a:r>
            <a:r>
              <a:rPr lang="es-ES" b="1" dirty="0"/>
              <a:t> (transporte).</a:t>
            </a:r>
          </a:p>
          <a:p>
            <a:pPr marL="361950" indent="-361950" algn="just">
              <a:buNone/>
            </a:pPr>
            <a:r>
              <a:rPr lang="es-ES" b="1" dirty="0"/>
              <a:t>  + Sumar el </a:t>
            </a:r>
            <a:r>
              <a:rPr lang="es-ES" b="1" dirty="0" err="1"/>
              <a:t>pseudoencabezado</a:t>
            </a:r>
            <a:r>
              <a:rPr lang="es-ES" b="1" dirty="0"/>
              <a:t> + PDU Transporte.</a:t>
            </a:r>
          </a:p>
          <a:p>
            <a:pPr marL="361950" indent="-361950" algn="just">
              <a:buNone/>
            </a:pPr>
            <a:r>
              <a:rPr lang="es-ES" b="1" dirty="0"/>
              <a:t>  + Sumar cualquier acarreo fuera de los 16 bits.</a:t>
            </a:r>
          </a:p>
          <a:p>
            <a:pPr marL="361950" indent="-361950" algn="just">
              <a:buNone/>
            </a:pPr>
            <a:r>
              <a:rPr lang="es-ES" b="1" dirty="0"/>
              <a:t>  + Complementar a 1 el resultado.</a:t>
            </a:r>
          </a:p>
          <a:p>
            <a:pPr marL="0" indent="0" algn="just">
              <a:buNone/>
            </a:pPr>
            <a:r>
              <a:rPr lang="es-ES" b="1" dirty="0"/>
              <a:t> </a:t>
            </a:r>
          </a:p>
          <a:p>
            <a:pPr marL="0" indent="0" algn="just">
              <a:buNone/>
            </a:pPr>
            <a:endParaRPr lang="es-ES" b="1" dirty="0"/>
          </a:p>
        </p:txBody>
      </p:sp>
      <p:sp>
        <p:nvSpPr>
          <p:cNvPr id="5" name="CuadroTexto 4"/>
          <p:cNvSpPr txBox="1"/>
          <p:nvPr/>
        </p:nvSpPr>
        <p:spPr>
          <a:xfrm>
            <a:off x="1277264" y="6581001"/>
            <a:ext cx="4908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 </a:t>
            </a:r>
            <a:r>
              <a:rPr lang="es-MX" sz="1200" dirty="0">
                <a:hlinkClick r:id="rId2"/>
              </a:rPr>
              <a:t>http://www.arcesio.net/checksum/checksumTCP.html</a:t>
            </a:r>
            <a:endParaRPr lang="es-MX" sz="1200" dirty="0"/>
          </a:p>
        </p:txBody>
      </p:sp>
      <p:sp>
        <p:nvSpPr>
          <p:cNvPr id="4" name="CuadroTexto 3"/>
          <p:cNvSpPr txBox="1"/>
          <p:nvPr/>
        </p:nvSpPr>
        <p:spPr>
          <a:xfrm>
            <a:off x="4760590" y="6153834"/>
            <a:ext cx="71561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Imagen:</a:t>
            </a:r>
            <a:r>
              <a:rPr lang="es-MX" sz="1200" dirty="0">
                <a:hlinkClick r:id="rId3"/>
              </a:rPr>
              <a:t>https://www.jcomautomation.ca/frame-prioritization-within-ethernet-ip-and-profinet/</a:t>
            </a:r>
            <a:endParaRPr lang="es-MX" sz="1200" dirty="0"/>
          </a:p>
        </p:txBody>
      </p:sp>
    </p:spTree>
    <p:extLst>
      <p:ext uri="{BB962C8B-B14F-4D97-AF65-F5344CB8AC3E}">
        <p14:creationId xmlns:p14="http://schemas.microsoft.com/office/powerpoint/2010/main" val="415323283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Control de error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94641" y="1264555"/>
            <a:ext cx="5936919" cy="4535251"/>
          </a:xfrm>
        </p:spPr>
        <p:txBody>
          <a:bodyPr>
            <a:normAutofit/>
          </a:bodyPr>
          <a:lstStyle/>
          <a:p>
            <a:pPr algn="just"/>
            <a:endParaRPr lang="es-ES" b="1" dirty="0"/>
          </a:p>
          <a:p>
            <a:pPr algn="just"/>
            <a:r>
              <a:rPr lang="es-ES" b="1" dirty="0" err="1"/>
              <a:t>Checksum</a:t>
            </a:r>
            <a:r>
              <a:rPr lang="es-ES" b="1" dirty="0"/>
              <a:t> (Cálculo para la capa de Transporte)</a:t>
            </a:r>
          </a:p>
          <a:p>
            <a:pPr marL="0" indent="0" algn="just">
              <a:buNone/>
            </a:pPr>
            <a:r>
              <a:rPr lang="es-ES" b="1" dirty="0"/>
              <a:t>  </a:t>
            </a:r>
          </a:p>
          <a:p>
            <a:pPr marL="0" indent="0" algn="just">
              <a:buNone/>
            </a:pPr>
            <a:r>
              <a:rPr lang="es-ES" b="1" dirty="0"/>
              <a:t>+ </a:t>
            </a:r>
            <a:r>
              <a:rPr lang="es-ES" b="1" dirty="0" err="1"/>
              <a:t>Pseudoencabezado</a:t>
            </a:r>
            <a:r>
              <a:rPr lang="es-ES" b="1" dirty="0"/>
              <a:t>:</a:t>
            </a:r>
          </a:p>
          <a:p>
            <a:pPr marL="0" indent="0" algn="just">
              <a:buNone/>
            </a:pPr>
            <a:r>
              <a:rPr lang="es-ES" b="1" dirty="0"/>
              <a:t> (IP origen, IP destino, 0x00, Protocolo, longitud PDU Transporte)</a:t>
            </a:r>
          </a:p>
          <a:p>
            <a:pPr marL="0" indent="0" algn="just">
              <a:buNone/>
            </a:pPr>
            <a:r>
              <a:rPr lang="es-ES" b="1" dirty="0"/>
              <a:t> </a:t>
            </a:r>
          </a:p>
          <a:p>
            <a:pPr marL="0" indent="0" algn="just">
              <a:buNone/>
            </a:pPr>
            <a:endParaRPr lang="es-ES" b="1" dirty="0"/>
          </a:p>
        </p:txBody>
      </p:sp>
      <p:sp>
        <p:nvSpPr>
          <p:cNvPr id="5" name="CuadroTexto 4"/>
          <p:cNvSpPr txBox="1"/>
          <p:nvPr/>
        </p:nvSpPr>
        <p:spPr>
          <a:xfrm>
            <a:off x="1277264" y="6581001"/>
            <a:ext cx="4908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 </a:t>
            </a:r>
            <a:r>
              <a:rPr lang="es-MX" sz="1200" dirty="0">
                <a:hlinkClick r:id="rId2"/>
              </a:rPr>
              <a:t>http://www.arcesio.net/checksum/checksumTCP.html</a:t>
            </a:r>
            <a:endParaRPr lang="es-MX" sz="1200" dirty="0"/>
          </a:p>
        </p:txBody>
      </p:sp>
      <p:sp>
        <p:nvSpPr>
          <p:cNvPr id="8" name="Rectángulo 7"/>
          <p:cNvSpPr/>
          <p:nvPr/>
        </p:nvSpPr>
        <p:spPr>
          <a:xfrm>
            <a:off x="4823012" y="6153834"/>
            <a:ext cx="762896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200" dirty="0">
                <a:hlinkClick r:id="rId3"/>
              </a:rPr>
              <a:t>Imagen: https://planificacionadministracionredes.readthedocs.io/es/latest/Tema02/Teoria.html</a:t>
            </a:r>
            <a:endParaRPr lang="es-MX" sz="1200" dirty="0"/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5313" y="1555208"/>
            <a:ext cx="4773052" cy="4421612"/>
          </a:xfrm>
          <a:prstGeom prst="rect">
            <a:avLst/>
          </a:prstGeom>
        </p:spPr>
      </p:pic>
      <p:sp>
        <p:nvSpPr>
          <p:cNvPr id="10" name="Abrir llave 9"/>
          <p:cNvSpPr/>
          <p:nvPr/>
        </p:nvSpPr>
        <p:spPr>
          <a:xfrm rot="5400000">
            <a:off x="10005413" y="1072174"/>
            <a:ext cx="169917" cy="115251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CuadroTexto 10"/>
          <p:cNvSpPr txBox="1"/>
          <p:nvPr/>
        </p:nvSpPr>
        <p:spPr>
          <a:xfrm>
            <a:off x="9871222" y="1342077"/>
            <a:ext cx="46519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b="1" dirty="0"/>
              <a:t>PDU</a:t>
            </a:r>
            <a:endParaRPr lang="es-MX" sz="1100" b="1" dirty="0"/>
          </a:p>
        </p:txBody>
      </p:sp>
    </p:spTree>
    <p:extLst>
      <p:ext uri="{BB962C8B-B14F-4D97-AF65-F5344CB8AC3E}">
        <p14:creationId xmlns:p14="http://schemas.microsoft.com/office/powerpoint/2010/main" val="6454126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Control de error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91066" y="1264555"/>
            <a:ext cx="5639303" cy="4535251"/>
          </a:xfrm>
        </p:spPr>
        <p:txBody>
          <a:bodyPr>
            <a:normAutofit/>
          </a:bodyPr>
          <a:lstStyle/>
          <a:p>
            <a:pPr algn="just"/>
            <a:endParaRPr lang="es-ES" b="1" dirty="0"/>
          </a:p>
          <a:p>
            <a:pPr algn="just"/>
            <a:r>
              <a:rPr lang="es-ES" b="1" dirty="0" err="1"/>
              <a:t>Checksum</a:t>
            </a:r>
            <a:r>
              <a:rPr lang="es-ES" b="1" dirty="0"/>
              <a:t> (Cálculo para la capa de Transporte)</a:t>
            </a:r>
          </a:p>
          <a:p>
            <a:pPr marL="0" indent="0" algn="just">
              <a:buNone/>
            </a:pPr>
            <a:r>
              <a:rPr lang="es-ES" b="1" dirty="0"/>
              <a:t>  </a:t>
            </a:r>
          </a:p>
          <a:p>
            <a:pPr marL="0" indent="0" algn="just">
              <a:buNone/>
            </a:pPr>
            <a:r>
              <a:rPr lang="es-ES" b="1" dirty="0"/>
              <a:t>+ </a:t>
            </a:r>
            <a:r>
              <a:rPr lang="es-ES" b="1" dirty="0" err="1"/>
              <a:t>Pseudoencabezado</a:t>
            </a:r>
            <a:r>
              <a:rPr lang="es-ES" b="1" dirty="0"/>
              <a:t>:</a:t>
            </a:r>
          </a:p>
          <a:p>
            <a:pPr marL="0" indent="0" algn="just">
              <a:buNone/>
            </a:pPr>
            <a:r>
              <a:rPr lang="es-ES" b="1" dirty="0"/>
              <a:t> (IP origen, IP destino, 0x00, Protocolo, longitud PDU Transporte)</a:t>
            </a:r>
          </a:p>
          <a:p>
            <a:pPr marL="0" indent="0" algn="just">
              <a:buNone/>
            </a:pPr>
            <a:r>
              <a:rPr lang="es-ES" b="1" dirty="0"/>
              <a:t> </a:t>
            </a:r>
          </a:p>
          <a:p>
            <a:pPr marL="0" indent="0" algn="just">
              <a:buNone/>
            </a:pPr>
            <a:endParaRPr lang="es-ES" b="1" dirty="0"/>
          </a:p>
        </p:txBody>
      </p:sp>
      <p:sp>
        <p:nvSpPr>
          <p:cNvPr id="5" name="CuadroTexto 4"/>
          <p:cNvSpPr txBox="1"/>
          <p:nvPr/>
        </p:nvSpPr>
        <p:spPr>
          <a:xfrm>
            <a:off x="291066" y="6581001"/>
            <a:ext cx="4908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 </a:t>
            </a:r>
            <a:r>
              <a:rPr lang="es-MX" sz="1200" dirty="0">
                <a:hlinkClick r:id="rId2"/>
              </a:rPr>
              <a:t>http://www.arcesio.net/checksum/checksumTCP.html</a:t>
            </a:r>
            <a:endParaRPr lang="es-MX" sz="1200" dirty="0"/>
          </a:p>
        </p:txBody>
      </p:sp>
      <p:sp>
        <p:nvSpPr>
          <p:cNvPr id="6" name="CuadroTexto 5"/>
          <p:cNvSpPr txBox="1"/>
          <p:nvPr/>
        </p:nvSpPr>
        <p:spPr>
          <a:xfrm>
            <a:off x="7408318" y="4706791"/>
            <a:ext cx="47836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Imagen</a:t>
            </a:r>
            <a:r>
              <a:rPr lang="es-MX" sz="1200" dirty="0">
                <a:hlinkClick r:id="rId3"/>
              </a:rPr>
              <a:t>http://personales.upv.es/rmartin/TcpIp/cap02s03.html</a:t>
            </a:r>
            <a:endParaRPr lang="es-MX" sz="1200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0369" y="1500957"/>
            <a:ext cx="6232933" cy="3126298"/>
          </a:xfrm>
          <a:prstGeom prst="rect">
            <a:avLst/>
          </a:prstGeom>
        </p:spPr>
      </p:pic>
      <p:sp>
        <p:nvSpPr>
          <p:cNvPr id="8" name="CuadroTexto 7"/>
          <p:cNvSpPr txBox="1"/>
          <p:nvPr/>
        </p:nvSpPr>
        <p:spPr>
          <a:xfrm>
            <a:off x="4781153" y="6304002"/>
            <a:ext cx="73821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Imagen: </a:t>
            </a:r>
            <a:r>
              <a:rPr lang="es-MX" sz="1200" dirty="0">
                <a:hlinkClick r:id="rId5"/>
              </a:rPr>
              <a:t>http://www.mailxmail.com/curso-redes-area-local-conmutadas/tipos-conmutacion-lan</a:t>
            </a:r>
            <a:endParaRPr lang="es-MX" sz="1200" dirty="0"/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570" y="4706791"/>
            <a:ext cx="6115635" cy="1597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78718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Control de error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94642" y="1264555"/>
            <a:ext cx="5204376" cy="4535251"/>
          </a:xfrm>
        </p:spPr>
        <p:txBody>
          <a:bodyPr>
            <a:normAutofit/>
          </a:bodyPr>
          <a:lstStyle/>
          <a:p>
            <a:pPr algn="just"/>
            <a:endParaRPr lang="es-ES" b="1" dirty="0"/>
          </a:p>
          <a:p>
            <a:pPr algn="just"/>
            <a:r>
              <a:rPr lang="es-ES" b="1" dirty="0"/>
              <a:t>Código de </a:t>
            </a:r>
            <a:r>
              <a:rPr lang="es-ES" b="1" dirty="0" err="1"/>
              <a:t>Hamming</a:t>
            </a:r>
            <a:endParaRPr lang="es-ES" b="1" dirty="0"/>
          </a:p>
          <a:p>
            <a:pPr marL="0" indent="0" algn="just">
              <a:buNone/>
            </a:pPr>
            <a:r>
              <a:rPr lang="es-ES" b="1" dirty="0"/>
              <a:t>  </a:t>
            </a:r>
          </a:p>
          <a:p>
            <a:pPr marL="361950" indent="-361950" algn="just">
              <a:buNone/>
            </a:pPr>
            <a:r>
              <a:rPr lang="es-ES" b="1" dirty="0"/>
              <a:t>  + Creado por Richard W. </a:t>
            </a:r>
            <a:r>
              <a:rPr lang="es-ES" b="1" dirty="0" err="1"/>
              <a:t>Hamming</a:t>
            </a:r>
            <a:r>
              <a:rPr lang="es-ES" b="1" dirty="0"/>
              <a:t> en 1950.</a:t>
            </a:r>
          </a:p>
          <a:p>
            <a:pPr marL="361950" indent="-361950" algn="just">
              <a:buNone/>
            </a:pPr>
            <a:r>
              <a:rPr lang="es-ES" b="1" dirty="0"/>
              <a:t>  + Utilizado para detectar y posiblemente corregir errores en una trama de información. Usado en la verificación de bloques de memoria.</a:t>
            </a:r>
          </a:p>
          <a:p>
            <a:pPr marL="0" indent="0" algn="just">
              <a:buNone/>
            </a:pPr>
            <a:r>
              <a:rPr lang="es-ES" b="1" dirty="0"/>
              <a:t> </a:t>
            </a:r>
          </a:p>
          <a:p>
            <a:pPr marL="0" indent="0" algn="just">
              <a:buNone/>
            </a:pPr>
            <a:endParaRPr lang="es-ES" b="1" dirty="0"/>
          </a:p>
        </p:txBody>
      </p:sp>
      <p:sp>
        <p:nvSpPr>
          <p:cNvPr id="5" name="CuadroTexto 4"/>
          <p:cNvSpPr txBox="1"/>
          <p:nvPr/>
        </p:nvSpPr>
        <p:spPr>
          <a:xfrm>
            <a:off x="1277264" y="6581001"/>
            <a:ext cx="32031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 https://youtu.be/gQK9nROFX20</a:t>
            </a:r>
            <a:endParaRPr lang="es-MX" sz="1200" dirty="0"/>
          </a:p>
        </p:txBody>
      </p:sp>
    </p:spTree>
    <p:extLst>
      <p:ext uri="{BB962C8B-B14F-4D97-AF65-F5344CB8AC3E}">
        <p14:creationId xmlns:p14="http://schemas.microsoft.com/office/powerpoint/2010/main" val="353553705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Control de error</a:t>
            </a:r>
            <a:endParaRPr lang="es-MX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794641" y="1264555"/>
                <a:ext cx="10709971" cy="4535251"/>
              </a:xfrm>
            </p:spPr>
            <p:txBody>
              <a:bodyPr>
                <a:normAutofit fontScale="92500" lnSpcReduction="20000"/>
              </a:bodyPr>
              <a:lstStyle/>
              <a:p>
                <a:pPr algn="just"/>
                <a:endParaRPr lang="es-ES" b="1" dirty="0"/>
              </a:p>
              <a:p>
                <a:pPr algn="just"/>
                <a:r>
                  <a:rPr lang="es-ES" b="1" dirty="0"/>
                  <a:t>Código de </a:t>
                </a:r>
                <a:r>
                  <a:rPr lang="es-ES" b="1" dirty="0" err="1"/>
                  <a:t>Hamming</a:t>
                </a:r>
                <a:r>
                  <a:rPr lang="es-ES" b="1" dirty="0"/>
                  <a:t> (Cálculo)</a:t>
                </a:r>
              </a:p>
              <a:p>
                <a:pPr marL="0" indent="0" algn="just">
                  <a:buNone/>
                </a:pPr>
                <a:r>
                  <a:rPr lang="es-ES" b="1" dirty="0"/>
                  <a:t>  </a:t>
                </a:r>
              </a:p>
              <a:p>
                <a:pPr marL="361950" indent="-361950" algn="just">
                  <a:buNone/>
                </a:pPr>
                <a:r>
                  <a:rPr lang="es-ES" b="1" dirty="0"/>
                  <a:t>  + Dado un mensaje M(x) de tamaño m bits</a:t>
                </a:r>
              </a:p>
              <a:p>
                <a:pPr marL="361950" indent="-361950" algn="just">
                  <a:buNone/>
                </a:pPr>
                <a:r>
                  <a:rPr lang="es-ES" b="1" dirty="0"/>
                  <a:t>  + Obtener la cantidad de bits de paridad a ser agregados a partir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  <m:r>
                      <a:rPr lang="es-E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s-E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𝒎</m:t>
                    </m:r>
                    <m:r>
                      <a:rPr lang="es-E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s-E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  <m:r>
                      <a:rPr lang="es-E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s-E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endParaRPr lang="es-ES" b="1" dirty="0"/>
              </a:p>
              <a:p>
                <a:pPr marL="361950" indent="-361950" algn="just">
                  <a:buNone/>
                </a:pPr>
                <a:r>
                  <a:rPr lang="es-ES" b="1" dirty="0"/>
                  <a:t>  + La trama a ser generada T(x) tendrá un tamaño de </a:t>
                </a:r>
                <a:r>
                  <a:rPr lang="es-ES" b="1" dirty="0" err="1"/>
                  <a:t>m+n</a:t>
                </a:r>
                <a:r>
                  <a:rPr lang="es-ES" b="1" dirty="0"/>
                  <a:t> bits, en donde los n bits de paridad se colocarán en las posiciones de la trama que sean múltiplos de potencias de 2. Los bits de datos se colocarán en las posiciones restantes.</a:t>
                </a:r>
              </a:p>
              <a:p>
                <a:pPr marL="361950" indent="-361950" algn="just">
                  <a:buNone/>
                </a:pPr>
                <a:r>
                  <a:rPr lang="es-ES" b="1" dirty="0"/>
                  <a:t>  + Cada bit de paridad calcula la paridad de un conjunto de datos de la trama (Ej. El bit 1 calcula la paridad de los bits de datos 3,5,7,9,11,13, etc., el bit 2 la paridad de los bits 6,7, 10,11,14,15,18,19, etc.).</a:t>
                </a:r>
              </a:p>
              <a:p>
                <a:pPr marL="361950" indent="-361950" algn="just">
                  <a:buNone/>
                </a:pPr>
                <a:r>
                  <a:rPr lang="es-ES" b="1" dirty="0"/>
                  <a:t>  + Una vez colocados los bits de paridad y los bits de datos en la trama, se procede a calcular la paridad de cada uno de los bits de </a:t>
                </a:r>
                <a:r>
                  <a:rPr lang="es-ES" b="1" dirty="0" err="1"/>
                  <a:t>Hamming</a:t>
                </a:r>
                <a:r>
                  <a:rPr lang="es-ES" b="1" dirty="0"/>
                  <a:t> considerando tener en ellos una paridad par (si la cuenta de bits 1 es par, el bit de </a:t>
                </a:r>
                <a:r>
                  <a:rPr lang="es-ES" b="1" dirty="0" err="1"/>
                  <a:t>Hamming</a:t>
                </a:r>
                <a:r>
                  <a:rPr lang="es-ES" b="1" dirty="0"/>
                  <a:t> tendrá valor 0, en caso contrario tendrá valor 1).</a:t>
                </a:r>
              </a:p>
              <a:p>
                <a:pPr marL="0" indent="0" algn="just">
                  <a:buNone/>
                </a:pPr>
                <a:r>
                  <a:rPr lang="es-ES" b="1" dirty="0"/>
                  <a:t> </a:t>
                </a:r>
              </a:p>
              <a:p>
                <a:pPr marL="0" indent="0" algn="just">
                  <a:buNone/>
                </a:pPr>
                <a:endParaRPr lang="es-ES" b="1" dirty="0"/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94641" y="1264555"/>
                <a:ext cx="10709971" cy="4535251"/>
              </a:xfrm>
              <a:blipFill rotWithShape="0">
                <a:blip r:embed="rId2"/>
                <a:stretch>
                  <a:fillRect l="-285" r="-398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uadroTexto 4"/>
          <p:cNvSpPr txBox="1"/>
          <p:nvPr/>
        </p:nvSpPr>
        <p:spPr>
          <a:xfrm>
            <a:off x="1277264" y="6581001"/>
            <a:ext cx="32031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 https://youtu.be/gQK9nROFX20</a:t>
            </a:r>
            <a:endParaRPr lang="es-MX" sz="1200" dirty="0"/>
          </a:p>
        </p:txBody>
      </p:sp>
    </p:spTree>
    <p:extLst>
      <p:ext uri="{BB962C8B-B14F-4D97-AF65-F5344CB8AC3E}">
        <p14:creationId xmlns:p14="http://schemas.microsoft.com/office/powerpoint/2010/main" val="27320019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Control de error</a:t>
            </a:r>
            <a:endParaRPr lang="es-MX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794641" y="1264555"/>
                <a:ext cx="10709971" cy="4535251"/>
              </a:xfrm>
            </p:spPr>
            <p:txBody>
              <a:bodyPr>
                <a:normAutofit/>
              </a:bodyPr>
              <a:lstStyle/>
              <a:p>
                <a:pPr algn="just"/>
                <a:endParaRPr lang="es-ES" b="1" dirty="0"/>
              </a:p>
              <a:p>
                <a:pPr algn="just"/>
                <a:r>
                  <a:rPr lang="es-ES" b="1" dirty="0"/>
                  <a:t>Código de </a:t>
                </a:r>
                <a:r>
                  <a:rPr lang="es-ES" b="1" dirty="0" err="1"/>
                  <a:t>Hamming</a:t>
                </a:r>
                <a:r>
                  <a:rPr lang="es-ES" b="1" dirty="0"/>
                  <a:t> (Ejemplo). Dado M(x)= 110010100110, generar la trama T(x) a ser transmitida.</a:t>
                </a:r>
              </a:p>
              <a:p>
                <a:pPr marL="0" indent="0" algn="just">
                  <a:buNone/>
                </a:pPr>
                <a:r>
                  <a:rPr lang="es-ES" b="1" dirty="0"/>
                  <a:t>  </a:t>
                </a:r>
              </a:p>
              <a:p>
                <a:pPr marL="361950" indent="-361950" algn="just">
                  <a:buNone/>
                </a:pPr>
                <a:r>
                  <a:rPr lang="es-ES" b="1" dirty="0"/>
                  <a:t>  + Dado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  <m:r>
                      <a:rPr lang="es-E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s-E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𝒎</m:t>
                    </m:r>
                    <m:r>
                      <a:rPr lang="es-E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s-E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  <m:r>
                      <a:rPr lang="es-E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s-E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s-ES" b="1" dirty="0"/>
                  <a:t> y considerando que el mensaje tiene 12 bits (m=12)</a:t>
                </a:r>
              </a:p>
              <a:p>
                <a:pPr marL="361950" indent="-361950" algn="just">
                  <a:buNone/>
                </a:pPr>
                <a:r>
                  <a:rPr lang="es-ES" b="1" dirty="0"/>
                  <a:t>  + El primer valor que cumple con la desigualdad es n=5;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sup>
                    </m:sSup>
                    <m:r>
                      <a:rPr lang="es-E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s-E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𝟏𝟐</m:t>
                    </m:r>
                    <m:r>
                      <a:rPr lang="es-E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s-E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𝟓</m:t>
                    </m:r>
                    <m:r>
                      <a:rPr lang="es-E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s-E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s-ES" b="1" dirty="0"/>
                  <a:t>  por lo que T(x) será de tamaño 17 bits</a:t>
                </a:r>
              </a:p>
              <a:p>
                <a:pPr marL="361950" indent="-361950" algn="just">
                  <a:buNone/>
                </a:pPr>
                <a:r>
                  <a:rPr lang="es-ES" b="1" dirty="0"/>
                  <a:t>  + Se ordenan los bits de la trama en orden ascendente</a:t>
                </a:r>
              </a:p>
              <a:p>
                <a:pPr marL="0" indent="0" algn="just">
                  <a:buNone/>
                </a:pPr>
                <a:r>
                  <a:rPr lang="es-ES" b="1" dirty="0"/>
                  <a:t> </a:t>
                </a:r>
              </a:p>
              <a:p>
                <a:pPr marL="0" indent="0" algn="just">
                  <a:buNone/>
                </a:pPr>
                <a:endParaRPr lang="es-ES" b="1" dirty="0"/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94641" y="1264555"/>
                <a:ext cx="10709971" cy="4535251"/>
              </a:xfrm>
              <a:blipFill rotWithShape="0">
                <a:blip r:embed="rId2"/>
                <a:stretch>
                  <a:fillRect l="-398" r="-51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uadroTexto 4"/>
          <p:cNvSpPr txBox="1"/>
          <p:nvPr/>
        </p:nvSpPr>
        <p:spPr>
          <a:xfrm>
            <a:off x="1277264" y="6581001"/>
            <a:ext cx="32031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 https://youtu.be/gQK9nROFX20</a:t>
            </a:r>
            <a:endParaRPr lang="es-MX" sz="1200" dirty="0"/>
          </a:p>
        </p:txBody>
      </p:sp>
      <p:graphicFrame>
        <p:nvGraphicFramePr>
          <p:cNvPr id="4" name="Tab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9388740"/>
              </p:ext>
            </p:extLst>
          </p:nvPr>
        </p:nvGraphicFramePr>
        <p:xfrm>
          <a:off x="2166470" y="4753784"/>
          <a:ext cx="812800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1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1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1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1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1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81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81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811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811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7811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7811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7811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7811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7811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7811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78118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2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3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4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5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6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7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8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9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12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13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14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15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16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17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H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H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H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H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H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914919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Control de error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94641" y="1264555"/>
            <a:ext cx="10709971" cy="4535251"/>
          </a:xfrm>
        </p:spPr>
        <p:txBody>
          <a:bodyPr>
            <a:normAutofit/>
          </a:bodyPr>
          <a:lstStyle/>
          <a:p>
            <a:pPr algn="just"/>
            <a:endParaRPr lang="es-ES" b="1" dirty="0"/>
          </a:p>
          <a:p>
            <a:pPr algn="just"/>
            <a:r>
              <a:rPr lang="es-ES" b="1" dirty="0"/>
              <a:t>Código de </a:t>
            </a:r>
            <a:r>
              <a:rPr lang="es-ES" b="1" dirty="0" err="1"/>
              <a:t>Hamming</a:t>
            </a:r>
            <a:r>
              <a:rPr lang="es-ES" b="1" dirty="0"/>
              <a:t> (Ejemplo). Dado M(x)= 110010100110, generar la trama T(x) a ser transmitida.</a:t>
            </a:r>
          </a:p>
          <a:p>
            <a:pPr marL="0" indent="0" algn="just">
              <a:buNone/>
            </a:pPr>
            <a:r>
              <a:rPr lang="es-ES" b="1" dirty="0"/>
              <a:t>  </a:t>
            </a:r>
          </a:p>
          <a:p>
            <a:pPr marL="361950" indent="-361950" algn="just">
              <a:buNone/>
            </a:pPr>
            <a:r>
              <a:rPr lang="es-ES" b="1" dirty="0"/>
              <a:t>  + Se colocan los bits de </a:t>
            </a:r>
            <a:r>
              <a:rPr lang="es-ES" b="1" dirty="0" err="1"/>
              <a:t>Hamming</a:t>
            </a:r>
            <a:r>
              <a:rPr lang="es-ES" b="1" dirty="0"/>
              <a:t> en posiciones múltiplo de potencias de 2 y los datos en las casillas restantes</a:t>
            </a:r>
          </a:p>
          <a:p>
            <a:pPr marL="0" indent="0" algn="just">
              <a:buNone/>
            </a:pPr>
            <a:r>
              <a:rPr lang="es-ES" b="1" dirty="0"/>
              <a:t> </a:t>
            </a:r>
          </a:p>
          <a:p>
            <a:pPr marL="0" indent="0" algn="just">
              <a:buNone/>
            </a:pPr>
            <a:endParaRPr lang="es-ES" b="1" dirty="0"/>
          </a:p>
        </p:txBody>
      </p:sp>
      <p:sp>
        <p:nvSpPr>
          <p:cNvPr id="5" name="CuadroTexto 4"/>
          <p:cNvSpPr txBox="1"/>
          <p:nvPr/>
        </p:nvSpPr>
        <p:spPr>
          <a:xfrm>
            <a:off x="1277264" y="6581001"/>
            <a:ext cx="32031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 https://youtu.be/gQK9nROFX20</a:t>
            </a:r>
            <a:endParaRPr lang="es-MX" sz="1200" dirty="0"/>
          </a:p>
        </p:txBody>
      </p:sp>
      <p:graphicFrame>
        <p:nvGraphicFramePr>
          <p:cNvPr id="4" name="Tab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5459497"/>
              </p:ext>
            </p:extLst>
          </p:nvPr>
        </p:nvGraphicFramePr>
        <p:xfrm>
          <a:off x="2166470" y="4753784"/>
          <a:ext cx="812800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1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1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1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1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1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81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81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811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811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7811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7811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7811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7811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7811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7811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78118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2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3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4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5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6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7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8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9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12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13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14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15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16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17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H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H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H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H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H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994519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Control de error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94641" y="1264555"/>
            <a:ext cx="10709971" cy="4535251"/>
          </a:xfrm>
        </p:spPr>
        <p:txBody>
          <a:bodyPr>
            <a:normAutofit/>
          </a:bodyPr>
          <a:lstStyle/>
          <a:p>
            <a:pPr algn="just"/>
            <a:endParaRPr lang="es-ES" b="1" dirty="0"/>
          </a:p>
          <a:p>
            <a:pPr algn="just"/>
            <a:r>
              <a:rPr lang="es-ES" b="1" dirty="0"/>
              <a:t>Se calcula el valor de cada bit de </a:t>
            </a:r>
            <a:r>
              <a:rPr lang="es-ES" b="1" dirty="0" err="1"/>
              <a:t>Hamming</a:t>
            </a:r>
            <a:endParaRPr lang="es-ES" b="1" dirty="0"/>
          </a:p>
          <a:p>
            <a:pPr marL="0" indent="0" algn="just">
              <a:buNone/>
            </a:pPr>
            <a:r>
              <a:rPr lang="es-ES" b="1" dirty="0"/>
              <a:t> </a:t>
            </a:r>
          </a:p>
          <a:p>
            <a:pPr marL="0" indent="0" algn="just">
              <a:buNone/>
            </a:pPr>
            <a:endParaRPr lang="es-ES" b="1" dirty="0"/>
          </a:p>
        </p:txBody>
      </p:sp>
      <p:sp>
        <p:nvSpPr>
          <p:cNvPr id="5" name="CuadroTexto 4"/>
          <p:cNvSpPr txBox="1"/>
          <p:nvPr/>
        </p:nvSpPr>
        <p:spPr>
          <a:xfrm>
            <a:off x="1277264" y="6581001"/>
            <a:ext cx="32031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 https://youtu.be/gQK9nROFX20</a:t>
            </a:r>
            <a:endParaRPr lang="es-MX" sz="1200" dirty="0"/>
          </a:p>
        </p:txBody>
      </p:sp>
      <p:graphicFrame>
        <p:nvGraphicFramePr>
          <p:cNvPr id="6" name="Tab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7980542"/>
              </p:ext>
            </p:extLst>
          </p:nvPr>
        </p:nvGraphicFramePr>
        <p:xfrm>
          <a:off x="1277264" y="2429435"/>
          <a:ext cx="9917867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9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s-ES" dirty="0"/>
                        <a:t>Bit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2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3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4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5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6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7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8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9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12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13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14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15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16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17</a:t>
                      </a:r>
                      <a:endParaRPr lang="es-MX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ES" dirty="0"/>
                        <a:t>1’s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FF0000"/>
                          </a:solidFill>
                        </a:rPr>
                        <a:t>H</a:t>
                      </a:r>
                      <a:endParaRPr lang="es-MX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FF0000"/>
                          </a:solidFill>
                        </a:rPr>
                        <a:t>H</a:t>
                      </a:r>
                      <a:endParaRPr lang="es-MX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FF0000"/>
                          </a:solidFill>
                        </a:rPr>
                        <a:t>H</a:t>
                      </a:r>
                      <a:endParaRPr lang="es-MX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FF0000"/>
                          </a:solidFill>
                        </a:rPr>
                        <a:t>H</a:t>
                      </a:r>
                      <a:endParaRPr lang="es-MX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FF0000"/>
                          </a:solidFill>
                        </a:rPr>
                        <a:t>H</a:t>
                      </a:r>
                      <a:endParaRPr lang="es-MX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s-MX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es-MX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_</a:t>
                      </a:r>
                      <a:endParaRPr lang="es-MX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5</a:t>
                      </a:r>
                      <a:endParaRPr lang="es-MX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00B050"/>
                          </a:solidFill>
                        </a:rPr>
                        <a:t>2</a:t>
                      </a:r>
                      <a:endParaRPr lang="es-MX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_</a:t>
                      </a:r>
                      <a:endParaRPr lang="es-MX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4</a:t>
                      </a:r>
                      <a:endParaRPr lang="es-MX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00B050"/>
                          </a:solidFill>
                        </a:rPr>
                        <a:t>4</a:t>
                      </a:r>
                      <a:endParaRPr lang="es-MX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_</a:t>
                      </a:r>
                      <a:endParaRPr lang="es-MX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3</a:t>
                      </a:r>
                      <a:endParaRPr lang="es-MX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00B050"/>
                          </a:solidFill>
                        </a:rPr>
                        <a:t>8</a:t>
                      </a:r>
                      <a:endParaRPr lang="es-MX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_</a:t>
                      </a:r>
                      <a:endParaRPr lang="es-MX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4</a:t>
                      </a:r>
                      <a:endParaRPr lang="es-MX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00B050"/>
                          </a:solidFill>
                        </a:rPr>
                        <a:t>16</a:t>
                      </a:r>
                      <a:endParaRPr lang="es-MX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_</a:t>
                      </a:r>
                      <a:endParaRPr lang="es-MX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es-MX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CuadroTexto 6"/>
          <p:cNvSpPr txBox="1"/>
          <p:nvPr/>
        </p:nvSpPr>
        <p:spPr>
          <a:xfrm>
            <a:off x="11140586" y="3193626"/>
            <a:ext cx="10514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dk1"/>
                </a:solidFill>
              </a:rPr>
              <a:t>Impar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11131622" y="3937694"/>
            <a:ext cx="10514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dk1"/>
                </a:solidFill>
              </a:rPr>
              <a:t>Impar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11145069" y="3561178"/>
            <a:ext cx="10514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dk1"/>
                </a:solidFill>
              </a:rPr>
              <a:t>Par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11145069" y="4300763"/>
            <a:ext cx="10514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dk1"/>
                </a:solidFill>
              </a:rPr>
              <a:t>Par</a:t>
            </a:r>
          </a:p>
        </p:txBody>
      </p:sp>
      <p:sp>
        <p:nvSpPr>
          <p:cNvPr id="11" name="CuadroTexto 10"/>
          <p:cNvSpPr txBox="1"/>
          <p:nvPr/>
        </p:nvSpPr>
        <p:spPr>
          <a:xfrm>
            <a:off x="11171963" y="4690726"/>
            <a:ext cx="10514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dk1"/>
                </a:solidFill>
              </a:rPr>
              <a:t>Par</a:t>
            </a:r>
          </a:p>
        </p:txBody>
      </p:sp>
    </p:spTree>
    <p:extLst>
      <p:ext uri="{BB962C8B-B14F-4D97-AF65-F5344CB8AC3E}">
        <p14:creationId xmlns:p14="http://schemas.microsoft.com/office/powerpoint/2010/main" val="291716046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Control de error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94641" y="1264555"/>
            <a:ext cx="10709971" cy="5203480"/>
          </a:xfrm>
        </p:spPr>
        <p:txBody>
          <a:bodyPr>
            <a:normAutofit/>
          </a:bodyPr>
          <a:lstStyle/>
          <a:p>
            <a:pPr algn="just"/>
            <a:endParaRPr lang="es-ES" b="1" dirty="0"/>
          </a:p>
          <a:p>
            <a:pPr algn="just"/>
            <a:r>
              <a:rPr lang="es-ES" b="1" dirty="0"/>
              <a:t>Para mantener una paridad par en cada bit de </a:t>
            </a:r>
            <a:r>
              <a:rPr lang="es-ES" b="1" dirty="0" err="1"/>
              <a:t>Hamming</a:t>
            </a:r>
            <a:r>
              <a:rPr lang="es-ES" b="1" dirty="0"/>
              <a:t> se rellena ya sea con 0 o 1 y se obtiene T(x) </a:t>
            </a:r>
          </a:p>
          <a:p>
            <a:pPr marL="0" indent="0" algn="just">
              <a:buNone/>
            </a:pPr>
            <a:r>
              <a:rPr lang="es-ES" b="1" dirty="0"/>
              <a:t> </a:t>
            </a:r>
          </a:p>
          <a:p>
            <a:pPr marL="0" indent="0" algn="just">
              <a:buNone/>
            </a:pPr>
            <a:endParaRPr lang="es-ES" b="1" dirty="0"/>
          </a:p>
          <a:p>
            <a:pPr marL="0" indent="0" algn="just">
              <a:buNone/>
            </a:pPr>
            <a:endParaRPr lang="es-ES" b="1" dirty="0"/>
          </a:p>
          <a:p>
            <a:pPr marL="0" indent="0" algn="just">
              <a:buNone/>
            </a:pPr>
            <a:endParaRPr lang="es-ES" b="1" dirty="0"/>
          </a:p>
          <a:p>
            <a:pPr marL="0" indent="0" algn="just">
              <a:buNone/>
            </a:pPr>
            <a:endParaRPr lang="es-ES" b="1" dirty="0"/>
          </a:p>
          <a:p>
            <a:pPr marL="0" indent="0" algn="just">
              <a:buNone/>
            </a:pPr>
            <a:endParaRPr lang="es-ES" b="1" dirty="0"/>
          </a:p>
          <a:p>
            <a:pPr marL="0" indent="0" algn="just">
              <a:buNone/>
            </a:pPr>
            <a:endParaRPr lang="es-ES" b="1" dirty="0"/>
          </a:p>
          <a:p>
            <a:pPr marL="0" indent="0" algn="just">
              <a:buNone/>
            </a:pPr>
            <a:endParaRPr lang="es-ES" b="1" dirty="0"/>
          </a:p>
          <a:p>
            <a:pPr marL="0" indent="0" algn="just">
              <a:buNone/>
            </a:pPr>
            <a:r>
              <a:rPr lang="es-ES" b="1" dirty="0"/>
              <a:t>      T(x) = 10111000101001100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1277264" y="6581001"/>
            <a:ext cx="32031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 https://youtu.be/gQK9nROFX20</a:t>
            </a:r>
            <a:endParaRPr lang="es-MX" sz="1200" dirty="0"/>
          </a:p>
        </p:txBody>
      </p:sp>
      <p:graphicFrame>
        <p:nvGraphicFramePr>
          <p:cNvPr id="6" name="Tab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4210473"/>
              </p:ext>
            </p:extLst>
          </p:nvPr>
        </p:nvGraphicFramePr>
        <p:xfrm>
          <a:off x="1277264" y="2429435"/>
          <a:ext cx="9917867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9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s-ES" dirty="0"/>
                        <a:t>Bit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2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3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4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5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6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7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8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9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12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13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14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15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16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17</a:t>
                      </a:r>
                      <a:endParaRPr lang="es-MX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ES" dirty="0"/>
                        <a:t>1’s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FF0000"/>
                          </a:solidFill>
                        </a:rPr>
                        <a:t>H</a:t>
                      </a:r>
                      <a:endParaRPr lang="es-MX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FF0000"/>
                          </a:solidFill>
                        </a:rPr>
                        <a:t>H</a:t>
                      </a:r>
                      <a:endParaRPr lang="es-MX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FF0000"/>
                          </a:solidFill>
                        </a:rPr>
                        <a:t>H</a:t>
                      </a:r>
                      <a:endParaRPr lang="es-MX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FF0000"/>
                          </a:solidFill>
                        </a:rPr>
                        <a:t>H</a:t>
                      </a:r>
                      <a:endParaRPr lang="es-MX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FF0000"/>
                          </a:solidFill>
                        </a:rPr>
                        <a:t>H</a:t>
                      </a:r>
                      <a:endParaRPr lang="es-MX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s-MX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es-MX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s-MX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6</a:t>
                      </a:r>
                      <a:endParaRPr lang="es-MX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00B050"/>
                          </a:solidFill>
                        </a:rPr>
                        <a:t>2</a:t>
                      </a:r>
                      <a:endParaRPr lang="es-MX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s-MX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4</a:t>
                      </a:r>
                      <a:endParaRPr lang="es-MX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00B050"/>
                          </a:solidFill>
                        </a:rPr>
                        <a:t>4</a:t>
                      </a:r>
                      <a:endParaRPr lang="es-MX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s-MX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3</a:t>
                      </a:r>
                      <a:endParaRPr lang="es-MX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00B050"/>
                          </a:solidFill>
                        </a:rPr>
                        <a:t>8</a:t>
                      </a:r>
                      <a:endParaRPr lang="es-MX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s-MX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4</a:t>
                      </a:r>
                      <a:endParaRPr lang="es-MX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00B050"/>
                          </a:solidFill>
                        </a:rPr>
                        <a:t>16</a:t>
                      </a:r>
                      <a:endParaRPr lang="es-MX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s-MX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es-MX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222868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Control de error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94641" y="1264555"/>
            <a:ext cx="10709971" cy="4535251"/>
          </a:xfrm>
        </p:spPr>
        <p:txBody>
          <a:bodyPr>
            <a:normAutofit/>
          </a:bodyPr>
          <a:lstStyle/>
          <a:p>
            <a:pPr algn="just"/>
            <a:endParaRPr lang="es-ES" b="1" dirty="0"/>
          </a:p>
          <a:p>
            <a:pPr algn="just"/>
            <a:r>
              <a:rPr lang="es-ES" b="1" dirty="0"/>
              <a:t>Código de </a:t>
            </a:r>
            <a:r>
              <a:rPr lang="es-ES" b="1" dirty="0" err="1"/>
              <a:t>Hamming</a:t>
            </a:r>
            <a:r>
              <a:rPr lang="es-ES" b="1" dirty="0"/>
              <a:t> (Verificación). Dado T(x) se recalcula la paridad de cada uno de los bits de </a:t>
            </a:r>
            <a:r>
              <a:rPr lang="es-ES" b="1" dirty="0" err="1"/>
              <a:t>Hamming</a:t>
            </a:r>
            <a:r>
              <a:rPr lang="es-ES" b="1" dirty="0"/>
              <a:t> considerando lo siguiente:</a:t>
            </a:r>
          </a:p>
          <a:p>
            <a:pPr marL="0" indent="0" algn="just">
              <a:buNone/>
            </a:pPr>
            <a:r>
              <a:rPr lang="es-ES" b="1" dirty="0"/>
              <a:t>  </a:t>
            </a:r>
          </a:p>
          <a:p>
            <a:pPr marL="361950" indent="-361950" algn="just">
              <a:buNone/>
            </a:pPr>
            <a:r>
              <a:rPr lang="es-ES" b="1" dirty="0"/>
              <a:t>  + Si la paridad de todos los bits de </a:t>
            </a:r>
            <a:r>
              <a:rPr lang="es-ES" b="1" dirty="0" err="1"/>
              <a:t>Hamming</a:t>
            </a:r>
            <a:r>
              <a:rPr lang="es-ES" b="1" dirty="0"/>
              <a:t> es par, se considera la trama recibida como </a:t>
            </a:r>
            <a:r>
              <a:rPr lang="es-ES" b="1" u="sng" dirty="0"/>
              <a:t>correcta</a:t>
            </a:r>
            <a:r>
              <a:rPr lang="es-ES" b="1" dirty="0"/>
              <a:t>.</a:t>
            </a:r>
          </a:p>
          <a:p>
            <a:pPr marL="361950" indent="-361950" algn="just">
              <a:buNone/>
            </a:pPr>
            <a:r>
              <a:rPr lang="es-ES" b="1" dirty="0"/>
              <a:t>  + Si la paridad de uno o más bits de </a:t>
            </a:r>
            <a:r>
              <a:rPr lang="es-ES" b="1" dirty="0" err="1"/>
              <a:t>Hamming</a:t>
            </a:r>
            <a:r>
              <a:rPr lang="es-ES" b="1" dirty="0"/>
              <a:t> es impar, se considerará la trama como incorrecta y posiblemente se pueda obtener el bit equivocado (cuando solo hay un bit equivocado).</a:t>
            </a:r>
          </a:p>
          <a:p>
            <a:pPr marL="0" indent="0" algn="just">
              <a:buNone/>
            </a:pPr>
            <a:r>
              <a:rPr lang="es-ES" b="1" dirty="0"/>
              <a:t> </a:t>
            </a:r>
          </a:p>
          <a:p>
            <a:pPr marL="0" indent="0" algn="just">
              <a:buNone/>
            </a:pPr>
            <a:endParaRPr lang="es-ES" b="1" dirty="0"/>
          </a:p>
        </p:txBody>
      </p:sp>
      <p:sp>
        <p:nvSpPr>
          <p:cNvPr id="5" name="CuadroTexto 4"/>
          <p:cNvSpPr txBox="1"/>
          <p:nvPr/>
        </p:nvSpPr>
        <p:spPr>
          <a:xfrm>
            <a:off x="1277264" y="6581001"/>
            <a:ext cx="32031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 https://youtu.be/gQK9nROFX20</a:t>
            </a:r>
            <a:endParaRPr lang="es-MX" sz="1200" dirty="0"/>
          </a:p>
        </p:txBody>
      </p:sp>
    </p:spTree>
    <p:extLst>
      <p:ext uri="{BB962C8B-B14F-4D97-AF65-F5344CB8AC3E}">
        <p14:creationId xmlns:p14="http://schemas.microsoft.com/office/powerpoint/2010/main" val="264664111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Control de error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94641" y="1264555"/>
            <a:ext cx="10709971" cy="5203480"/>
          </a:xfrm>
        </p:spPr>
        <p:txBody>
          <a:bodyPr>
            <a:normAutofit/>
          </a:bodyPr>
          <a:lstStyle/>
          <a:p>
            <a:pPr algn="just"/>
            <a:endParaRPr lang="es-ES" b="1" dirty="0"/>
          </a:p>
          <a:p>
            <a:pPr algn="just"/>
            <a:r>
              <a:rPr lang="es-ES" b="1" dirty="0"/>
              <a:t>Ej. validamos  T(x) = 10111000101001100</a:t>
            </a:r>
          </a:p>
          <a:p>
            <a:pPr marL="0" indent="0" algn="just">
              <a:buNone/>
            </a:pPr>
            <a:r>
              <a:rPr lang="es-ES" b="1" dirty="0"/>
              <a:t> </a:t>
            </a:r>
          </a:p>
          <a:p>
            <a:pPr marL="0" indent="0" algn="just">
              <a:buNone/>
            </a:pPr>
            <a:endParaRPr lang="es-ES" b="1" dirty="0"/>
          </a:p>
          <a:p>
            <a:pPr marL="0" indent="0" algn="just">
              <a:buNone/>
            </a:pPr>
            <a:endParaRPr lang="es-ES" b="1" dirty="0"/>
          </a:p>
          <a:p>
            <a:pPr marL="0" indent="0" algn="just">
              <a:buNone/>
            </a:pPr>
            <a:endParaRPr lang="es-ES" b="1" dirty="0"/>
          </a:p>
          <a:p>
            <a:pPr marL="0" indent="0" algn="just">
              <a:buNone/>
            </a:pPr>
            <a:endParaRPr lang="es-ES" b="1" dirty="0"/>
          </a:p>
          <a:p>
            <a:pPr marL="0" indent="0" algn="just">
              <a:buNone/>
            </a:pPr>
            <a:endParaRPr lang="es-ES" b="1" dirty="0"/>
          </a:p>
          <a:p>
            <a:pPr marL="0" indent="0" algn="just">
              <a:buNone/>
            </a:pPr>
            <a:endParaRPr lang="es-ES" b="1" dirty="0"/>
          </a:p>
          <a:p>
            <a:pPr marL="0" indent="0" algn="just">
              <a:buNone/>
            </a:pPr>
            <a:endParaRPr lang="es-ES" b="1" dirty="0"/>
          </a:p>
        </p:txBody>
      </p:sp>
      <p:sp>
        <p:nvSpPr>
          <p:cNvPr id="5" name="CuadroTexto 4"/>
          <p:cNvSpPr txBox="1"/>
          <p:nvPr/>
        </p:nvSpPr>
        <p:spPr>
          <a:xfrm>
            <a:off x="1277264" y="6581001"/>
            <a:ext cx="32031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 https://youtu.be/gQK9nROFX20</a:t>
            </a:r>
            <a:endParaRPr lang="es-MX" sz="1200" dirty="0"/>
          </a:p>
        </p:txBody>
      </p:sp>
      <p:graphicFrame>
        <p:nvGraphicFramePr>
          <p:cNvPr id="6" name="Tab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8503287"/>
              </p:ext>
            </p:extLst>
          </p:nvPr>
        </p:nvGraphicFramePr>
        <p:xfrm>
          <a:off x="403205" y="2402541"/>
          <a:ext cx="9917867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9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s-ES" dirty="0"/>
                        <a:t>Bit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2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3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4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5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6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7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8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9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12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13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14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15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16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17</a:t>
                      </a:r>
                      <a:endParaRPr lang="es-MX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ES" dirty="0"/>
                        <a:t>1’s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s-MX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s-MX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s-MX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s-MX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s-MX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s-MX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es-MX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s-MX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6</a:t>
                      </a:r>
                      <a:endParaRPr lang="es-MX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00B050"/>
                          </a:solidFill>
                        </a:rPr>
                        <a:t>2</a:t>
                      </a:r>
                      <a:endParaRPr lang="es-MX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s-MX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4</a:t>
                      </a:r>
                      <a:endParaRPr lang="es-MX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00B050"/>
                          </a:solidFill>
                        </a:rPr>
                        <a:t>4</a:t>
                      </a:r>
                      <a:endParaRPr lang="es-MX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s-MX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4</a:t>
                      </a:r>
                      <a:endParaRPr lang="es-MX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00B050"/>
                          </a:solidFill>
                        </a:rPr>
                        <a:t>8</a:t>
                      </a:r>
                      <a:endParaRPr lang="es-MX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s-MX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4</a:t>
                      </a:r>
                      <a:endParaRPr lang="es-MX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00B050"/>
                          </a:solidFill>
                        </a:rPr>
                        <a:t>16</a:t>
                      </a:r>
                      <a:endParaRPr lang="es-MX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s-MX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es-MX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CuadroTexto 6"/>
          <p:cNvSpPr txBox="1"/>
          <p:nvPr/>
        </p:nvSpPr>
        <p:spPr>
          <a:xfrm>
            <a:off x="10374107" y="3166732"/>
            <a:ext cx="10514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dk1"/>
                </a:solidFill>
              </a:rPr>
              <a:t>Par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10365143" y="3910800"/>
            <a:ext cx="10514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dk1"/>
                </a:solidFill>
              </a:rPr>
              <a:t>Par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10378590" y="3534284"/>
            <a:ext cx="10514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dk1"/>
                </a:solidFill>
              </a:rPr>
              <a:t>Par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10378590" y="4273869"/>
            <a:ext cx="10514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dk1"/>
                </a:solidFill>
              </a:rPr>
              <a:t>Par</a:t>
            </a:r>
          </a:p>
        </p:txBody>
      </p:sp>
      <p:sp>
        <p:nvSpPr>
          <p:cNvPr id="11" name="CuadroTexto 10"/>
          <p:cNvSpPr txBox="1"/>
          <p:nvPr/>
        </p:nvSpPr>
        <p:spPr>
          <a:xfrm>
            <a:off x="10405484" y="4663832"/>
            <a:ext cx="10514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dk1"/>
                </a:solidFill>
              </a:rPr>
              <a:t>Par</a:t>
            </a:r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5566" y="3920515"/>
            <a:ext cx="658091" cy="658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32533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Control de error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94641" y="1264555"/>
            <a:ext cx="10709971" cy="5203480"/>
          </a:xfrm>
        </p:spPr>
        <p:txBody>
          <a:bodyPr>
            <a:normAutofit/>
          </a:bodyPr>
          <a:lstStyle/>
          <a:p>
            <a:pPr algn="just"/>
            <a:endParaRPr lang="es-ES" b="1" dirty="0"/>
          </a:p>
          <a:p>
            <a:pPr algn="just"/>
            <a:r>
              <a:rPr lang="es-ES" b="1" dirty="0"/>
              <a:t>Ej. suponiendo que uno de los bits de T(x) se modificara en tránsito</a:t>
            </a:r>
          </a:p>
          <a:p>
            <a:pPr marL="0" indent="0" algn="just">
              <a:buNone/>
            </a:pPr>
            <a:r>
              <a:rPr lang="es-ES" b="1" dirty="0"/>
              <a:t>                     T(x) = 101110001</a:t>
            </a:r>
            <a:r>
              <a:rPr lang="es-ES" b="1" dirty="0">
                <a:solidFill>
                  <a:srgbClr val="FF0000"/>
                </a:solidFill>
              </a:rPr>
              <a:t>1</a:t>
            </a:r>
            <a:r>
              <a:rPr lang="es-ES" b="1" dirty="0"/>
              <a:t>1001100</a:t>
            </a:r>
          </a:p>
          <a:p>
            <a:pPr marL="0" indent="0" algn="just">
              <a:buNone/>
            </a:pPr>
            <a:r>
              <a:rPr lang="es-ES" b="1" dirty="0"/>
              <a:t> </a:t>
            </a:r>
          </a:p>
          <a:p>
            <a:pPr marL="0" indent="0" algn="just">
              <a:buNone/>
            </a:pPr>
            <a:endParaRPr lang="es-ES" b="1" dirty="0"/>
          </a:p>
          <a:p>
            <a:pPr marL="0" indent="0" algn="just">
              <a:buNone/>
            </a:pPr>
            <a:endParaRPr lang="es-ES" b="1" dirty="0"/>
          </a:p>
          <a:p>
            <a:pPr marL="0" indent="0" algn="just">
              <a:buNone/>
            </a:pPr>
            <a:endParaRPr lang="es-ES" b="1" dirty="0"/>
          </a:p>
          <a:p>
            <a:pPr marL="0" indent="0" algn="just">
              <a:buNone/>
            </a:pPr>
            <a:endParaRPr lang="es-ES" b="1" dirty="0"/>
          </a:p>
          <a:p>
            <a:pPr marL="0" indent="0" algn="just">
              <a:buNone/>
            </a:pPr>
            <a:endParaRPr lang="es-ES" b="1" dirty="0"/>
          </a:p>
          <a:p>
            <a:pPr marL="0" indent="0" algn="just">
              <a:buNone/>
            </a:pPr>
            <a:endParaRPr lang="es-ES" b="1" dirty="0"/>
          </a:p>
          <a:p>
            <a:pPr marL="0" indent="0" algn="just">
              <a:buNone/>
            </a:pPr>
            <a:r>
              <a:rPr lang="es-ES" b="1" dirty="0"/>
              <a:t>            +  Bits de </a:t>
            </a:r>
            <a:r>
              <a:rPr lang="es-ES" b="1" dirty="0" err="1"/>
              <a:t>Hamming</a:t>
            </a:r>
            <a:r>
              <a:rPr lang="es-ES" b="1" dirty="0"/>
              <a:t> con error:  2, 8.</a:t>
            </a:r>
          </a:p>
          <a:p>
            <a:pPr marL="0" indent="0" algn="just">
              <a:buNone/>
            </a:pPr>
            <a:r>
              <a:rPr lang="es-ES" b="1" dirty="0"/>
              <a:t>            +  El bit de error está en la posición: 8 + 2 = 10</a:t>
            </a:r>
          </a:p>
          <a:p>
            <a:pPr marL="0" indent="0" algn="just">
              <a:buNone/>
            </a:pPr>
            <a:endParaRPr lang="es-ES" b="1" dirty="0"/>
          </a:p>
        </p:txBody>
      </p:sp>
      <p:sp>
        <p:nvSpPr>
          <p:cNvPr id="5" name="CuadroTexto 4"/>
          <p:cNvSpPr txBox="1"/>
          <p:nvPr/>
        </p:nvSpPr>
        <p:spPr>
          <a:xfrm>
            <a:off x="1277264" y="6581001"/>
            <a:ext cx="32031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 https://youtu.be/gQK9nROFX20</a:t>
            </a:r>
            <a:endParaRPr lang="es-MX" sz="1200" dirty="0"/>
          </a:p>
        </p:txBody>
      </p:sp>
      <p:graphicFrame>
        <p:nvGraphicFramePr>
          <p:cNvPr id="6" name="Tab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1025423"/>
              </p:ext>
            </p:extLst>
          </p:nvPr>
        </p:nvGraphicFramePr>
        <p:xfrm>
          <a:off x="403205" y="2402541"/>
          <a:ext cx="9917867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9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s-ES" dirty="0"/>
                        <a:t>Bit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2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3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4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5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6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7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8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9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12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13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14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15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16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17</a:t>
                      </a:r>
                      <a:endParaRPr lang="es-MX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ES" dirty="0"/>
                        <a:t>1’s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s-MX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s-MX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s-MX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s-MX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s-MX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s-MX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es-MX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s-MX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6</a:t>
                      </a:r>
                      <a:endParaRPr lang="es-MX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00B050"/>
                          </a:solidFill>
                        </a:rPr>
                        <a:t>2</a:t>
                      </a:r>
                      <a:endParaRPr lang="es-MX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s-MX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es-MX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00B050"/>
                          </a:solidFill>
                        </a:rPr>
                        <a:t>4</a:t>
                      </a:r>
                      <a:endParaRPr lang="es-MX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s-MX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4</a:t>
                      </a:r>
                      <a:endParaRPr lang="es-MX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00B050"/>
                          </a:solidFill>
                        </a:rPr>
                        <a:t>8</a:t>
                      </a:r>
                      <a:endParaRPr lang="es-MX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s-MX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es-MX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00B050"/>
                          </a:solidFill>
                        </a:rPr>
                        <a:t>16</a:t>
                      </a:r>
                      <a:endParaRPr lang="es-MX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s-MX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es-MX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CuadroTexto 6"/>
          <p:cNvSpPr txBox="1"/>
          <p:nvPr/>
        </p:nvSpPr>
        <p:spPr>
          <a:xfrm>
            <a:off x="10374107" y="3166732"/>
            <a:ext cx="10514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dk1"/>
                </a:solidFill>
              </a:rPr>
              <a:t>Par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10365143" y="3910800"/>
            <a:ext cx="10514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dk1"/>
                </a:solidFill>
              </a:rPr>
              <a:t>Par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10378590" y="3534284"/>
            <a:ext cx="10514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dk1"/>
                </a:solidFill>
              </a:rPr>
              <a:t>Impar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10378590" y="4273869"/>
            <a:ext cx="10514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dk1"/>
                </a:solidFill>
              </a:rPr>
              <a:t>Impar</a:t>
            </a:r>
          </a:p>
        </p:txBody>
      </p:sp>
      <p:sp>
        <p:nvSpPr>
          <p:cNvPr id="11" name="CuadroTexto 10"/>
          <p:cNvSpPr txBox="1"/>
          <p:nvPr/>
        </p:nvSpPr>
        <p:spPr>
          <a:xfrm>
            <a:off x="10405484" y="4663832"/>
            <a:ext cx="10514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dk1"/>
                </a:solidFill>
              </a:rPr>
              <a:t>Par</a:t>
            </a:r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6557" y="4014819"/>
            <a:ext cx="752199" cy="752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20062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Control de error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94641" y="1264555"/>
            <a:ext cx="10709971" cy="4535251"/>
          </a:xfrm>
        </p:spPr>
        <p:txBody>
          <a:bodyPr>
            <a:normAutofit/>
          </a:bodyPr>
          <a:lstStyle/>
          <a:p>
            <a:pPr algn="just"/>
            <a:endParaRPr lang="es-ES" b="1" dirty="0"/>
          </a:p>
          <a:p>
            <a:pPr algn="just"/>
            <a:r>
              <a:rPr lang="es-ES" b="1" dirty="0"/>
              <a:t>Ejercicio: Dado T(x) = 100111001101101, identificar si la trama contiene o no error.</a:t>
            </a:r>
          </a:p>
          <a:p>
            <a:pPr marL="0" indent="0" algn="just">
              <a:buNone/>
            </a:pPr>
            <a:r>
              <a:rPr lang="es-ES" b="1" dirty="0"/>
              <a:t>      </a:t>
            </a:r>
          </a:p>
          <a:p>
            <a:pPr marL="0" indent="0" algn="just">
              <a:buNone/>
            </a:pPr>
            <a:r>
              <a:rPr lang="es-ES" b="1" dirty="0"/>
              <a:t>     a) Trama sin errores</a:t>
            </a:r>
          </a:p>
          <a:p>
            <a:pPr marL="0" indent="0" algn="just">
              <a:buNone/>
            </a:pPr>
            <a:endParaRPr lang="es-ES" b="1" dirty="0"/>
          </a:p>
          <a:p>
            <a:pPr marL="0" indent="0" algn="just">
              <a:buNone/>
            </a:pPr>
            <a:r>
              <a:rPr lang="es-ES" b="1" dirty="0"/>
              <a:t>     b) Error en el bit  15</a:t>
            </a:r>
          </a:p>
          <a:p>
            <a:pPr marL="0" indent="0" algn="just">
              <a:buNone/>
            </a:pPr>
            <a:endParaRPr lang="es-ES" b="1" dirty="0"/>
          </a:p>
          <a:p>
            <a:pPr marL="0" indent="0" algn="just">
              <a:buNone/>
            </a:pPr>
            <a:r>
              <a:rPr lang="es-ES" b="1" dirty="0"/>
              <a:t>     c) Error en el bit  2</a:t>
            </a:r>
          </a:p>
          <a:p>
            <a:pPr marL="0" indent="0" algn="just">
              <a:buNone/>
            </a:pPr>
            <a:endParaRPr lang="es-ES" b="1" dirty="0"/>
          </a:p>
          <a:p>
            <a:pPr marL="0" indent="0" algn="just">
              <a:buNone/>
            </a:pPr>
            <a:r>
              <a:rPr lang="es-ES" b="1" dirty="0"/>
              <a:t>     d) Error en el bit  7</a:t>
            </a:r>
          </a:p>
          <a:p>
            <a:pPr marL="0" indent="0" algn="just">
              <a:buNone/>
            </a:pPr>
            <a:r>
              <a:rPr lang="es-ES" b="1" dirty="0"/>
              <a:t> </a:t>
            </a:r>
          </a:p>
          <a:p>
            <a:pPr marL="0" indent="0" algn="just">
              <a:buNone/>
            </a:pPr>
            <a:endParaRPr lang="es-ES" b="1" dirty="0"/>
          </a:p>
        </p:txBody>
      </p:sp>
      <p:sp>
        <p:nvSpPr>
          <p:cNvPr id="5" name="CuadroTexto 4"/>
          <p:cNvSpPr txBox="1"/>
          <p:nvPr/>
        </p:nvSpPr>
        <p:spPr>
          <a:xfrm>
            <a:off x="1277264" y="6581001"/>
            <a:ext cx="32031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 https://youtu.be/gQK9nROFX20</a:t>
            </a:r>
            <a:endParaRPr lang="es-MX" sz="1200" dirty="0"/>
          </a:p>
        </p:txBody>
      </p:sp>
    </p:spTree>
    <p:extLst>
      <p:ext uri="{BB962C8B-B14F-4D97-AF65-F5344CB8AC3E}">
        <p14:creationId xmlns:p14="http://schemas.microsoft.com/office/powerpoint/2010/main" val="241243917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Control de error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94641" y="1264555"/>
            <a:ext cx="10709971" cy="5203480"/>
          </a:xfrm>
        </p:spPr>
        <p:txBody>
          <a:bodyPr>
            <a:normAutofit/>
          </a:bodyPr>
          <a:lstStyle/>
          <a:p>
            <a:pPr algn="just"/>
            <a:endParaRPr lang="es-ES" b="1" dirty="0"/>
          </a:p>
          <a:p>
            <a:pPr algn="just"/>
            <a:r>
              <a:rPr lang="es-ES" b="1" dirty="0"/>
              <a:t>Solución.  Hacemos la verificación de  T(x) = 100111001101101</a:t>
            </a:r>
          </a:p>
          <a:p>
            <a:pPr marL="0" indent="0" algn="just">
              <a:buNone/>
            </a:pPr>
            <a:r>
              <a:rPr lang="es-ES" b="1" dirty="0"/>
              <a:t> </a:t>
            </a:r>
          </a:p>
          <a:p>
            <a:pPr marL="0" indent="0" algn="just">
              <a:buNone/>
            </a:pPr>
            <a:endParaRPr lang="es-ES" b="1" dirty="0"/>
          </a:p>
          <a:p>
            <a:pPr marL="0" indent="0" algn="just">
              <a:buNone/>
            </a:pPr>
            <a:endParaRPr lang="es-ES" b="1" dirty="0"/>
          </a:p>
          <a:p>
            <a:pPr marL="0" indent="0" algn="just">
              <a:buNone/>
            </a:pPr>
            <a:endParaRPr lang="es-ES" b="1" dirty="0"/>
          </a:p>
          <a:p>
            <a:pPr marL="0" indent="0" algn="just">
              <a:buNone/>
            </a:pPr>
            <a:endParaRPr lang="es-ES" b="1" dirty="0"/>
          </a:p>
          <a:p>
            <a:pPr marL="0" indent="0" algn="just">
              <a:buNone/>
            </a:pPr>
            <a:endParaRPr lang="es-ES" b="1" dirty="0"/>
          </a:p>
          <a:p>
            <a:pPr marL="0" indent="0" algn="just">
              <a:buNone/>
            </a:pPr>
            <a:endParaRPr lang="es-ES" b="1" dirty="0"/>
          </a:p>
          <a:p>
            <a:pPr marL="0" indent="0" algn="just">
              <a:buNone/>
            </a:pPr>
            <a:r>
              <a:rPr lang="es-ES" b="1" dirty="0"/>
              <a:t>            +  Bits de </a:t>
            </a:r>
            <a:r>
              <a:rPr lang="es-ES" b="1" dirty="0" err="1"/>
              <a:t>Hamming</a:t>
            </a:r>
            <a:r>
              <a:rPr lang="es-ES" b="1" dirty="0"/>
              <a:t> con error:  1, 2, 8.</a:t>
            </a:r>
          </a:p>
          <a:p>
            <a:pPr marL="0" indent="0" algn="just">
              <a:buNone/>
            </a:pPr>
            <a:r>
              <a:rPr lang="es-ES" b="1" dirty="0"/>
              <a:t>            +  El bit de error está en la posición: 1 + 2 + 8 = 11</a:t>
            </a:r>
          </a:p>
          <a:p>
            <a:pPr marL="0" indent="0" algn="just">
              <a:buNone/>
            </a:pPr>
            <a:endParaRPr lang="es-ES" b="1" dirty="0"/>
          </a:p>
        </p:txBody>
      </p:sp>
      <p:sp>
        <p:nvSpPr>
          <p:cNvPr id="5" name="CuadroTexto 4"/>
          <p:cNvSpPr txBox="1"/>
          <p:nvPr/>
        </p:nvSpPr>
        <p:spPr>
          <a:xfrm>
            <a:off x="1277264" y="6581001"/>
            <a:ext cx="32031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 https://youtu.be/gQK9nROFX20</a:t>
            </a:r>
            <a:endParaRPr lang="es-MX" sz="1200" dirty="0"/>
          </a:p>
        </p:txBody>
      </p:sp>
      <p:graphicFrame>
        <p:nvGraphicFramePr>
          <p:cNvPr id="6" name="Tab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763923"/>
              </p:ext>
            </p:extLst>
          </p:nvPr>
        </p:nvGraphicFramePr>
        <p:xfrm>
          <a:off x="403205" y="2402541"/>
          <a:ext cx="8873881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9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521993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s-ES" dirty="0"/>
                        <a:t>Bit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2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3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4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5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6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7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8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9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12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13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14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15</a:t>
                      </a:r>
                      <a:endParaRPr lang="es-MX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ES" dirty="0"/>
                        <a:t>1’s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s-MX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s-MX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s-MX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s-MX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s-MX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es-MX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s-MX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5</a:t>
                      </a:r>
                      <a:endParaRPr lang="es-MX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00B050"/>
                          </a:solidFill>
                        </a:rPr>
                        <a:t>2</a:t>
                      </a:r>
                      <a:endParaRPr lang="es-MX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s-MX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es-MX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00B050"/>
                          </a:solidFill>
                        </a:rPr>
                        <a:t>4</a:t>
                      </a:r>
                      <a:endParaRPr lang="es-MX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s-MX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6</a:t>
                      </a:r>
                      <a:endParaRPr lang="es-MX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00B050"/>
                          </a:solidFill>
                        </a:rPr>
                        <a:t>8</a:t>
                      </a:r>
                      <a:endParaRPr lang="es-MX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s-MX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es-MX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CuadroTexto 6"/>
          <p:cNvSpPr txBox="1"/>
          <p:nvPr/>
        </p:nvSpPr>
        <p:spPr>
          <a:xfrm>
            <a:off x="9271453" y="3166732"/>
            <a:ext cx="10514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dk1"/>
                </a:solidFill>
              </a:rPr>
              <a:t>Impar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9262489" y="3910800"/>
            <a:ext cx="10514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dk1"/>
                </a:solidFill>
              </a:rPr>
              <a:t>Par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9275936" y="3534284"/>
            <a:ext cx="10514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dk1"/>
                </a:solidFill>
              </a:rPr>
              <a:t>Impar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9275936" y="4273869"/>
            <a:ext cx="10514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dk1"/>
                </a:solidFill>
              </a:rPr>
              <a:t>Impar</a:t>
            </a:r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6557" y="4014819"/>
            <a:ext cx="752199" cy="752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43927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Control de error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589212" y="1557900"/>
            <a:ext cx="8915400" cy="4855912"/>
          </a:xfrm>
        </p:spPr>
        <p:txBody>
          <a:bodyPr/>
          <a:lstStyle/>
          <a:p>
            <a:r>
              <a:rPr lang="es-ES" b="1" dirty="0"/>
              <a:t>Bit de paridad</a:t>
            </a:r>
          </a:p>
          <a:p>
            <a:pPr marL="0" indent="0">
              <a:buNone/>
            </a:pPr>
            <a:r>
              <a:rPr lang="es-ES" b="1" dirty="0"/>
              <a:t>+ Es un método de detección de error muy utilizado en comunicación serial</a:t>
            </a:r>
          </a:p>
          <a:p>
            <a:pPr marL="174625" indent="-174625">
              <a:buNone/>
            </a:pPr>
            <a:r>
              <a:rPr lang="es-ES" b="1" dirty="0"/>
              <a:t>+ Muy poco utilizado dado que solo brinda una redundancia de un bit, lo que lo vuelve poco fiable en medios de transmisión sensibles al ruido.</a:t>
            </a:r>
          </a:p>
          <a:p>
            <a:pPr marL="174625" indent="-174625">
              <a:buNone/>
            </a:pPr>
            <a:endParaRPr lang="es-ES" b="1" dirty="0"/>
          </a:p>
          <a:p>
            <a:pPr marL="174625" indent="-174625">
              <a:buNone/>
            </a:pPr>
            <a:r>
              <a:rPr lang="es-ES" b="1" dirty="0"/>
              <a:t>+ Sea M(x) una matriz de tamaño [1,m] con el mensaje de tamaño m bits de longitud a ser enviado, se agregará 1 bit de paridad al final para formar la trama T(x) de tamaño [1,m+1] a ser transmitida.</a:t>
            </a:r>
          </a:p>
          <a:p>
            <a:pPr marL="174625" indent="-174625">
              <a:buNone/>
            </a:pPr>
            <a:r>
              <a:rPr lang="es-ES" b="1" dirty="0"/>
              <a:t>+ T(x) se calcula a partir de:</a:t>
            </a:r>
          </a:p>
          <a:p>
            <a:pPr marL="174625" indent="-174625">
              <a:buNone/>
            </a:pPr>
            <a:r>
              <a:rPr lang="es-ES" b="1" dirty="0"/>
              <a:t>                                          T(x)= M(x)G(x) ; donde</a:t>
            </a:r>
          </a:p>
          <a:p>
            <a:pPr marL="174625" indent="-174625">
              <a:buNone/>
            </a:pPr>
            <a:endParaRPr lang="es-ES" b="1" dirty="0"/>
          </a:p>
          <a:p>
            <a:pPr marL="174625" indent="-174625">
              <a:buNone/>
            </a:pPr>
            <a:r>
              <a:rPr lang="es-ES" b="1" dirty="0"/>
              <a:t>  G(x) es la matriz generadora de tamaño [m,m+1] y está formada por la matriz identidad, más una columna de 1’s.</a:t>
            </a:r>
            <a:endParaRPr lang="es-MX" b="1" dirty="0"/>
          </a:p>
        </p:txBody>
      </p:sp>
      <p:sp>
        <p:nvSpPr>
          <p:cNvPr id="4" name="Rectángulo 3"/>
          <p:cNvSpPr/>
          <p:nvPr/>
        </p:nvSpPr>
        <p:spPr>
          <a:xfrm>
            <a:off x="2725270" y="6413812"/>
            <a:ext cx="791135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400" dirty="0">
                <a:hlinkClick r:id="rId2"/>
              </a:rPr>
              <a:t>* Fuente: https://www.sciencedirect.com/topics/engineering/parity-bit</a:t>
            </a:r>
            <a:endParaRPr lang="es-MX" sz="1400" dirty="0"/>
          </a:p>
        </p:txBody>
      </p:sp>
    </p:spTree>
    <p:extLst>
      <p:ext uri="{BB962C8B-B14F-4D97-AF65-F5344CB8AC3E}">
        <p14:creationId xmlns:p14="http://schemas.microsoft.com/office/powerpoint/2010/main" val="118589615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Control de error</a:t>
            </a:r>
            <a:endParaRPr lang="es-MX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2589212" y="1557900"/>
                <a:ext cx="8915400" cy="4855912"/>
              </a:xfrm>
            </p:spPr>
            <p:txBody>
              <a:bodyPr/>
              <a:lstStyle/>
              <a:p>
                <a:r>
                  <a:rPr lang="es-ES" b="1" dirty="0"/>
                  <a:t>Bit de paridad</a:t>
                </a:r>
              </a:p>
              <a:p>
                <a:pPr marL="0" indent="0">
                  <a:buNone/>
                </a:pPr>
                <a:r>
                  <a:rPr lang="es-ES" b="1" dirty="0"/>
                  <a:t>+ Ej. Dado M(x) =“10101”, obtener T(x).</a:t>
                </a:r>
              </a:p>
              <a:p>
                <a:pPr marL="0" indent="0">
                  <a:buNone/>
                </a:pPr>
                <a:endParaRPr lang="es-ES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s-E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MX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𝟏𝟎𝟏𝟎𝟏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s-MX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s-ES" b="1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s-ES" b="1" i="1" smtClean="0">
                                  <a:latin typeface="Cambria Math" panose="02040503050406030204" pitchFamily="18" charset="0"/>
                                </a:rPr>
                                <m:t>𝟏𝟎𝟎𝟎𝟎𝟏</m:t>
                              </m:r>
                            </m:e>
                            <m:e>
                              <m:r>
                                <a:rPr lang="es-ES" b="1" i="1" smtClean="0">
                                  <a:latin typeface="Cambria Math" panose="02040503050406030204" pitchFamily="18" charset="0"/>
                                </a:rPr>
                                <m:t>𝟎𝟏𝟎𝟎𝟎𝟏</m:t>
                              </m:r>
                            </m:e>
                            <m:e>
                              <m:r>
                                <a:rPr lang="es-ES" b="1" i="1" smtClean="0">
                                  <a:latin typeface="Cambria Math" panose="02040503050406030204" pitchFamily="18" charset="0"/>
                                </a:rPr>
                                <m:t>𝟎𝟎𝟏𝟎𝟎𝟏</m:t>
                              </m:r>
                            </m:e>
                            <m:e>
                              <m:r>
                                <a:rPr lang="es-ES" b="1" i="1" smtClean="0">
                                  <a:latin typeface="Cambria Math" panose="02040503050406030204" pitchFamily="18" charset="0"/>
                                </a:rPr>
                                <m:t>𝟎𝟎𝟎𝟏𝟎𝟏</m:t>
                              </m:r>
                            </m:e>
                            <m:e>
                              <m:r>
                                <a:rPr lang="es-ES" b="1" i="1" smtClean="0">
                                  <a:latin typeface="Cambria Math" panose="02040503050406030204" pitchFamily="18" charset="0"/>
                                </a:rPr>
                                <m:t>𝟎𝟎𝟎𝟎𝟏𝟏</m:t>
                              </m:r>
                            </m:e>
                          </m:eqArr>
                        </m:e>
                      </m:d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s-E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𝟏𝟎𝟏𝟎𝟏</m:t>
                          </m:r>
                          <m:r>
                            <a:rPr lang="es-E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s-MX" b="1" dirty="0"/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89212" y="1557900"/>
                <a:ext cx="8915400" cy="4855912"/>
              </a:xfrm>
              <a:blipFill rotWithShape="0">
                <a:blip r:embed="rId2"/>
                <a:stretch>
                  <a:fillRect l="-616" t="-75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ángulo 3"/>
          <p:cNvSpPr/>
          <p:nvPr/>
        </p:nvSpPr>
        <p:spPr>
          <a:xfrm>
            <a:off x="2725270" y="6413812"/>
            <a:ext cx="791135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400" dirty="0">
                <a:hlinkClick r:id="rId3"/>
              </a:rPr>
              <a:t>* Fuente: https://www.sciencedirect.com/topics/engineering/parity-bit</a:t>
            </a:r>
            <a:endParaRPr lang="es-MX" sz="1400" dirty="0"/>
          </a:p>
        </p:txBody>
      </p:sp>
    </p:spTree>
    <p:extLst>
      <p:ext uri="{BB962C8B-B14F-4D97-AF65-F5344CB8AC3E}">
        <p14:creationId xmlns:p14="http://schemas.microsoft.com/office/powerpoint/2010/main" val="54515972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Control de error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589212" y="1557900"/>
            <a:ext cx="8915400" cy="4855912"/>
          </a:xfrm>
        </p:spPr>
        <p:txBody>
          <a:bodyPr/>
          <a:lstStyle/>
          <a:p>
            <a:r>
              <a:rPr lang="es-ES" b="1" dirty="0"/>
              <a:t>Bit de paridad (Verificación)</a:t>
            </a:r>
          </a:p>
          <a:p>
            <a:pPr marL="0" indent="0">
              <a:buNone/>
            </a:pPr>
            <a:r>
              <a:rPr lang="es-ES" b="1" dirty="0"/>
              <a:t>+ Dado T(x), se verifica la trama mediante el bit síndrome S, el cual se obtiene de:</a:t>
            </a:r>
          </a:p>
          <a:p>
            <a:pPr marL="0" indent="0">
              <a:buNone/>
            </a:pPr>
            <a:endParaRPr lang="es-ES" b="1" dirty="0"/>
          </a:p>
          <a:p>
            <a:pPr marL="0" indent="0">
              <a:buNone/>
            </a:pPr>
            <a:r>
              <a:rPr lang="es-ES" b="1" dirty="0"/>
              <a:t>       S = T(x)</a:t>
            </a:r>
            <a:r>
              <a:rPr lang="es-ES" b="1" dirty="0" err="1"/>
              <a:t>H</a:t>
            </a:r>
            <a:r>
              <a:rPr lang="es-ES" b="1" baseline="30000" dirty="0" err="1"/>
              <a:t>t</a:t>
            </a:r>
            <a:r>
              <a:rPr lang="es-ES" b="1" baseline="30000" dirty="0"/>
              <a:t>    </a:t>
            </a:r>
            <a:r>
              <a:rPr lang="es-ES" b="1" dirty="0"/>
              <a:t>; donde </a:t>
            </a:r>
            <a:endParaRPr lang="es-ES" b="1" baseline="30000" dirty="0"/>
          </a:p>
          <a:p>
            <a:pPr marL="0" indent="0">
              <a:buNone/>
            </a:pPr>
            <a:endParaRPr lang="es-ES" b="1" dirty="0"/>
          </a:p>
          <a:p>
            <a:pPr marL="0" indent="0">
              <a:buNone/>
            </a:pPr>
            <a:r>
              <a:rPr lang="es-ES" b="1" dirty="0"/>
              <a:t>      H = Matriz de verificación de paridad, de tamaño [1,m+1]</a:t>
            </a:r>
          </a:p>
          <a:p>
            <a:pPr marL="0" indent="0">
              <a:buNone/>
            </a:pPr>
            <a:r>
              <a:rPr lang="es-ES" b="1" dirty="0"/>
              <a:t>      </a:t>
            </a:r>
            <a:r>
              <a:rPr lang="es-ES" b="1" dirty="0" err="1"/>
              <a:t>H</a:t>
            </a:r>
            <a:r>
              <a:rPr lang="es-ES" b="1" baseline="30000" dirty="0" err="1"/>
              <a:t>t</a:t>
            </a:r>
            <a:r>
              <a:rPr lang="es-ES" b="1" baseline="30000" dirty="0"/>
              <a:t> </a:t>
            </a:r>
            <a:r>
              <a:rPr lang="es-ES" b="1" dirty="0"/>
              <a:t>= Transpuesta de H, de tamaño [m+1,1]</a:t>
            </a:r>
            <a:endParaRPr lang="es-MX" b="1" dirty="0"/>
          </a:p>
        </p:txBody>
      </p:sp>
      <p:sp>
        <p:nvSpPr>
          <p:cNvPr id="4" name="Rectángulo 3"/>
          <p:cNvSpPr/>
          <p:nvPr/>
        </p:nvSpPr>
        <p:spPr>
          <a:xfrm>
            <a:off x="2725270" y="6413812"/>
            <a:ext cx="791135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400" dirty="0">
                <a:hlinkClick r:id="rId2"/>
              </a:rPr>
              <a:t>* Fuente: https://www.sciencedirect.com/topics/engineering/parity-bit</a:t>
            </a:r>
            <a:endParaRPr lang="es-MX" sz="1400" dirty="0"/>
          </a:p>
        </p:txBody>
      </p:sp>
      <p:sp>
        <p:nvSpPr>
          <p:cNvPr id="5" name="Abrir llave 4"/>
          <p:cNvSpPr/>
          <p:nvPr/>
        </p:nvSpPr>
        <p:spPr>
          <a:xfrm>
            <a:off x="5674659" y="2796988"/>
            <a:ext cx="215153" cy="90095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CuadroTexto 5"/>
          <p:cNvSpPr txBox="1"/>
          <p:nvPr/>
        </p:nvSpPr>
        <p:spPr>
          <a:xfrm>
            <a:off x="5782235" y="2882333"/>
            <a:ext cx="41088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Si S=0, la trama no contiene errores</a:t>
            </a:r>
          </a:p>
          <a:p>
            <a:r>
              <a:rPr lang="es-ES" dirty="0"/>
              <a:t>Si S≠0, la trama contiene errores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6630874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Control de error</a:t>
            </a:r>
            <a:endParaRPr lang="es-MX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2589212" y="1557900"/>
                <a:ext cx="8915400" cy="4855912"/>
              </a:xfrm>
            </p:spPr>
            <p:txBody>
              <a:bodyPr/>
              <a:lstStyle/>
              <a:p>
                <a:r>
                  <a:rPr lang="es-ES" b="1" dirty="0"/>
                  <a:t>Bit de paridad</a:t>
                </a:r>
              </a:p>
              <a:p>
                <a:pPr marL="0" indent="0">
                  <a:buNone/>
                </a:pPr>
                <a:r>
                  <a:rPr lang="es-ES" b="1" dirty="0"/>
                  <a:t>+ Ej. Dado T(x) =“101011”, validamos T(x) para obtener S.</a:t>
                </a:r>
              </a:p>
              <a:p>
                <a:pPr marL="0" indent="0">
                  <a:buNone/>
                </a:pPr>
                <a:endParaRPr lang="es-ES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E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𝟏𝟏𝟏𝟏𝟏𝟏</m:t>
                          </m:r>
                        </m:e>
                      </m:d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,  </m:t>
                      </m:r>
                      <m:sSup>
                        <m:sSupPr>
                          <m:ctrlPr>
                            <a:rPr lang="es-E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p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p>
                      </m:sSup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E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s-ES" b="1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s-ES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e>
                              <m:r>
                                <a:rPr lang="es-ES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e>
                              <m:r>
                                <a:rPr lang="es-ES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e>
                              <m:r>
                                <a:rPr lang="es-ES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e>
                              <m:r>
                                <a:rPr lang="es-ES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e>
                              <m:r>
                                <a:rPr lang="es-ES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s-ES" b="1" dirty="0"/>
              </a:p>
              <a:p>
                <a:pPr marL="0" indent="0">
                  <a:buNone/>
                </a:pPr>
                <a:endParaRPr lang="es-ES" b="1" dirty="0"/>
              </a:p>
              <a:p>
                <a:pPr marL="0" indent="0" algn="ctr">
                  <a:buNone/>
                </a:pPr>
                <a:r>
                  <a:rPr lang="es-ES" b="1" dirty="0"/>
                  <a:t>S = T(x)</a:t>
                </a:r>
                <a:r>
                  <a:rPr lang="es-ES" b="1" dirty="0" err="1"/>
                  <a:t>H</a:t>
                </a:r>
                <a:r>
                  <a:rPr lang="es-ES" b="1" baseline="30000" dirty="0" err="1"/>
                  <a:t>t</a:t>
                </a:r>
                <a:r>
                  <a:rPr lang="es-ES" b="1" baseline="30000" dirty="0"/>
                  <a:t> </a:t>
                </a:r>
                <a14:m>
                  <m:oMath xmlns:m="http://schemas.openxmlformats.org/officeDocument/2006/math">
                    <m:r>
                      <a:rPr lang="es-ES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s-MX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𝟏𝟎𝟏𝟎𝟏𝟏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s-MX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s-ES" b="1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s-E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r>
                              <a:rPr lang="es-E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r>
                              <a:rPr lang="es-E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r>
                              <a:rPr lang="es-E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r>
                              <a:rPr lang="es-E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r>
                              <a:rPr lang="es-E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eqArr>
                      </m:e>
                    </m:d>
                    <m:r>
                      <a:rPr lang="es-E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s-MX" b="1" dirty="0"/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89212" y="1557900"/>
                <a:ext cx="8915400" cy="4855912"/>
              </a:xfrm>
              <a:blipFill rotWithShape="0">
                <a:blip r:embed="rId2"/>
                <a:stretch>
                  <a:fillRect l="-616" t="-75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ángulo 3"/>
          <p:cNvSpPr/>
          <p:nvPr/>
        </p:nvSpPr>
        <p:spPr>
          <a:xfrm>
            <a:off x="2725270" y="6413812"/>
            <a:ext cx="791135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400" dirty="0">
                <a:hlinkClick r:id="rId3"/>
              </a:rPr>
              <a:t>* Fuente: https://www.sciencedirect.com/topics/engineering/parity-bit</a:t>
            </a:r>
            <a:endParaRPr lang="es-MX" sz="1400" dirty="0"/>
          </a:p>
        </p:txBody>
      </p:sp>
    </p:spTree>
    <p:extLst>
      <p:ext uri="{BB962C8B-B14F-4D97-AF65-F5344CB8AC3E}">
        <p14:creationId xmlns:p14="http://schemas.microsoft.com/office/powerpoint/2010/main" val="30341250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Control de error</a:t>
            </a:r>
            <a:endParaRPr lang="es-MX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2589212" y="1557900"/>
                <a:ext cx="8915400" cy="4855912"/>
              </a:xfrm>
            </p:spPr>
            <p:txBody>
              <a:bodyPr>
                <a:normAutofit/>
              </a:bodyPr>
              <a:lstStyle/>
              <a:p>
                <a:r>
                  <a:rPr lang="es-ES" b="1" dirty="0"/>
                  <a:t>Bit de paridad</a:t>
                </a:r>
              </a:p>
              <a:p>
                <a:pPr marL="0" indent="0">
                  <a:buNone/>
                </a:pPr>
                <a:r>
                  <a:rPr lang="es-ES" b="1" dirty="0"/>
                  <a:t>+ Ej. Si  hay un error de bit en la trama, este será detectado al obtener S.</a:t>
                </a:r>
              </a:p>
              <a:p>
                <a:pPr marL="0" indent="0">
                  <a:buNone/>
                </a:pPr>
                <a:endParaRPr lang="es-ES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E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𝟏𝟏𝟏𝟏𝟏𝟏</m:t>
                          </m:r>
                        </m:e>
                      </m:d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,  </m:t>
                      </m:r>
                      <m:sSup>
                        <m:sSupPr>
                          <m:ctrlPr>
                            <a:rPr lang="es-E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p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p>
                      </m:sSup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E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s-ES" b="1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s-ES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e>
                              <m:r>
                                <a:rPr lang="es-ES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e>
                              <m:r>
                                <a:rPr lang="es-ES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e>
                              <m:r>
                                <a:rPr lang="es-ES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e>
                              <m:r>
                                <a:rPr lang="es-ES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e>
                              <m:r>
                                <a:rPr lang="es-ES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s-ES" b="1" dirty="0"/>
              </a:p>
              <a:p>
                <a:pPr marL="0" indent="0">
                  <a:buNone/>
                </a:pPr>
                <a:endParaRPr lang="es-ES" b="1" dirty="0"/>
              </a:p>
              <a:p>
                <a:pPr marL="0" indent="0" algn="ctr">
                  <a:buNone/>
                </a:pPr>
                <a:r>
                  <a:rPr lang="es-ES" b="1" dirty="0"/>
                  <a:t>S = T(x)</a:t>
                </a:r>
                <a:r>
                  <a:rPr lang="es-ES" b="1" dirty="0" err="1"/>
                  <a:t>H</a:t>
                </a:r>
                <a:r>
                  <a:rPr lang="es-ES" b="1" baseline="30000" dirty="0" err="1"/>
                  <a:t>t</a:t>
                </a:r>
                <a:r>
                  <a:rPr lang="es-ES" b="1" baseline="30000" dirty="0"/>
                  <a:t> </a:t>
                </a:r>
                <a14:m>
                  <m:oMath xmlns:m="http://schemas.openxmlformats.org/officeDocument/2006/math">
                    <m:r>
                      <a:rPr lang="es-ES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s-MX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𝟏𝟎𝟏</m:t>
                        </m:r>
                        <m:r>
                          <a:rPr lang="es-E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𝟏𝟏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s-MX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s-ES" b="1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s-E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r>
                              <a:rPr lang="es-E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r>
                              <a:rPr lang="es-E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r>
                              <a:rPr lang="es-E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r>
                              <a:rPr lang="es-E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r>
                              <a:rPr lang="es-E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eqArr>
                      </m:e>
                    </m:d>
                    <m:r>
                      <a:rPr lang="es-E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s-MX" b="1" dirty="0"/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89212" y="1557900"/>
                <a:ext cx="8915400" cy="4855912"/>
              </a:xfrm>
              <a:blipFill rotWithShape="0">
                <a:blip r:embed="rId2"/>
                <a:stretch>
                  <a:fillRect l="-616" t="-75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ángulo 3"/>
          <p:cNvSpPr/>
          <p:nvPr/>
        </p:nvSpPr>
        <p:spPr>
          <a:xfrm>
            <a:off x="2725270" y="6413812"/>
            <a:ext cx="791135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400" dirty="0">
                <a:hlinkClick r:id="rId3"/>
              </a:rPr>
              <a:t>* Fuente: https://www.sciencedirect.com/topics/engineering/parity-bit</a:t>
            </a:r>
            <a:endParaRPr lang="es-MX" sz="1400" dirty="0"/>
          </a:p>
        </p:txBody>
      </p:sp>
    </p:spTree>
    <p:extLst>
      <p:ext uri="{BB962C8B-B14F-4D97-AF65-F5344CB8AC3E}">
        <p14:creationId xmlns:p14="http://schemas.microsoft.com/office/powerpoint/2010/main" val="372732121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Control de error</a:t>
            </a:r>
            <a:endParaRPr lang="es-MX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2589212" y="1557900"/>
                <a:ext cx="8915400" cy="4855912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s-ES" b="1" dirty="0"/>
                  <a:t>Bit de paridad</a:t>
                </a:r>
              </a:p>
              <a:p>
                <a:pPr marL="0" indent="0">
                  <a:buNone/>
                </a:pPr>
                <a:r>
                  <a:rPr lang="es-ES" b="1" dirty="0"/>
                  <a:t>+ Ej. Si  hay una cantidad par de errores  de bit en la trama, estos no serán detectados al obtener S.</a:t>
                </a:r>
              </a:p>
              <a:p>
                <a:pPr marL="0" indent="0">
                  <a:buNone/>
                </a:pPr>
                <a:endParaRPr lang="es-ES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E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𝟏𝟏𝟏𝟏𝟏𝟏</m:t>
                          </m:r>
                        </m:e>
                      </m:d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,  </m:t>
                      </m:r>
                      <m:sSup>
                        <m:sSupPr>
                          <m:ctrlPr>
                            <a:rPr lang="es-E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p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p>
                      </m:sSup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E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s-ES" b="1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s-ES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e>
                              <m:r>
                                <a:rPr lang="es-ES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e>
                              <m:r>
                                <a:rPr lang="es-ES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e>
                              <m:r>
                                <a:rPr lang="es-ES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e>
                              <m:r>
                                <a:rPr lang="es-ES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e>
                              <m:r>
                                <a:rPr lang="es-ES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s-ES" b="1" dirty="0"/>
              </a:p>
              <a:p>
                <a:pPr marL="0" indent="0">
                  <a:buNone/>
                </a:pPr>
                <a:endParaRPr lang="es-ES" b="1" dirty="0"/>
              </a:p>
              <a:p>
                <a:pPr marL="0" indent="0" algn="ctr">
                  <a:buNone/>
                </a:pPr>
                <a:r>
                  <a:rPr lang="es-ES" b="1" dirty="0"/>
                  <a:t>S = T(x)</a:t>
                </a:r>
                <a:r>
                  <a:rPr lang="es-ES" b="1" dirty="0" err="1"/>
                  <a:t>H</a:t>
                </a:r>
                <a:r>
                  <a:rPr lang="es-ES" b="1" baseline="30000" dirty="0" err="1"/>
                  <a:t>t</a:t>
                </a:r>
                <a:r>
                  <a:rPr lang="es-ES" b="1" baseline="30000" dirty="0"/>
                  <a:t> </a:t>
                </a:r>
                <a14:m>
                  <m:oMath xmlns:m="http://schemas.openxmlformats.org/officeDocument/2006/math">
                    <m:r>
                      <a:rPr lang="es-ES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s-MX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𝟎𝟏</m:t>
                        </m:r>
                        <m:r>
                          <a:rPr lang="es-E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𝟏𝟏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s-MX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s-ES" b="1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s-E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r>
                              <a:rPr lang="es-E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r>
                              <a:rPr lang="es-E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r>
                              <a:rPr lang="es-E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r>
                              <a:rPr lang="es-E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r>
                              <a:rPr lang="es-E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eqArr>
                      </m:e>
                    </m:d>
                    <m:r>
                      <a:rPr lang="es-E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s-MX" b="1" dirty="0"/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89212" y="1557900"/>
                <a:ext cx="8915400" cy="4855912"/>
              </a:xfrm>
              <a:blipFill rotWithShape="0">
                <a:blip r:embed="rId2"/>
                <a:stretch>
                  <a:fillRect l="-616" t="-138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ángulo 3"/>
          <p:cNvSpPr/>
          <p:nvPr/>
        </p:nvSpPr>
        <p:spPr>
          <a:xfrm>
            <a:off x="2725270" y="6413812"/>
            <a:ext cx="791135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400" dirty="0">
                <a:hlinkClick r:id="rId3"/>
              </a:rPr>
              <a:t>* Fuente: https://www.sciencedirect.com/topics/engineering/parity-bit</a:t>
            </a:r>
            <a:endParaRPr lang="es-MX" sz="1400" dirty="0"/>
          </a:p>
        </p:txBody>
      </p:sp>
    </p:spTree>
    <p:extLst>
      <p:ext uri="{BB962C8B-B14F-4D97-AF65-F5344CB8AC3E}">
        <p14:creationId xmlns:p14="http://schemas.microsoft.com/office/powerpoint/2010/main" val="290062622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Direccionamiento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71674" y="1584067"/>
            <a:ext cx="3642502" cy="609600"/>
          </a:xfrm>
        </p:spPr>
        <p:txBody>
          <a:bodyPr/>
          <a:lstStyle/>
          <a:p>
            <a:r>
              <a:rPr lang="es-ES" dirty="0"/>
              <a:t>Nivel de direccionamiento</a:t>
            </a:r>
            <a:endParaRPr lang="es-MX" dirty="0"/>
          </a:p>
        </p:txBody>
      </p:sp>
      <p:sp>
        <p:nvSpPr>
          <p:cNvPr id="4" name="CuadroTexto 3"/>
          <p:cNvSpPr txBox="1"/>
          <p:nvPr/>
        </p:nvSpPr>
        <p:spPr>
          <a:xfrm>
            <a:off x="1277264" y="6581001"/>
            <a:ext cx="10421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</a:t>
            </a:r>
            <a:r>
              <a:rPr lang="es-MX" sz="1200" dirty="0" err="1"/>
              <a:t>Stallings</a:t>
            </a:r>
            <a:r>
              <a:rPr lang="es-MX" sz="1200" dirty="0"/>
              <a:t> W. (2004). Protocolos y Arquitectura. En Comunicaciones y redes de computadores. (pp. 27-57).USA: Pearson </a:t>
            </a:r>
            <a:r>
              <a:rPr lang="es-MX" sz="1200" dirty="0" err="1"/>
              <a:t>Education</a:t>
            </a:r>
            <a:r>
              <a:rPr lang="es-MX" sz="1200" dirty="0"/>
              <a:t>.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6231714" y="6015335"/>
            <a:ext cx="59602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200" dirty="0">
                <a:hlinkClick r:id="rId2"/>
              </a:rPr>
              <a:t>http://www.exa.unicen.edu.ar/catedras/comdat1/material/ElmodeloOSI.pdf</a:t>
            </a:r>
            <a:endParaRPr lang="es-MX" sz="1200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1131" y="2129675"/>
            <a:ext cx="5233707" cy="3383986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9211857" y="3794774"/>
            <a:ext cx="15712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Número de puerto</a:t>
            </a:r>
            <a:endParaRPr lang="es-MX" sz="1200" dirty="0"/>
          </a:p>
        </p:txBody>
      </p:sp>
      <p:sp>
        <p:nvSpPr>
          <p:cNvPr id="8" name="CuadroTexto 7"/>
          <p:cNvSpPr txBox="1"/>
          <p:nvPr/>
        </p:nvSpPr>
        <p:spPr>
          <a:xfrm>
            <a:off x="9211857" y="4221940"/>
            <a:ext cx="10695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Dirección IP</a:t>
            </a:r>
            <a:endParaRPr lang="es-MX" sz="1200" dirty="0"/>
          </a:p>
        </p:txBody>
      </p:sp>
      <p:sp>
        <p:nvSpPr>
          <p:cNvPr id="9" name="CuadroTexto 8"/>
          <p:cNvSpPr txBox="1"/>
          <p:nvPr/>
        </p:nvSpPr>
        <p:spPr>
          <a:xfrm>
            <a:off x="9211857" y="4841202"/>
            <a:ext cx="13227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Dirección MAC</a:t>
            </a:r>
            <a:endParaRPr lang="es-MX" sz="1200" dirty="0"/>
          </a:p>
        </p:txBody>
      </p:sp>
      <p:sp>
        <p:nvSpPr>
          <p:cNvPr id="10" name="CuadroTexto 9"/>
          <p:cNvSpPr txBox="1"/>
          <p:nvPr/>
        </p:nvSpPr>
        <p:spPr>
          <a:xfrm>
            <a:off x="3204911" y="3828400"/>
            <a:ext cx="5325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TSAP</a:t>
            </a:r>
            <a:endParaRPr lang="es-MX" sz="1200" dirty="0"/>
          </a:p>
        </p:txBody>
      </p:sp>
      <p:sp>
        <p:nvSpPr>
          <p:cNvPr id="11" name="CuadroTexto 10"/>
          <p:cNvSpPr txBox="1"/>
          <p:nvPr/>
        </p:nvSpPr>
        <p:spPr>
          <a:xfrm>
            <a:off x="3183504" y="4242102"/>
            <a:ext cx="5806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NSAP</a:t>
            </a:r>
            <a:endParaRPr lang="es-MX" sz="1200" dirty="0"/>
          </a:p>
        </p:txBody>
      </p:sp>
      <p:sp>
        <p:nvSpPr>
          <p:cNvPr id="12" name="CuadroTexto 11"/>
          <p:cNvSpPr txBox="1"/>
          <p:nvPr/>
        </p:nvSpPr>
        <p:spPr>
          <a:xfrm>
            <a:off x="3145600" y="4653203"/>
            <a:ext cx="6511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DLSAP</a:t>
            </a:r>
            <a:endParaRPr lang="es-MX" sz="1200" dirty="0"/>
          </a:p>
        </p:txBody>
      </p:sp>
    </p:spTree>
    <p:extLst>
      <p:ext uri="{BB962C8B-B14F-4D97-AF65-F5344CB8AC3E}">
        <p14:creationId xmlns:p14="http://schemas.microsoft.com/office/powerpoint/2010/main" val="259750295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Direccionamiento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Alcance de direccionamiento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    + No ambigüedad global</a:t>
            </a:r>
          </a:p>
          <a:p>
            <a:pPr marL="0" indent="0">
              <a:buNone/>
            </a:pPr>
            <a:r>
              <a:rPr lang="es-ES" dirty="0"/>
              <a:t>    + Aplicabilidad global</a:t>
            </a:r>
            <a:endParaRPr lang="es-MX" dirty="0"/>
          </a:p>
        </p:txBody>
      </p:sp>
      <p:sp>
        <p:nvSpPr>
          <p:cNvPr id="4" name="CuadroTexto 3"/>
          <p:cNvSpPr txBox="1"/>
          <p:nvPr/>
        </p:nvSpPr>
        <p:spPr>
          <a:xfrm>
            <a:off x="1277264" y="6581001"/>
            <a:ext cx="10421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</a:t>
            </a:r>
            <a:r>
              <a:rPr lang="es-MX" sz="1200" dirty="0" err="1"/>
              <a:t>Stallings</a:t>
            </a:r>
            <a:r>
              <a:rPr lang="es-MX" sz="1200" dirty="0"/>
              <a:t> W. (2004). Protocolos y Arquitectura. En Comunicaciones y redes de computadores. (pp. 27-57).USA: Pearson </a:t>
            </a:r>
            <a:r>
              <a:rPr lang="es-MX" sz="1200" dirty="0" err="1"/>
              <a:t>Education</a:t>
            </a:r>
            <a:r>
              <a:rPr lang="es-MX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6029900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Direccionamiento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225907" y="1743636"/>
            <a:ext cx="9472800" cy="2317376"/>
          </a:xfrm>
        </p:spPr>
        <p:txBody>
          <a:bodyPr/>
          <a:lstStyle/>
          <a:p>
            <a:r>
              <a:rPr lang="es-ES" dirty="0"/>
              <a:t>Modo de direccionamiento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    + Unidifusión (</a:t>
            </a:r>
            <a:r>
              <a:rPr lang="es-ES" dirty="0" err="1"/>
              <a:t>unicast</a:t>
            </a:r>
            <a:r>
              <a:rPr lang="es-ES" dirty="0"/>
              <a:t>): una dirección identifica a solo un host</a:t>
            </a:r>
          </a:p>
          <a:p>
            <a:pPr marL="0" indent="0">
              <a:buNone/>
            </a:pPr>
            <a:r>
              <a:rPr lang="es-ES" dirty="0"/>
              <a:t>    + Multidifusión (</a:t>
            </a:r>
            <a:r>
              <a:rPr lang="es-ES" dirty="0" err="1"/>
              <a:t>multicast</a:t>
            </a:r>
            <a:r>
              <a:rPr lang="es-ES" dirty="0"/>
              <a:t>): una dirección identifica a algunos hosts del grupo</a:t>
            </a:r>
          </a:p>
          <a:p>
            <a:pPr marL="0" indent="0">
              <a:buNone/>
            </a:pPr>
            <a:r>
              <a:rPr lang="es-ES" dirty="0"/>
              <a:t>    + Difusión (</a:t>
            </a:r>
            <a:r>
              <a:rPr lang="es-ES" dirty="0" err="1"/>
              <a:t>broadcast</a:t>
            </a:r>
            <a:r>
              <a:rPr lang="es-ES" dirty="0"/>
              <a:t>): una dirección identifica a todos los hosts en un segmento</a:t>
            </a:r>
            <a:endParaRPr lang="es-MX" dirty="0"/>
          </a:p>
        </p:txBody>
      </p:sp>
      <p:sp>
        <p:nvSpPr>
          <p:cNvPr id="4" name="CuadroTexto 3"/>
          <p:cNvSpPr txBox="1"/>
          <p:nvPr/>
        </p:nvSpPr>
        <p:spPr>
          <a:xfrm>
            <a:off x="1277264" y="6581001"/>
            <a:ext cx="10421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</a:t>
            </a:r>
            <a:r>
              <a:rPr lang="es-MX" sz="1200" dirty="0" err="1"/>
              <a:t>Stallings</a:t>
            </a:r>
            <a:r>
              <a:rPr lang="es-MX" sz="1200" dirty="0"/>
              <a:t> W. (2004). Protocolos y Arquitectura. En Comunicaciones y redes de computadores. (pp. 27-57).USA: Pearson </a:t>
            </a:r>
            <a:r>
              <a:rPr lang="es-MX" sz="1200" dirty="0" err="1"/>
              <a:t>Education</a:t>
            </a:r>
            <a:r>
              <a:rPr lang="es-MX" sz="1200" dirty="0"/>
              <a:t>.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9693" y="3842497"/>
            <a:ext cx="8058150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75216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Entrega en orden</a:t>
            </a:r>
            <a:endParaRPr lang="es-MX" dirty="0"/>
          </a:p>
        </p:txBody>
      </p:sp>
      <p:sp>
        <p:nvSpPr>
          <p:cNvPr id="4" name="CuadroTexto 3"/>
          <p:cNvSpPr txBox="1"/>
          <p:nvPr/>
        </p:nvSpPr>
        <p:spPr>
          <a:xfrm>
            <a:off x="7288306" y="6132184"/>
            <a:ext cx="47836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Imagen</a:t>
            </a:r>
            <a:r>
              <a:rPr lang="es-MX" sz="1200" dirty="0">
                <a:hlinkClick r:id="rId2"/>
              </a:rPr>
              <a:t>http://personales.upv.es/rmartin/TcpIp/cap02s03.html</a:t>
            </a:r>
            <a:endParaRPr lang="es-MX" sz="120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1871" y="1795170"/>
            <a:ext cx="6539787" cy="2453307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44857"/>
            <a:ext cx="6046825" cy="4573541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0" y="6368711"/>
            <a:ext cx="666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 </a:t>
            </a:r>
            <a:r>
              <a:rPr lang="es-MX" sz="1200" dirty="0">
                <a:hlinkClick r:id="rId5"/>
              </a:rPr>
              <a:t>https://bravelearn.com/header-format-for-tcp-transmission-control-protocol/</a:t>
            </a:r>
            <a:endParaRPr lang="es-MX" sz="1200" dirty="0"/>
          </a:p>
        </p:txBody>
      </p:sp>
      <p:sp>
        <p:nvSpPr>
          <p:cNvPr id="8" name="CuadroTexto 7"/>
          <p:cNvSpPr txBox="1"/>
          <p:nvPr/>
        </p:nvSpPr>
        <p:spPr>
          <a:xfrm>
            <a:off x="8639750" y="1444857"/>
            <a:ext cx="606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TCP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5475080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92925" y="247592"/>
            <a:ext cx="8911687" cy="1280890"/>
          </a:xfrm>
        </p:spPr>
        <p:txBody>
          <a:bodyPr/>
          <a:lstStyle/>
          <a:p>
            <a:r>
              <a:rPr lang="es-ES" dirty="0"/>
              <a:t>Control de conexión</a:t>
            </a:r>
            <a:endParaRPr lang="es-MX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925" y="949226"/>
            <a:ext cx="6712440" cy="590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5048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Servicios de transmisión</a:t>
            </a:r>
            <a:endParaRPr lang="es-MX" dirty="0"/>
          </a:p>
        </p:txBody>
      </p:sp>
      <p:sp>
        <p:nvSpPr>
          <p:cNvPr id="4" name="CuadroTexto 3"/>
          <p:cNvSpPr txBox="1"/>
          <p:nvPr/>
        </p:nvSpPr>
        <p:spPr>
          <a:xfrm>
            <a:off x="7153835" y="6255434"/>
            <a:ext cx="47836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Imagen</a:t>
            </a:r>
            <a:r>
              <a:rPr lang="es-MX" sz="1200" dirty="0">
                <a:hlinkClick r:id="rId2"/>
              </a:rPr>
              <a:t>http://personales.upv.es/rmartin/TcpIp/cap02s03.html</a:t>
            </a:r>
            <a:endParaRPr lang="es-MX" sz="120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8126" y="1437123"/>
            <a:ext cx="5243122" cy="2629831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1411941" y="2111188"/>
            <a:ext cx="4626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Servicios diferenciados (RFC 2474, 2475)</a:t>
            </a:r>
            <a:endParaRPr lang="es-MX" dirty="0"/>
          </a:p>
        </p:txBody>
      </p:sp>
      <p:graphicFrame>
        <p:nvGraphicFramePr>
          <p:cNvPr id="7" name="Tab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987805"/>
              </p:ext>
            </p:extLst>
          </p:nvPr>
        </p:nvGraphicFramePr>
        <p:xfrm>
          <a:off x="1292412" y="4471396"/>
          <a:ext cx="4746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3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3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32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32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32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32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65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X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X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X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ECN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768024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Servicios de transmisión</a:t>
            </a:r>
            <a:endParaRPr lang="es-MX" dirty="0"/>
          </a:p>
        </p:txBody>
      </p:sp>
      <p:sp>
        <p:nvSpPr>
          <p:cNvPr id="4" name="CuadroTexto 3"/>
          <p:cNvSpPr txBox="1"/>
          <p:nvPr/>
        </p:nvSpPr>
        <p:spPr>
          <a:xfrm>
            <a:off x="1398494" y="5677211"/>
            <a:ext cx="59154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 </a:t>
            </a:r>
            <a:r>
              <a:rPr lang="es-MX" sz="1200" dirty="0">
                <a:hlinkClick r:id="rId2"/>
              </a:rPr>
              <a:t>https://tools.ietf.org/html/rfc2474</a:t>
            </a:r>
            <a:r>
              <a:rPr lang="es-MX" sz="1200" dirty="0"/>
              <a:t>, https://tools.ietf.org/html/rfc24745</a:t>
            </a:r>
          </a:p>
        </p:txBody>
      </p:sp>
      <p:sp>
        <p:nvSpPr>
          <p:cNvPr id="6" name="CuadroTexto 5"/>
          <p:cNvSpPr txBox="1"/>
          <p:nvPr/>
        </p:nvSpPr>
        <p:spPr>
          <a:xfrm>
            <a:off x="1048870" y="1438835"/>
            <a:ext cx="4626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Servicios diferenciados (RFC 2474, 2475)</a:t>
            </a:r>
            <a:endParaRPr lang="es-MX" dirty="0"/>
          </a:p>
        </p:txBody>
      </p:sp>
      <p:graphicFrame>
        <p:nvGraphicFramePr>
          <p:cNvPr id="7" name="Tab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241297"/>
              </p:ext>
            </p:extLst>
          </p:nvPr>
        </p:nvGraphicFramePr>
        <p:xfrm>
          <a:off x="606612" y="1808167"/>
          <a:ext cx="4746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3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3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32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32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32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32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65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X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X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X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ECN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940768"/>
              </p:ext>
            </p:extLst>
          </p:nvPr>
        </p:nvGraphicFramePr>
        <p:xfrm>
          <a:off x="336177" y="2319866"/>
          <a:ext cx="681765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20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06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49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XXX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Significado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Uso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111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Control de red</a:t>
                      </a:r>
                      <a:endParaRPr lang="es-MX" sz="14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Tráfico de control (Ej. enrutamiento)</a:t>
                      </a:r>
                      <a:endParaRPr lang="es-MX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110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Control de Internet</a:t>
                      </a:r>
                      <a:endParaRPr lang="es-MX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s-MX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101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 err="1"/>
                        <a:t>Critic</a:t>
                      </a:r>
                      <a:r>
                        <a:rPr lang="es-ES" sz="1400" dirty="0"/>
                        <a:t>/ECP</a:t>
                      </a: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Voz</a:t>
                      </a:r>
                      <a:endParaRPr lang="es-MX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100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Flash </a:t>
                      </a:r>
                      <a:r>
                        <a:rPr lang="es-ES" sz="1400" dirty="0" err="1"/>
                        <a:t>override</a:t>
                      </a: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 err="1"/>
                        <a:t>Streaming</a:t>
                      </a:r>
                      <a:endParaRPr lang="es-MX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000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Rutina</a:t>
                      </a: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Default</a:t>
                      </a:r>
                      <a:endParaRPr lang="es-MX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001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Prioridad</a:t>
                      </a: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Libre para clasificar tráfico de datos</a:t>
                      </a:r>
                      <a:endParaRPr lang="es-MX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8" name="Tab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2219643"/>
              </p:ext>
            </p:extLst>
          </p:nvPr>
        </p:nvGraphicFramePr>
        <p:xfrm>
          <a:off x="7219513" y="1438835"/>
          <a:ext cx="4745318" cy="185420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418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69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ECN (Notificación de Congestión Explícita)</a:t>
                      </a:r>
                      <a:endParaRPr lang="es-MX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/>
                        <a:t>00</a:t>
                      </a:r>
                      <a:endParaRPr lang="es-MX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Sin capacidad ECN</a:t>
                      </a:r>
                      <a:endParaRPr lang="es-MX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/>
                        <a:t>01</a:t>
                      </a:r>
                      <a:endParaRPr lang="es-MX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Capacidad ECN (1)</a:t>
                      </a:r>
                      <a:endParaRPr lang="es-MX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/>
                        <a:t>10</a:t>
                      </a:r>
                      <a:endParaRPr lang="es-MX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Capacidad ECN (0)</a:t>
                      </a:r>
                      <a:endParaRPr lang="es-MX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/>
                        <a:t>11</a:t>
                      </a:r>
                      <a:endParaRPr lang="es-MX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Congestión encontrada</a:t>
                      </a:r>
                      <a:endParaRPr lang="es-MX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030836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Multiplexación</a:t>
            </a:r>
            <a:endParaRPr lang="es-MX" dirty="0"/>
          </a:p>
        </p:txBody>
      </p:sp>
      <p:sp>
        <p:nvSpPr>
          <p:cNvPr id="4" name="Rectángulo 3"/>
          <p:cNvSpPr/>
          <p:nvPr/>
        </p:nvSpPr>
        <p:spPr>
          <a:xfrm>
            <a:off x="820272" y="6390851"/>
            <a:ext cx="1157343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200" dirty="0"/>
              <a:t>*Fuente: https://www.google.com/url?sa=i&amp;url=https%3A%2F%2Fplatzi.com%2Fclases%2F1277-redes%2F11177-tcp-y-udp%2F&amp;psig=AOvVaw1yT8GzT0IN--wXQN0DqQH0&amp;ust=1598320069068000&amp;source=images&amp;cd=vfe&amp;ved=0CA0QjhxqFwoTCMDGnLzcsusCFQAAAAAdAAAAABAD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9469" y="1602420"/>
            <a:ext cx="6802531" cy="3808061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118211" y="5597531"/>
            <a:ext cx="66271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200" dirty="0">
                <a:hlinkClick r:id="rId3"/>
              </a:rPr>
              <a:t>*Fuente: http://www.exa.unicen.edu.ar/catedras/comdat1/material/ElmodeloOSI.pdf</a:t>
            </a:r>
            <a:endParaRPr lang="es-MX" sz="1200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41766"/>
            <a:ext cx="4727639" cy="3383986"/>
          </a:xfrm>
          <a:prstGeom prst="rect">
            <a:avLst/>
          </a:prstGeom>
        </p:spPr>
      </p:pic>
      <p:cxnSp>
        <p:nvCxnSpPr>
          <p:cNvPr id="9" name="Conector recto de flecha 8"/>
          <p:cNvCxnSpPr>
            <a:stCxn id="7" idx="3"/>
          </p:cNvCxnSpPr>
          <p:nvPr/>
        </p:nvCxnSpPr>
        <p:spPr>
          <a:xfrm flipV="1">
            <a:off x="4727639" y="2885370"/>
            <a:ext cx="661830" cy="448389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/>
          <p:cNvCxnSpPr>
            <a:stCxn id="7" idx="3"/>
          </p:cNvCxnSpPr>
          <p:nvPr/>
        </p:nvCxnSpPr>
        <p:spPr>
          <a:xfrm>
            <a:off x="4727639" y="3333759"/>
            <a:ext cx="661830" cy="1151155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604592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Multiplexación</a:t>
            </a:r>
            <a:endParaRPr lang="es-MX" dirty="0"/>
          </a:p>
        </p:txBody>
      </p:sp>
      <p:sp>
        <p:nvSpPr>
          <p:cNvPr id="4" name="Rectángulo 3"/>
          <p:cNvSpPr/>
          <p:nvPr/>
        </p:nvSpPr>
        <p:spPr>
          <a:xfrm>
            <a:off x="820272" y="6390851"/>
            <a:ext cx="1157343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200" dirty="0"/>
              <a:t>*Fuente: https://www.google.com/url?sa=i&amp;url=https%3A%2F%2Fplatzi.com%2Fclases%2F1277-redes%2F11177-tcp-y-udp%2F&amp;psig=AOvVaw1yT8GzT0IN--wXQN0DqQH0&amp;ust=1598320069068000&amp;source=images&amp;cd=vfe&amp;ved=0CA0QjhxqFwoTCMDGnLzcsusCFQAAAAAdAAAAABAD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9469" y="1602420"/>
            <a:ext cx="6802531" cy="3808061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820272" y="2235200"/>
            <a:ext cx="424521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-Se pueden </a:t>
            </a:r>
            <a:r>
              <a:rPr lang="es-ES" dirty="0" err="1"/>
              <a:t>multiplexar</a:t>
            </a:r>
            <a:r>
              <a:rPr lang="es-ES" dirty="0"/>
              <a:t> cerca de 131,072 servicios en red:</a:t>
            </a:r>
          </a:p>
          <a:p>
            <a:endParaRPr lang="es-ES" dirty="0"/>
          </a:p>
          <a:p>
            <a:r>
              <a:rPr lang="es-ES" dirty="0"/>
              <a:t>  + 65536 TCP</a:t>
            </a:r>
          </a:p>
          <a:p>
            <a:endParaRPr lang="es-ES" dirty="0"/>
          </a:p>
          <a:p>
            <a:r>
              <a:rPr lang="es-ES" dirty="0"/>
              <a:t>  + 65536 UDP</a:t>
            </a:r>
          </a:p>
          <a:p>
            <a:endParaRPr lang="es-ES" dirty="0"/>
          </a:p>
          <a:p>
            <a:endParaRPr lang="es-ES" dirty="0"/>
          </a:p>
          <a:p>
            <a:r>
              <a:rPr lang="es-ES" dirty="0"/>
              <a:t>-Algunos están definidos en RFC 1700, RFC 1340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04067584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Segmentación y ensamblado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55611" y="1500702"/>
            <a:ext cx="8915400" cy="3777622"/>
          </a:xfrm>
        </p:spPr>
        <p:txBody>
          <a:bodyPr/>
          <a:lstStyle/>
          <a:p>
            <a:r>
              <a:rPr lang="es-ES" dirty="0"/>
              <a:t>Unidad de Transmisión Máxima (MTU) //RFC 1191, RFC 879</a:t>
            </a:r>
          </a:p>
          <a:p>
            <a:pPr marL="0" indent="0">
              <a:buNone/>
            </a:pPr>
            <a:r>
              <a:rPr lang="es-ES" dirty="0"/>
              <a:t>    </a:t>
            </a:r>
          </a:p>
          <a:p>
            <a:pPr marL="0" indent="0">
              <a:buNone/>
            </a:pPr>
            <a:r>
              <a:rPr lang="es-ES" dirty="0"/>
              <a:t>    + </a:t>
            </a:r>
            <a:r>
              <a:rPr lang="es-ES" b="1" dirty="0"/>
              <a:t>Ethernet</a:t>
            </a:r>
            <a:r>
              <a:rPr lang="es-ES" dirty="0"/>
              <a:t>: 1500 bytes</a:t>
            </a:r>
          </a:p>
          <a:p>
            <a:pPr marL="0" indent="0">
              <a:buNone/>
            </a:pPr>
            <a:r>
              <a:rPr lang="es-ES" dirty="0"/>
              <a:t>    + </a:t>
            </a:r>
            <a:r>
              <a:rPr lang="es-ES" b="1" dirty="0"/>
              <a:t>Jumbo Ethernet</a:t>
            </a:r>
            <a:r>
              <a:rPr lang="es-ES" dirty="0"/>
              <a:t>: 9000 bytes</a:t>
            </a:r>
          </a:p>
          <a:p>
            <a:pPr marL="0" indent="0">
              <a:buNone/>
            </a:pPr>
            <a:r>
              <a:rPr lang="es-ES" dirty="0"/>
              <a:t>    + </a:t>
            </a:r>
            <a:r>
              <a:rPr lang="es-ES" b="1" dirty="0"/>
              <a:t>PPPoE</a:t>
            </a:r>
            <a:r>
              <a:rPr lang="es-ES" dirty="0"/>
              <a:t>: 1492 bytes</a:t>
            </a:r>
          </a:p>
          <a:p>
            <a:pPr marL="0" indent="0">
              <a:buNone/>
            </a:pPr>
            <a:r>
              <a:rPr lang="es-ES" dirty="0"/>
              <a:t>    + </a:t>
            </a:r>
            <a:r>
              <a:rPr lang="es-ES" b="1" dirty="0"/>
              <a:t>ATM</a:t>
            </a:r>
            <a:r>
              <a:rPr lang="es-ES" dirty="0"/>
              <a:t>: 9180 bytes</a:t>
            </a:r>
          </a:p>
          <a:p>
            <a:pPr marL="0" indent="0">
              <a:buNone/>
            </a:pPr>
            <a:r>
              <a:rPr lang="es-ES" dirty="0"/>
              <a:t>    + </a:t>
            </a:r>
            <a:r>
              <a:rPr lang="es-ES" b="1" dirty="0"/>
              <a:t>FDDI</a:t>
            </a:r>
            <a:r>
              <a:rPr lang="es-ES" dirty="0"/>
              <a:t>: 4470 bytes</a:t>
            </a:r>
          </a:p>
          <a:p>
            <a:pPr marL="0" indent="0">
              <a:buNone/>
            </a:pPr>
            <a:r>
              <a:rPr lang="es-ES" dirty="0"/>
              <a:t>    + </a:t>
            </a:r>
            <a:r>
              <a:rPr lang="es-ES" b="1" dirty="0"/>
              <a:t>PPP</a:t>
            </a:r>
            <a:r>
              <a:rPr lang="es-ES" dirty="0"/>
              <a:t>: 576 bytes</a:t>
            </a:r>
            <a:endParaRPr lang="es-MX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978" y="4223658"/>
            <a:ext cx="9299796" cy="1971448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820272" y="6390851"/>
            <a:ext cx="1157343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200" dirty="0"/>
              <a:t>*Fuente: </a:t>
            </a:r>
            <a:r>
              <a:rPr lang="es-MX" sz="1200" dirty="0">
                <a:hlinkClick r:id="rId3"/>
              </a:rPr>
              <a:t>https://tools.ietf.org/html/rfc1191</a:t>
            </a:r>
            <a:r>
              <a:rPr lang="es-MX" sz="1200" dirty="0"/>
              <a:t>, https://tools.ietf.org/html/rfc879</a:t>
            </a:r>
          </a:p>
        </p:txBody>
      </p:sp>
    </p:spTree>
    <p:extLst>
      <p:ext uri="{BB962C8B-B14F-4D97-AF65-F5344CB8AC3E}">
        <p14:creationId xmlns:p14="http://schemas.microsoft.com/office/powerpoint/2010/main" val="375101268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Segmentación y ensamblado</a:t>
            </a:r>
            <a:endParaRPr lang="es-MX" dirty="0"/>
          </a:p>
        </p:txBody>
      </p:sp>
      <p:sp>
        <p:nvSpPr>
          <p:cNvPr id="5" name="Rectángulo 4"/>
          <p:cNvSpPr/>
          <p:nvPr/>
        </p:nvSpPr>
        <p:spPr>
          <a:xfrm>
            <a:off x="4470400" y="6390252"/>
            <a:ext cx="845661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200" dirty="0"/>
              <a:t>*Fuente: </a:t>
            </a:r>
            <a:r>
              <a:rPr lang="es-MX" sz="1200" dirty="0">
                <a:hlinkClick r:id="rId2"/>
              </a:rPr>
              <a:t>http://sistemasc.blogspot.com/2008/08/segmentacin-y-ensamblado-si-un-paquete.html</a:t>
            </a:r>
            <a:endParaRPr lang="es-MX" sz="1200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6771" y="2322286"/>
            <a:ext cx="6340842" cy="3328942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3286" y="2688953"/>
            <a:ext cx="3810000" cy="296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38808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Control de flujo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De acuerdo con </a:t>
            </a:r>
            <a:r>
              <a:rPr lang="es-ES" dirty="0" err="1"/>
              <a:t>Stallings</a:t>
            </a:r>
            <a:r>
              <a:rPr lang="es-ES" dirty="0"/>
              <a:t>(2004), es una operación realizada por el receptor para limitar la velocidad a la que el emisor le envía datos para evitar ser saturado con datos que aún no puede procesar. Existen 2 estrategias:</a:t>
            </a:r>
          </a:p>
          <a:p>
            <a:pPr marL="363538" indent="-363538">
              <a:buNone/>
            </a:pPr>
            <a:r>
              <a:rPr lang="es-ES" dirty="0"/>
              <a:t>   + </a:t>
            </a:r>
            <a:r>
              <a:rPr lang="es-ES" b="1" dirty="0"/>
              <a:t>Parar y esperar</a:t>
            </a:r>
            <a:r>
              <a:rPr lang="es-ES" dirty="0"/>
              <a:t>: El transmisor solo puede tener una trama en tránsito. Debe recibir un acuse positivo antes de transmitir la siguiente trama.</a:t>
            </a:r>
          </a:p>
          <a:p>
            <a:pPr marL="363538" indent="-363538">
              <a:buNone/>
            </a:pPr>
            <a:r>
              <a:rPr lang="es-ES" dirty="0"/>
              <a:t>   + </a:t>
            </a:r>
            <a:r>
              <a:rPr lang="es-ES" b="1" dirty="0"/>
              <a:t>Ventana deslizante</a:t>
            </a:r>
            <a:r>
              <a:rPr lang="es-ES" dirty="0"/>
              <a:t>: El transmisor puede transmitir hasta k tramas (k=tamaño máximo de ventana) sin haber recibido un acuse.</a:t>
            </a:r>
            <a:endParaRPr lang="es-MX" dirty="0"/>
          </a:p>
        </p:txBody>
      </p:sp>
      <p:sp>
        <p:nvSpPr>
          <p:cNvPr id="4" name="CuadroTexto 3"/>
          <p:cNvSpPr txBox="1"/>
          <p:nvPr/>
        </p:nvSpPr>
        <p:spPr>
          <a:xfrm>
            <a:off x="1277264" y="6581001"/>
            <a:ext cx="10421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</a:t>
            </a:r>
            <a:r>
              <a:rPr lang="es-MX" sz="1200" dirty="0" err="1"/>
              <a:t>Stallings</a:t>
            </a:r>
            <a:r>
              <a:rPr lang="es-MX" sz="1200" dirty="0"/>
              <a:t> W. (2004). Protocolos y Arquitectura. En Comunicaciones y redes de computadores. (pp. 27-57).USA: Pearson </a:t>
            </a:r>
            <a:r>
              <a:rPr lang="es-MX" sz="1200" dirty="0" err="1"/>
              <a:t>Education</a:t>
            </a:r>
            <a:r>
              <a:rPr lang="es-MX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2169716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Control de flujo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809283" y="1519517"/>
            <a:ext cx="8915400" cy="596153"/>
          </a:xfrm>
        </p:spPr>
        <p:txBody>
          <a:bodyPr/>
          <a:lstStyle/>
          <a:p>
            <a:r>
              <a:rPr lang="es-ES" dirty="0"/>
              <a:t>Control de error en parar y esperar</a:t>
            </a:r>
            <a:endParaRPr lang="es-MX" dirty="0"/>
          </a:p>
        </p:txBody>
      </p:sp>
      <p:sp>
        <p:nvSpPr>
          <p:cNvPr id="5" name="CuadroTexto 4"/>
          <p:cNvSpPr txBox="1"/>
          <p:nvPr/>
        </p:nvSpPr>
        <p:spPr>
          <a:xfrm>
            <a:off x="1111197" y="2084295"/>
            <a:ext cx="17155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Una trama se pierde</a:t>
            </a:r>
            <a:endParaRPr lang="es-MX" sz="1200" dirty="0"/>
          </a:p>
        </p:txBody>
      </p:sp>
      <p:sp>
        <p:nvSpPr>
          <p:cNvPr id="6" name="CuadroTexto 5"/>
          <p:cNvSpPr txBox="1"/>
          <p:nvPr/>
        </p:nvSpPr>
        <p:spPr>
          <a:xfrm>
            <a:off x="4461866" y="2034990"/>
            <a:ext cx="16417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Una trama se daña</a:t>
            </a:r>
            <a:endParaRPr lang="es-MX" sz="1200" dirty="0"/>
          </a:p>
        </p:txBody>
      </p:sp>
      <p:cxnSp>
        <p:nvCxnSpPr>
          <p:cNvPr id="8" name="Conector recto de flecha 7"/>
          <p:cNvCxnSpPr/>
          <p:nvPr/>
        </p:nvCxnSpPr>
        <p:spPr>
          <a:xfrm>
            <a:off x="1125711" y="2904565"/>
            <a:ext cx="0" cy="33886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/>
          <p:cNvSpPr txBox="1"/>
          <p:nvPr/>
        </p:nvSpPr>
        <p:spPr>
          <a:xfrm>
            <a:off x="1009171" y="6270810"/>
            <a:ext cx="2375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t</a:t>
            </a:r>
            <a:endParaRPr lang="es-MX" sz="1200" dirty="0"/>
          </a:p>
        </p:txBody>
      </p:sp>
      <p:cxnSp>
        <p:nvCxnSpPr>
          <p:cNvPr id="10" name="Conector recto de flecha 9"/>
          <p:cNvCxnSpPr/>
          <p:nvPr/>
        </p:nvCxnSpPr>
        <p:spPr>
          <a:xfrm>
            <a:off x="2891755" y="2909048"/>
            <a:ext cx="0" cy="33886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/>
          <p:cNvSpPr txBox="1"/>
          <p:nvPr/>
        </p:nvSpPr>
        <p:spPr>
          <a:xfrm>
            <a:off x="2775215" y="6275293"/>
            <a:ext cx="2375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t</a:t>
            </a:r>
            <a:endParaRPr lang="es-MX" sz="1200" dirty="0"/>
          </a:p>
        </p:txBody>
      </p:sp>
      <p:cxnSp>
        <p:nvCxnSpPr>
          <p:cNvPr id="12" name="Conector recto de flecha 11"/>
          <p:cNvCxnSpPr/>
          <p:nvPr/>
        </p:nvCxnSpPr>
        <p:spPr>
          <a:xfrm>
            <a:off x="4354285" y="2909048"/>
            <a:ext cx="0" cy="33886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/>
          <p:cNvSpPr txBox="1"/>
          <p:nvPr/>
        </p:nvSpPr>
        <p:spPr>
          <a:xfrm>
            <a:off x="4237745" y="6275293"/>
            <a:ext cx="2375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t</a:t>
            </a:r>
            <a:endParaRPr lang="es-MX" sz="1200" dirty="0"/>
          </a:p>
        </p:txBody>
      </p:sp>
      <p:cxnSp>
        <p:nvCxnSpPr>
          <p:cNvPr id="14" name="Conector recto de flecha 13"/>
          <p:cNvCxnSpPr/>
          <p:nvPr/>
        </p:nvCxnSpPr>
        <p:spPr>
          <a:xfrm>
            <a:off x="6120329" y="2913531"/>
            <a:ext cx="0" cy="33886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/>
          <p:cNvSpPr txBox="1"/>
          <p:nvPr/>
        </p:nvSpPr>
        <p:spPr>
          <a:xfrm>
            <a:off x="6003789" y="6279776"/>
            <a:ext cx="2375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t</a:t>
            </a:r>
            <a:endParaRPr lang="es-MX" sz="1200" dirty="0"/>
          </a:p>
        </p:txBody>
      </p:sp>
      <p:sp>
        <p:nvSpPr>
          <p:cNvPr id="16" name="Rectángulo 15"/>
          <p:cNvSpPr/>
          <p:nvPr/>
        </p:nvSpPr>
        <p:spPr>
          <a:xfrm>
            <a:off x="894754" y="2649979"/>
            <a:ext cx="437998" cy="24113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b="1" dirty="0" err="1">
                <a:solidFill>
                  <a:schemeClr val="tx1"/>
                </a:solidFill>
              </a:rPr>
              <a:t>tx</a:t>
            </a:r>
            <a:endParaRPr lang="es-MX" sz="1000" b="1" dirty="0">
              <a:solidFill>
                <a:schemeClr val="tx1"/>
              </a:solidFill>
            </a:endParaRPr>
          </a:p>
        </p:txBody>
      </p:sp>
      <p:sp>
        <p:nvSpPr>
          <p:cNvPr id="17" name="Rectángulo 16"/>
          <p:cNvSpPr/>
          <p:nvPr/>
        </p:nvSpPr>
        <p:spPr>
          <a:xfrm>
            <a:off x="2687269" y="2657239"/>
            <a:ext cx="437998" cy="24113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b="1" dirty="0" err="1">
                <a:solidFill>
                  <a:schemeClr val="tx1"/>
                </a:solidFill>
              </a:rPr>
              <a:t>rx</a:t>
            </a:r>
            <a:endParaRPr lang="es-MX" sz="1000" b="1" dirty="0">
              <a:solidFill>
                <a:schemeClr val="tx1"/>
              </a:solidFill>
            </a:endParaRPr>
          </a:p>
        </p:txBody>
      </p:sp>
      <p:sp>
        <p:nvSpPr>
          <p:cNvPr id="18" name="Rectángulo 17"/>
          <p:cNvSpPr/>
          <p:nvPr/>
        </p:nvSpPr>
        <p:spPr>
          <a:xfrm>
            <a:off x="4124178" y="2657239"/>
            <a:ext cx="437998" cy="24113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b="1" dirty="0" err="1">
                <a:solidFill>
                  <a:schemeClr val="tx1"/>
                </a:solidFill>
              </a:rPr>
              <a:t>tx</a:t>
            </a:r>
            <a:endParaRPr lang="es-MX" sz="1000" b="1" dirty="0">
              <a:solidFill>
                <a:schemeClr val="tx1"/>
              </a:solidFill>
            </a:endParaRPr>
          </a:p>
        </p:txBody>
      </p:sp>
      <p:sp>
        <p:nvSpPr>
          <p:cNvPr id="19" name="Rectángulo 18"/>
          <p:cNvSpPr/>
          <p:nvPr/>
        </p:nvSpPr>
        <p:spPr>
          <a:xfrm>
            <a:off x="5916693" y="2664499"/>
            <a:ext cx="437998" cy="24113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b="1" dirty="0" err="1">
                <a:solidFill>
                  <a:schemeClr val="tx1"/>
                </a:solidFill>
              </a:rPr>
              <a:t>rx</a:t>
            </a:r>
            <a:endParaRPr lang="es-MX" sz="1000" b="1" dirty="0">
              <a:solidFill>
                <a:schemeClr val="tx1"/>
              </a:solidFill>
            </a:endParaRPr>
          </a:p>
        </p:txBody>
      </p:sp>
      <p:cxnSp>
        <p:nvCxnSpPr>
          <p:cNvPr id="21" name="Conector recto 20"/>
          <p:cNvCxnSpPr/>
          <p:nvPr/>
        </p:nvCxnSpPr>
        <p:spPr>
          <a:xfrm>
            <a:off x="1125711" y="3135086"/>
            <a:ext cx="1766044" cy="3483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/>
          <p:cNvCxnSpPr/>
          <p:nvPr/>
        </p:nvCxnSpPr>
        <p:spPr>
          <a:xfrm>
            <a:off x="1132969" y="5130800"/>
            <a:ext cx="1766044" cy="3483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/>
          <p:cNvCxnSpPr/>
          <p:nvPr/>
        </p:nvCxnSpPr>
        <p:spPr>
          <a:xfrm>
            <a:off x="4355139" y="3040748"/>
            <a:ext cx="1766044" cy="3483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/>
          <p:cNvCxnSpPr/>
          <p:nvPr/>
        </p:nvCxnSpPr>
        <p:spPr>
          <a:xfrm flipH="1">
            <a:off x="1132969" y="3599543"/>
            <a:ext cx="1766044" cy="4006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/>
          <p:cNvCxnSpPr/>
          <p:nvPr/>
        </p:nvCxnSpPr>
        <p:spPr>
          <a:xfrm>
            <a:off x="1132971" y="4216402"/>
            <a:ext cx="840971" cy="1698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uadroTexto 27"/>
          <p:cNvSpPr txBox="1"/>
          <p:nvPr/>
        </p:nvSpPr>
        <p:spPr>
          <a:xfrm>
            <a:off x="1814285" y="4216402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X</a:t>
            </a:r>
            <a:endParaRPr lang="es-MX" dirty="0"/>
          </a:p>
        </p:txBody>
      </p:sp>
      <p:sp>
        <p:nvSpPr>
          <p:cNvPr id="29" name="CuadroTexto 28"/>
          <p:cNvSpPr txBox="1"/>
          <p:nvPr/>
        </p:nvSpPr>
        <p:spPr>
          <a:xfrm rot="824214">
            <a:off x="1643481" y="3049017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Trama 1</a:t>
            </a:r>
            <a:endParaRPr lang="es-MX" sz="1000" dirty="0"/>
          </a:p>
        </p:txBody>
      </p:sp>
      <p:sp>
        <p:nvSpPr>
          <p:cNvPr id="30" name="CuadroTexto 29"/>
          <p:cNvSpPr txBox="1"/>
          <p:nvPr/>
        </p:nvSpPr>
        <p:spPr>
          <a:xfrm rot="824214">
            <a:off x="1650737" y="5044727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Trama 2</a:t>
            </a:r>
            <a:endParaRPr lang="es-MX" sz="1000" dirty="0"/>
          </a:p>
        </p:txBody>
      </p:sp>
      <p:sp>
        <p:nvSpPr>
          <p:cNvPr id="31" name="CuadroTexto 30"/>
          <p:cNvSpPr txBox="1"/>
          <p:nvPr/>
        </p:nvSpPr>
        <p:spPr>
          <a:xfrm rot="824214">
            <a:off x="1287880" y="4086789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Trama 2</a:t>
            </a:r>
            <a:endParaRPr lang="es-MX" sz="1000" dirty="0"/>
          </a:p>
        </p:txBody>
      </p:sp>
      <p:sp>
        <p:nvSpPr>
          <p:cNvPr id="32" name="CuadroTexto 31"/>
          <p:cNvSpPr txBox="1"/>
          <p:nvPr/>
        </p:nvSpPr>
        <p:spPr>
          <a:xfrm rot="20752532">
            <a:off x="1719319" y="3593301"/>
            <a:ext cx="4267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 err="1"/>
              <a:t>Ack</a:t>
            </a:r>
            <a:endParaRPr lang="es-MX" sz="1000" dirty="0"/>
          </a:p>
        </p:txBody>
      </p:sp>
      <p:sp>
        <p:nvSpPr>
          <p:cNvPr id="33" name="Abrir llave 32"/>
          <p:cNvSpPr/>
          <p:nvPr/>
        </p:nvSpPr>
        <p:spPr>
          <a:xfrm>
            <a:off x="1029481" y="3150774"/>
            <a:ext cx="45719" cy="96674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4" name="Abrir llave 33"/>
          <p:cNvSpPr/>
          <p:nvPr/>
        </p:nvSpPr>
        <p:spPr>
          <a:xfrm>
            <a:off x="1033714" y="4245428"/>
            <a:ext cx="45719" cy="79898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5" name="CuadroTexto 34"/>
          <p:cNvSpPr txBox="1"/>
          <p:nvPr/>
        </p:nvSpPr>
        <p:spPr>
          <a:xfrm rot="16200000">
            <a:off x="328579" y="3491701"/>
            <a:ext cx="10310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Temporizador</a:t>
            </a:r>
            <a:endParaRPr lang="es-MX" sz="1000" dirty="0"/>
          </a:p>
        </p:txBody>
      </p:sp>
      <p:sp>
        <p:nvSpPr>
          <p:cNvPr id="36" name="CuadroTexto 35"/>
          <p:cNvSpPr txBox="1"/>
          <p:nvPr/>
        </p:nvSpPr>
        <p:spPr>
          <a:xfrm rot="16200000">
            <a:off x="335836" y="4602043"/>
            <a:ext cx="10310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Temporizador</a:t>
            </a:r>
            <a:endParaRPr lang="es-MX" sz="1000" dirty="0"/>
          </a:p>
        </p:txBody>
      </p:sp>
      <p:sp>
        <p:nvSpPr>
          <p:cNvPr id="37" name="CuadroTexto 36"/>
          <p:cNvSpPr txBox="1"/>
          <p:nvPr/>
        </p:nvSpPr>
        <p:spPr>
          <a:xfrm>
            <a:off x="9142726" y="1272990"/>
            <a:ext cx="17171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Una acuse se pierde</a:t>
            </a:r>
            <a:endParaRPr lang="es-MX" sz="1200" dirty="0"/>
          </a:p>
        </p:txBody>
      </p:sp>
      <p:cxnSp>
        <p:nvCxnSpPr>
          <p:cNvPr id="38" name="Conector recto de flecha 37"/>
          <p:cNvCxnSpPr>
            <a:endCxn id="39" idx="0"/>
          </p:cNvCxnSpPr>
          <p:nvPr/>
        </p:nvCxnSpPr>
        <p:spPr>
          <a:xfrm>
            <a:off x="9035145" y="2088987"/>
            <a:ext cx="2243" cy="41500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uadroTexto 38"/>
          <p:cNvSpPr txBox="1"/>
          <p:nvPr/>
        </p:nvSpPr>
        <p:spPr>
          <a:xfrm>
            <a:off x="8918605" y="6239000"/>
            <a:ext cx="2375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t</a:t>
            </a:r>
            <a:endParaRPr lang="es-MX" sz="1200" dirty="0"/>
          </a:p>
        </p:txBody>
      </p:sp>
      <p:cxnSp>
        <p:nvCxnSpPr>
          <p:cNvPr id="40" name="Conector recto de flecha 39"/>
          <p:cNvCxnSpPr>
            <a:endCxn id="41" idx="0"/>
          </p:cNvCxnSpPr>
          <p:nvPr/>
        </p:nvCxnSpPr>
        <p:spPr>
          <a:xfrm>
            <a:off x="10801189" y="2093470"/>
            <a:ext cx="2243" cy="41500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uadroTexto 40"/>
          <p:cNvSpPr txBox="1"/>
          <p:nvPr/>
        </p:nvSpPr>
        <p:spPr>
          <a:xfrm>
            <a:off x="10684649" y="6243483"/>
            <a:ext cx="2375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t</a:t>
            </a:r>
            <a:endParaRPr lang="es-MX" sz="1200" dirty="0"/>
          </a:p>
        </p:txBody>
      </p:sp>
      <p:sp>
        <p:nvSpPr>
          <p:cNvPr id="42" name="Rectángulo 41"/>
          <p:cNvSpPr/>
          <p:nvPr/>
        </p:nvSpPr>
        <p:spPr>
          <a:xfrm>
            <a:off x="8805038" y="1837178"/>
            <a:ext cx="437998" cy="24113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 err="1">
                <a:solidFill>
                  <a:schemeClr val="tx1"/>
                </a:solidFill>
              </a:rPr>
              <a:t>tx</a:t>
            </a:r>
            <a:endParaRPr lang="es-MX" sz="1000" dirty="0">
              <a:solidFill>
                <a:schemeClr val="tx1"/>
              </a:solidFill>
            </a:endParaRPr>
          </a:p>
        </p:txBody>
      </p:sp>
      <p:sp>
        <p:nvSpPr>
          <p:cNvPr id="43" name="Rectángulo 42"/>
          <p:cNvSpPr/>
          <p:nvPr/>
        </p:nvSpPr>
        <p:spPr>
          <a:xfrm>
            <a:off x="10597553" y="1844438"/>
            <a:ext cx="437998" cy="24113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 err="1">
                <a:solidFill>
                  <a:schemeClr val="tx1"/>
                </a:solidFill>
              </a:rPr>
              <a:t>rx</a:t>
            </a:r>
            <a:endParaRPr lang="es-MX" sz="1000" dirty="0">
              <a:solidFill>
                <a:schemeClr val="tx1"/>
              </a:solidFill>
            </a:endParaRPr>
          </a:p>
        </p:txBody>
      </p:sp>
      <p:cxnSp>
        <p:nvCxnSpPr>
          <p:cNvPr id="44" name="Conector recto 43"/>
          <p:cNvCxnSpPr/>
          <p:nvPr/>
        </p:nvCxnSpPr>
        <p:spPr>
          <a:xfrm>
            <a:off x="9035999" y="2220687"/>
            <a:ext cx="1766044" cy="3483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44"/>
          <p:cNvCxnSpPr/>
          <p:nvPr/>
        </p:nvCxnSpPr>
        <p:spPr>
          <a:xfrm flipH="1">
            <a:off x="4347884" y="3519714"/>
            <a:ext cx="1766044" cy="4006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uadroTexto 45"/>
          <p:cNvSpPr txBox="1"/>
          <p:nvPr/>
        </p:nvSpPr>
        <p:spPr>
          <a:xfrm rot="20752532">
            <a:off x="4934234" y="3513472"/>
            <a:ext cx="4267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 err="1"/>
              <a:t>Ack</a:t>
            </a:r>
            <a:endParaRPr lang="es-MX" sz="1000" dirty="0"/>
          </a:p>
        </p:txBody>
      </p:sp>
      <p:cxnSp>
        <p:nvCxnSpPr>
          <p:cNvPr id="47" name="Conector recto 46"/>
          <p:cNvCxnSpPr/>
          <p:nvPr/>
        </p:nvCxnSpPr>
        <p:spPr>
          <a:xfrm flipH="1">
            <a:off x="4369657" y="5021942"/>
            <a:ext cx="1766044" cy="4006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uadroTexto 47"/>
          <p:cNvSpPr txBox="1"/>
          <p:nvPr/>
        </p:nvSpPr>
        <p:spPr>
          <a:xfrm rot="20752532">
            <a:off x="4911925" y="5015700"/>
            <a:ext cx="5148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 err="1"/>
              <a:t>Nack</a:t>
            </a:r>
            <a:endParaRPr lang="es-MX" sz="1000" dirty="0"/>
          </a:p>
        </p:txBody>
      </p:sp>
      <p:cxnSp>
        <p:nvCxnSpPr>
          <p:cNvPr id="49" name="Conector recto 48"/>
          <p:cNvCxnSpPr/>
          <p:nvPr/>
        </p:nvCxnSpPr>
        <p:spPr>
          <a:xfrm>
            <a:off x="4355143" y="4332516"/>
            <a:ext cx="1766044" cy="3483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uadroTexto 49"/>
          <p:cNvSpPr txBox="1"/>
          <p:nvPr/>
        </p:nvSpPr>
        <p:spPr>
          <a:xfrm rot="824214">
            <a:off x="4925812" y="4246447"/>
            <a:ext cx="5741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Trama</a:t>
            </a:r>
            <a:endParaRPr lang="es-MX" sz="1000" dirty="0"/>
          </a:p>
        </p:txBody>
      </p:sp>
      <p:sp>
        <p:nvSpPr>
          <p:cNvPr id="51" name="CuadroTexto 50"/>
          <p:cNvSpPr txBox="1"/>
          <p:nvPr/>
        </p:nvSpPr>
        <p:spPr>
          <a:xfrm rot="824214">
            <a:off x="4889526" y="2976449"/>
            <a:ext cx="5741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Trama</a:t>
            </a:r>
            <a:endParaRPr lang="es-MX" sz="1000" dirty="0"/>
          </a:p>
        </p:txBody>
      </p:sp>
      <p:sp>
        <p:nvSpPr>
          <p:cNvPr id="52" name="CuadroTexto 51"/>
          <p:cNvSpPr txBox="1"/>
          <p:nvPr/>
        </p:nvSpPr>
        <p:spPr>
          <a:xfrm rot="824214">
            <a:off x="9524741" y="2178159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Trama 0</a:t>
            </a:r>
            <a:endParaRPr lang="es-MX" sz="1000" dirty="0"/>
          </a:p>
        </p:txBody>
      </p:sp>
      <p:cxnSp>
        <p:nvCxnSpPr>
          <p:cNvPr id="53" name="Conector recto 52"/>
          <p:cNvCxnSpPr/>
          <p:nvPr/>
        </p:nvCxnSpPr>
        <p:spPr>
          <a:xfrm>
            <a:off x="9036000" y="3106057"/>
            <a:ext cx="1766044" cy="3483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53"/>
          <p:cNvCxnSpPr/>
          <p:nvPr/>
        </p:nvCxnSpPr>
        <p:spPr>
          <a:xfrm flipH="1">
            <a:off x="9612674" y="3585023"/>
            <a:ext cx="1182115" cy="3209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CuadroTexto 54"/>
          <p:cNvSpPr txBox="1"/>
          <p:nvPr/>
        </p:nvSpPr>
        <p:spPr>
          <a:xfrm rot="20752532">
            <a:off x="9925052" y="3535239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 err="1"/>
              <a:t>Ack</a:t>
            </a:r>
            <a:r>
              <a:rPr lang="es-ES" sz="1000" dirty="0"/>
              <a:t> 0</a:t>
            </a:r>
            <a:endParaRPr lang="es-MX" sz="1000" dirty="0"/>
          </a:p>
        </p:txBody>
      </p:sp>
      <p:cxnSp>
        <p:nvCxnSpPr>
          <p:cNvPr id="56" name="Conector recto 55"/>
          <p:cNvCxnSpPr/>
          <p:nvPr/>
        </p:nvCxnSpPr>
        <p:spPr>
          <a:xfrm flipH="1">
            <a:off x="9050518" y="4738911"/>
            <a:ext cx="1766044" cy="4006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CuadroTexto 56"/>
          <p:cNvSpPr txBox="1"/>
          <p:nvPr/>
        </p:nvSpPr>
        <p:spPr>
          <a:xfrm rot="20752532">
            <a:off x="9642025" y="4747183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 err="1"/>
              <a:t>Ack</a:t>
            </a:r>
            <a:r>
              <a:rPr lang="es-ES" sz="1000" dirty="0"/>
              <a:t> 0</a:t>
            </a:r>
            <a:endParaRPr lang="es-MX" sz="1000" dirty="0"/>
          </a:p>
        </p:txBody>
      </p:sp>
      <p:cxnSp>
        <p:nvCxnSpPr>
          <p:cNvPr id="58" name="Conector recto 57"/>
          <p:cNvCxnSpPr/>
          <p:nvPr/>
        </p:nvCxnSpPr>
        <p:spPr>
          <a:xfrm>
            <a:off x="9036004" y="4209138"/>
            <a:ext cx="1766044" cy="3483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uadroTexto 58"/>
          <p:cNvSpPr txBox="1"/>
          <p:nvPr/>
        </p:nvSpPr>
        <p:spPr>
          <a:xfrm rot="824214">
            <a:off x="9611830" y="4123069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Trama 1</a:t>
            </a:r>
            <a:endParaRPr lang="es-MX" sz="1000" dirty="0"/>
          </a:p>
        </p:txBody>
      </p:sp>
      <p:sp>
        <p:nvSpPr>
          <p:cNvPr id="60" name="CuadroTexto 59"/>
          <p:cNvSpPr txBox="1"/>
          <p:nvPr/>
        </p:nvSpPr>
        <p:spPr>
          <a:xfrm rot="824214">
            <a:off x="9575544" y="3041758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Trama 1</a:t>
            </a:r>
            <a:endParaRPr lang="es-MX" sz="1000" dirty="0"/>
          </a:p>
        </p:txBody>
      </p:sp>
      <p:cxnSp>
        <p:nvCxnSpPr>
          <p:cNvPr id="61" name="Conector recto 60"/>
          <p:cNvCxnSpPr/>
          <p:nvPr/>
        </p:nvCxnSpPr>
        <p:spPr>
          <a:xfrm flipH="1">
            <a:off x="9028741" y="2627083"/>
            <a:ext cx="1766044" cy="4006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CuadroTexto 61"/>
          <p:cNvSpPr txBox="1"/>
          <p:nvPr/>
        </p:nvSpPr>
        <p:spPr>
          <a:xfrm rot="20752532">
            <a:off x="9562192" y="2620841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 err="1"/>
              <a:t>Ack</a:t>
            </a:r>
            <a:r>
              <a:rPr lang="es-ES" sz="1000" dirty="0"/>
              <a:t> 1</a:t>
            </a:r>
            <a:endParaRPr lang="es-MX" sz="1000" dirty="0"/>
          </a:p>
        </p:txBody>
      </p:sp>
      <p:sp>
        <p:nvSpPr>
          <p:cNvPr id="64" name="CuadroTexto 63"/>
          <p:cNvSpPr txBox="1"/>
          <p:nvPr/>
        </p:nvSpPr>
        <p:spPr>
          <a:xfrm>
            <a:off x="9470576" y="3730166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X</a:t>
            </a:r>
            <a:endParaRPr lang="es-MX" dirty="0"/>
          </a:p>
        </p:txBody>
      </p:sp>
      <p:sp>
        <p:nvSpPr>
          <p:cNvPr id="67" name="Abrir llave 66"/>
          <p:cNvSpPr/>
          <p:nvPr/>
        </p:nvSpPr>
        <p:spPr>
          <a:xfrm>
            <a:off x="8936749" y="3106056"/>
            <a:ext cx="57298" cy="102428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8" name="CuadroTexto 67"/>
          <p:cNvSpPr txBox="1"/>
          <p:nvPr/>
        </p:nvSpPr>
        <p:spPr>
          <a:xfrm rot="16200000">
            <a:off x="8238871" y="3535242"/>
            <a:ext cx="10310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Temporizador</a:t>
            </a:r>
            <a:endParaRPr lang="es-MX" sz="1000" dirty="0"/>
          </a:p>
        </p:txBody>
      </p:sp>
      <p:sp>
        <p:nvSpPr>
          <p:cNvPr id="69" name="CuadroTexto 68"/>
          <p:cNvSpPr txBox="1"/>
          <p:nvPr/>
        </p:nvSpPr>
        <p:spPr>
          <a:xfrm>
            <a:off x="10764116" y="4429924"/>
            <a:ext cx="9653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Trama </a:t>
            </a:r>
          </a:p>
          <a:p>
            <a:r>
              <a:rPr lang="es-ES" sz="1200" dirty="0"/>
              <a:t>duplicada</a:t>
            </a:r>
            <a:endParaRPr lang="es-MX" sz="1200" dirty="0"/>
          </a:p>
        </p:txBody>
      </p:sp>
      <p:cxnSp>
        <p:nvCxnSpPr>
          <p:cNvPr id="70" name="Conector recto 69"/>
          <p:cNvCxnSpPr/>
          <p:nvPr/>
        </p:nvCxnSpPr>
        <p:spPr>
          <a:xfrm>
            <a:off x="9043262" y="5217878"/>
            <a:ext cx="1766044" cy="3483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CuadroTexto 70"/>
          <p:cNvSpPr txBox="1"/>
          <p:nvPr/>
        </p:nvSpPr>
        <p:spPr>
          <a:xfrm rot="824214">
            <a:off x="9619088" y="5131809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Trama 0</a:t>
            </a:r>
            <a:endParaRPr lang="es-MX" sz="1000" dirty="0"/>
          </a:p>
        </p:txBody>
      </p:sp>
      <p:sp>
        <p:nvSpPr>
          <p:cNvPr id="72" name="CuadroTexto 71"/>
          <p:cNvSpPr txBox="1"/>
          <p:nvPr/>
        </p:nvSpPr>
        <p:spPr>
          <a:xfrm>
            <a:off x="1277264" y="6581001"/>
            <a:ext cx="108622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</a:t>
            </a:r>
            <a:r>
              <a:rPr lang="es-MX" sz="1200" dirty="0">
                <a:hlinkClick r:id="rId2"/>
              </a:rPr>
              <a:t>http://exa.unne.edu.ar/depar/areas/informatica/teleproc/Comunicaciones/Presentaciones_Proyector/ControldelEnlacedeDatos.pdf</a:t>
            </a:r>
            <a:r>
              <a:rPr lang="es-MX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4776823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Control de flujo</a:t>
            </a:r>
            <a:endParaRPr lang="es-MX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2589212" y="1474694"/>
                <a:ext cx="8915400" cy="5106307"/>
              </a:xfrm>
            </p:spPr>
            <p:txBody>
              <a:bodyPr/>
              <a:lstStyle/>
              <a:p>
                <a:r>
                  <a:rPr lang="es-ES" b="1" dirty="0"/>
                  <a:t>Utilización de canal en parar y esperar</a:t>
                </a:r>
                <a:r>
                  <a:rPr lang="es-ES" dirty="0"/>
                  <a:t>: es una medida de la eficiencia con la que se está utilizando el medio de transmisión.</a:t>
                </a:r>
              </a:p>
              <a:p>
                <a:pPr marL="0" indent="0" algn="ctr">
                  <a:buNone/>
                </a:pPr>
                <a:r>
                  <a:rPr lang="es-ES" dirty="0"/>
                  <a:t>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 sz="2000">
                        <a:latin typeface="Cambria Math" panose="02040503050406030204" pitchFamily="18" charset="0"/>
                      </a:rPr>
                      <m:t>U</m:t>
                    </m:r>
                    <m:r>
                      <a:rPr lang="es-ES" sz="2000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s-ES" sz="2000" b="0" i="1" baseline="-25000" smtClean="0">
                            <a:latin typeface="Cambria Math" panose="02040503050406030204" pitchFamily="18" charset="0"/>
                          </a:rPr>
                          <m:t>ú</m:t>
                        </m:r>
                        <m:r>
                          <a:rPr lang="es-ES" sz="2000" b="0" i="1" baseline="-25000" smtClean="0">
                            <a:latin typeface="Cambria Math" panose="02040503050406030204" pitchFamily="18" charset="0"/>
                          </a:rPr>
                          <m:t>𝑡𝑖𝑙</m:t>
                        </m:r>
                      </m:num>
                      <m:den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s-ES" sz="2000" b="0" i="1" baseline="-25000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</m:den>
                    </m:f>
                  </m:oMath>
                </a14:m>
                <a:r>
                  <a:rPr lang="es-ES" sz="2000" dirty="0"/>
                  <a:t> x 100</a:t>
                </a:r>
              </a:p>
              <a:p>
                <a:pPr marL="93663" indent="-93663">
                  <a:buNone/>
                </a:pPr>
                <a:r>
                  <a:rPr lang="es-ES" dirty="0"/>
                  <a:t>  Antes de desarrollar los términos de la ecuación, se definen algunos conceptos útiles para calcular el </a:t>
                </a:r>
                <a:r>
                  <a:rPr lang="es-ES" i="1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t</a:t>
                </a:r>
                <a:r>
                  <a:rPr lang="es-ES" i="1" baseline="-250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total</a:t>
                </a:r>
                <a:r>
                  <a:rPr lang="es-ES" dirty="0"/>
                  <a:t>.</a:t>
                </a:r>
              </a:p>
              <a:p>
                <a:pPr marL="0" indent="0">
                  <a:buNone/>
                </a:pPr>
                <a:endParaRPr lang="es-ES" dirty="0"/>
              </a:p>
              <a:p>
                <a:pPr marL="806450" indent="-806450">
                  <a:buNone/>
                </a:pPr>
                <a:r>
                  <a:rPr lang="es-ES" dirty="0"/>
                  <a:t>+ </a:t>
                </a:r>
                <a:r>
                  <a:rPr lang="es-ES" b="1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t</a:t>
                </a:r>
                <a:r>
                  <a:rPr lang="es-ES" b="1" baseline="-250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trama</a:t>
                </a:r>
                <a:r>
                  <a:rPr lang="es-ES" dirty="0"/>
                  <a:t>: tiempo que le toma al transmisor sacar toda la trama al medio de transmisión.</a:t>
                </a:r>
              </a:p>
              <a:p>
                <a:pPr marL="806450" indent="-806450">
                  <a:buNone/>
                </a:pPr>
                <a:r>
                  <a:rPr lang="es-ES" dirty="0"/>
                  <a:t>+ </a:t>
                </a:r>
                <a:r>
                  <a:rPr lang="es-ES" b="1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t</a:t>
                </a:r>
                <a:r>
                  <a:rPr lang="es-ES" b="1" baseline="-250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prop</a:t>
                </a:r>
                <a:r>
                  <a:rPr lang="es-ES" dirty="0"/>
                  <a:t>: tiempo que le toma a la onda electromagnética viajar del transmisor al receptor.</a:t>
                </a:r>
              </a:p>
              <a:p>
                <a:pPr marL="806450" indent="-806450">
                  <a:buNone/>
                </a:pPr>
                <a:r>
                  <a:rPr lang="es-ES" dirty="0"/>
                  <a:t>+ </a:t>
                </a:r>
                <a:r>
                  <a:rPr lang="es-ES" b="1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t</a:t>
                </a:r>
                <a:r>
                  <a:rPr lang="es-ES" b="1" baseline="-250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proc</a:t>
                </a:r>
                <a:r>
                  <a:rPr lang="es-ES" dirty="0"/>
                  <a:t>: tiempo entre la recepción de una trama y el inicio de la transmisión de una respuesta.</a:t>
                </a:r>
              </a:p>
              <a:p>
                <a:pPr marL="806450" indent="-806450">
                  <a:buNone/>
                </a:pPr>
                <a:r>
                  <a:rPr lang="es-ES" dirty="0"/>
                  <a:t>+ </a:t>
                </a:r>
                <a:r>
                  <a:rPr lang="es-ES" b="1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t</a:t>
                </a:r>
                <a:r>
                  <a:rPr lang="es-ES" b="1" baseline="-250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ack</a:t>
                </a:r>
                <a:r>
                  <a:rPr lang="es-ES" dirty="0"/>
                  <a:t>: tiempo de trama cuando la trama es un acuse. Las tramas de acuse son mucho menores que las tramas de información (</a:t>
                </a:r>
                <a:r>
                  <a:rPr lang="es-ES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t</a:t>
                </a:r>
                <a:r>
                  <a:rPr lang="es-ES" baseline="-250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trama</a:t>
                </a:r>
                <a:r>
                  <a:rPr lang="es-ES" dirty="0"/>
                  <a:t> &gt;&gt; </a:t>
                </a:r>
                <a:r>
                  <a:rPr lang="es-ES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t</a:t>
                </a:r>
                <a:r>
                  <a:rPr lang="es-ES" baseline="-250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ack</a:t>
                </a:r>
                <a:r>
                  <a:rPr lang="es-ES" dirty="0"/>
                  <a:t>).</a:t>
                </a:r>
              </a:p>
              <a:p>
                <a:pPr marL="806450" indent="-806450">
                  <a:buNone/>
                </a:pPr>
                <a:endParaRPr lang="es-ES" dirty="0"/>
              </a:p>
              <a:p>
                <a:pPr marL="806450" indent="-806450">
                  <a:buNone/>
                </a:pPr>
                <a:endParaRPr lang="es-ES" dirty="0"/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89212" y="1474694"/>
                <a:ext cx="8915400" cy="5106307"/>
              </a:xfrm>
              <a:blipFill rotWithShape="0">
                <a:blip r:embed="rId2"/>
                <a:stretch>
                  <a:fillRect l="-616" t="-716" r="-116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adroTexto 3"/>
          <p:cNvSpPr txBox="1"/>
          <p:nvPr/>
        </p:nvSpPr>
        <p:spPr>
          <a:xfrm>
            <a:off x="1277264" y="6581001"/>
            <a:ext cx="108622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</a:t>
            </a:r>
            <a:r>
              <a:rPr lang="es-MX" sz="1200" dirty="0">
                <a:hlinkClick r:id="rId3"/>
              </a:rPr>
              <a:t>http://exa.unne.edu.ar/depar/areas/informatica/teleproc/Comunicaciones/Presentaciones_Proyector/ControldelEnlacedeDatos.pdf</a:t>
            </a:r>
            <a:r>
              <a:rPr lang="es-MX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8138362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Control de flujo</a:t>
            </a:r>
            <a:endParaRPr lang="es-MX" dirty="0"/>
          </a:p>
        </p:txBody>
      </p:sp>
      <p:sp>
        <p:nvSpPr>
          <p:cNvPr id="4" name="CuadroTexto 3"/>
          <p:cNvSpPr txBox="1"/>
          <p:nvPr/>
        </p:nvSpPr>
        <p:spPr>
          <a:xfrm>
            <a:off x="1277264" y="6581001"/>
            <a:ext cx="108622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</a:t>
            </a:r>
            <a:r>
              <a:rPr lang="es-MX" sz="1200" dirty="0">
                <a:hlinkClick r:id="rId2"/>
              </a:rPr>
              <a:t>http://exa.unne.edu.ar/depar/areas/informatica/teleproc/Comunicaciones/Presentaciones_Proyector/ControldelEnlacedeDatos.pdf</a:t>
            </a:r>
            <a:r>
              <a:rPr lang="es-MX" sz="1200" dirty="0"/>
              <a:t>.</a:t>
            </a:r>
          </a:p>
        </p:txBody>
      </p:sp>
      <p:sp>
        <p:nvSpPr>
          <p:cNvPr id="5" name="Rectángulo 4"/>
          <p:cNvSpPr/>
          <p:nvPr/>
        </p:nvSpPr>
        <p:spPr>
          <a:xfrm>
            <a:off x="6099801" y="1951368"/>
            <a:ext cx="329134" cy="184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b="1" dirty="0" err="1">
                <a:solidFill>
                  <a:schemeClr val="tx1"/>
                </a:solidFill>
              </a:rPr>
              <a:t>tx</a:t>
            </a:r>
            <a:endParaRPr lang="es-MX" sz="1000" b="1" dirty="0">
              <a:solidFill>
                <a:schemeClr val="tx1"/>
              </a:solidFill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7892316" y="1958628"/>
            <a:ext cx="329134" cy="184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b="1" dirty="0" err="1">
                <a:solidFill>
                  <a:schemeClr val="tx1"/>
                </a:solidFill>
              </a:rPr>
              <a:t>rx</a:t>
            </a:r>
            <a:endParaRPr lang="es-MX" sz="1000" b="1" dirty="0">
              <a:solidFill>
                <a:schemeClr val="tx1"/>
              </a:solidFill>
            </a:endParaRPr>
          </a:p>
        </p:txBody>
      </p:sp>
      <p:sp>
        <p:nvSpPr>
          <p:cNvPr id="7" name="CuadroTexto 6"/>
          <p:cNvSpPr txBox="1"/>
          <p:nvPr/>
        </p:nvSpPr>
        <p:spPr>
          <a:xfrm>
            <a:off x="6137761" y="1660099"/>
            <a:ext cx="267286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000" b="1" dirty="0"/>
              <a:t>→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2574385" y="1865890"/>
            <a:ext cx="58862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300" dirty="0">
                <a:latin typeface="Cambria Math" panose="02040503050406030204" pitchFamily="18" charset="0"/>
                <a:ea typeface="Cambria Math" panose="02040503050406030204" pitchFamily="18" charset="0"/>
              </a:rPr>
              <a:t>t1= 0</a:t>
            </a:r>
            <a:endParaRPr lang="es-MX" sz="13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10" name="Conector recto 9"/>
          <p:cNvCxnSpPr>
            <a:stCxn id="5" idx="3"/>
            <a:endCxn id="6" idx="1"/>
          </p:cNvCxnSpPr>
          <p:nvPr/>
        </p:nvCxnSpPr>
        <p:spPr>
          <a:xfrm>
            <a:off x="6428935" y="2043499"/>
            <a:ext cx="1463381" cy="72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 10"/>
          <p:cNvSpPr/>
          <p:nvPr/>
        </p:nvSpPr>
        <p:spPr>
          <a:xfrm>
            <a:off x="6097458" y="2525800"/>
            <a:ext cx="329134" cy="184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b="1" dirty="0" err="1">
                <a:solidFill>
                  <a:schemeClr val="tx1"/>
                </a:solidFill>
              </a:rPr>
              <a:t>tx</a:t>
            </a:r>
            <a:endParaRPr lang="es-MX" sz="1000" b="1" dirty="0">
              <a:solidFill>
                <a:schemeClr val="tx1"/>
              </a:solidFill>
            </a:endParaRPr>
          </a:p>
        </p:txBody>
      </p:sp>
      <p:sp>
        <p:nvSpPr>
          <p:cNvPr id="12" name="Rectángulo 11"/>
          <p:cNvSpPr/>
          <p:nvPr/>
        </p:nvSpPr>
        <p:spPr>
          <a:xfrm>
            <a:off x="7889973" y="2533060"/>
            <a:ext cx="329134" cy="184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b="1" dirty="0" err="1">
                <a:solidFill>
                  <a:schemeClr val="tx1"/>
                </a:solidFill>
              </a:rPr>
              <a:t>rx</a:t>
            </a:r>
            <a:endParaRPr lang="es-MX" sz="1000" b="1" dirty="0">
              <a:solidFill>
                <a:schemeClr val="tx1"/>
              </a:solidFill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6458974" y="2347075"/>
            <a:ext cx="267286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000" b="1" dirty="0"/>
              <a:t>→</a:t>
            </a:r>
          </a:p>
        </p:txBody>
      </p:sp>
      <p:sp>
        <p:nvSpPr>
          <p:cNvPr id="14" name="CuadroTexto 13"/>
          <p:cNvSpPr txBox="1"/>
          <p:nvPr/>
        </p:nvSpPr>
        <p:spPr>
          <a:xfrm>
            <a:off x="2572042" y="2440322"/>
            <a:ext cx="77905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300" dirty="0">
                <a:latin typeface="Cambria Math" panose="02040503050406030204" pitchFamily="18" charset="0"/>
                <a:ea typeface="Cambria Math" panose="02040503050406030204" pitchFamily="18" charset="0"/>
              </a:rPr>
              <a:t>t = </a:t>
            </a:r>
            <a:r>
              <a:rPr lang="es-ES" sz="13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</a:t>
            </a:r>
            <a:r>
              <a:rPr lang="es-ES" sz="1300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trama</a:t>
            </a:r>
            <a:endParaRPr lang="es-MX" sz="1300" baseline="-25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15" name="Conector recto 14"/>
          <p:cNvCxnSpPr>
            <a:stCxn id="11" idx="3"/>
            <a:endCxn id="12" idx="1"/>
          </p:cNvCxnSpPr>
          <p:nvPr/>
        </p:nvCxnSpPr>
        <p:spPr>
          <a:xfrm>
            <a:off x="6426592" y="2617931"/>
            <a:ext cx="1463381" cy="72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ángulo 15"/>
          <p:cNvSpPr/>
          <p:nvPr/>
        </p:nvSpPr>
        <p:spPr>
          <a:xfrm>
            <a:off x="6109179" y="3058028"/>
            <a:ext cx="329134" cy="184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b="1" dirty="0" err="1">
                <a:solidFill>
                  <a:schemeClr val="tx1"/>
                </a:solidFill>
              </a:rPr>
              <a:t>tx</a:t>
            </a:r>
            <a:endParaRPr lang="es-MX" sz="1000" b="1" dirty="0">
              <a:solidFill>
                <a:schemeClr val="tx1"/>
              </a:solidFill>
            </a:endParaRPr>
          </a:p>
        </p:txBody>
      </p:sp>
      <p:sp>
        <p:nvSpPr>
          <p:cNvPr id="17" name="Rectángulo 16"/>
          <p:cNvSpPr/>
          <p:nvPr/>
        </p:nvSpPr>
        <p:spPr>
          <a:xfrm>
            <a:off x="7901694" y="3065288"/>
            <a:ext cx="329134" cy="184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b="1" dirty="0" err="1">
                <a:solidFill>
                  <a:schemeClr val="tx1"/>
                </a:solidFill>
              </a:rPr>
              <a:t>rx</a:t>
            </a:r>
            <a:endParaRPr lang="es-MX" sz="1000" b="1" dirty="0">
              <a:solidFill>
                <a:schemeClr val="tx1"/>
              </a:solidFill>
            </a:endParaRPr>
          </a:p>
        </p:txBody>
      </p:sp>
      <p:sp>
        <p:nvSpPr>
          <p:cNvPr id="18" name="CuadroTexto 17"/>
          <p:cNvSpPr txBox="1"/>
          <p:nvPr/>
        </p:nvSpPr>
        <p:spPr>
          <a:xfrm>
            <a:off x="7624254" y="2907439"/>
            <a:ext cx="267286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000" b="1" dirty="0"/>
              <a:t>→</a:t>
            </a:r>
          </a:p>
        </p:txBody>
      </p:sp>
      <p:sp>
        <p:nvSpPr>
          <p:cNvPr id="19" name="CuadroTexto 18"/>
          <p:cNvSpPr txBox="1"/>
          <p:nvPr/>
        </p:nvSpPr>
        <p:spPr>
          <a:xfrm>
            <a:off x="2583763" y="2972550"/>
            <a:ext cx="122629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300" dirty="0">
                <a:latin typeface="Cambria Math" panose="02040503050406030204" pitchFamily="18" charset="0"/>
                <a:ea typeface="Cambria Math" panose="02040503050406030204" pitchFamily="18" charset="0"/>
              </a:rPr>
              <a:t>t = </a:t>
            </a:r>
            <a:r>
              <a:rPr lang="es-ES" sz="13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</a:t>
            </a:r>
            <a:r>
              <a:rPr lang="es-ES" sz="1300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trama</a:t>
            </a:r>
            <a:r>
              <a:rPr lang="es-ES" sz="1300" dirty="0">
                <a:latin typeface="Cambria Math" panose="02040503050406030204" pitchFamily="18" charset="0"/>
                <a:ea typeface="Cambria Math" panose="02040503050406030204" pitchFamily="18" charset="0"/>
              </a:rPr>
              <a:t>+ </a:t>
            </a:r>
            <a:r>
              <a:rPr lang="es-ES" sz="13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</a:t>
            </a:r>
            <a:r>
              <a:rPr lang="es-ES" sz="1300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prop</a:t>
            </a:r>
            <a:endParaRPr lang="es-MX" sz="1300" baseline="-25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20" name="Conector recto 19"/>
          <p:cNvCxnSpPr>
            <a:stCxn id="16" idx="3"/>
            <a:endCxn id="17" idx="1"/>
          </p:cNvCxnSpPr>
          <p:nvPr/>
        </p:nvCxnSpPr>
        <p:spPr>
          <a:xfrm>
            <a:off x="6438313" y="3150159"/>
            <a:ext cx="1463381" cy="72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ángulo 20"/>
          <p:cNvSpPr/>
          <p:nvPr/>
        </p:nvSpPr>
        <p:spPr>
          <a:xfrm>
            <a:off x="6120903" y="3562117"/>
            <a:ext cx="329134" cy="184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b="1" dirty="0" err="1">
                <a:solidFill>
                  <a:schemeClr val="tx1"/>
                </a:solidFill>
              </a:rPr>
              <a:t>tx</a:t>
            </a:r>
            <a:endParaRPr lang="es-MX" sz="1000" b="1" dirty="0">
              <a:solidFill>
                <a:schemeClr val="tx1"/>
              </a:solidFill>
            </a:endParaRPr>
          </a:p>
        </p:txBody>
      </p:sp>
      <p:sp>
        <p:nvSpPr>
          <p:cNvPr id="22" name="Rectángulo 21"/>
          <p:cNvSpPr/>
          <p:nvPr/>
        </p:nvSpPr>
        <p:spPr>
          <a:xfrm>
            <a:off x="7913418" y="3569377"/>
            <a:ext cx="329134" cy="184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b="1" dirty="0" err="1">
                <a:solidFill>
                  <a:schemeClr val="tx1"/>
                </a:solidFill>
              </a:rPr>
              <a:t>rx</a:t>
            </a:r>
            <a:endParaRPr lang="es-MX" sz="1000" b="1" dirty="0">
              <a:solidFill>
                <a:schemeClr val="tx1"/>
              </a:solidFill>
            </a:endParaRPr>
          </a:p>
        </p:txBody>
      </p:sp>
      <p:sp>
        <p:nvSpPr>
          <p:cNvPr id="23" name="CuadroTexto 22"/>
          <p:cNvSpPr txBox="1"/>
          <p:nvPr/>
        </p:nvSpPr>
        <p:spPr>
          <a:xfrm>
            <a:off x="7917325" y="3332807"/>
            <a:ext cx="424811" cy="2308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sz="900" b="1" dirty="0" err="1"/>
              <a:t>ack</a:t>
            </a:r>
            <a:endParaRPr lang="es-MX" sz="900" b="1" dirty="0"/>
          </a:p>
        </p:txBody>
      </p:sp>
      <p:sp>
        <p:nvSpPr>
          <p:cNvPr id="24" name="CuadroTexto 23"/>
          <p:cNvSpPr txBox="1"/>
          <p:nvPr/>
        </p:nvSpPr>
        <p:spPr>
          <a:xfrm>
            <a:off x="2595487" y="3476639"/>
            <a:ext cx="171040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300" dirty="0">
                <a:latin typeface="Cambria Math" panose="02040503050406030204" pitchFamily="18" charset="0"/>
                <a:ea typeface="Cambria Math" panose="02040503050406030204" pitchFamily="18" charset="0"/>
              </a:rPr>
              <a:t>t = </a:t>
            </a:r>
            <a:r>
              <a:rPr lang="es-ES" sz="13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</a:t>
            </a:r>
            <a:r>
              <a:rPr lang="es-ES" sz="1300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trama</a:t>
            </a:r>
            <a:r>
              <a:rPr lang="es-ES" sz="1300" dirty="0">
                <a:latin typeface="Cambria Math" panose="02040503050406030204" pitchFamily="18" charset="0"/>
                <a:ea typeface="Cambria Math" panose="02040503050406030204" pitchFamily="18" charset="0"/>
              </a:rPr>
              <a:t>+ </a:t>
            </a:r>
            <a:r>
              <a:rPr lang="es-ES" sz="13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</a:t>
            </a:r>
            <a:r>
              <a:rPr lang="es-ES" sz="1300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prop</a:t>
            </a:r>
            <a:r>
              <a:rPr lang="es-ES" sz="1300" dirty="0">
                <a:latin typeface="Cambria Math" panose="02040503050406030204" pitchFamily="18" charset="0"/>
                <a:ea typeface="Cambria Math" panose="02040503050406030204" pitchFamily="18" charset="0"/>
              </a:rPr>
              <a:t> + </a:t>
            </a:r>
            <a:r>
              <a:rPr lang="es-ES" sz="13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</a:t>
            </a:r>
            <a:r>
              <a:rPr lang="es-ES" sz="1300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proc</a:t>
            </a:r>
            <a:endParaRPr lang="es-MX" sz="1300" baseline="-25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25" name="Conector recto 24"/>
          <p:cNvCxnSpPr>
            <a:stCxn id="21" idx="3"/>
            <a:endCxn id="22" idx="1"/>
          </p:cNvCxnSpPr>
          <p:nvPr/>
        </p:nvCxnSpPr>
        <p:spPr>
          <a:xfrm>
            <a:off x="6450037" y="3654248"/>
            <a:ext cx="1463381" cy="72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ángulo 25"/>
          <p:cNvSpPr/>
          <p:nvPr/>
        </p:nvSpPr>
        <p:spPr>
          <a:xfrm>
            <a:off x="6134971" y="4054493"/>
            <a:ext cx="329134" cy="184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b="1" dirty="0" err="1">
                <a:solidFill>
                  <a:schemeClr val="tx1"/>
                </a:solidFill>
              </a:rPr>
              <a:t>tx</a:t>
            </a:r>
            <a:endParaRPr lang="es-MX" sz="1000" b="1" dirty="0">
              <a:solidFill>
                <a:schemeClr val="tx1"/>
              </a:solidFill>
            </a:endParaRPr>
          </a:p>
        </p:txBody>
      </p:sp>
      <p:sp>
        <p:nvSpPr>
          <p:cNvPr id="27" name="Rectángulo 26"/>
          <p:cNvSpPr/>
          <p:nvPr/>
        </p:nvSpPr>
        <p:spPr>
          <a:xfrm>
            <a:off x="7927486" y="4061753"/>
            <a:ext cx="329134" cy="184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b="1" dirty="0" err="1">
                <a:solidFill>
                  <a:schemeClr val="tx1"/>
                </a:solidFill>
              </a:rPr>
              <a:t>rx</a:t>
            </a:r>
            <a:endParaRPr lang="es-MX" sz="1000" b="1" dirty="0">
              <a:solidFill>
                <a:schemeClr val="tx1"/>
              </a:solidFill>
            </a:endParaRPr>
          </a:p>
        </p:txBody>
      </p:sp>
      <p:sp>
        <p:nvSpPr>
          <p:cNvPr id="29" name="CuadroTexto 28"/>
          <p:cNvSpPr txBox="1"/>
          <p:nvPr/>
        </p:nvSpPr>
        <p:spPr>
          <a:xfrm>
            <a:off x="2609555" y="3969015"/>
            <a:ext cx="3196282" cy="425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300" dirty="0">
                <a:latin typeface="Cambria Math" panose="02040503050406030204" pitchFamily="18" charset="0"/>
                <a:ea typeface="Cambria Math" panose="02040503050406030204" pitchFamily="18" charset="0"/>
              </a:rPr>
              <a:t>t = </a:t>
            </a:r>
            <a:r>
              <a:rPr lang="es-ES" sz="13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</a:t>
            </a:r>
            <a:r>
              <a:rPr lang="es-ES" sz="1300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trama</a:t>
            </a:r>
            <a:r>
              <a:rPr lang="es-ES" sz="1300" dirty="0">
                <a:latin typeface="Cambria Math" panose="02040503050406030204" pitchFamily="18" charset="0"/>
                <a:ea typeface="Cambria Math" panose="02040503050406030204" pitchFamily="18" charset="0"/>
              </a:rPr>
              <a:t>+ </a:t>
            </a:r>
            <a:r>
              <a:rPr lang="es-ES" sz="13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</a:t>
            </a:r>
            <a:r>
              <a:rPr lang="es-ES" sz="1300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prop</a:t>
            </a:r>
            <a:r>
              <a:rPr lang="es-ES" sz="1300" dirty="0">
                <a:latin typeface="Cambria Math" panose="02040503050406030204" pitchFamily="18" charset="0"/>
                <a:ea typeface="Cambria Math" panose="02040503050406030204" pitchFamily="18" charset="0"/>
              </a:rPr>
              <a:t>+ </a:t>
            </a:r>
            <a:r>
              <a:rPr lang="es-ES" sz="13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</a:t>
            </a:r>
            <a:r>
              <a:rPr lang="es-ES" sz="1300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proc</a:t>
            </a:r>
            <a:r>
              <a:rPr lang="es-ES" sz="1300" dirty="0">
                <a:latin typeface="Cambria Math" panose="02040503050406030204" pitchFamily="18" charset="0"/>
                <a:ea typeface="Cambria Math" panose="02040503050406030204" pitchFamily="18" charset="0"/>
              </a:rPr>
              <a:t>+ </a:t>
            </a:r>
            <a:r>
              <a:rPr lang="es-ES" sz="13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</a:t>
            </a:r>
            <a:r>
              <a:rPr lang="es-ES" sz="1300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ack</a:t>
            </a:r>
            <a:endParaRPr lang="es-MX" sz="1300" baseline="-25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s-MX" sz="1300" baseline="-25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30" name="Conector recto 29"/>
          <p:cNvCxnSpPr>
            <a:stCxn id="26" idx="3"/>
            <a:endCxn id="27" idx="1"/>
          </p:cNvCxnSpPr>
          <p:nvPr/>
        </p:nvCxnSpPr>
        <p:spPr>
          <a:xfrm>
            <a:off x="6464105" y="4146624"/>
            <a:ext cx="1463381" cy="72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uadroTexto 30"/>
          <p:cNvSpPr txBox="1"/>
          <p:nvPr/>
        </p:nvSpPr>
        <p:spPr>
          <a:xfrm>
            <a:off x="7492954" y="3893172"/>
            <a:ext cx="424811" cy="2308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sz="900" b="1" dirty="0" err="1"/>
              <a:t>ack</a:t>
            </a:r>
            <a:endParaRPr lang="es-MX" sz="900" b="1" dirty="0"/>
          </a:p>
        </p:txBody>
      </p:sp>
      <p:sp>
        <p:nvSpPr>
          <p:cNvPr id="32" name="Rectángulo 31"/>
          <p:cNvSpPr/>
          <p:nvPr/>
        </p:nvSpPr>
        <p:spPr>
          <a:xfrm>
            <a:off x="6146695" y="4488248"/>
            <a:ext cx="329134" cy="184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b="1" dirty="0" err="1">
                <a:solidFill>
                  <a:schemeClr val="tx1"/>
                </a:solidFill>
              </a:rPr>
              <a:t>tx</a:t>
            </a:r>
            <a:endParaRPr lang="es-MX" sz="1000" b="1" dirty="0">
              <a:solidFill>
                <a:schemeClr val="tx1"/>
              </a:solidFill>
            </a:endParaRPr>
          </a:p>
        </p:txBody>
      </p:sp>
      <p:sp>
        <p:nvSpPr>
          <p:cNvPr id="33" name="Rectángulo 32"/>
          <p:cNvSpPr/>
          <p:nvPr/>
        </p:nvSpPr>
        <p:spPr>
          <a:xfrm>
            <a:off x="7939210" y="4495508"/>
            <a:ext cx="329134" cy="184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b="1" dirty="0" err="1">
                <a:solidFill>
                  <a:schemeClr val="tx1"/>
                </a:solidFill>
              </a:rPr>
              <a:t>rx</a:t>
            </a:r>
            <a:endParaRPr lang="es-MX" sz="1000" b="1" dirty="0">
              <a:solidFill>
                <a:schemeClr val="tx1"/>
              </a:solidFill>
            </a:endParaRPr>
          </a:p>
        </p:txBody>
      </p:sp>
      <p:sp>
        <p:nvSpPr>
          <p:cNvPr id="34" name="CuadroTexto 33"/>
          <p:cNvSpPr txBox="1"/>
          <p:nvPr/>
        </p:nvSpPr>
        <p:spPr>
          <a:xfrm>
            <a:off x="2621279" y="4402770"/>
            <a:ext cx="3196282" cy="425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300" dirty="0">
                <a:latin typeface="Cambria Math" panose="02040503050406030204" pitchFamily="18" charset="0"/>
                <a:ea typeface="Cambria Math" panose="02040503050406030204" pitchFamily="18" charset="0"/>
              </a:rPr>
              <a:t>t = </a:t>
            </a:r>
            <a:r>
              <a:rPr lang="es-ES" sz="13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</a:t>
            </a:r>
            <a:r>
              <a:rPr lang="es-ES" sz="1300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trama</a:t>
            </a:r>
            <a:r>
              <a:rPr lang="es-ES" sz="1300" dirty="0">
                <a:latin typeface="Cambria Math" panose="02040503050406030204" pitchFamily="18" charset="0"/>
                <a:ea typeface="Cambria Math" panose="02040503050406030204" pitchFamily="18" charset="0"/>
              </a:rPr>
              <a:t>+ </a:t>
            </a:r>
            <a:r>
              <a:rPr lang="es-ES" sz="13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</a:t>
            </a:r>
            <a:r>
              <a:rPr lang="es-ES" sz="1300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prop</a:t>
            </a:r>
            <a:r>
              <a:rPr lang="es-ES" sz="1300" dirty="0">
                <a:latin typeface="Cambria Math" panose="02040503050406030204" pitchFamily="18" charset="0"/>
                <a:ea typeface="Cambria Math" panose="02040503050406030204" pitchFamily="18" charset="0"/>
              </a:rPr>
              <a:t>+ </a:t>
            </a:r>
            <a:r>
              <a:rPr lang="es-ES" sz="13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</a:t>
            </a:r>
            <a:r>
              <a:rPr lang="es-ES" sz="1300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proc</a:t>
            </a:r>
            <a:r>
              <a:rPr lang="es-ES" sz="1300" dirty="0">
                <a:latin typeface="Cambria Math" panose="02040503050406030204" pitchFamily="18" charset="0"/>
                <a:ea typeface="Cambria Math" panose="02040503050406030204" pitchFamily="18" charset="0"/>
              </a:rPr>
              <a:t>+ </a:t>
            </a:r>
            <a:r>
              <a:rPr lang="es-ES" sz="13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</a:t>
            </a:r>
            <a:r>
              <a:rPr lang="es-ES" sz="1300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ack</a:t>
            </a:r>
            <a:r>
              <a:rPr lang="es-ES" sz="1300" dirty="0">
                <a:latin typeface="Cambria Math" panose="02040503050406030204" pitchFamily="18" charset="0"/>
                <a:ea typeface="Cambria Math" panose="02040503050406030204" pitchFamily="18" charset="0"/>
              </a:rPr>
              <a:t> + </a:t>
            </a:r>
            <a:r>
              <a:rPr lang="es-ES" sz="13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</a:t>
            </a:r>
            <a:r>
              <a:rPr lang="es-ES" sz="1300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prop</a:t>
            </a:r>
            <a:endParaRPr lang="es-MX" sz="1300" baseline="-25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s-MX" sz="1300" baseline="-25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35" name="Conector recto 34"/>
          <p:cNvCxnSpPr>
            <a:stCxn id="32" idx="3"/>
            <a:endCxn id="33" idx="1"/>
          </p:cNvCxnSpPr>
          <p:nvPr/>
        </p:nvCxnSpPr>
        <p:spPr>
          <a:xfrm>
            <a:off x="6475829" y="4580379"/>
            <a:ext cx="1463381" cy="72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uadroTexto 35"/>
          <p:cNvSpPr txBox="1"/>
          <p:nvPr/>
        </p:nvSpPr>
        <p:spPr>
          <a:xfrm>
            <a:off x="6491802" y="4326927"/>
            <a:ext cx="424811" cy="2308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sz="900" b="1" dirty="0" err="1"/>
              <a:t>ack</a:t>
            </a:r>
            <a:endParaRPr lang="es-MX" sz="900" b="1" dirty="0"/>
          </a:p>
        </p:txBody>
      </p:sp>
      <p:sp>
        <p:nvSpPr>
          <p:cNvPr id="37" name="Rectángulo 36"/>
          <p:cNvSpPr/>
          <p:nvPr/>
        </p:nvSpPr>
        <p:spPr>
          <a:xfrm>
            <a:off x="6146694" y="4966547"/>
            <a:ext cx="329134" cy="184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b="1" dirty="0" err="1">
                <a:solidFill>
                  <a:schemeClr val="tx1"/>
                </a:solidFill>
              </a:rPr>
              <a:t>tx</a:t>
            </a:r>
            <a:endParaRPr lang="es-MX" sz="1000" b="1" dirty="0">
              <a:solidFill>
                <a:schemeClr val="tx1"/>
              </a:solidFill>
            </a:endParaRPr>
          </a:p>
        </p:txBody>
      </p:sp>
      <p:sp>
        <p:nvSpPr>
          <p:cNvPr id="38" name="Rectángulo 37"/>
          <p:cNvSpPr/>
          <p:nvPr/>
        </p:nvSpPr>
        <p:spPr>
          <a:xfrm>
            <a:off x="7939209" y="4973807"/>
            <a:ext cx="329134" cy="184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b="1" dirty="0" err="1">
                <a:solidFill>
                  <a:schemeClr val="tx1"/>
                </a:solidFill>
              </a:rPr>
              <a:t>rx</a:t>
            </a:r>
            <a:endParaRPr lang="es-MX" sz="1000" b="1" dirty="0">
              <a:solidFill>
                <a:schemeClr val="tx1"/>
              </a:solidFill>
            </a:endParaRPr>
          </a:p>
        </p:txBody>
      </p:sp>
      <p:sp>
        <p:nvSpPr>
          <p:cNvPr id="39" name="CuadroTexto 38"/>
          <p:cNvSpPr txBox="1"/>
          <p:nvPr/>
        </p:nvSpPr>
        <p:spPr>
          <a:xfrm>
            <a:off x="2621278" y="4881069"/>
            <a:ext cx="3196282" cy="425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300" dirty="0">
                <a:latin typeface="Cambria Math" panose="02040503050406030204" pitchFamily="18" charset="0"/>
                <a:ea typeface="Cambria Math" panose="02040503050406030204" pitchFamily="18" charset="0"/>
              </a:rPr>
              <a:t>t = </a:t>
            </a:r>
            <a:r>
              <a:rPr lang="es-ES" sz="13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</a:t>
            </a:r>
            <a:r>
              <a:rPr lang="es-ES" sz="1300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trama</a:t>
            </a:r>
            <a:r>
              <a:rPr lang="es-ES" sz="1300" dirty="0">
                <a:latin typeface="Cambria Math" panose="02040503050406030204" pitchFamily="18" charset="0"/>
                <a:ea typeface="Cambria Math" panose="02040503050406030204" pitchFamily="18" charset="0"/>
              </a:rPr>
              <a:t>+ </a:t>
            </a:r>
            <a:r>
              <a:rPr lang="es-ES" sz="13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</a:t>
            </a:r>
            <a:r>
              <a:rPr lang="es-ES" sz="1300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prop</a:t>
            </a:r>
            <a:r>
              <a:rPr lang="es-ES" sz="1300" dirty="0">
                <a:latin typeface="Cambria Math" panose="02040503050406030204" pitchFamily="18" charset="0"/>
                <a:ea typeface="Cambria Math" panose="02040503050406030204" pitchFamily="18" charset="0"/>
              </a:rPr>
              <a:t>+ </a:t>
            </a:r>
            <a:r>
              <a:rPr lang="es-ES" sz="13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</a:t>
            </a:r>
            <a:r>
              <a:rPr lang="es-ES" sz="1300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proc</a:t>
            </a:r>
            <a:r>
              <a:rPr lang="es-ES" sz="1300" dirty="0">
                <a:latin typeface="Cambria Math" panose="02040503050406030204" pitchFamily="18" charset="0"/>
                <a:ea typeface="Cambria Math" panose="02040503050406030204" pitchFamily="18" charset="0"/>
              </a:rPr>
              <a:t>+ </a:t>
            </a:r>
            <a:r>
              <a:rPr lang="es-ES" sz="13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</a:t>
            </a:r>
            <a:r>
              <a:rPr lang="es-ES" sz="1300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ack</a:t>
            </a:r>
            <a:r>
              <a:rPr lang="es-ES" sz="1300" dirty="0">
                <a:latin typeface="Cambria Math" panose="02040503050406030204" pitchFamily="18" charset="0"/>
                <a:ea typeface="Cambria Math" panose="02040503050406030204" pitchFamily="18" charset="0"/>
              </a:rPr>
              <a:t> + </a:t>
            </a:r>
            <a:r>
              <a:rPr lang="es-ES" sz="13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</a:t>
            </a:r>
            <a:r>
              <a:rPr lang="es-ES" sz="1300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prop</a:t>
            </a:r>
            <a:r>
              <a:rPr lang="es-ES" sz="1300" dirty="0">
                <a:latin typeface="Cambria Math" panose="02040503050406030204" pitchFamily="18" charset="0"/>
                <a:ea typeface="Cambria Math" panose="02040503050406030204" pitchFamily="18" charset="0"/>
              </a:rPr>
              <a:t> + </a:t>
            </a:r>
            <a:r>
              <a:rPr lang="es-ES" sz="13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</a:t>
            </a:r>
            <a:r>
              <a:rPr lang="es-ES" sz="1300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proc</a:t>
            </a:r>
            <a:endParaRPr lang="es-MX" sz="1300" baseline="-25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s-MX" sz="1300" baseline="-25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40" name="Conector recto 39"/>
          <p:cNvCxnSpPr>
            <a:stCxn id="37" idx="3"/>
            <a:endCxn id="38" idx="1"/>
          </p:cNvCxnSpPr>
          <p:nvPr/>
        </p:nvCxnSpPr>
        <p:spPr>
          <a:xfrm>
            <a:off x="6475828" y="5058678"/>
            <a:ext cx="1463381" cy="72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uadroTexto 41"/>
          <p:cNvSpPr txBox="1"/>
          <p:nvPr/>
        </p:nvSpPr>
        <p:spPr>
          <a:xfrm>
            <a:off x="6177618" y="4710442"/>
            <a:ext cx="267286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000" b="1" dirty="0"/>
              <a:t>→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ángulo 42"/>
              <p:cNvSpPr/>
              <p:nvPr/>
            </p:nvSpPr>
            <p:spPr>
              <a:xfrm>
                <a:off x="4127814" y="5813885"/>
                <a:ext cx="4847802" cy="5129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s-E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>
                        <a:latin typeface="Cambria Math" panose="02040503050406030204" pitchFamily="18" charset="0"/>
                      </a:rPr>
                      <m:t>U</m:t>
                    </m:r>
                    <m:r>
                      <a:rPr lang="es-E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s-ES" b="0" i="1" baseline="-25000" smtClean="0">
                            <a:latin typeface="Cambria Math" panose="02040503050406030204" pitchFamily="18" charset="0"/>
                          </a:rPr>
                          <m:t>𝑡𝑟𝑎𝑚𝑎</m:t>
                        </m:r>
                      </m:num>
                      <m:den>
                        <m:r>
                          <m:rPr>
                            <m:nor/>
                          </m:rPr>
                          <a:rPr lang="es-E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  <m:r>
                          <m:rPr>
                            <m:nor/>
                          </m:rPr>
                          <a:rPr lang="es-ES" baseline="-25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trama</m:t>
                        </m:r>
                        <m:r>
                          <m:rPr>
                            <m:nor/>
                          </m:rPr>
                          <a:rPr lang="es-E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 </m:t>
                        </m:r>
                        <m:r>
                          <m:rPr>
                            <m:nor/>
                          </m:rPr>
                          <a:rPr lang="es-E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tprop</m:t>
                        </m:r>
                        <m:r>
                          <m:rPr>
                            <m:nor/>
                          </m:rPr>
                          <a:rPr lang="es-E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 </m:t>
                        </m:r>
                        <m:r>
                          <m:rPr>
                            <m:nor/>
                          </m:rPr>
                          <a:rPr lang="es-E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tproc</m:t>
                        </m:r>
                        <m:r>
                          <m:rPr>
                            <m:nor/>
                          </m:rPr>
                          <a:rPr lang="es-E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 </m:t>
                        </m:r>
                        <m:r>
                          <m:rPr>
                            <m:nor/>
                          </m:rPr>
                          <a:rPr lang="es-E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tack</m:t>
                        </m:r>
                        <m:r>
                          <m:rPr>
                            <m:nor/>
                          </m:rPr>
                          <a:rPr lang="es-E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+ </m:t>
                        </m:r>
                        <m:r>
                          <m:rPr>
                            <m:nor/>
                          </m:rPr>
                          <a:rPr lang="es-E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tprop</m:t>
                        </m:r>
                        <m:r>
                          <m:rPr>
                            <m:nor/>
                          </m:rPr>
                          <a:rPr lang="es-E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+ </m:t>
                        </m:r>
                        <m:r>
                          <m:rPr>
                            <m:nor/>
                          </m:rPr>
                          <a:rPr lang="es-E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tproc</m:t>
                        </m:r>
                      </m:den>
                    </m:f>
                  </m:oMath>
                </a14:m>
                <a:r>
                  <a:rPr lang="es-ES" dirty="0"/>
                  <a:t> x 100</a:t>
                </a:r>
                <a:endParaRPr lang="es-MX" dirty="0"/>
              </a:p>
            </p:txBody>
          </p:sp>
        </mc:Choice>
        <mc:Fallback xmlns="">
          <p:sp>
            <p:nvSpPr>
              <p:cNvPr id="43" name="Rectángulo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7814" y="5813885"/>
                <a:ext cx="4847802" cy="512961"/>
              </a:xfrm>
              <a:prstGeom prst="rect">
                <a:avLst/>
              </a:prstGeom>
              <a:blipFill rotWithShape="0">
                <a:blip r:embed="rId3"/>
                <a:stretch>
                  <a:fillRect r="-503" b="-952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384900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Control de flujo</a:t>
            </a:r>
            <a:endParaRPr lang="es-MX" dirty="0"/>
          </a:p>
        </p:txBody>
      </p:sp>
      <p:sp>
        <p:nvSpPr>
          <p:cNvPr id="4" name="CuadroTexto 3"/>
          <p:cNvSpPr txBox="1"/>
          <p:nvPr/>
        </p:nvSpPr>
        <p:spPr>
          <a:xfrm>
            <a:off x="1277264" y="6581001"/>
            <a:ext cx="108622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</a:t>
            </a:r>
            <a:r>
              <a:rPr lang="es-MX" sz="1200" dirty="0">
                <a:hlinkClick r:id="rId2"/>
              </a:rPr>
              <a:t>http://exa.unne.edu.ar/depar/areas/informatica/teleproc/Comunicaciones/Presentaciones_Proyector/ControldelEnlacedeDatos.pdf</a:t>
            </a:r>
            <a:r>
              <a:rPr lang="es-MX" sz="12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ángulo 42"/>
              <p:cNvSpPr/>
              <p:nvPr/>
            </p:nvSpPr>
            <p:spPr>
              <a:xfrm>
                <a:off x="4509290" y="3394861"/>
                <a:ext cx="2539478" cy="5129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s-E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>
                        <a:latin typeface="Cambria Math" panose="02040503050406030204" pitchFamily="18" charset="0"/>
                      </a:rPr>
                      <m:t>U</m:t>
                    </m:r>
                    <m:r>
                      <a:rPr lang="es-E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s-ES" b="0" i="1" baseline="-25000" smtClean="0">
                            <a:latin typeface="Cambria Math" panose="02040503050406030204" pitchFamily="18" charset="0"/>
                          </a:rPr>
                          <m:t>𝑡𝑟𝑎𝑚𝑎</m:t>
                        </m:r>
                      </m:num>
                      <m:den>
                        <m:r>
                          <m:rPr>
                            <m:nor/>
                          </m:rPr>
                          <a:rPr lang="es-E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  <m:r>
                          <m:rPr>
                            <m:nor/>
                          </m:rPr>
                          <a:rPr lang="es-ES" baseline="-25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trama</m:t>
                        </m:r>
                        <m:r>
                          <m:rPr>
                            <m:nor/>
                          </m:rPr>
                          <a:rPr lang="es-E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 </m:t>
                        </m:r>
                        <m:r>
                          <m:rPr>
                            <m:nor/>
                          </m:rPr>
                          <a:rPr lang="es-ES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s-E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  <m:r>
                          <m:rPr>
                            <m:nor/>
                          </m:rPr>
                          <a:rPr lang="es-ES" baseline="-25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prop</m:t>
                        </m:r>
                      </m:den>
                    </m:f>
                  </m:oMath>
                </a14:m>
                <a:r>
                  <a:rPr lang="es-ES" dirty="0"/>
                  <a:t> x 100</a:t>
                </a:r>
                <a:endParaRPr lang="es-MX" dirty="0"/>
              </a:p>
            </p:txBody>
          </p:sp>
        </mc:Choice>
        <mc:Fallback xmlns="">
          <p:sp>
            <p:nvSpPr>
              <p:cNvPr id="43" name="Rectángulo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9290" y="3394861"/>
                <a:ext cx="2539478" cy="512961"/>
              </a:xfrm>
              <a:prstGeom prst="rect">
                <a:avLst/>
              </a:prstGeom>
              <a:blipFill rotWithShape="0">
                <a:blip r:embed="rId3"/>
                <a:stretch>
                  <a:fillRect r="-1202" b="-952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/>
              <p:cNvSpPr txBox="1"/>
              <p:nvPr/>
            </p:nvSpPr>
            <p:spPr>
              <a:xfrm>
                <a:off x="1277264" y="1720334"/>
                <a:ext cx="9808078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dirty="0"/>
                  <a:t>Considerando que la tecnología ha reducido cada vez más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s-ES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  <m:r>
                      <m:rPr>
                        <m:nor/>
                      </m:rPr>
                      <a:rPr lang="es-ES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proc</m:t>
                    </m:r>
                  </m:oMath>
                </a14:m>
                <a:r>
                  <a:rPr lang="es-ES" dirty="0"/>
                  <a:t> comparado con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s-ES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  <m:r>
                      <m:rPr>
                        <m:nor/>
                      </m:rPr>
                      <a:rPr lang="es-ES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pro</m:t>
                    </m:r>
                    <m:r>
                      <m:rPr>
                        <m:nor/>
                      </m:rPr>
                      <a:rPr lang="es-ES" b="0" i="0" baseline="-2500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es-ES" dirty="0"/>
                  <a:t> que se ha mantenido relativamente constante, entonces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s-ES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  <m:r>
                      <m:rPr>
                        <m:nor/>
                      </m:rPr>
                      <a:rPr lang="es-ES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proc</m:t>
                    </m:r>
                  </m:oMath>
                </a14:m>
                <a:r>
                  <a:rPr lang="es-MX" dirty="0"/>
                  <a:t> →0. </a:t>
                </a:r>
              </a:p>
              <a:p>
                <a:endParaRPr lang="es-ES" dirty="0"/>
              </a:p>
              <a:p>
                <a:r>
                  <a:rPr lang="es-ES" dirty="0"/>
                  <a:t>Considerando además que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s-ES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  <m:r>
                      <m:rPr>
                        <m:nor/>
                      </m:rPr>
                      <a:rPr lang="es-ES" b="0" i="0" baseline="-2500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trama</m:t>
                    </m:r>
                  </m:oMath>
                </a14:m>
                <a:r>
                  <a:rPr lang="es-ES" dirty="0"/>
                  <a:t> &gt;&gt;</a:t>
                </a:r>
                <a:r>
                  <a:rPr lang="es-E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s-ES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  <m:r>
                      <m:rPr>
                        <m:nor/>
                      </m:rPr>
                      <a:rPr lang="es-ES" b="0" i="0" baseline="-2500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ack</m:t>
                    </m:r>
                  </m:oMath>
                </a14:m>
                <a:r>
                  <a:rPr lang="es-ES" dirty="0"/>
                  <a:t>  , entonces podemos despreciar a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s-ES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  <m:r>
                      <m:rPr>
                        <m:nor/>
                      </m:rPr>
                      <a:rPr lang="es-ES" b="0" i="0" baseline="-2500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ack</m:t>
                    </m:r>
                  </m:oMath>
                </a14:m>
                <a:r>
                  <a:rPr lang="es-ES" dirty="0"/>
                  <a:t>  y la ecuación queda como:</a:t>
                </a:r>
                <a:endParaRPr lang="es-MX" dirty="0"/>
              </a:p>
            </p:txBody>
          </p:sp>
        </mc:Choice>
        <mc:Fallback xmlns="">
          <p:sp>
            <p:nvSpPr>
              <p:cNvPr id="3" name="CuadroText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7264" y="1720334"/>
                <a:ext cx="9808078" cy="1477328"/>
              </a:xfrm>
              <a:prstGeom prst="rect">
                <a:avLst/>
              </a:prstGeom>
              <a:blipFill rotWithShape="0">
                <a:blip r:embed="rId4"/>
                <a:stretch>
                  <a:fillRect l="-560" t="-2058" b="-535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uadroTexto 40"/>
              <p:cNvSpPr txBox="1"/>
              <p:nvPr/>
            </p:nvSpPr>
            <p:spPr>
              <a:xfrm>
                <a:off x="1331188" y="4306439"/>
                <a:ext cx="980807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dirty="0"/>
                  <a:t>Dividiendo numerador y denominador por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s-ES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  <m:r>
                      <m:rPr>
                        <m:nor/>
                      </m:rPr>
                      <a:rPr lang="es-ES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trama</m:t>
                    </m:r>
                  </m:oMath>
                </a14:m>
                <a:r>
                  <a:rPr lang="es-ES" dirty="0"/>
                  <a:t> </a:t>
                </a:r>
                <a:endParaRPr lang="es-MX" dirty="0"/>
              </a:p>
            </p:txBody>
          </p:sp>
        </mc:Choice>
        <mc:Fallback xmlns="">
          <p:sp>
            <p:nvSpPr>
              <p:cNvPr id="41" name="CuadroTexto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188" y="4306439"/>
                <a:ext cx="9808078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497" t="-8197" b="-2459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ángulo 43"/>
              <p:cNvSpPr/>
              <p:nvPr/>
            </p:nvSpPr>
            <p:spPr>
              <a:xfrm>
                <a:off x="4661690" y="4968099"/>
                <a:ext cx="4187365" cy="7144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s-E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>
                        <a:latin typeface="Cambria Math" panose="02040503050406030204" pitchFamily="18" charset="0"/>
                      </a:rPr>
                      <m:t>U</m:t>
                    </m:r>
                    <m:r>
                      <a:rPr lang="es-E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s-E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s-ES" i="1" baseline="-25000">
                                <a:latin typeface="Cambria Math" panose="02040503050406030204" pitchFamily="18" charset="0"/>
                              </a:rPr>
                              <m:t>𝑡𝑟𝑎𝑚𝑎</m:t>
                            </m:r>
                          </m:num>
                          <m:den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s-ES" i="1" baseline="-25000">
                                <a:latin typeface="Cambria Math" panose="02040503050406030204" pitchFamily="18" charset="0"/>
                              </a:rPr>
                              <m:t>𝑡𝑟𝑎𝑚𝑎</m:t>
                            </m:r>
                          </m:den>
                        </m:f>
                      </m:num>
                      <m:den>
                        <m:f>
                          <m:fPr>
                            <m:ctrlPr>
                              <a:rPr lang="es-ES" i="1" baseline="-2500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s-ES" i="1" baseline="-25000">
                                <a:latin typeface="Cambria Math" panose="02040503050406030204" pitchFamily="18" charset="0"/>
                              </a:rPr>
                              <m:t>𝑡𝑟𝑎𝑚𝑎</m:t>
                            </m:r>
                          </m:num>
                          <m:den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s-ES" i="1" baseline="-25000">
                                <a:latin typeface="Cambria Math" panose="02040503050406030204" pitchFamily="18" charset="0"/>
                              </a:rPr>
                              <m:t>𝑡𝑟𝑎𝑚𝑎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s-E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 </m:t>
                        </m:r>
                        <m:r>
                          <m:rPr>
                            <m:nor/>
                          </m:rPr>
                          <a:rPr lang="es-ES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f>
                          <m:fPr>
                            <m:ctrlPr>
                              <a:rPr lang="es-E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s-ES" b="0" i="1" baseline="-25000" smtClean="0">
                                <a:latin typeface="Cambria Math" panose="02040503050406030204" pitchFamily="18" charset="0"/>
                              </a:rPr>
                              <m:t>𝑝𝑟𝑜𝑝</m:t>
                            </m:r>
                          </m:num>
                          <m:den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s-ES" i="1" baseline="-25000">
                                <a:latin typeface="Cambria Math" panose="02040503050406030204" pitchFamily="18" charset="0"/>
                              </a:rPr>
                              <m:t>𝑡𝑟𝑎𝑚𝑎</m:t>
                            </m:r>
                          </m:den>
                        </m:f>
                      </m:den>
                    </m:f>
                  </m:oMath>
                </a14:m>
                <a:r>
                  <a:rPr lang="es-ES" dirty="0"/>
                  <a:t> x 100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s-ES" b="0" i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s-E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+ 2</m:t>
                        </m:r>
                        <m:f>
                          <m:fPr>
                            <m:ctrlPr>
                              <a:rPr lang="es-E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s-ES" i="1" baseline="-25000">
                                <a:latin typeface="Cambria Math" panose="02040503050406030204" pitchFamily="18" charset="0"/>
                              </a:rPr>
                              <m:t>𝑝𝑟𝑜𝑝</m:t>
                            </m:r>
                          </m:num>
                          <m:den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s-ES" i="1" baseline="-25000">
                                <a:latin typeface="Cambria Math" panose="02040503050406030204" pitchFamily="18" charset="0"/>
                              </a:rPr>
                              <m:t>𝑡𝑟𝑎𝑚𝑎</m:t>
                            </m:r>
                          </m:den>
                        </m:f>
                      </m:den>
                    </m:f>
                  </m:oMath>
                </a14:m>
                <a:r>
                  <a:rPr lang="es-ES" dirty="0"/>
                  <a:t> x 100</a:t>
                </a:r>
                <a:endParaRPr lang="es-MX" dirty="0"/>
              </a:p>
            </p:txBody>
          </p:sp>
        </mc:Choice>
        <mc:Fallback xmlns="">
          <p:sp>
            <p:nvSpPr>
              <p:cNvPr id="44" name="Rectángulo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1690" y="4968099"/>
                <a:ext cx="4187365" cy="714491"/>
              </a:xfrm>
              <a:prstGeom prst="rect">
                <a:avLst/>
              </a:prstGeom>
              <a:blipFill rotWithShape="0">
                <a:blip r:embed="rId6"/>
                <a:stretch>
                  <a:fillRect r="-291" b="-6838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759394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Control de flujo</a:t>
            </a:r>
            <a:endParaRPr lang="es-MX" dirty="0"/>
          </a:p>
        </p:txBody>
      </p:sp>
      <p:sp>
        <p:nvSpPr>
          <p:cNvPr id="4" name="CuadroTexto 3"/>
          <p:cNvSpPr txBox="1"/>
          <p:nvPr/>
        </p:nvSpPr>
        <p:spPr>
          <a:xfrm>
            <a:off x="1277264" y="6581001"/>
            <a:ext cx="108622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</a:t>
            </a:r>
            <a:r>
              <a:rPr lang="es-MX" sz="1200" dirty="0">
                <a:hlinkClick r:id="rId2"/>
              </a:rPr>
              <a:t>http://exa.unne.edu.ar/depar/areas/informatica/teleproc/Comunicaciones/Presentaciones_Proyector/ControldelEnlacedeDatos.pdf</a:t>
            </a:r>
            <a:r>
              <a:rPr lang="es-MX" sz="12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ángulo 42"/>
              <p:cNvSpPr/>
              <p:nvPr/>
            </p:nvSpPr>
            <p:spPr>
              <a:xfrm>
                <a:off x="4917253" y="2370902"/>
                <a:ext cx="1915909" cy="4898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s-E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>
                        <a:latin typeface="Cambria Math" panose="02040503050406030204" pitchFamily="18" charset="0"/>
                      </a:rPr>
                      <m:t>U</m:t>
                    </m:r>
                    <m:r>
                      <a:rPr lang="es-E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s-ES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s-E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 </m:t>
                        </m:r>
                        <m:r>
                          <m:rPr>
                            <m:nor/>
                          </m:rPr>
                          <a:rPr lang="es-ES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s-ES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</m:t>
                        </m:r>
                      </m:den>
                    </m:f>
                  </m:oMath>
                </a14:m>
                <a:r>
                  <a:rPr lang="es-ES" dirty="0"/>
                  <a:t> x 100</a:t>
                </a:r>
                <a:endParaRPr lang="es-MX" dirty="0"/>
              </a:p>
            </p:txBody>
          </p:sp>
        </mc:Choice>
        <mc:Fallback xmlns="">
          <p:sp>
            <p:nvSpPr>
              <p:cNvPr id="43" name="Rectángulo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7253" y="2370902"/>
                <a:ext cx="1915909" cy="489878"/>
              </a:xfrm>
              <a:prstGeom prst="rect">
                <a:avLst/>
              </a:prstGeom>
              <a:blipFill rotWithShape="0">
                <a:blip r:embed="rId3"/>
                <a:stretch>
                  <a:fillRect r="-1911" b="-625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/>
              <p:cNvSpPr txBox="1"/>
              <p:nvPr/>
            </p:nvSpPr>
            <p:spPr>
              <a:xfrm>
                <a:off x="1263196" y="1720334"/>
                <a:ext cx="9808078" cy="4821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dirty="0"/>
                  <a:t>Si introducimos la variable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  <m:r>
                      <a:rPr lang="es-ES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s-ES" i="1" baseline="-25000">
                            <a:latin typeface="Cambria Math" panose="02040503050406030204" pitchFamily="18" charset="0"/>
                          </a:rPr>
                          <m:t>𝑝𝑟𝑜𝑝</m:t>
                        </m:r>
                      </m:num>
                      <m:den>
                        <m:r>
                          <a:rPr lang="es-E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s-ES" i="1" baseline="-25000">
                            <a:latin typeface="Cambria Math" panose="02040503050406030204" pitchFamily="18" charset="0"/>
                          </a:rPr>
                          <m:t>𝑡𝑟𝑎𝑚𝑎</m:t>
                        </m:r>
                      </m:den>
                    </m:f>
                  </m:oMath>
                </a14:m>
                <a:r>
                  <a:rPr lang="es-MX" dirty="0"/>
                  <a:t> y sustituimos en la ecuación, esta queda como:</a:t>
                </a:r>
              </a:p>
            </p:txBody>
          </p:sp>
        </mc:Choice>
        <mc:Fallback xmlns="">
          <p:sp>
            <p:nvSpPr>
              <p:cNvPr id="3" name="CuadroText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3196" y="1720334"/>
                <a:ext cx="9808078" cy="482120"/>
              </a:xfrm>
              <a:prstGeom prst="rect">
                <a:avLst/>
              </a:prstGeom>
              <a:blipFill rotWithShape="0">
                <a:blip r:embed="rId4"/>
                <a:stretch>
                  <a:fillRect l="-497" b="-759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726637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Control de flujo</a:t>
            </a:r>
            <a:endParaRPr lang="es-MX" dirty="0"/>
          </a:p>
        </p:txBody>
      </p:sp>
      <p:sp>
        <p:nvSpPr>
          <p:cNvPr id="4" name="CuadroTexto 3"/>
          <p:cNvSpPr txBox="1"/>
          <p:nvPr/>
        </p:nvSpPr>
        <p:spPr>
          <a:xfrm>
            <a:off x="1277264" y="6581001"/>
            <a:ext cx="108622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</a:t>
            </a:r>
            <a:r>
              <a:rPr lang="es-MX" sz="1200" dirty="0">
                <a:hlinkClick r:id="rId2"/>
              </a:rPr>
              <a:t>http://exa.unne.edu.ar/depar/areas/informatica/teleproc/Comunicaciones/Presentaciones_Proyector/ControldelEnlacedeDatos.pdf</a:t>
            </a:r>
            <a:r>
              <a:rPr lang="es-MX" sz="12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ángulo 42"/>
              <p:cNvSpPr/>
              <p:nvPr/>
            </p:nvSpPr>
            <p:spPr>
              <a:xfrm>
                <a:off x="8054574" y="3346796"/>
                <a:ext cx="88479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s-ES" dirty="0"/>
                  <a:t>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s-ES" i="1" baseline="-25000">
                        <a:latin typeface="Cambria Math" panose="02040503050406030204" pitchFamily="18" charset="0"/>
                      </a:rPr>
                      <m:t>𝑝𝑟𝑜𝑝</m:t>
                    </m:r>
                    <m:r>
                      <a:rPr lang="es-ES" i="1" baseline="-2500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s-MX" dirty="0"/>
              </a:p>
            </p:txBody>
          </p:sp>
        </mc:Choice>
        <mc:Fallback xmlns="">
          <p:sp>
            <p:nvSpPr>
              <p:cNvPr id="43" name="Rectángulo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4574" y="3346796"/>
                <a:ext cx="884794" cy="369332"/>
              </a:xfrm>
              <a:prstGeom prst="rect">
                <a:avLst/>
              </a:prstGeom>
              <a:blipFill rotWithShape="0">
                <a:blip r:embed="rId3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/>
              <p:cNvSpPr txBox="1"/>
              <p:nvPr/>
            </p:nvSpPr>
            <p:spPr>
              <a:xfrm>
                <a:off x="543447" y="1581834"/>
                <a:ext cx="11305467" cy="27967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dirty="0"/>
                  <a:t>Ej. Calcule la utilización de una LAN que une a dos computadoras con un cable coaxial de 500 </a:t>
                </a:r>
                <a:r>
                  <a:rPr lang="es-ES" dirty="0" err="1"/>
                  <a:t>mts</a:t>
                </a:r>
                <a:r>
                  <a:rPr lang="es-ES" dirty="0"/>
                  <a:t>. Para transmitir tramas de 1500 bytes a 10Mbps.</a:t>
                </a:r>
              </a:p>
              <a:p>
                <a:endParaRPr lang="es-ES" dirty="0"/>
              </a:p>
              <a:p>
                <a:r>
                  <a:rPr lang="es-ES" dirty="0"/>
                  <a:t>Sabiendo que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>
                        <a:latin typeface="Cambria Math" panose="02040503050406030204" pitchFamily="18" charset="0"/>
                      </a:rPr>
                      <m:t>U</m:t>
                    </m:r>
                    <m:r>
                      <a:rPr lang="es-E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s-E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1+ 2</m:t>
                        </m:r>
                        <m:r>
                          <m:rPr>
                            <m:nor/>
                          </m:rPr>
                          <a:rPr lang="es-E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</m:t>
                        </m:r>
                      </m:den>
                    </m:f>
                  </m:oMath>
                </a14:m>
                <a:r>
                  <a:rPr lang="es-ES" dirty="0"/>
                  <a:t> x 100   y que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  <m:r>
                      <a:rPr lang="es-ES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s-ES" i="1" baseline="-25000">
                            <a:latin typeface="Cambria Math" panose="02040503050406030204" pitchFamily="18" charset="0"/>
                          </a:rPr>
                          <m:t>𝑝𝑟𝑜𝑝</m:t>
                        </m:r>
                      </m:num>
                      <m:den>
                        <m:r>
                          <a:rPr lang="es-E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s-ES" i="1" baseline="-25000">
                            <a:latin typeface="Cambria Math" panose="02040503050406030204" pitchFamily="18" charset="0"/>
                          </a:rPr>
                          <m:t>𝑡𝑟𝑎𝑚𝑎</m:t>
                        </m:r>
                      </m:den>
                    </m:f>
                  </m:oMath>
                </a14:m>
                <a:r>
                  <a:rPr lang="es-MX" dirty="0"/>
                  <a:t>  procedemos a encontrar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s-ES" i="1" baseline="-25000">
                        <a:latin typeface="Cambria Math" panose="02040503050406030204" pitchFamily="18" charset="0"/>
                      </a:rPr>
                      <m:t>𝑝𝑟𝑜𝑝</m:t>
                    </m:r>
                  </m:oMath>
                </a14:m>
                <a:r>
                  <a:rPr lang="es-MX" dirty="0"/>
                  <a:t> y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s-ES" b="0" i="1" baseline="-25000" smtClean="0">
                        <a:latin typeface="Cambria Math" panose="02040503050406030204" pitchFamily="18" charset="0"/>
                      </a:rPr>
                      <m:t>𝑡𝑟𝑎𝑚𝑎</m:t>
                    </m:r>
                    <m:r>
                      <a:rPr lang="es-ES" b="0" i="1" baseline="-2500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s-ES" b="0" baseline="-25000" dirty="0"/>
              </a:p>
              <a:p>
                <a:endParaRPr lang="es-ES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s-ES" i="1" baseline="-25000">
                          <a:latin typeface="Cambria Math" panose="02040503050406030204" pitchFamily="18" charset="0"/>
                        </a:rPr>
                        <m:t>𝑝𝑟𝑜𝑝</m:t>
                      </m:r>
                      <m:r>
                        <a:rPr lang="es-ES" b="0" i="1" baseline="-25000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ES" b="0" i="1" baseline="-2500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baseline="-25000" smtClean="0">
                              <a:latin typeface="Cambria Math" panose="02040503050406030204" pitchFamily="18" charset="0"/>
                            </a:rPr>
                            <m:t>𝑑𝑖𝑠𝑡𝑎𝑛𝑐𝑖𝑎</m:t>
                          </m:r>
                        </m:num>
                        <m:den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ES" i="1" baseline="-25000">
                              <a:latin typeface="Cambria Math" panose="02040503050406030204" pitchFamily="18" charset="0"/>
                            </a:rPr>
                            <m:t>𝑝𝑟𝑜𝑝</m:t>
                          </m:r>
                        </m:den>
                      </m:f>
                      <m:r>
                        <a:rPr lang="es-ES" b="0" i="1" baseline="-25000" smtClean="0">
                          <a:latin typeface="Cambria Math" panose="02040503050406030204" pitchFamily="18" charset="0"/>
                        </a:rPr>
                        <m:t> ;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s-ES" i="1" baseline="-25000">
                          <a:latin typeface="Cambria Math" panose="02040503050406030204" pitchFamily="18" charset="0"/>
                        </a:rPr>
                        <m:t>𝑝𝑟𝑜𝑝</m:t>
                      </m:r>
                      <m:r>
                        <a:rPr lang="es-ES" i="1" baseline="-2500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ES" i="1" baseline="-2500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i="1" baseline="-25000">
                              <a:latin typeface="Cambria Math" panose="02040503050406030204" pitchFamily="18" charset="0"/>
                            </a:rPr>
                            <m:t>𝑑𝑖𝑠𝑡𝑎𝑛𝑐𝑖𝑎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s-ES" i="1" baseline="-25000">
                              <a:latin typeface="Cambria Math" panose="02040503050406030204" pitchFamily="18" charset="0"/>
                            </a:rPr>
                            <m:t>𝑝𝑟𝑜𝑝</m:t>
                          </m:r>
                        </m:den>
                      </m:f>
                    </m:oMath>
                  </m:oMathPara>
                </a14:m>
                <a:endParaRPr lang="es-MX" dirty="0"/>
              </a:p>
              <a:p>
                <a:endParaRPr lang="es-ES" dirty="0"/>
              </a:p>
              <a:p>
                <a14:m>
                  <m:oMath xmlns:m="http://schemas.openxmlformats.org/officeDocument/2006/math">
                    <m:r>
                      <a:rPr lang="es-ES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s-ES" i="1" baseline="-25000">
                        <a:latin typeface="Cambria Math" panose="02040503050406030204" pitchFamily="18" charset="0"/>
                      </a:rPr>
                      <m:t>𝑝𝑟𝑜𝑝</m:t>
                    </m:r>
                    <m:r>
                      <a:rPr lang="es-ES" i="1" baseline="-2500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s-ES" i="1" baseline="-2500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500 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108</m:t>
                        </m:r>
                        <m:r>
                          <a:rPr lang="es-ES" b="0" i="1" baseline="-25000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s-ES" b="0" i="1" baseline="-25000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s-ES" b="0" i="1" baseline="-25000" smtClean="0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lang="es-MX" dirty="0"/>
                  <a:t>  = </a:t>
                </a:r>
                <a:r>
                  <a:rPr lang="es-MX" b="1" dirty="0"/>
                  <a:t>2.5µs</a:t>
                </a:r>
              </a:p>
            </p:txBody>
          </p:sp>
        </mc:Choice>
        <mc:Fallback xmlns="">
          <p:sp>
            <p:nvSpPr>
              <p:cNvPr id="5" name="Cuadro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447" y="1581834"/>
                <a:ext cx="11305467" cy="2796791"/>
              </a:xfrm>
              <a:prstGeom prst="rect">
                <a:avLst/>
              </a:prstGeom>
              <a:blipFill rotWithShape="0">
                <a:blip r:embed="rId4"/>
                <a:stretch>
                  <a:fillRect l="-431" t="-1089" r="-809" b="-479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brir llave 5"/>
          <p:cNvSpPr/>
          <p:nvPr/>
        </p:nvSpPr>
        <p:spPr>
          <a:xfrm>
            <a:off x="8865409" y="3280605"/>
            <a:ext cx="147918" cy="69924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CuadroTexto 6"/>
          <p:cNvSpPr txBox="1"/>
          <p:nvPr/>
        </p:nvSpPr>
        <p:spPr>
          <a:xfrm>
            <a:off x="8939368" y="3292703"/>
            <a:ext cx="30043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3x10</a:t>
            </a:r>
            <a:r>
              <a:rPr lang="es-ES" baseline="30000" dirty="0"/>
              <a:t>8</a:t>
            </a:r>
            <a:r>
              <a:rPr lang="es-ES" dirty="0"/>
              <a:t> medios no guiados</a:t>
            </a:r>
          </a:p>
          <a:p>
            <a:r>
              <a:rPr lang="es-ES" dirty="0"/>
              <a:t>2x10</a:t>
            </a:r>
            <a:r>
              <a:rPr lang="es-ES" baseline="30000" dirty="0"/>
              <a:t>8</a:t>
            </a:r>
            <a:r>
              <a:rPr lang="es-ES" dirty="0"/>
              <a:t> medios guiados</a:t>
            </a:r>
            <a:endParaRPr lang="es-MX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/>
              <p:cNvSpPr txBox="1"/>
              <p:nvPr/>
            </p:nvSpPr>
            <p:spPr>
              <a:xfrm>
                <a:off x="1290915" y="4769873"/>
                <a:ext cx="2788136" cy="13413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MX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𝑏𝑖𝑡𝑠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1500(8)</m:t>
                          </m:r>
                        </m:num>
                        <m:den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ES" i="1" baseline="-25000">
                              <a:latin typeface="Cambria Math" panose="02040503050406030204" pitchFamily="18" charset="0"/>
                            </a:rPr>
                            <m:t>𝑡𝑟𝑎𝑚𝑎</m:t>
                          </m:r>
                        </m:den>
                      </m:f>
                    </m:oMath>
                  </m:oMathPara>
                </a14:m>
                <a:endParaRPr lang="es-MX" dirty="0"/>
              </a:p>
              <a:p>
                <a:endParaRPr lang="es-ES" dirty="0"/>
              </a:p>
              <a:p>
                <a14:m>
                  <m:oMath xmlns:m="http://schemas.openxmlformats.org/officeDocument/2006/math">
                    <m:r>
                      <a:rPr lang="es-ES" b="1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s-ES" i="1" baseline="-25000">
                        <a:latin typeface="Cambria Math" panose="02040503050406030204" pitchFamily="18" charset="0"/>
                      </a:rPr>
                      <m:t>𝑡𝑟𝑎𝑚𝑎</m:t>
                    </m:r>
                  </m:oMath>
                </a14:m>
                <a:r>
                  <a:rPr lang="es-MX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MX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12000 </m:t>
                        </m:r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𝑏𝑖𝑡𝑠</m:t>
                        </m:r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sSupPr>
                            <m:ctrlPr>
                              <a:rPr lang="es-E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b="0" i="1" dirty="0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s-ES" b="0" i="1" dirty="0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𝑏𝑖𝑡𝑠</m:t>
                        </m:r>
                      </m:den>
                    </m:f>
                  </m:oMath>
                </a14:m>
                <a:r>
                  <a:rPr lang="es-MX" dirty="0"/>
                  <a:t> = </a:t>
                </a:r>
                <a:r>
                  <a:rPr lang="es-MX" b="1" dirty="0"/>
                  <a:t>1.2ms</a:t>
                </a:r>
              </a:p>
            </p:txBody>
          </p:sp>
        </mc:Choice>
        <mc:Fallback xmlns="">
          <p:sp>
            <p:nvSpPr>
              <p:cNvPr id="8" name="CuadroTexto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0915" y="4769873"/>
                <a:ext cx="2788136" cy="134139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Conector recto 9"/>
          <p:cNvCxnSpPr/>
          <p:nvPr/>
        </p:nvCxnSpPr>
        <p:spPr>
          <a:xfrm>
            <a:off x="2592925" y="5580529"/>
            <a:ext cx="311640" cy="5307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903222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Control de flujo</a:t>
            </a:r>
            <a:endParaRPr lang="es-MX" dirty="0"/>
          </a:p>
        </p:txBody>
      </p:sp>
      <p:sp>
        <p:nvSpPr>
          <p:cNvPr id="4" name="CuadroTexto 3"/>
          <p:cNvSpPr txBox="1"/>
          <p:nvPr/>
        </p:nvSpPr>
        <p:spPr>
          <a:xfrm>
            <a:off x="1277264" y="6581001"/>
            <a:ext cx="108622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</a:t>
            </a:r>
            <a:r>
              <a:rPr lang="es-MX" sz="1200" dirty="0">
                <a:hlinkClick r:id="rId2"/>
              </a:rPr>
              <a:t>http://exa.unne.edu.ar/depar/areas/informatica/teleproc/Comunicaciones/Presentaciones_Proyector/ControldelEnlacedeDatos.pdf</a:t>
            </a:r>
            <a:r>
              <a:rPr lang="es-MX" sz="12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/>
              <p:cNvSpPr txBox="1"/>
              <p:nvPr/>
            </p:nvSpPr>
            <p:spPr>
              <a:xfrm>
                <a:off x="543447" y="1581834"/>
                <a:ext cx="11305467" cy="21026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dirty="0"/>
                  <a:t>Ej. Calcule la utilización de una LAN que une a dos computadoras con un cable coaxial de 500 </a:t>
                </a:r>
                <a:r>
                  <a:rPr lang="es-ES" dirty="0" err="1"/>
                  <a:t>mts</a:t>
                </a:r>
                <a:r>
                  <a:rPr lang="es-ES" dirty="0"/>
                  <a:t>. Para transmitir tramas de 1500 bytes a 10Mbps.</a:t>
                </a:r>
              </a:p>
              <a:p>
                <a:endParaRPr lang="es-ES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  <m:r>
                      <a:rPr lang="es-ES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s-ES" i="1" baseline="-25000">
                            <a:latin typeface="Cambria Math" panose="02040503050406030204" pitchFamily="18" charset="0"/>
                          </a:rPr>
                          <m:t>𝑝𝑟𝑜𝑝</m:t>
                        </m:r>
                      </m:num>
                      <m:den>
                        <m:r>
                          <a:rPr lang="es-E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s-ES" i="1" baseline="-25000">
                            <a:latin typeface="Cambria Math" panose="02040503050406030204" pitchFamily="18" charset="0"/>
                          </a:rPr>
                          <m:t>𝑡𝑟𝑎𝑚𝑎</m:t>
                        </m:r>
                      </m:den>
                    </m:f>
                    <m:r>
                      <a:rPr lang="es-ES" b="0" i="1" baseline="-2500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baseline="-2500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s-MX" dirty="0"/>
                          <m:t>2.5</m:t>
                        </m:r>
                        <m:r>
                          <m:rPr>
                            <m:nor/>
                          </m:rPr>
                          <a:rPr lang="es-ES" i="0" dirty="0" smtClean="0"/>
                          <m:t>x</m:t>
                        </m:r>
                        <m:sSup>
                          <m:sSupPr>
                            <m:ctrlPr>
                              <a:rPr lang="es-ES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b="0" i="1" dirty="0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s-ES" b="0" i="1" dirty="0" smtClean="0">
                                <a:latin typeface="Cambria Math" panose="02040503050406030204" pitchFamily="18" charset="0"/>
                              </a:rPr>
                              <m:t>−6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s-MX" dirty="0"/>
                          <m:t>s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1.2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sSup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−3</m:t>
                            </m:r>
                          </m:sup>
                        </m:s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lang="es-ES" dirty="0"/>
                  <a:t> = </a:t>
                </a:r>
                <a:r>
                  <a:rPr lang="es-ES" b="1" dirty="0"/>
                  <a:t>1.6x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endParaRPr lang="es-ES" b="1" dirty="0"/>
              </a:p>
              <a:p>
                <a:endParaRPr lang="es-ES" b="1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>
                        <a:latin typeface="Cambria Math" panose="02040503050406030204" pitchFamily="18" charset="0"/>
                      </a:rPr>
                      <m:t>U</m:t>
                    </m:r>
                    <m:r>
                      <a:rPr lang="es-E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s-E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1+ 2</m:t>
                        </m:r>
                        <m:r>
                          <m:rPr>
                            <m:nor/>
                          </m:rPr>
                          <a:rPr lang="es-E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</m:t>
                        </m:r>
                      </m:den>
                    </m:f>
                  </m:oMath>
                </a14:m>
                <a:r>
                  <a:rPr lang="es-ES" dirty="0"/>
                  <a:t> x 100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s-E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1+ 2</m:t>
                        </m:r>
                        <m:r>
                          <m:rPr>
                            <m:nor/>
                          </m:rPr>
                          <a:rPr lang="es-ES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s-ES" b="1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s-ES" b="1" dirty="0"/>
                          <m:t>.</m:t>
                        </m:r>
                        <m:r>
                          <m:rPr>
                            <m:nor/>
                          </m:rPr>
                          <a:rPr lang="es-ES" b="1" i="0" dirty="0" smtClean="0"/>
                          <m:t>6</m:t>
                        </m:r>
                        <m:r>
                          <m:rPr>
                            <m:nor/>
                          </m:rPr>
                          <a:rPr lang="es-ES" b="1" dirty="0"/>
                          <m:t>x</m:t>
                        </m:r>
                        <m:sSup>
                          <m:sSupPr>
                            <m:ctrlPr>
                              <a:rPr lang="es-ES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b="1" i="1">
                                <a:latin typeface="Cambria Math" panose="02040503050406030204" pitchFamily="18" charset="0"/>
                              </a:rPr>
                              <m:t>𝟏𝟎</m:t>
                            </m:r>
                          </m:e>
                          <m:sup>
                            <m:r>
                              <a:rPr lang="es-ES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ES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s-ES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s-ES" dirty="0"/>
                  <a:t> x 100 = 99.6 %</a:t>
                </a:r>
                <a:endParaRPr lang="es-MX" b="1" dirty="0"/>
              </a:p>
            </p:txBody>
          </p:sp>
        </mc:Choice>
        <mc:Fallback xmlns="">
          <p:sp>
            <p:nvSpPr>
              <p:cNvPr id="5" name="Cuadro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447" y="1581834"/>
                <a:ext cx="11305467" cy="2102627"/>
              </a:xfrm>
              <a:prstGeom prst="rect">
                <a:avLst/>
              </a:prstGeom>
              <a:blipFill rotWithShape="0">
                <a:blip r:embed="rId3"/>
                <a:stretch>
                  <a:fillRect l="-431" t="-1449" r="-809" b="-260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716835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Control de flujo</a:t>
            </a:r>
            <a:endParaRPr lang="es-MX" dirty="0"/>
          </a:p>
        </p:txBody>
      </p:sp>
      <p:sp>
        <p:nvSpPr>
          <p:cNvPr id="4" name="CuadroTexto 3"/>
          <p:cNvSpPr txBox="1"/>
          <p:nvPr/>
        </p:nvSpPr>
        <p:spPr>
          <a:xfrm>
            <a:off x="1277264" y="6581001"/>
            <a:ext cx="108622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</a:t>
            </a:r>
            <a:r>
              <a:rPr lang="es-MX" sz="1200" dirty="0">
                <a:hlinkClick r:id="rId2"/>
              </a:rPr>
              <a:t>http://exa.unne.edu.ar/depar/areas/informatica/teleproc/Comunicaciones/Presentaciones_Proyector/ControldelEnlacedeDatos.pdf</a:t>
            </a:r>
            <a:r>
              <a:rPr lang="es-MX" sz="1200" dirty="0"/>
              <a:t>.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543447" y="1581834"/>
            <a:ext cx="113054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Ejercicio</a:t>
            </a:r>
            <a:r>
              <a:rPr lang="es-ES" dirty="0"/>
              <a:t>. Calcule la utilización de un enlace satelital que emplea un satélite geoestacionario para transmitir tramas de 100 bytes con un módem de 64kbps.</a:t>
            </a:r>
          </a:p>
          <a:p>
            <a:endParaRPr lang="es-ES" dirty="0"/>
          </a:p>
          <a:p>
            <a:r>
              <a:rPr lang="es-ES" dirty="0"/>
              <a:t>*Nota1. El receptor no es el satélite, sino la estación terrestre a la que van dirigidos los datos.</a:t>
            </a:r>
          </a:p>
          <a:p>
            <a:endParaRPr lang="es-ES" dirty="0"/>
          </a:p>
          <a:p>
            <a:r>
              <a:rPr lang="es-ES" dirty="0"/>
              <a:t>*Nota2. Satélite geoestacionario orbita a 36,000km</a:t>
            </a:r>
          </a:p>
          <a:p>
            <a:endParaRPr lang="es-ES" dirty="0"/>
          </a:p>
          <a:p>
            <a:endParaRPr lang="es-MX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5795687" y="6104965"/>
            <a:ext cx="60692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Imagen: </a:t>
            </a:r>
            <a:r>
              <a:rPr lang="es-MX" sz="1000" dirty="0">
                <a:hlinkClick r:id="rId3"/>
              </a:rPr>
              <a:t>http://electiva3iutllkerlyortega.blogspot.com/2017/04/comunicacion-por-satelite.html</a:t>
            </a:r>
            <a:endParaRPr lang="es-MX" sz="1000" dirty="0"/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7165" y="2953202"/>
            <a:ext cx="3902561" cy="3003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49104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Control de flujo</a:t>
            </a:r>
            <a:endParaRPr lang="es-MX" dirty="0"/>
          </a:p>
        </p:txBody>
      </p:sp>
      <p:sp>
        <p:nvSpPr>
          <p:cNvPr id="4" name="CuadroTexto 3"/>
          <p:cNvSpPr txBox="1"/>
          <p:nvPr/>
        </p:nvSpPr>
        <p:spPr>
          <a:xfrm>
            <a:off x="1277264" y="6581001"/>
            <a:ext cx="108622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</a:t>
            </a:r>
            <a:r>
              <a:rPr lang="es-MX" sz="1200" dirty="0">
                <a:hlinkClick r:id="rId2"/>
              </a:rPr>
              <a:t>http://exa.unne.edu.ar/depar/areas/informatica/teleproc/Comunicaciones/Presentaciones_Proyector/ControldelEnlacedeDatos.pdf</a:t>
            </a:r>
            <a:r>
              <a:rPr lang="es-MX" sz="12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ángulo 42"/>
              <p:cNvSpPr/>
              <p:nvPr/>
            </p:nvSpPr>
            <p:spPr>
              <a:xfrm>
                <a:off x="8054574" y="3346796"/>
                <a:ext cx="88479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s-ES" dirty="0"/>
                  <a:t>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s-ES" i="1" baseline="-25000">
                        <a:latin typeface="Cambria Math" panose="02040503050406030204" pitchFamily="18" charset="0"/>
                      </a:rPr>
                      <m:t>𝑝𝑟𝑜𝑝</m:t>
                    </m:r>
                    <m:r>
                      <a:rPr lang="es-ES" i="1" baseline="-2500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s-MX" dirty="0"/>
              </a:p>
            </p:txBody>
          </p:sp>
        </mc:Choice>
        <mc:Fallback xmlns="">
          <p:sp>
            <p:nvSpPr>
              <p:cNvPr id="43" name="Rectángulo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4574" y="3346796"/>
                <a:ext cx="884794" cy="369332"/>
              </a:xfrm>
              <a:prstGeom prst="rect">
                <a:avLst/>
              </a:prstGeom>
              <a:blipFill rotWithShape="0">
                <a:blip r:embed="rId3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/>
              <p:cNvSpPr txBox="1"/>
              <p:nvPr/>
            </p:nvSpPr>
            <p:spPr>
              <a:xfrm>
                <a:off x="543447" y="1581834"/>
                <a:ext cx="11305467" cy="28555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dirty="0"/>
                  <a:t>Ejercicio. Calcule la utilización de un enlace satelital que emplea un satélite geoestacionario para transmitir tramas de 100 bytes con un módem de 64kbps.</a:t>
                </a:r>
              </a:p>
              <a:p>
                <a:endParaRPr lang="es-ES" dirty="0"/>
              </a:p>
              <a:p>
                <a:r>
                  <a:rPr lang="es-ES" dirty="0"/>
                  <a:t>Sabiendo que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>
                        <a:latin typeface="Cambria Math" panose="02040503050406030204" pitchFamily="18" charset="0"/>
                      </a:rPr>
                      <m:t>U</m:t>
                    </m:r>
                    <m:r>
                      <a:rPr lang="es-E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s-E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1+ 2</m:t>
                        </m:r>
                        <m:r>
                          <m:rPr>
                            <m:nor/>
                          </m:rPr>
                          <a:rPr lang="es-E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</m:t>
                        </m:r>
                      </m:den>
                    </m:f>
                  </m:oMath>
                </a14:m>
                <a:r>
                  <a:rPr lang="es-ES" dirty="0"/>
                  <a:t> x 100   y que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  <m:r>
                      <a:rPr lang="es-ES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s-ES" i="1" baseline="-25000">
                            <a:latin typeface="Cambria Math" panose="02040503050406030204" pitchFamily="18" charset="0"/>
                          </a:rPr>
                          <m:t>𝑝𝑟𝑜𝑝</m:t>
                        </m:r>
                      </m:num>
                      <m:den>
                        <m:r>
                          <a:rPr lang="es-E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s-ES" i="1" baseline="-25000">
                            <a:latin typeface="Cambria Math" panose="02040503050406030204" pitchFamily="18" charset="0"/>
                          </a:rPr>
                          <m:t>𝑡𝑟𝑎𝑚𝑎</m:t>
                        </m:r>
                      </m:den>
                    </m:f>
                  </m:oMath>
                </a14:m>
                <a:r>
                  <a:rPr lang="es-MX" dirty="0"/>
                  <a:t>  procedemos a encontrar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s-ES" i="1" baseline="-25000">
                        <a:latin typeface="Cambria Math" panose="02040503050406030204" pitchFamily="18" charset="0"/>
                      </a:rPr>
                      <m:t>𝑝𝑟𝑜𝑝</m:t>
                    </m:r>
                  </m:oMath>
                </a14:m>
                <a:r>
                  <a:rPr lang="es-MX" dirty="0"/>
                  <a:t> y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s-ES" b="0" i="1" baseline="-25000" smtClean="0">
                        <a:latin typeface="Cambria Math" panose="02040503050406030204" pitchFamily="18" charset="0"/>
                      </a:rPr>
                      <m:t>𝑡𝑟𝑎𝑚𝑎</m:t>
                    </m:r>
                    <m:r>
                      <a:rPr lang="es-ES" b="0" i="1" baseline="-2500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s-ES" b="0" baseline="-25000" dirty="0"/>
              </a:p>
              <a:p>
                <a:endParaRPr lang="es-ES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s-ES" i="1" baseline="-25000">
                          <a:latin typeface="Cambria Math" panose="02040503050406030204" pitchFamily="18" charset="0"/>
                        </a:rPr>
                        <m:t>𝑝𝑟𝑜𝑝</m:t>
                      </m:r>
                      <m:r>
                        <a:rPr lang="es-ES" b="0" i="1" baseline="-25000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ES" b="0" i="1" baseline="-2500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baseline="-25000" smtClean="0">
                              <a:latin typeface="Cambria Math" panose="02040503050406030204" pitchFamily="18" charset="0"/>
                            </a:rPr>
                            <m:t>𝑑𝑖𝑠𝑡𝑎𝑛𝑐𝑖𝑎</m:t>
                          </m:r>
                        </m:num>
                        <m:den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ES" i="1" baseline="-25000">
                              <a:latin typeface="Cambria Math" panose="02040503050406030204" pitchFamily="18" charset="0"/>
                            </a:rPr>
                            <m:t>𝑝𝑟𝑜𝑝</m:t>
                          </m:r>
                        </m:den>
                      </m:f>
                      <m:r>
                        <a:rPr lang="es-ES" b="0" i="1" baseline="-25000" smtClean="0">
                          <a:latin typeface="Cambria Math" panose="02040503050406030204" pitchFamily="18" charset="0"/>
                        </a:rPr>
                        <m:t> ;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s-ES" i="1" baseline="-25000">
                          <a:latin typeface="Cambria Math" panose="02040503050406030204" pitchFamily="18" charset="0"/>
                        </a:rPr>
                        <m:t>𝑝𝑟𝑜𝑝</m:t>
                      </m:r>
                      <m:r>
                        <a:rPr lang="es-ES" i="1" baseline="-2500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ES" i="1" baseline="-2500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i="1" baseline="-25000">
                              <a:latin typeface="Cambria Math" panose="02040503050406030204" pitchFamily="18" charset="0"/>
                            </a:rPr>
                            <m:t>𝑑𝑖𝑠𝑡𝑎𝑛𝑐𝑖𝑎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s-ES" i="1" baseline="-25000">
                              <a:latin typeface="Cambria Math" panose="02040503050406030204" pitchFamily="18" charset="0"/>
                            </a:rPr>
                            <m:t>𝑝𝑟𝑜𝑝</m:t>
                          </m:r>
                        </m:den>
                      </m:f>
                    </m:oMath>
                  </m:oMathPara>
                </a14:m>
                <a:endParaRPr lang="es-MX" dirty="0"/>
              </a:p>
              <a:p>
                <a:endParaRPr lang="es-ES" dirty="0"/>
              </a:p>
              <a:p>
                <a14:m>
                  <m:oMath xmlns:m="http://schemas.openxmlformats.org/officeDocument/2006/math">
                    <m:r>
                      <a:rPr lang="es-ES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s-ES" i="1" baseline="-25000">
                        <a:latin typeface="Cambria Math" panose="02040503050406030204" pitchFamily="18" charset="0"/>
                      </a:rPr>
                      <m:t>𝑝𝑟𝑜𝑝</m:t>
                    </m:r>
                    <m:r>
                      <a:rPr lang="es-ES" i="1" baseline="-2500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s-ES" i="1" baseline="-2500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72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sSup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108</m:t>
                        </m:r>
                        <m:r>
                          <a:rPr lang="es-ES" b="0" i="1" baseline="-25000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s-ES" b="0" i="1" baseline="-25000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s-ES" b="0" i="1" baseline="-25000" smtClean="0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lang="es-MX" dirty="0"/>
                  <a:t>  = </a:t>
                </a:r>
                <a:r>
                  <a:rPr lang="es-MX" b="1" dirty="0"/>
                  <a:t>0.24s</a:t>
                </a:r>
              </a:p>
            </p:txBody>
          </p:sp>
        </mc:Choice>
        <mc:Fallback xmlns="">
          <p:sp>
            <p:nvSpPr>
              <p:cNvPr id="5" name="Cuadro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447" y="1581834"/>
                <a:ext cx="11305467" cy="2855525"/>
              </a:xfrm>
              <a:prstGeom prst="rect">
                <a:avLst/>
              </a:prstGeom>
              <a:blipFill rotWithShape="0">
                <a:blip r:embed="rId4"/>
                <a:stretch>
                  <a:fillRect l="-431" t="-1066" b="-170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brir llave 5"/>
          <p:cNvSpPr/>
          <p:nvPr/>
        </p:nvSpPr>
        <p:spPr>
          <a:xfrm>
            <a:off x="8865409" y="3280605"/>
            <a:ext cx="147918" cy="69924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CuadroTexto 6"/>
          <p:cNvSpPr txBox="1"/>
          <p:nvPr/>
        </p:nvSpPr>
        <p:spPr>
          <a:xfrm>
            <a:off x="8939368" y="3292703"/>
            <a:ext cx="30043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3x10</a:t>
            </a:r>
            <a:r>
              <a:rPr lang="es-ES" baseline="30000" dirty="0"/>
              <a:t>8</a:t>
            </a:r>
            <a:r>
              <a:rPr lang="es-ES" dirty="0"/>
              <a:t> medios no guiados</a:t>
            </a:r>
          </a:p>
          <a:p>
            <a:r>
              <a:rPr lang="es-ES" dirty="0"/>
              <a:t>2x10</a:t>
            </a:r>
            <a:r>
              <a:rPr lang="es-ES" baseline="30000" dirty="0"/>
              <a:t>8</a:t>
            </a:r>
            <a:r>
              <a:rPr lang="es-ES" dirty="0"/>
              <a:t> medios guiados</a:t>
            </a:r>
            <a:endParaRPr lang="es-MX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/>
              <p:cNvSpPr txBox="1"/>
              <p:nvPr/>
            </p:nvSpPr>
            <p:spPr>
              <a:xfrm>
                <a:off x="1290915" y="4769873"/>
                <a:ext cx="2843792" cy="13283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MX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64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𝑏𝑖𝑡𝑠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100(8)</m:t>
                          </m:r>
                        </m:num>
                        <m:den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ES" i="1" baseline="-25000">
                              <a:latin typeface="Cambria Math" panose="02040503050406030204" pitchFamily="18" charset="0"/>
                            </a:rPr>
                            <m:t>𝑡𝑟𝑎𝑚𝑎</m:t>
                          </m:r>
                        </m:den>
                      </m:f>
                    </m:oMath>
                  </m:oMathPara>
                </a14:m>
                <a:endParaRPr lang="es-MX" dirty="0"/>
              </a:p>
              <a:p>
                <a:endParaRPr lang="es-ES" dirty="0"/>
              </a:p>
              <a:p>
                <a14:m>
                  <m:oMath xmlns:m="http://schemas.openxmlformats.org/officeDocument/2006/math">
                    <m:r>
                      <a:rPr lang="es-ES" b="1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s-ES" i="1" baseline="-25000">
                        <a:latin typeface="Cambria Math" panose="02040503050406030204" pitchFamily="18" charset="0"/>
                      </a:rPr>
                      <m:t>𝑡𝑟𝑎𝑚𝑎</m:t>
                    </m:r>
                  </m:oMath>
                </a14:m>
                <a:r>
                  <a:rPr lang="es-MX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MX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800 </m:t>
                        </m:r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𝑏𝑖𝑡𝑠</m:t>
                        </m:r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64</m:t>
                        </m:r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sSupPr>
                            <m:ctrlPr>
                              <a:rPr lang="es-E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b="0" i="1" dirty="0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s-ES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𝑏𝑖𝑡𝑠</m:t>
                        </m:r>
                      </m:den>
                    </m:f>
                  </m:oMath>
                </a14:m>
                <a:r>
                  <a:rPr lang="es-MX" dirty="0"/>
                  <a:t> = </a:t>
                </a:r>
                <a:r>
                  <a:rPr lang="es-MX" b="1" dirty="0"/>
                  <a:t>0.0125s</a:t>
                </a:r>
              </a:p>
            </p:txBody>
          </p:sp>
        </mc:Choice>
        <mc:Fallback xmlns="">
          <p:sp>
            <p:nvSpPr>
              <p:cNvPr id="8" name="CuadroTexto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0915" y="4769873"/>
                <a:ext cx="2843792" cy="1328377"/>
              </a:xfrm>
              <a:prstGeom prst="rect">
                <a:avLst/>
              </a:prstGeom>
              <a:blipFill rotWithShape="0">
                <a:blip r:embed="rId5"/>
                <a:stretch>
                  <a:fillRect r="-1073" b="-137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Conector recto 9"/>
          <p:cNvCxnSpPr/>
          <p:nvPr/>
        </p:nvCxnSpPr>
        <p:spPr>
          <a:xfrm>
            <a:off x="2592925" y="5580529"/>
            <a:ext cx="311640" cy="5307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44709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Control de flujo</a:t>
            </a:r>
            <a:endParaRPr lang="es-MX" dirty="0"/>
          </a:p>
        </p:txBody>
      </p:sp>
      <p:sp>
        <p:nvSpPr>
          <p:cNvPr id="4" name="CuadroTexto 3"/>
          <p:cNvSpPr txBox="1"/>
          <p:nvPr/>
        </p:nvSpPr>
        <p:spPr>
          <a:xfrm>
            <a:off x="1277264" y="6581001"/>
            <a:ext cx="108622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</a:t>
            </a:r>
            <a:r>
              <a:rPr lang="es-MX" sz="1200" dirty="0">
                <a:hlinkClick r:id="rId2"/>
              </a:rPr>
              <a:t>http://exa.unne.edu.ar/depar/areas/informatica/teleproc/Comunicaciones/Presentaciones_Proyector/ControldelEnlacedeDatos.pdf</a:t>
            </a:r>
            <a:r>
              <a:rPr lang="es-MX" sz="12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/>
              <p:cNvSpPr txBox="1"/>
              <p:nvPr/>
            </p:nvSpPr>
            <p:spPr>
              <a:xfrm>
                <a:off x="543447" y="1581834"/>
                <a:ext cx="11305467" cy="21026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dirty="0"/>
                  <a:t>Ejercicio. Calcule la utilización de un enlace satelital que emplea un satélite geoestacionario para transmitir tramas de 100 bytes con un módem de 64kbps.</a:t>
                </a:r>
              </a:p>
              <a:p>
                <a:endParaRPr lang="es-ES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  <m:r>
                      <a:rPr lang="es-ES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s-ES" i="1" baseline="-25000">
                            <a:latin typeface="Cambria Math" panose="02040503050406030204" pitchFamily="18" charset="0"/>
                          </a:rPr>
                          <m:t>𝑝𝑟𝑜𝑝</m:t>
                        </m:r>
                      </m:num>
                      <m:den>
                        <m:r>
                          <a:rPr lang="es-E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s-ES" i="1" baseline="-25000">
                            <a:latin typeface="Cambria Math" panose="02040503050406030204" pitchFamily="18" charset="0"/>
                          </a:rPr>
                          <m:t>𝑡𝑟𝑎𝑚𝑎</m:t>
                        </m:r>
                      </m:den>
                    </m:f>
                    <m:r>
                      <a:rPr lang="es-ES" b="0" i="1" baseline="-2500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baseline="-2500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s-ES" b="0" i="0" dirty="0" smtClean="0"/>
                          <m:t>0</m:t>
                        </m:r>
                        <m:r>
                          <m:rPr>
                            <m:nor/>
                          </m:rPr>
                          <a:rPr lang="es-MX" dirty="0"/>
                          <m:t>.</m:t>
                        </m:r>
                        <m:r>
                          <m:rPr>
                            <m:nor/>
                          </m:rPr>
                          <a:rPr lang="es-ES" b="0" i="0" dirty="0" smtClean="0"/>
                          <m:t>24</m:t>
                        </m:r>
                        <m:r>
                          <m:rPr>
                            <m:nor/>
                          </m:rPr>
                          <a:rPr lang="es-MX" dirty="0"/>
                          <m:t>s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0.0125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lang="es-ES" dirty="0"/>
                  <a:t> = </a:t>
                </a:r>
                <a:r>
                  <a:rPr lang="es-ES" b="1" dirty="0"/>
                  <a:t>19.2</a:t>
                </a:r>
              </a:p>
              <a:p>
                <a:endParaRPr lang="es-ES" b="1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>
                        <a:latin typeface="Cambria Math" panose="02040503050406030204" pitchFamily="18" charset="0"/>
                      </a:rPr>
                      <m:t>U</m:t>
                    </m:r>
                    <m:r>
                      <a:rPr lang="es-E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s-E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1+ 2</m:t>
                        </m:r>
                        <m:r>
                          <m:rPr>
                            <m:nor/>
                          </m:rPr>
                          <a:rPr lang="es-E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</m:t>
                        </m:r>
                      </m:den>
                    </m:f>
                  </m:oMath>
                </a14:m>
                <a:r>
                  <a:rPr lang="es-ES" dirty="0"/>
                  <a:t> x 100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s-E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1+ 2</m:t>
                        </m:r>
                        <m:r>
                          <m:rPr>
                            <m:nor/>
                          </m:rPr>
                          <a:rPr lang="es-ES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s-ES" b="1" i="1" dirty="0" smtClean="0">
                            <a:latin typeface="Cambria Math" panose="02040503050406030204" pitchFamily="18" charset="0"/>
                          </a:rPr>
                          <m:t>𝟏𝟗</m:t>
                        </m:r>
                        <m:r>
                          <a:rPr lang="es-ES" b="1" i="1" dirty="0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s-ES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m:rPr>
                            <m:nor/>
                          </m:rPr>
                          <a:rPr lang="es-ES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s-ES" dirty="0"/>
                  <a:t> x 100 = 2.53 %</a:t>
                </a:r>
                <a:endParaRPr lang="es-MX" b="1" dirty="0"/>
              </a:p>
            </p:txBody>
          </p:sp>
        </mc:Choice>
        <mc:Fallback xmlns="">
          <p:sp>
            <p:nvSpPr>
              <p:cNvPr id="5" name="Cuadro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447" y="1581834"/>
                <a:ext cx="11305467" cy="2102627"/>
              </a:xfrm>
              <a:prstGeom prst="rect">
                <a:avLst/>
              </a:prstGeom>
              <a:blipFill rotWithShape="0">
                <a:blip r:embed="rId3"/>
                <a:stretch>
                  <a:fillRect l="-431" t="-1449" b="-202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044983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Control de flujo</a:t>
            </a:r>
            <a:endParaRPr lang="es-MX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1809282" y="1519517"/>
                <a:ext cx="10158599" cy="5028292"/>
              </a:xfrm>
            </p:spPr>
            <p:txBody>
              <a:bodyPr/>
              <a:lstStyle/>
              <a:p>
                <a:r>
                  <a:rPr lang="es-ES" dirty="0"/>
                  <a:t>Ventana deslizante</a:t>
                </a:r>
              </a:p>
              <a:p>
                <a:pPr marL="0" indent="0">
                  <a:buNone/>
                </a:pPr>
                <a:r>
                  <a:rPr lang="es-ES" dirty="0"/>
                  <a:t>Se le permite al transmisor enviar hasta k tramas sin haber recibido un acuse, con la finalidad de mejorar la eficiencia (mayor utilización) cuando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s-ES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s-ES" baseline="-25000" dirty="0"/>
                  <a:t>prop</a:t>
                </a:r>
                <a:r>
                  <a:rPr lang="es-ES" dirty="0"/>
                  <a:t> &gt;&gt;</a:t>
                </a:r>
                <a:r>
                  <a:rPr lang="es-E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s-ES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  <m:r>
                      <m:rPr>
                        <m:nor/>
                      </m:rPr>
                      <a:rPr lang="es-ES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trama</m:t>
                    </m:r>
                  </m:oMath>
                </a14:m>
                <a:endParaRPr lang="es-MX" dirty="0"/>
              </a:p>
              <a:p>
                <a:r>
                  <a:rPr lang="es-ES" dirty="0"/>
                  <a:t>Implementación</a:t>
                </a:r>
              </a:p>
              <a:p>
                <a:pPr marL="0" indent="0">
                  <a:buNone/>
                </a:pPr>
                <a:r>
                  <a:rPr lang="es-ES" dirty="0"/>
                  <a:t>Se tienen 2 buffers y 4 apuntadores:</a:t>
                </a:r>
              </a:p>
              <a:p>
                <a:pPr>
                  <a:buFontTx/>
                  <a:buChar char="-"/>
                </a:pPr>
                <a:r>
                  <a:rPr lang="es-ES" dirty="0"/>
                  <a:t>a</a:t>
                </a:r>
                <a:r>
                  <a:rPr lang="es-ES" baseline="-25000" dirty="0"/>
                  <a:t>1</a:t>
                </a:r>
                <a:r>
                  <a:rPr lang="es-ES" dirty="0"/>
                  <a:t> Indica el inicio de la ventana (transmisor), se desplaza cerrando la ventana cada que se transmite una trama.</a:t>
                </a:r>
              </a:p>
              <a:p>
                <a:pPr>
                  <a:buFontTx/>
                  <a:buChar char="-"/>
                </a:pPr>
                <a:r>
                  <a:rPr lang="es-ES" dirty="0"/>
                  <a:t>a</a:t>
                </a:r>
                <a:r>
                  <a:rPr lang="es-ES" baseline="-25000" dirty="0"/>
                  <a:t>2</a:t>
                </a:r>
                <a:r>
                  <a:rPr lang="es-ES" dirty="0"/>
                  <a:t> Indica el fin de la ventana (transmisor), se desplaza abriendo la ventana cada que se recibe un acuse de recibo (</a:t>
                </a:r>
                <a:r>
                  <a:rPr lang="es-ES" dirty="0" err="1"/>
                  <a:t>ack</a:t>
                </a:r>
                <a:r>
                  <a:rPr lang="es-ES" dirty="0"/>
                  <a:t>) en secuencia.</a:t>
                </a:r>
                <a:endParaRPr lang="es-MX" dirty="0"/>
              </a:p>
              <a:p>
                <a:pPr>
                  <a:buFontTx/>
                  <a:buChar char="-"/>
                </a:pPr>
                <a:r>
                  <a:rPr lang="es-ES" dirty="0"/>
                  <a:t>b</a:t>
                </a:r>
                <a:r>
                  <a:rPr lang="es-ES" baseline="-25000" dirty="0"/>
                  <a:t>1</a:t>
                </a:r>
                <a:r>
                  <a:rPr lang="es-ES" dirty="0"/>
                  <a:t> Indica el inicio de la ventana (receptor), se desplaza cerrando la ventana cada que se recibe una trama.</a:t>
                </a:r>
              </a:p>
              <a:p>
                <a:pPr>
                  <a:buFontTx/>
                  <a:buChar char="-"/>
                </a:pPr>
                <a:r>
                  <a:rPr lang="es-ES" dirty="0"/>
                  <a:t>b</a:t>
                </a:r>
                <a:r>
                  <a:rPr lang="es-ES" baseline="-25000" dirty="0"/>
                  <a:t>2</a:t>
                </a:r>
                <a:r>
                  <a:rPr lang="es-ES" dirty="0"/>
                  <a:t> Indica el fin de la ventana (receptor), se desplaza abriendo la ventana cada que se transmite un acuse de recibo (</a:t>
                </a:r>
                <a:r>
                  <a:rPr lang="es-ES" dirty="0" err="1"/>
                  <a:t>ack</a:t>
                </a:r>
                <a:r>
                  <a:rPr lang="es-ES" dirty="0"/>
                  <a:t>).</a:t>
                </a:r>
                <a:endParaRPr lang="es-MX" dirty="0"/>
              </a:p>
              <a:p>
                <a:pPr marL="0" indent="0">
                  <a:buNone/>
                </a:pPr>
                <a:r>
                  <a:rPr lang="es-ES" dirty="0"/>
                  <a:t>El objetivo es que ambas ventanas (transmisor-receptor) sean iguales.</a:t>
                </a:r>
                <a:endParaRPr lang="es-MX" dirty="0"/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09282" y="1519517"/>
                <a:ext cx="10158599" cy="5028292"/>
              </a:xfrm>
              <a:blipFill rotWithShape="0">
                <a:blip r:embed="rId2"/>
                <a:stretch>
                  <a:fillRect l="-540" t="-606" r="-120" b="-24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uadroTexto 8"/>
          <p:cNvSpPr txBox="1"/>
          <p:nvPr/>
        </p:nvSpPr>
        <p:spPr>
          <a:xfrm>
            <a:off x="1009171" y="6270810"/>
            <a:ext cx="2375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t</a:t>
            </a:r>
            <a:endParaRPr lang="es-MX" sz="1200" dirty="0"/>
          </a:p>
        </p:txBody>
      </p:sp>
      <p:sp>
        <p:nvSpPr>
          <p:cNvPr id="72" name="CuadroTexto 71"/>
          <p:cNvSpPr txBox="1"/>
          <p:nvPr/>
        </p:nvSpPr>
        <p:spPr>
          <a:xfrm>
            <a:off x="1277264" y="6581001"/>
            <a:ext cx="108622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</a:t>
            </a:r>
            <a:r>
              <a:rPr lang="es-MX" sz="1200" dirty="0">
                <a:hlinkClick r:id="rId3"/>
              </a:rPr>
              <a:t>http://exa.unne.edu.ar/depar/areas/informatica/teleproc/Comunicaciones/Presentaciones_Proyector/ControldelEnlacedeDatos.pdf</a:t>
            </a:r>
            <a:r>
              <a:rPr lang="es-MX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3620393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1039" y="60085"/>
            <a:ext cx="8911687" cy="694987"/>
          </a:xfrm>
        </p:spPr>
        <p:txBody>
          <a:bodyPr/>
          <a:lstStyle/>
          <a:p>
            <a:r>
              <a:rPr lang="es-ES" dirty="0"/>
              <a:t>Control de flujo</a:t>
            </a:r>
            <a:endParaRPr lang="es-MX" dirty="0"/>
          </a:p>
        </p:txBody>
      </p:sp>
      <p:cxnSp>
        <p:nvCxnSpPr>
          <p:cNvPr id="38" name="Conector recto de flecha 37"/>
          <p:cNvCxnSpPr>
            <a:stCxn id="42" idx="2"/>
          </p:cNvCxnSpPr>
          <p:nvPr/>
        </p:nvCxnSpPr>
        <p:spPr>
          <a:xfrm>
            <a:off x="5527800" y="397126"/>
            <a:ext cx="895" cy="5783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uadroTexto 38"/>
          <p:cNvSpPr txBox="1"/>
          <p:nvPr/>
        </p:nvSpPr>
        <p:spPr>
          <a:xfrm>
            <a:off x="5422368" y="6158002"/>
            <a:ext cx="2375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t</a:t>
            </a:r>
            <a:endParaRPr lang="es-MX" sz="1200" dirty="0"/>
          </a:p>
        </p:txBody>
      </p:sp>
      <p:cxnSp>
        <p:nvCxnSpPr>
          <p:cNvPr id="40" name="Conector recto de flecha 39"/>
          <p:cNvCxnSpPr>
            <a:endCxn id="41" idx="0"/>
          </p:cNvCxnSpPr>
          <p:nvPr/>
        </p:nvCxnSpPr>
        <p:spPr>
          <a:xfrm flipH="1">
            <a:off x="7307195" y="419752"/>
            <a:ext cx="4483" cy="5742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uadroTexto 40"/>
          <p:cNvSpPr txBox="1"/>
          <p:nvPr/>
        </p:nvSpPr>
        <p:spPr>
          <a:xfrm>
            <a:off x="7188412" y="6162485"/>
            <a:ext cx="2375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t</a:t>
            </a:r>
            <a:endParaRPr lang="es-MX" sz="1200" dirty="0"/>
          </a:p>
        </p:txBody>
      </p:sp>
      <p:sp>
        <p:nvSpPr>
          <p:cNvPr id="42" name="Rectángulo 41"/>
          <p:cNvSpPr/>
          <p:nvPr/>
        </p:nvSpPr>
        <p:spPr>
          <a:xfrm>
            <a:off x="5308801" y="155987"/>
            <a:ext cx="437998" cy="24113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 err="1">
                <a:solidFill>
                  <a:schemeClr val="tx1"/>
                </a:solidFill>
              </a:rPr>
              <a:t>tx</a:t>
            </a:r>
            <a:endParaRPr lang="es-MX" sz="1000" dirty="0">
              <a:solidFill>
                <a:schemeClr val="tx1"/>
              </a:solidFill>
            </a:endParaRPr>
          </a:p>
        </p:txBody>
      </p:sp>
      <p:sp>
        <p:nvSpPr>
          <p:cNvPr id="43" name="Rectángulo 42"/>
          <p:cNvSpPr/>
          <p:nvPr/>
        </p:nvSpPr>
        <p:spPr>
          <a:xfrm>
            <a:off x="7101316" y="163247"/>
            <a:ext cx="437998" cy="24113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 err="1">
                <a:solidFill>
                  <a:schemeClr val="tx1"/>
                </a:solidFill>
              </a:rPr>
              <a:t>rx</a:t>
            </a:r>
            <a:endParaRPr lang="es-MX" sz="1000" dirty="0">
              <a:solidFill>
                <a:schemeClr val="tx1"/>
              </a:solidFill>
            </a:endParaRPr>
          </a:p>
        </p:txBody>
      </p:sp>
      <p:cxnSp>
        <p:nvCxnSpPr>
          <p:cNvPr id="44" name="Conector recto 43"/>
          <p:cNvCxnSpPr/>
          <p:nvPr/>
        </p:nvCxnSpPr>
        <p:spPr>
          <a:xfrm>
            <a:off x="5539762" y="1294238"/>
            <a:ext cx="1766044" cy="3483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CuadroTexto 51"/>
          <p:cNvSpPr txBox="1"/>
          <p:nvPr/>
        </p:nvSpPr>
        <p:spPr>
          <a:xfrm rot="824214">
            <a:off x="6028504" y="1251710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Trama 0</a:t>
            </a:r>
            <a:endParaRPr lang="es-MX" sz="1000" dirty="0"/>
          </a:p>
        </p:txBody>
      </p:sp>
      <p:cxnSp>
        <p:nvCxnSpPr>
          <p:cNvPr id="53" name="Conector recto 52"/>
          <p:cNvCxnSpPr/>
          <p:nvPr/>
        </p:nvCxnSpPr>
        <p:spPr>
          <a:xfrm>
            <a:off x="5539763" y="2484408"/>
            <a:ext cx="1766044" cy="3483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CuadroTexto 59"/>
          <p:cNvSpPr txBox="1"/>
          <p:nvPr/>
        </p:nvSpPr>
        <p:spPr>
          <a:xfrm rot="824214">
            <a:off x="6079307" y="2420109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Trama 1</a:t>
            </a:r>
            <a:endParaRPr lang="es-MX" sz="1000" dirty="0"/>
          </a:p>
        </p:txBody>
      </p:sp>
      <p:cxnSp>
        <p:nvCxnSpPr>
          <p:cNvPr id="61" name="Conector recto 60"/>
          <p:cNvCxnSpPr/>
          <p:nvPr/>
        </p:nvCxnSpPr>
        <p:spPr>
          <a:xfrm flipH="1">
            <a:off x="5532504" y="3210118"/>
            <a:ext cx="1766044" cy="4006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CuadroTexto 61"/>
          <p:cNvSpPr txBox="1"/>
          <p:nvPr/>
        </p:nvSpPr>
        <p:spPr>
          <a:xfrm rot="20752532">
            <a:off x="6065955" y="3203876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 err="1"/>
              <a:t>Ack</a:t>
            </a:r>
            <a:r>
              <a:rPr lang="es-ES" sz="1000" dirty="0"/>
              <a:t> 1</a:t>
            </a:r>
            <a:endParaRPr lang="es-MX" sz="1000" dirty="0"/>
          </a:p>
        </p:txBody>
      </p:sp>
      <p:sp>
        <p:nvSpPr>
          <p:cNvPr id="72" name="CuadroTexto 71"/>
          <p:cNvSpPr txBox="1"/>
          <p:nvPr/>
        </p:nvSpPr>
        <p:spPr>
          <a:xfrm>
            <a:off x="1277264" y="6581001"/>
            <a:ext cx="108622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</a:t>
            </a:r>
            <a:r>
              <a:rPr lang="es-MX" sz="1200" dirty="0">
                <a:hlinkClick r:id="rId2"/>
              </a:rPr>
              <a:t>http://exa.unne.edu.ar/depar/areas/informatica/teleproc/Comunicaciones/Presentaciones_Proyector/ControldelEnlacedeDatos.pdf</a:t>
            </a:r>
            <a:r>
              <a:rPr lang="es-MX" sz="1200" dirty="0"/>
              <a:t>.</a:t>
            </a:r>
          </a:p>
        </p:txBody>
      </p:sp>
      <p:graphicFrame>
        <p:nvGraphicFramePr>
          <p:cNvPr id="24" name="Tabla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8060045"/>
              </p:ext>
            </p:extLst>
          </p:nvPr>
        </p:nvGraphicFramePr>
        <p:xfrm>
          <a:off x="1371597" y="931480"/>
          <a:ext cx="3941744" cy="21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63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73059">
                <a:tc>
                  <a:txBody>
                    <a:bodyPr/>
                    <a:lstStyle/>
                    <a:p>
                      <a:r>
                        <a:rPr lang="es-ES" sz="800" dirty="0"/>
                        <a:t>0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1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2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3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4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5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6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7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0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1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2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3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4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5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6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7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3" name="Tabla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429041"/>
              </p:ext>
            </p:extLst>
          </p:nvPr>
        </p:nvGraphicFramePr>
        <p:xfrm>
          <a:off x="7992037" y="922516"/>
          <a:ext cx="3941744" cy="21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63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73059">
                <a:tc>
                  <a:txBody>
                    <a:bodyPr/>
                    <a:lstStyle/>
                    <a:p>
                      <a:r>
                        <a:rPr lang="es-ES" sz="800" dirty="0"/>
                        <a:t>0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1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2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3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4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5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6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7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0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1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2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3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4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5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6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7</a:t>
                      </a:r>
                      <a:endParaRPr lang="es-MX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7" name="Rectángulo 26"/>
          <p:cNvSpPr/>
          <p:nvPr/>
        </p:nvSpPr>
        <p:spPr>
          <a:xfrm>
            <a:off x="1393370" y="820405"/>
            <a:ext cx="957943" cy="426720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63" name="CuadroTexto 62"/>
          <p:cNvSpPr txBox="1"/>
          <p:nvPr/>
        </p:nvSpPr>
        <p:spPr>
          <a:xfrm>
            <a:off x="1367784" y="544456"/>
            <a:ext cx="10278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a</a:t>
            </a:r>
            <a:r>
              <a:rPr lang="es-ES" sz="1200" baseline="-25000" dirty="0"/>
              <a:t>1</a:t>
            </a:r>
            <a:r>
              <a:rPr lang="es-ES" sz="1200" dirty="0"/>
              <a:t>            a</a:t>
            </a:r>
            <a:r>
              <a:rPr lang="es-ES" sz="1200" baseline="-25000" dirty="0"/>
              <a:t>2</a:t>
            </a:r>
            <a:endParaRPr lang="es-MX" sz="1200" baseline="-25000" dirty="0"/>
          </a:p>
        </p:txBody>
      </p:sp>
      <p:sp>
        <p:nvSpPr>
          <p:cNvPr id="74" name="Rectángulo 73"/>
          <p:cNvSpPr/>
          <p:nvPr/>
        </p:nvSpPr>
        <p:spPr>
          <a:xfrm>
            <a:off x="8004626" y="813151"/>
            <a:ext cx="957943" cy="426720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75" name="CuadroTexto 74"/>
          <p:cNvSpPr txBox="1"/>
          <p:nvPr/>
        </p:nvSpPr>
        <p:spPr>
          <a:xfrm>
            <a:off x="7979040" y="537202"/>
            <a:ext cx="10278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b</a:t>
            </a:r>
            <a:r>
              <a:rPr lang="es-ES" sz="1200" baseline="-25000" dirty="0"/>
              <a:t>1</a:t>
            </a:r>
            <a:r>
              <a:rPr lang="es-ES" sz="1200" dirty="0"/>
              <a:t>            b</a:t>
            </a:r>
            <a:r>
              <a:rPr lang="es-ES" sz="1200" baseline="-25000" dirty="0"/>
              <a:t>2</a:t>
            </a:r>
            <a:endParaRPr lang="es-MX" sz="1200" baseline="-25000" dirty="0"/>
          </a:p>
        </p:txBody>
      </p:sp>
      <p:graphicFrame>
        <p:nvGraphicFramePr>
          <p:cNvPr id="76" name="Tabla 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0559985"/>
              </p:ext>
            </p:extLst>
          </p:nvPr>
        </p:nvGraphicFramePr>
        <p:xfrm>
          <a:off x="1378856" y="1737021"/>
          <a:ext cx="3941744" cy="21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63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73059">
                <a:tc>
                  <a:txBody>
                    <a:bodyPr/>
                    <a:lstStyle/>
                    <a:p>
                      <a:r>
                        <a:rPr lang="es-ES" sz="800" dirty="0"/>
                        <a:t>0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1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2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3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4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5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6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7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0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1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2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3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4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5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6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7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7" name="Rectángulo 76"/>
          <p:cNvSpPr/>
          <p:nvPr/>
        </p:nvSpPr>
        <p:spPr>
          <a:xfrm>
            <a:off x="1611086" y="1625946"/>
            <a:ext cx="747486" cy="426720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78" name="CuadroTexto 77"/>
          <p:cNvSpPr txBox="1"/>
          <p:nvPr/>
        </p:nvSpPr>
        <p:spPr>
          <a:xfrm>
            <a:off x="1375043" y="1349997"/>
            <a:ext cx="10278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     a</a:t>
            </a:r>
            <a:r>
              <a:rPr lang="es-ES" sz="1200" baseline="-25000" dirty="0"/>
              <a:t>1</a:t>
            </a:r>
            <a:r>
              <a:rPr lang="es-ES" sz="1200" dirty="0"/>
              <a:t>       a</a:t>
            </a:r>
            <a:r>
              <a:rPr lang="es-ES" sz="1200" baseline="-25000" dirty="0"/>
              <a:t>2</a:t>
            </a:r>
            <a:endParaRPr lang="es-MX" sz="1200" baseline="-25000" dirty="0"/>
          </a:p>
        </p:txBody>
      </p:sp>
      <p:graphicFrame>
        <p:nvGraphicFramePr>
          <p:cNvPr id="79" name="Tabla 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1608095"/>
              </p:ext>
            </p:extLst>
          </p:nvPr>
        </p:nvGraphicFramePr>
        <p:xfrm>
          <a:off x="7999297" y="1655485"/>
          <a:ext cx="3941744" cy="21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63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73059">
                <a:tc>
                  <a:txBody>
                    <a:bodyPr/>
                    <a:lstStyle/>
                    <a:p>
                      <a:r>
                        <a:rPr lang="es-ES" sz="800" dirty="0"/>
                        <a:t>0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1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2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3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4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5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6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7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0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1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2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3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4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5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6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7</a:t>
                      </a:r>
                      <a:endParaRPr lang="es-MX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0" name="Rectángulo 79"/>
          <p:cNvSpPr/>
          <p:nvPr/>
        </p:nvSpPr>
        <p:spPr>
          <a:xfrm>
            <a:off x="8233208" y="1546120"/>
            <a:ext cx="736621" cy="426720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81" name="CuadroTexto 80"/>
          <p:cNvSpPr txBox="1"/>
          <p:nvPr/>
        </p:nvSpPr>
        <p:spPr>
          <a:xfrm>
            <a:off x="8204017" y="1270171"/>
            <a:ext cx="8082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b</a:t>
            </a:r>
            <a:r>
              <a:rPr lang="es-ES" sz="1200" baseline="-25000" dirty="0"/>
              <a:t>1</a:t>
            </a:r>
            <a:r>
              <a:rPr lang="es-ES" sz="1200" dirty="0"/>
              <a:t>       b</a:t>
            </a:r>
            <a:r>
              <a:rPr lang="es-ES" sz="1200" baseline="-25000" dirty="0"/>
              <a:t>2</a:t>
            </a:r>
            <a:endParaRPr lang="es-MX" sz="1200" baseline="-25000" dirty="0"/>
          </a:p>
        </p:txBody>
      </p:sp>
      <p:graphicFrame>
        <p:nvGraphicFramePr>
          <p:cNvPr id="82" name="Tabla 8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7412113"/>
              </p:ext>
            </p:extLst>
          </p:nvPr>
        </p:nvGraphicFramePr>
        <p:xfrm>
          <a:off x="1371602" y="2440960"/>
          <a:ext cx="3941744" cy="21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63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73059">
                <a:tc>
                  <a:txBody>
                    <a:bodyPr/>
                    <a:lstStyle/>
                    <a:p>
                      <a:r>
                        <a:rPr lang="es-ES" sz="800" dirty="0"/>
                        <a:t>0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1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2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3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4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5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6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7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0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1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2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3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4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5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6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7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3" name="Rectángulo 82"/>
          <p:cNvSpPr/>
          <p:nvPr/>
        </p:nvSpPr>
        <p:spPr>
          <a:xfrm>
            <a:off x="1828434" y="2329885"/>
            <a:ext cx="522883" cy="426720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84" name="CuadroTexto 83"/>
          <p:cNvSpPr txBox="1"/>
          <p:nvPr/>
        </p:nvSpPr>
        <p:spPr>
          <a:xfrm>
            <a:off x="1832244" y="2053936"/>
            <a:ext cx="5517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a</a:t>
            </a:r>
            <a:r>
              <a:rPr lang="es-ES" sz="1200" baseline="-25000" dirty="0"/>
              <a:t>1</a:t>
            </a:r>
            <a:r>
              <a:rPr lang="es-ES" sz="1200" dirty="0"/>
              <a:t> a</a:t>
            </a:r>
            <a:r>
              <a:rPr lang="es-ES" sz="1200" baseline="-25000" dirty="0"/>
              <a:t>2</a:t>
            </a:r>
            <a:endParaRPr lang="es-MX" sz="1200" baseline="-25000" dirty="0"/>
          </a:p>
        </p:txBody>
      </p:sp>
      <p:graphicFrame>
        <p:nvGraphicFramePr>
          <p:cNvPr id="85" name="Tabla 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1596608"/>
              </p:ext>
            </p:extLst>
          </p:nvPr>
        </p:nvGraphicFramePr>
        <p:xfrm>
          <a:off x="7992039" y="2751314"/>
          <a:ext cx="3941744" cy="21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63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73059">
                <a:tc>
                  <a:txBody>
                    <a:bodyPr/>
                    <a:lstStyle/>
                    <a:p>
                      <a:r>
                        <a:rPr lang="es-ES" sz="800" dirty="0"/>
                        <a:t>0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1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2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3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4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5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6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7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0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1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2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3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4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5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6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7</a:t>
                      </a:r>
                      <a:endParaRPr lang="es-MX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6" name="Rectángulo 85"/>
          <p:cNvSpPr/>
          <p:nvPr/>
        </p:nvSpPr>
        <p:spPr>
          <a:xfrm>
            <a:off x="8440586" y="2641949"/>
            <a:ext cx="536499" cy="426720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87" name="CuadroTexto 86"/>
          <p:cNvSpPr txBox="1"/>
          <p:nvPr/>
        </p:nvSpPr>
        <p:spPr>
          <a:xfrm>
            <a:off x="8458017" y="2366000"/>
            <a:ext cx="5485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b</a:t>
            </a:r>
            <a:r>
              <a:rPr lang="es-ES" sz="1200" baseline="-25000" dirty="0"/>
              <a:t>1</a:t>
            </a:r>
            <a:r>
              <a:rPr lang="es-ES" sz="1200" dirty="0"/>
              <a:t> b</a:t>
            </a:r>
            <a:r>
              <a:rPr lang="es-ES" sz="1200" baseline="-25000" dirty="0"/>
              <a:t>2</a:t>
            </a:r>
            <a:endParaRPr lang="es-MX" sz="1200" baseline="-25000" dirty="0"/>
          </a:p>
        </p:txBody>
      </p:sp>
      <p:graphicFrame>
        <p:nvGraphicFramePr>
          <p:cNvPr id="88" name="Tabla 8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2570962"/>
              </p:ext>
            </p:extLst>
          </p:nvPr>
        </p:nvGraphicFramePr>
        <p:xfrm>
          <a:off x="8006555" y="3462509"/>
          <a:ext cx="3941744" cy="21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63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73059">
                <a:tc>
                  <a:txBody>
                    <a:bodyPr/>
                    <a:lstStyle/>
                    <a:p>
                      <a:r>
                        <a:rPr lang="es-ES" sz="800" dirty="0"/>
                        <a:t>0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1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2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3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4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5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6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7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0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1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2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3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4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5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6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7</a:t>
                      </a:r>
                      <a:endParaRPr lang="es-MX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9" name="Rectángulo 88"/>
          <p:cNvSpPr/>
          <p:nvPr/>
        </p:nvSpPr>
        <p:spPr>
          <a:xfrm>
            <a:off x="8516235" y="3353144"/>
            <a:ext cx="736621" cy="426720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90" name="CuadroTexto 89"/>
          <p:cNvSpPr txBox="1"/>
          <p:nvPr/>
        </p:nvSpPr>
        <p:spPr>
          <a:xfrm>
            <a:off x="8487044" y="3077195"/>
            <a:ext cx="8082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b</a:t>
            </a:r>
            <a:r>
              <a:rPr lang="es-ES" sz="1200" baseline="-25000" dirty="0"/>
              <a:t>1</a:t>
            </a:r>
            <a:r>
              <a:rPr lang="es-ES" sz="1200" dirty="0"/>
              <a:t>       b</a:t>
            </a:r>
            <a:r>
              <a:rPr lang="es-ES" sz="1200" baseline="-25000" dirty="0"/>
              <a:t>2</a:t>
            </a:r>
            <a:endParaRPr lang="es-MX" sz="1200" baseline="-25000" dirty="0"/>
          </a:p>
        </p:txBody>
      </p:sp>
      <p:graphicFrame>
        <p:nvGraphicFramePr>
          <p:cNvPr id="91" name="Tabla 9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3303758"/>
              </p:ext>
            </p:extLst>
          </p:nvPr>
        </p:nvGraphicFramePr>
        <p:xfrm>
          <a:off x="1371601" y="3703702"/>
          <a:ext cx="3941744" cy="21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63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73059">
                <a:tc>
                  <a:txBody>
                    <a:bodyPr/>
                    <a:lstStyle/>
                    <a:p>
                      <a:r>
                        <a:rPr lang="es-ES" sz="800" dirty="0"/>
                        <a:t>0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1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2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3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4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5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6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7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0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1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2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3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4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5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6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7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2" name="Rectángulo 91"/>
          <p:cNvSpPr/>
          <p:nvPr/>
        </p:nvSpPr>
        <p:spPr>
          <a:xfrm>
            <a:off x="1865088" y="3592627"/>
            <a:ext cx="747486" cy="426720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93" name="CuadroTexto 92"/>
          <p:cNvSpPr txBox="1"/>
          <p:nvPr/>
        </p:nvSpPr>
        <p:spPr>
          <a:xfrm>
            <a:off x="1629045" y="3316678"/>
            <a:ext cx="10278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     a</a:t>
            </a:r>
            <a:r>
              <a:rPr lang="es-ES" sz="1200" baseline="-25000" dirty="0"/>
              <a:t>1</a:t>
            </a:r>
            <a:r>
              <a:rPr lang="es-ES" sz="1200" dirty="0"/>
              <a:t>       a</a:t>
            </a:r>
            <a:r>
              <a:rPr lang="es-ES" sz="1200" baseline="-25000" dirty="0"/>
              <a:t>2</a:t>
            </a:r>
            <a:endParaRPr lang="es-MX" sz="1200" baseline="-25000" dirty="0"/>
          </a:p>
        </p:txBody>
      </p:sp>
      <p:cxnSp>
        <p:nvCxnSpPr>
          <p:cNvPr id="94" name="Conector recto 93"/>
          <p:cNvCxnSpPr/>
          <p:nvPr/>
        </p:nvCxnSpPr>
        <p:spPr>
          <a:xfrm>
            <a:off x="5532509" y="4117266"/>
            <a:ext cx="1766044" cy="3483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CuadroTexto 94"/>
          <p:cNvSpPr txBox="1"/>
          <p:nvPr/>
        </p:nvSpPr>
        <p:spPr>
          <a:xfrm rot="824214">
            <a:off x="6072053" y="4052967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Trama 2</a:t>
            </a:r>
            <a:endParaRPr lang="es-MX" sz="1000" dirty="0"/>
          </a:p>
        </p:txBody>
      </p:sp>
      <p:graphicFrame>
        <p:nvGraphicFramePr>
          <p:cNvPr id="96" name="Tabla 9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4814425"/>
              </p:ext>
            </p:extLst>
          </p:nvPr>
        </p:nvGraphicFramePr>
        <p:xfrm>
          <a:off x="1364346" y="4480218"/>
          <a:ext cx="3941744" cy="21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63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73059">
                <a:tc>
                  <a:txBody>
                    <a:bodyPr/>
                    <a:lstStyle/>
                    <a:p>
                      <a:r>
                        <a:rPr lang="es-ES" sz="800" dirty="0"/>
                        <a:t>0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1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2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3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4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5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6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7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0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1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2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3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4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5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6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7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7" name="Rectángulo 96"/>
          <p:cNvSpPr/>
          <p:nvPr/>
        </p:nvSpPr>
        <p:spPr>
          <a:xfrm>
            <a:off x="2082438" y="4369143"/>
            <a:ext cx="522883" cy="426720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98" name="CuadroTexto 97"/>
          <p:cNvSpPr txBox="1"/>
          <p:nvPr/>
        </p:nvSpPr>
        <p:spPr>
          <a:xfrm>
            <a:off x="2144300" y="4107709"/>
            <a:ext cx="5517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a</a:t>
            </a:r>
            <a:r>
              <a:rPr lang="es-ES" sz="1200" baseline="-25000" dirty="0"/>
              <a:t>1</a:t>
            </a:r>
            <a:r>
              <a:rPr lang="es-ES" sz="1200" dirty="0"/>
              <a:t> a</a:t>
            </a:r>
            <a:r>
              <a:rPr lang="es-ES" sz="1200" baseline="-25000" dirty="0"/>
              <a:t>2</a:t>
            </a:r>
            <a:endParaRPr lang="es-MX" sz="1200" baseline="-25000" dirty="0"/>
          </a:p>
        </p:txBody>
      </p:sp>
      <p:cxnSp>
        <p:nvCxnSpPr>
          <p:cNvPr id="99" name="Conector recto 98"/>
          <p:cNvCxnSpPr/>
          <p:nvPr/>
        </p:nvCxnSpPr>
        <p:spPr>
          <a:xfrm flipH="1">
            <a:off x="5539762" y="4828461"/>
            <a:ext cx="1766044" cy="4006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CuadroTexto 99"/>
          <p:cNvSpPr txBox="1"/>
          <p:nvPr/>
        </p:nvSpPr>
        <p:spPr>
          <a:xfrm rot="20752532">
            <a:off x="6073213" y="4822219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 err="1"/>
              <a:t>Ack</a:t>
            </a:r>
            <a:r>
              <a:rPr lang="es-ES" sz="1000" dirty="0"/>
              <a:t> 2</a:t>
            </a:r>
            <a:endParaRPr lang="es-MX" sz="1000" dirty="0"/>
          </a:p>
        </p:txBody>
      </p:sp>
      <p:cxnSp>
        <p:nvCxnSpPr>
          <p:cNvPr id="101" name="Conector recto 100"/>
          <p:cNvCxnSpPr/>
          <p:nvPr/>
        </p:nvCxnSpPr>
        <p:spPr>
          <a:xfrm flipH="1">
            <a:off x="5539763" y="5104235"/>
            <a:ext cx="1766044" cy="4006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CuadroTexto 101"/>
          <p:cNvSpPr txBox="1"/>
          <p:nvPr/>
        </p:nvSpPr>
        <p:spPr>
          <a:xfrm rot="20752532">
            <a:off x="6073214" y="5097993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 err="1"/>
              <a:t>Ack</a:t>
            </a:r>
            <a:r>
              <a:rPr lang="es-ES" sz="1000" dirty="0"/>
              <a:t> 3</a:t>
            </a:r>
            <a:endParaRPr lang="es-MX" sz="1000" dirty="0"/>
          </a:p>
        </p:txBody>
      </p:sp>
      <p:graphicFrame>
        <p:nvGraphicFramePr>
          <p:cNvPr id="103" name="Tabla 1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5969786"/>
              </p:ext>
            </p:extLst>
          </p:nvPr>
        </p:nvGraphicFramePr>
        <p:xfrm>
          <a:off x="7984780" y="4485771"/>
          <a:ext cx="3941744" cy="21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63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73059">
                <a:tc>
                  <a:txBody>
                    <a:bodyPr/>
                    <a:lstStyle/>
                    <a:p>
                      <a:r>
                        <a:rPr lang="es-ES" sz="800" dirty="0"/>
                        <a:t>0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1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2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3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4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5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6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7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0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1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2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3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4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5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6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7</a:t>
                      </a:r>
                      <a:endParaRPr lang="es-MX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4" name="Rectángulo 103"/>
          <p:cNvSpPr/>
          <p:nvPr/>
        </p:nvSpPr>
        <p:spPr>
          <a:xfrm>
            <a:off x="8694583" y="4376406"/>
            <a:ext cx="536499" cy="426720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05" name="CuadroTexto 104"/>
          <p:cNvSpPr txBox="1"/>
          <p:nvPr/>
        </p:nvSpPr>
        <p:spPr>
          <a:xfrm>
            <a:off x="8712014" y="4100457"/>
            <a:ext cx="5485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b</a:t>
            </a:r>
            <a:r>
              <a:rPr lang="es-ES" sz="1200" baseline="-25000" dirty="0"/>
              <a:t>1</a:t>
            </a:r>
            <a:r>
              <a:rPr lang="es-ES" sz="1200" dirty="0"/>
              <a:t> b</a:t>
            </a:r>
            <a:r>
              <a:rPr lang="es-ES" sz="1200" baseline="-25000" dirty="0"/>
              <a:t>2</a:t>
            </a:r>
            <a:endParaRPr lang="es-MX" sz="1200" baseline="-25000" dirty="0"/>
          </a:p>
        </p:txBody>
      </p:sp>
      <p:graphicFrame>
        <p:nvGraphicFramePr>
          <p:cNvPr id="106" name="Tabla 1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7314791"/>
              </p:ext>
            </p:extLst>
          </p:nvPr>
        </p:nvGraphicFramePr>
        <p:xfrm>
          <a:off x="7999295" y="5400175"/>
          <a:ext cx="3941744" cy="21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63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73059">
                <a:tc>
                  <a:txBody>
                    <a:bodyPr/>
                    <a:lstStyle/>
                    <a:p>
                      <a:r>
                        <a:rPr lang="es-ES" sz="800" dirty="0"/>
                        <a:t>0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1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2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3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4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5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6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7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0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1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2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3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4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5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6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7</a:t>
                      </a:r>
                      <a:endParaRPr lang="es-MX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7" name="Rectángulo 106"/>
          <p:cNvSpPr/>
          <p:nvPr/>
        </p:nvSpPr>
        <p:spPr>
          <a:xfrm>
            <a:off x="8752110" y="5290810"/>
            <a:ext cx="957943" cy="426720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08" name="CuadroTexto 107"/>
          <p:cNvSpPr txBox="1"/>
          <p:nvPr/>
        </p:nvSpPr>
        <p:spPr>
          <a:xfrm>
            <a:off x="8697496" y="5014861"/>
            <a:ext cx="10278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b</a:t>
            </a:r>
            <a:r>
              <a:rPr lang="es-ES" sz="1200" baseline="-25000" dirty="0"/>
              <a:t>1</a:t>
            </a:r>
            <a:r>
              <a:rPr lang="es-ES" sz="1200" dirty="0"/>
              <a:t>            b</a:t>
            </a:r>
            <a:r>
              <a:rPr lang="es-ES" sz="1200" baseline="-25000" dirty="0"/>
              <a:t>2</a:t>
            </a:r>
            <a:endParaRPr lang="es-MX" sz="1200" baseline="-25000" dirty="0"/>
          </a:p>
        </p:txBody>
      </p:sp>
      <p:graphicFrame>
        <p:nvGraphicFramePr>
          <p:cNvPr id="109" name="Tabla 10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3882968"/>
              </p:ext>
            </p:extLst>
          </p:nvPr>
        </p:nvGraphicFramePr>
        <p:xfrm>
          <a:off x="1378857" y="5670394"/>
          <a:ext cx="3941744" cy="21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63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73059">
                <a:tc>
                  <a:txBody>
                    <a:bodyPr/>
                    <a:lstStyle/>
                    <a:p>
                      <a:r>
                        <a:rPr lang="es-ES" sz="800" dirty="0"/>
                        <a:t>0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1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2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3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4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5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6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7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0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1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2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3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4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5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6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7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0" name="Rectángulo 109"/>
          <p:cNvSpPr/>
          <p:nvPr/>
        </p:nvSpPr>
        <p:spPr>
          <a:xfrm>
            <a:off x="2140854" y="5559319"/>
            <a:ext cx="957943" cy="426720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11" name="CuadroTexto 110"/>
          <p:cNvSpPr txBox="1"/>
          <p:nvPr/>
        </p:nvSpPr>
        <p:spPr>
          <a:xfrm>
            <a:off x="2115268" y="5283370"/>
            <a:ext cx="10278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a</a:t>
            </a:r>
            <a:r>
              <a:rPr lang="es-ES" sz="1200" baseline="-25000" dirty="0"/>
              <a:t>1</a:t>
            </a:r>
            <a:r>
              <a:rPr lang="es-ES" sz="1200" dirty="0"/>
              <a:t>            a</a:t>
            </a:r>
            <a:r>
              <a:rPr lang="es-ES" sz="1200" baseline="-25000" dirty="0"/>
              <a:t>2</a:t>
            </a:r>
            <a:endParaRPr lang="es-MX" sz="1200" baseline="-25000" dirty="0"/>
          </a:p>
        </p:txBody>
      </p:sp>
    </p:spTree>
    <p:extLst>
      <p:ext uri="{BB962C8B-B14F-4D97-AF65-F5344CB8AC3E}">
        <p14:creationId xmlns:p14="http://schemas.microsoft.com/office/powerpoint/2010/main" val="125655877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Control de flujo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809282" y="1519517"/>
            <a:ext cx="9970341" cy="4751293"/>
          </a:xfrm>
        </p:spPr>
        <p:txBody>
          <a:bodyPr>
            <a:normAutofit/>
          </a:bodyPr>
          <a:lstStyle/>
          <a:p>
            <a:r>
              <a:rPr lang="es-ES" dirty="0"/>
              <a:t>Control de error en Ventana deslizante (2 opciones):</a:t>
            </a:r>
          </a:p>
          <a:p>
            <a:endParaRPr lang="es-ES" dirty="0"/>
          </a:p>
          <a:p>
            <a:pPr marL="0" indent="0">
              <a:buNone/>
            </a:pPr>
            <a:endParaRPr lang="es-ES" dirty="0"/>
          </a:p>
          <a:p>
            <a:pPr>
              <a:buFontTx/>
              <a:buChar char="-"/>
            </a:pPr>
            <a:r>
              <a:rPr lang="es-ES" b="1" dirty="0"/>
              <a:t>Retroceder N</a:t>
            </a:r>
            <a:r>
              <a:rPr lang="es-ES" dirty="0"/>
              <a:t>: El receptor no tiene permitido recibir tramas fuera de secuencia.</a:t>
            </a:r>
          </a:p>
          <a:p>
            <a:pPr>
              <a:buFontTx/>
              <a:buChar char="-"/>
            </a:pPr>
            <a:r>
              <a:rPr lang="es-ES" b="1" dirty="0"/>
              <a:t>Rechazo selectivo</a:t>
            </a:r>
            <a:r>
              <a:rPr lang="es-ES" dirty="0"/>
              <a:t>: El receptor si puede recibir tramas fuera de secuencia.</a:t>
            </a:r>
            <a:endParaRPr lang="es-MX" dirty="0"/>
          </a:p>
        </p:txBody>
      </p:sp>
      <p:sp>
        <p:nvSpPr>
          <p:cNvPr id="9" name="CuadroTexto 8"/>
          <p:cNvSpPr txBox="1"/>
          <p:nvPr/>
        </p:nvSpPr>
        <p:spPr>
          <a:xfrm>
            <a:off x="1009171" y="6270810"/>
            <a:ext cx="2375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t</a:t>
            </a:r>
            <a:endParaRPr lang="es-MX" sz="1200" dirty="0"/>
          </a:p>
        </p:txBody>
      </p:sp>
      <p:sp>
        <p:nvSpPr>
          <p:cNvPr id="72" name="CuadroTexto 71"/>
          <p:cNvSpPr txBox="1"/>
          <p:nvPr/>
        </p:nvSpPr>
        <p:spPr>
          <a:xfrm>
            <a:off x="1277264" y="6581001"/>
            <a:ext cx="108622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</a:t>
            </a:r>
            <a:r>
              <a:rPr lang="es-MX" sz="1200" dirty="0">
                <a:hlinkClick r:id="rId2"/>
              </a:rPr>
              <a:t>http://exa.unne.edu.ar/depar/areas/informatica/teleproc/Comunicaciones/Presentaciones_Proyector/ControldelEnlacedeDatos.pdf</a:t>
            </a:r>
            <a:r>
              <a:rPr lang="es-MX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0391753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69632" y="288658"/>
            <a:ext cx="8911687" cy="745998"/>
          </a:xfrm>
        </p:spPr>
        <p:txBody>
          <a:bodyPr/>
          <a:lstStyle/>
          <a:p>
            <a:r>
              <a:rPr lang="es-ES" dirty="0"/>
              <a:t>Control de flujo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553456" y="981138"/>
            <a:ext cx="8915400" cy="596153"/>
          </a:xfrm>
        </p:spPr>
        <p:txBody>
          <a:bodyPr>
            <a:normAutofit fontScale="85000" lnSpcReduction="20000"/>
          </a:bodyPr>
          <a:lstStyle/>
          <a:p>
            <a:r>
              <a:rPr lang="es-ES" dirty="0"/>
              <a:t>Control de error en Ventana deslizante</a:t>
            </a:r>
          </a:p>
          <a:p>
            <a:pPr marL="0" indent="0">
              <a:buNone/>
            </a:pPr>
            <a:r>
              <a:rPr lang="es-ES" b="1" dirty="0"/>
              <a:t>  - Una trama se pierde</a:t>
            </a:r>
            <a:endParaRPr lang="es-MX" b="1" dirty="0"/>
          </a:p>
        </p:txBody>
      </p:sp>
      <p:sp>
        <p:nvSpPr>
          <p:cNvPr id="5" name="CuadroTexto 4"/>
          <p:cNvSpPr txBox="1"/>
          <p:nvPr/>
        </p:nvSpPr>
        <p:spPr>
          <a:xfrm>
            <a:off x="1111197" y="2084295"/>
            <a:ext cx="11849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Retroceder N</a:t>
            </a:r>
            <a:endParaRPr lang="es-MX" sz="1200" dirty="0"/>
          </a:p>
        </p:txBody>
      </p:sp>
      <p:sp>
        <p:nvSpPr>
          <p:cNvPr id="6" name="CuadroTexto 5"/>
          <p:cNvSpPr txBox="1"/>
          <p:nvPr/>
        </p:nvSpPr>
        <p:spPr>
          <a:xfrm>
            <a:off x="4461866" y="2034990"/>
            <a:ext cx="15440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Rechazo selectivo</a:t>
            </a:r>
            <a:endParaRPr lang="es-MX" sz="1200" dirty="0"/>
          </a:p>
        </p:txBody>
      </p:sp>
      <p:cxnSp>
        <p:nvCxnSpPr>
          <p:cNvPr id="8" name="Conector recto de flecha 7"/>
          <p:cNvCxnSpPr/>
          <p:nvPr/>
        </p:nvCxnSpPr>
        <p:spPr>
          <a:xfrm>
            <a:off x="1125711" y="2904565"/>
            <a:ext cx="0" cy="33886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/>
          <p:cNvSpPr txBox="1"/>
          <p:nvPr/>
        </p:nvSpPr>
        <p:spPr>
          <a:xfrm>
            <a:off x="1009171" y="6270810"/>
            <a:ext cx="2375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t</a:t>
            </a:r>
            <a:endParaRPr lang="es-MX" sz="1200" dirty="0"/>
          </a:p>
        </p:txBody>
      </p:sp>
      <p:cxnSp>
        <p:nvCxnSpPr>
          <p:cNvPr id="10" name="Conector recto de flecha 9"/>
          <p:cNvCxnSpPr/>
          <p:nvPr/>
        </p:nvCxnSpPr>
        <p:spPr>
          <a:xfrm>
            <a:off x="2891755" y="2909048"/>
            <a:ext cx="0" cy="33886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/>
          <p:cNvSpPr txBox="1"/>
          <p:nvPr/>
        </p:nvSpPr>
        <p:spPr>
          <a:xfrm>
            <a:off x="2775215" y="6275293"/>
            <a:ext cx="2375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t</a:t>
            </a:r>
            <a:endParaRPr lang="es-MX" sz="1200" dirty="0"/>
          </a:p>
        </p:txBody>
      </p:sp>
      <p:sp>
        <p:nvSpPr>
          <p:cNvPr id="13" name="CuadroTexto 12"/>
          <p:cNvSpPr txBox="1"/>
          <p:nvPr/>
        </p:nvSpPr>
        <p:spPr>
          <a:xfrm>
            <a:off x="4237745" y="6275293"/>
            <a:ext cx="2375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t</a:t>
            </a:r>
            <a:endParaRPr lang="es-MX" sz="1200" dirty="0"/>
          </a:p>
        </p:txBody>
      </p:sp>
      <p:sp>
        <p:nvSpPr>
          <p:cNvPr id="15" name="CuadroTexto 14"/>
          <p:cNvSpPr txBox="1"/>
          <p:nvPr/>
        </p:nvSpPr>
        <p:spPr>
          <a:xfrm>
            <a:off x="6003789" y="6279776"/>
            <a:ext cx="2375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t</a:t>
            </a:r>
            <a:endParaRPr lang="es-MX" sz="1200" dirty="0"/>
          </a:p>
        </p:txBody>
      </p:sp>
      <p:sp>
        <p:nvSpPr>
          <p:cNvPr id="16" name="Rectángulo 15"/>
          <p:cNvSpPr/>
          <p:nvPr/>
        </p:nvSpPr>
        <p:spPr>
          <a:xfrm>
            <a:off x="894754" y="2649979"/>
            <a:ext cx="437998" cy="24113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b="1" dirty="0" err="1">
                <a:solidFill>
                  <a:schemeClr val="tx1"/>
                </a:solidFill>
              </a:rPr>
              <a:t>tx</a:t>
            </a:r>
            <a:endParaRPr lang="es-MX" sz="1000" b="1" dirty="0">
              <a:solidFill>
                <a:schemeClr val="tx1"/>
              </a:solidFill>
            </a:endParaRPr>
          </a:p>
        </p:txBody>
      </p:sp>
      <p:sp>
        <p:nvSpPr>
          <p:cNvPr id="17" name="Rectángulo 16"/>
          <p:cNvSpPr/>
          <p:nvPr/>
        </p:nvSpPr>
        <p:spPr>
          <a:xfrm>
            <a:off x="2687269" y="2657239"/>
            <a:ext cx="437998" cy="24113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b="1" dirty="0" err="1">
                <a:solidFill>
                  <a:schemeClr val="tx1"/>
                </a:solidFill>
              </a:rPr>
              <a:t>rx</a:t>
            </a:r>
            <a:endParaRPr lang="es-MX" sz="1000" b="1" dirty="0">
              <a:solidFill>
                <a:schemeClr val="tx1"/>
              </a:solidFill>
            </a:endParaRPr>
          </a:p>
        </p:txBody>
      </p:sp>
      <p:cxnSp>
        <p:nvCxnSpPr>
          <p:cNvPr id="21" name="Conector recto 20"/>
          <p:cNvCxnSpPr/>
          <p:nvPr/>
        </p:nvCxnSpPr>
        <p:spPr>
          <a:xfrm>
            <a:off x="1125711" y="3014063"/>
            <a:ext cx="1766044" cy="3483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/>
          <p:cNvCxnSpPr/>
          <p:nvPr/>
        </p:nvCxnSpPr>
        <p:spPr>
          <a:xfrm>
            <a:off x="1132969" y="5413187"/>
            <a:ext cx="1766044" cy="3483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/>
          <p:cNvCxnSpPr/>
          <p:nvPr/>
        </p:nvCxnSpPr>
        <p:spPr>
          <a:xfrm flipH="1">
            <a:off x="1132969" y="3801248"/>
            <a:ext cx="1766044" cy="4006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/>
          <p:cNvCxnSpPr/>
          <p:nvPr/>
        </p:nvCxnSpPr>
        <p:spPr>
          <a:xfrm>
            <a:off x="1132971" y="3207877"/>
            <a:ext cx="840971" cy="1698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uadroTexto 27"/>
          <p:cNvSpPr txBox="1"/>
          <p:nvPr/>
        </p:nvSpPr>
        <p:spPr>
          <a:xfrm>
            <a:off x="1814285" y="3207877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X</a:t>
            </a:r>
            <a:endParaRPr lang="es-MX" dirty="0"/>
          </a:p>
        </p:txBody>
      </p:sp>
      <p:sp>
        <p:nvSpPr>
          <p:cNvPr id="29" name="CuadroTexto 28"/>
          <p:cNvSpPr txBox="1"/>
          <p:nvPr/>
        </p:nvSpPr>
        <p:spPr>
          <a:xfrm rot="824214">
            <a:off x="1643481" y="2927994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Trama 0</a:t>
            </a:r>
            <a:endParaRPr lang="es-MX" sz="1000" dirty="0"/>
          </a:p>
        </p:txBody>
      </p:sp>
      <p:sp>
        <p:nvSpPr>
          <p:cNvPr id="30" name="CuadroTexto 29"/>
          <p:cNvSpPr txBox="1"/>
          <p:nvPr/>
        </p:nvSpPr>
        <p:spPr>
          <a:xfrm rot="824214">
            <a:off x="1650737" y="5327114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Trama 1</a:t>
            </a:r>
            <a:endParaRPr lang="es-MX" sz="1000" dirty="0"/>
          </a:p>
        </p:txBody>
      </p:sp>
      <p:sp>
        <p:nvSpPr>
          <p:cNvPr id="31" name="CuadroTexto 30"/>
          <p:cNvSpPr txBox="1"/>
          <p:nvPr/>
        </p:nvSpPr>
        <p:spPr>
          <a:xfrm rot="824214">
            <a:off x="1287880" y="3078264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Trama 1</a:t>
            </a:r>
            <a:endParaRPr lang="es-MX" sz="1000" dirty="0"/>
          </a:p>
        </p:txBody>
      </p:sp>
      <p:sp>
        <p:nvSpPr>
          <p:cNvPr id="32" name="CuadroTexto 31"/>
          <p:cNvSpPr txBox="1"/>
          <p:nvPr/>
        </p:nvSpPr>
        <p:spPr>
          <a:xfrm rot="20752532">
            <a:off x="1622338" y="3795006"/>
            <a:ext cx="62068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 err="1"/>
              <a:t>Nack</a:t>
            </a:r>
            <a:r>
              <a:rPr lang="es-ES" sz="1000" dirty="0"/>
              <a:t> 1</a:t>
            </a:r>
            <a:endParaRPr lang="es-MX" sz="1000" dirty="0"/>
          </a:p>
        </p:txBody>
      </p:sp>
      <p:sp>
        <p:nvSpPr>
          <p:cNvPr id="33" name="Abrir llave 32"/>
          <p:cNvSpPr/>
          <p:nvPr/>
        </p:nvSpPr>
        <p:spPr>
          <a:xfrm>
            <a:off x="1029481" y="3150774"/>
            <a:ext cx="46055" cy="127915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5" name="CuadroTexto 34"/>
          <p:cNvSpPr txBox="1"/>
          <p:nvPr/>
        </p:nvSpPr>
        <p:spPr>
          <a:xfrm rot="16200000">
            <a:off x="328579" y="3491701"/>
            <a:ext cx="10310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Temporizador</a:t>
            </a:r>
            <a:endParaRPr lang="es-MX" sz="1000" dirty="0"/>
          </a:p>
        </p:txBody>
      </p:sp>
      <p:sp>
        <p:nvSpPr>
          <p:cNvPr id="72" name="CuadroTexto 71"/>
          <p:cNvSpPr txBox="1"/>
          <p:nvPr/>
        </p:nvSpPr>
        <p:spPr>
          <a:xfrm>
            <a:off x="1277264" y="6581001"/>
            <a:ext cx="108622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</a:t>
            </a:r>
            <a:r>
              <a:rPr lang="es-MX" sz="1200" dirty="0">
                <a:hlinkClick r:id="rId2"/>
              </a:rPr>
              <a:t>http://exa.unne.edu.ar/depar/areas/informatica/teleproc/Comunicaciones/Presentaciones_Proyector/ControldelEnlacedeDatos.pdf</a:t>
            </a:r>
            <a:r>
              <a:rPr lang="es-MX" sz="1200" dirty="0"/>
              <a:t>.</a:t>
            </a:r>
          </a:p>
        </p:txBody>
      </p:sp>
      <p:cxnSp>
        <p:nvCxnSpPr>
          <p:cNvPr id="73" name="Conector recto 72"/>
          <p:cNvCxnSpPr/>
          <p:nvPr/>
        </p:nvCxnSpPr>
        <p:spPr>
          <a:xfrm>
            <a:off x="1130194" y="3448850"/>
            <a:ext cx="1766044" cy="3483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CuadroTexto 73"/>
          <p:cNvSpPr txBox="1"/>
          <p:nvPr/>
        </p:nvSpPr>
        <p:spPr>
          <a:xfrm rot="824214">
            <a:off x="1647964" y="3362781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Trama 2</a:t>
            </a:r>
            <a:endParaRPr lang="es-MX" sz="1000" dirty="0"/>
          </a:p>
        </p:txBody>
      </p:sp>
      <p:cxnSp>
        <p:nvCxnSpPr>
          <p:cNvPr id="75" name="Conector recto 74"/>
          <p:cNvCxnSpPr/>
          <p:nvPr/>
        </p:nvCxnSpPr>
        <p:spPr>
          <a:xfrm>
            <a:off x="1130194" y="3664002"/>
            <a:ext cx="1766044" cy="3483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CuadroTexto 75"/>
          <p:cNvSpPr txBox="1"/>
          <p:nvPr/>
        </p:nvSpPr>
        <p:spPr>
          <a:xfrm rot="824214">
            <a:off x="1647964" y="3577933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Trama 3</a:t>
            </a:r>
            <a:endParaRPr lang="es-MX" sz="1000" dirty="0"/>
          </a:p>
        </p:txBody>
      </p:sp>
      <p:cxnSp>
        <p:nvCxnSpPr>
          <p:cNvPr id="77" name="Conector recto 76"/>
          <p:cNvCxnSpPr/>
          <p:nvPr/>
        </p:nvCxnSpPr>
        <p:spPr>
          <a:xfrm>
            <a:off x="1121230" y="5618308"/>
            <a:ext cx="1766044" cy="3483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CuadroTexto 77"/>
          <p:cNvSpPr txBox="1"/>
          <p:nvPr/>
        </p:nvSpPr>
        <p:spPr>
          <a:xfrm rot="824214">
            <a:off x="1639000" y="5532239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Trama 2</a:t>
            </a:r>
            <a:endParaRPr lang="es-MX" sz="1000" dirty="0"/>
          </a:p>
        </p:txBody>
      </p:sp>
      <p:cxnSp>
        <p:nvCxnSpPr>
          <p:cNvPr id="79" name="Conector recto 78"/>
          <p:cNvCxnSpPr/>
          <p:nvPr/>
        </p:nvCxnSpPr>
        <p:spPr>
          <a:xfrm>
            <a:off x="1121230" y="5833460"/>
            <a:ext cx="1766044" cy="3483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CuadroTexto 79"/>
          <p:cNvSpPr txBox="1"/>
          <p:nvPr/>
        </p:nvSpPr>
        <p:spPr>
          <a:xfrm rot="824214">
            <a:off x="1639000" y="5747391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Trama 3</a:t>
            </a:r>
            <a:endParaRPr lang="es-MX" sz="1000" dirty="0"/>
          </a:p>
        </p:txBody>
      </p:sp>
      <p:sp>
        <p:nvSpPr>
          <p:cNvPr id="81" name="Rectángulo 80"/>
          <p:cNvSpPr/>
          <p:nvPr/>
        </p:nvSpPr>
        <p:spPr>
          <a:xfrm>
            <a:off x="4126523" y="2654462"/>
            <a:ext cx="437998" cy="24113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b="1" dirty="0" err="1">
                <a:solidFill>
                  <a:schemeClr val="tx1"/>
                </a:solidFill>
              </a:rPr>
              <a:t>tx</a:t>
            </a:r>
            <a:endParaRPr lang="es-MX" sz="1000" b="1" dirty="0">
              <a:solidFill>
                <a:schemeClr val="tx1"/>
              </a:solidFill>
            </a:endParaRPr>
          </a:p>
        </p:txBody>
      </p:sp>
      <p:sp>
        <p:nvSpPr>
          <p:cNvPr id="82" name="Rectángulo 81"/>
          <p:cNvSpPr/>
          <p:nvPr/>
        </p:nvSpPr>
        <p:spPr>
          <a:xfrm>
            <a:off x="5919038" y="2661722"/>
            <a:ext cx="437998" cy="24113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b="1" dirty="0" err="1">
                <a:solidFill>
                  <a:schemeClr val="tx1"/>
                </a:solidFill>
              </a:rPr>
              <a:t>rx</a:t>
            </a:r>
            <a:endParaRPr lang="es-MX" sz="1000" b="1" dirty="0">
              <a:solidFill>
                <a:schemeClr val="tx1"/>
              </a:solidFill>
            </a:endParaRPr>
          </a:p>
        </p:txBody>
      </p:sp>
      <p:cxnSp>
        <p:nvCxnSpPr>
          <p:cNvPr id="83" name="Conector recto 82"/>
          <p:cNvCxnSpPr/>
          <p:nvPr/>
        </p:nvCxnSpPr>
        <p:spPr>
          <a:xfrm>
            <a:off x="4357480" y="3018546"/>
            <a:ext cx="1766044" cy="3483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recto 83"/>
          <p:cNvCxnSpPr/>
          <p:nvPr/>
        </p:nvCxnSpPr>
        <p:spPr>
          <a:xfrm>
            <a:off x="4364738" y="4530168"/>
            <a:ext cx="1766044" cy="3483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 recto 84"/>
          <p:cNvCxnSpPr/>
          <p:nvPr/>
        </p:nvCxnSpPr>
        <p:spPr>
          <a:xfrm flipH="1">
            <a:off x="4364738" y="3846072"/>
            <a:ext cx="1766044" cy="4006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ector recto 85"/>
          <p:cNvCxnSpPr/>
          <p:nvPr/>
        </p:nvCxnSpPr>
        <p:spPr>
          <a:xfrm>
            <a:off x="4364740" y="3212360"/>
            <a:ext cx="840971" cy="1698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CuadroTexto 86"/>
          <p:cNvSpPr txBox="1"/>
          <p:nvPr/>
        </p:nvSpPr>
        <p:spPr>
          <a:xfrm>
            <a:off x="5046054" y="3212360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X</a:t>
            </a:r>
            <a:endParaRPr lang="es-MX" dirty="0"/>
          </a:p>
        </p:txBody>
      </p:sp>
      <p:sp>
        <p:nvSpPr>
          <p:cNvPr id="88" name="CuadroTexto 87"/>
          <p:cNvSpPr txBox="1"/>
          <p:nvPr/>
        </p:nvSpPr>
        <p:spPr>
          <a:xfrm rot="824214">
            <a:off x="4875250" y="2932477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Trama 0</a:t>
            </a:r>
            <a:endParaRPr lang="es-MX" sz="1000" dirty="0"/>
          </a:p>
        </p:txBody>
      </p:sp>
      <p:sp>
        <p:nvSpPr>
          <p:cNvPr id="89" name="CuadroTexto 88"/>
          <p:cNvSpPr txBox="1"/>
          <p:nvPr/>
        </p:nvSpPr>
        <p:spPr>
          <a:xfrm rot="824214">
            <a:off x="4882506" y="4444095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Trama 1</a:t>
            </a:r>
            <a:endParaRPr lang="es-MX" sz="1000" dirty="0"/>
          </a:p>
        </p:txBody>
      </p:sp>
      <p:sp>
        <p:nvSpPr>
          <p:cNvPr id="90" name="CuadroTexto 89"/>
          <p:cNvSpPr txBox="1"/>
          <p:nvPr/>
        </p:nvSpPr>
        <p:spPr>
          <a:xfrm rot="824214">
            <a:off x="4519649" y="3082747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Trama 1</a:t>
            </a:r>
            <a:endParaRPr lang="es-MX" sz="1000" dirty="0"/>
          </a:p>
        </p:txBody>
      </p:sp>
      <p:sp>
        <p:nvSpPr>
          <p:cNvPr id="91" name="CuadroTexto 90"/>
          <p:cNvSpPr txBox="1"/>
          <p:nvPr/>
        </p:nvSpPr>
        <p:spPr>
          <a:xfrm rot="20752532">
            <a:off x="4882160" y="3839830"/>
            <a:ext cx="5645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SREJ 1</a:t>
            </a:r>
            <a:endParaRPr lang="es-MX" sz="1000" dirty="0"/>
          </a:p>
        </p:txBody>
      </p:sp>
      <p:sp>
        <p:nvSpPr>
          <p:cNvPr id="92" name="Abrir llave 91"/>
          <p:cNvSpPr/>
          <p:nvPr/>
        </p:nvSpPr>
        <p:spPr>
          <a:xfrm>
            <a:off x="4261250" y="3155257"/>
            <a:ext cx="46055" cy="127915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93" name="Conector recto 92"/>
          <p:cNvCxnSpPr/>
          <p:nvPr/>
        </p:nvCxnSpPr>
        <p:spPr>
          <a:xfrm>
            <a:off x="4361963" y="3453333"/>
            <a:ext cx="1766044" cy="3483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CuadroTexto 93"/>
          <p:cNvSpPr txBox="1"/>
          <p:nvPr/>
        </p:nvSpPr>
        <p:spPr>
          <a:xfrm rot="824214">
            <a:off x="4879733" y="3367264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Trama 2</a:t>
            </a:r>
            <a:endParaRPr lang="es-MX" sz="1000" dirty="0"/>
          </a:p>
        </p:txBody>
      </p:sp>
      <p:cxnSp>
        <p:nvCxnSpPr>
          <p:cNvPr id="95" name="Conector recto 94"/>
          <p:cNvCxnSpPr/>
          <p:nvPr/>
        </p:nvCxnSpPr>
        <p:spPr>
          <a:xfrm>
            <a:off x="4361963" y="3668485"/>
            <a:ext cx="1766044" cy="3483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CuadroTexto 95"/>
          <p:cNvSpPr txBox="1"/>
          <p:nvPr/>
        </p:nvSpPr>
        <p:spPr>
          <a:xfrm rot="824214">
            <a:off x="4879733" y="35824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Trama 3</a:t>
            </a:r>
            <a:endParaRPr lang="es-MX" sz="1000" dirty="0"/>
          </a:p>
        </p:txBody>
      </p:sp>
      <p:cxnSp>
        <p:nvCxnSpPr>
          <p:cNvPr id="101" name="Conector recto de flecha 100"/>
          <p:cNvCxnSpPr/>
          <p:nvPr/>
        </p:nvCxnSpPr>
        <p:spPr>
          <a:xfrm>
            <a:off x="4370928" y="2882154"/>
            <a:ext cx="0" cy="33886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ector recto de flecha 101"/>
          <p:cNvCxnSpPr/>
          <p:nvPr/>
        </p:nvCxnSpPr>
        <p:spPr>
          <a:xfrm>
            <a:off x="6136972" y="2886637"/>
            <a:ext cx="0" cy="33886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errar llave 3"/>
          <p:cNvSpPr/>
          <p:nvPr/>
        </p:nvSpPr>
        <p:spPr>
          <a:xfrm>
            <a:off x="2896238" y="3797193"/>
            <a:ext cx="116543" cy="24866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20" name="Conector angular 19"/>
          <p:cNvCxnSpPr>
            <a:stCxn id="4" idx="1"/>
          </p:cNvCxnSpPr>
          <p:nvPr/>
        </p:nvCxnSpPr>
        <p:spPr>
          <a:xfrm rot="10800000" flipH="1" flipV="1">
            <a:off x="3012780" y="3921523"/>
            <a:ext cx="308643" cy="1491664"/>
          </a:xfrm>
          <a:prstGeom prst="bentConnector4">
            <a:avLst>
              <a:gd name="adj1" fmla="val 100207"/>
              <a:gd name="adj2" fmla="val 5416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Imagen 2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976902" y="5458936"/>
            <a:ext cx="619000" cy="619000"/>
          </a:xfrm>
          <a:prstGeom prst="rect">
            <a:avLst/>
          </a:prstGeom>
        </p:spPr>
      </p:pic>
      <p:sp>
        <p:nvSpPr>
          <p:cNvPr id="103" name="Cerrar llave 102"/>
          <p:cNvSpPr/>
          <p:nvPr/>
        </p:nvSpPr>
        <p:spPr>
          <a:xfrm>
            <a:off x="6154901" y="3801676"/>
            <a:ext cx="116543" cy="24866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aphicFrame>
        <p:nvGraphicFramePr>
          <p:cNvPr id="63" name="Tabla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1734788"/>
              </p:ext>
            </p:extLst>
          </p:nvPr>
        </p:nvGraphicFramePr>
        <p:xfrm>
          <a:off x="8029390" y="3152949"/>
          <a:ext cx="684074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40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s-MX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s-MX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000" dirty="0"/>
                        <a:t>Trama 3</a:t>
                      </a:r>
                      <a:endParaRPr lang="es-MX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000" dirty="0"/>
                        <a:t>Trama 2</a:t>
                      </a:r>
                      <a:endParaRPr lang="es-MX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105" name="Conector recto de flecha 104"/>
          <p:cNvCxnSpPr>
            <a:stCxn id="103" idx="1"/>
            <a:endCxn id="63" idx="1"/>
          </p:cNvCxnSpPr>
          <p:nvPr/>
        </p:nvCxnSpPr>
        <p:spPr>
          <a:xfrm flipV="1">
            <a:off x="6271444" y="3894629"/>
            <a:ext cx="1757946" cy="313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CuadroTexto 106"/>
          <p:cNvSpPr txBox="1"/>
          <p:nvPr/>
        </p:nvSpPr>
        <p:spPr>
          <a:xfrm>
            <a:off x="8029390" y="2770548"/>
            <a:ext cx="6078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/>
              <a:t>Buffer</a:t>
            </a:r>
            <a:endParaRPr lang="es-MX" sz="1200" b="1" dirty="0"/>
          </a:p>
        </p:txBody>
      </p:sp>
    </p:spTree>
    <p:extLst>
      <p:ext uri="{BB962C8B-B14F-4D97-AF65-F5344CB8AC3E}">
        <p14:creationId xmlns:p14="http://schemas.microsoft.com/office/powerpoint/2010/main" val="2437829961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69632" y="288658"/>
            <a:ext cx="8911687" cy="745998"/>
          </a:xfrm>
        </p:spPr>
        <p:txBody>
          <a:bodyPr/>
          <a:lstStyle/>
          <a:p>
            <a:r>
              <a:rPr lang="es-ES" dirty="0"/>
              <a:t>Control de flujo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553456" y="981138"/>
            <a:ext cx="8915400" cy="596153"/>
          </a:xfrm>
        </p:spPr>
        <p:txBody>
          <a:bodyPr>
            <a:normAutofit fontScale="85000" lnSpcReduction="20000"/>
          </a:bodyPr>
          <a:lstStyle/>
          <a:p>
            <a:r>
              <a:rPr lang="es-ES" dirty="0"/>
              <a:t>Control de error en Ventana deslizante</a:t>
            </a:r>
          </a:p>
          <a:p>
            <a:pPr marL="0" indent="0">
              <a:buNone/>
            </a:pPr>
            <a:r>
              <a:rPr lang="es-ES" b="1" dirty="0"/>
              <a:t>  - Un acuse se pierde</a:t>
            </a:r>
            <a:endParaRPr lang="es-MX" b="1" dirty="0"/>
          </a:p>
        </p:txBody>
      </p:sp>
      <p:sp>
        <p:nvSpPr>
          <p:cNvPr id="5" name="CuadroTexto 4"/>
          <p:cNvSpPr txBox="1"/>
          <p:nvPr/>
        </p:nvSpPr>
        <p:spPr>
          <a:xfrm>
            <a:off x="4298150" y="2130283"/>
            <a:ext cx="12282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Retroceder N,</a:t>
            </a:r>
            <a:endParaRPr lang="es-MX" sz="1200" dirty="0"/>
          </a:p>
        </p:txBody>
      </p:sp>
      <p:sp>
        <p:nvSpPr>
          <p:cNvPr id="6" name="CuadroTexto 5"/>
          <p:cNvSpPr txBox="1"/>
          <p:nvPr/>
        </p:nvSpPr>
        <p:spPr>
          <a:xfrm>
            <a:off x="5376266" y="2131271"/>
            <a:ext cx="15440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Rechazo selectivo</a:t>
            </a:r>
            <a:endParaRPr lang="es-MX" sz="1200" dirty="0"/>
          </a:p>
        </p:txBody>
      </p:sp>
      <p:cxnSp>
        <p:nvCxnSpPr>
          <p:cNvPr id="8" name="Conector recto de flecha 7"/>
          <p:cNvCxnSpPr/>
          <p:nvPr/>
        </p:nvCxnSpPr>
        <p:spPr>
          <a:xfrm>
            <a:off x="4662272" y="2904565"/>
            <a:ext cx="0" cy="33886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/>
          <p:cNvSpPr txBox="1"/>
          <p:nvPr/>
        </p:nvSpPr>
        <p:spPr>
          <a:xfrm>
            <a:off x="4545732" y="6270810"/>
            <a:ext cx="2375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t</a:t>
            </a:r>
            <a:endParaRPr lang="es-MX" sz="1200" dirty="0"/>
          </a:p>
        </p:txBody>
      </p:sp>
      <p:cxnSp>
        <p:nvCxnSpPr>
          <p:cNvPr id="10" name="Conector recto de flecha 9"/>
          <p:cNvCxnSpPr/>
          <p:nvPr/>
        </p:nvCxnSpPr>
        <p:spPr>
          <a:xfrm>
            <a:off x="6428316" y="2909048"/>
            <a:ext cx="0" cy="33886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/>
          <p:cNvSpPr txBox="1"/>
          <p:nvPr/>
        </p:nvSpPr>
        <p:spPr>
          <a:xfrm>
            <a:off x="6311776" y="6275293"/>
            <a:ext cx="2375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t</a:t>
            </a:r>
            <a:endParaRPr lang="es-MX" sz="1200" dirty="0"/>
          </a:p>
        </p:txBody>
      </p:sp>
      <p:sp>
        <p:nvSpPr>
          <p:cNvPr id="16" name="Rectángulo 15"/>
          <p:cNvSpPr/>
          <p:nvPr/>
        </p:nvSpPr>
        <p:spPr>
          <a:xfrm>
            <a:off x="4431315" y="2649979"/>
            <a:ext cx="437998" cy="24113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b="1" dirty="0" err="1">
                <a:solidFill>
                  <a:schemeClr val="tx1"/>
                </a:solidFill>
              </a:rPr>
              <a:t>tx</a:t>
            </a:r>
            <a:endParaRPr lang="es-MX" sz="1000" b="1" dirty="0">
              <a:solidFill>
                <a:schemeClr val="tx1"/>
              </a:solidFill>
            </a:endParaRPr>
          </a:p>
        </p:txBody>
      </p:sp>
      <p:sp>
        <p:nvSpPr>
          <p:cNvPr id="17" name="Rectángulo 16"/>
          <p:cNvSpPr/>
          <p:nvPr/>
        </p:nvSpPr>
        <p:spPr>
          <a:xfrm>
            <a:off x="6223830" y="2657239"/>
            <a:ext cx="437998" cy="24113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b="1" dirty="0" err="1">
                <a:solidFill>
                  <a:schemeClr val="tx1"/>
                </a:solidFill>
              </a:rPr>
              <a:t>rx</a:t>
            </a:r>
            <a:endParaRPr lang="es-MX" sz="1000" b="1" dirty="0">
              <a:solidFill>
                <a:schemeClr val="tx1"/>
              </a:solidFill>
            </a:endParaRPr>
          </a:p>
        </p:txBody>
      </p:sp>
      <p:cxnSp>
        <p:nvCxnSpPr>
          <p:cNvPr id="21" name="Conector recto 20"/>
          <p:cNvCxnSpPr/>
          <p:nvPr/>
        </p:nvCxnSpPr>
        <p:spPr>
          <a:xfrm>
            <a:off x="4662272" y="3014063"/>
            <a:ext cx="1766044" cy="3483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/>
          <p:cNvCxnSpPr/>
          <p:nvPr/>
        </p:nvCxnSpPr>
        <p:spPr>
          <a:xfrm flipH="1">
            <a:off x="4669530" y="3801248"/>
            <a:ext cx="1766044" cy="4006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uadroTexto 27"/>
          <p:cNvSpPr txBox="1"/>
          <p:nvPr/>
        </p:nvSpPr>
        <p:spPr>
          <a:xfrm>
            <a:off x="5095349" y="3691970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X</a:t>
            </a:r>
            <a:endParaRPr lang="es-MX" dirty="0"/>
          </a:p>
        </p:txBody>
      </p:sp>
      <p:sp>
        <p:nvSpPr>
          <p:cNvPr id="29" name="CuadroTexto 28"/>
          <p:cNvSpPr txBox="1"/>
          <p:nvPr/>
        </p:nvSpPr>
        <p:spPr>
          <a:xfrm rot="824214">
            <a:off x="5180042" y="2927994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Trama 0</a:t>
            </a:r>
            <a:endParaRPr lang="es-MX" sz="1000" dirty="0"/>
          </a:p>
        </p:txBody>
      </p:sp>
      <p:sp>
        <p:nvSpPr>
          <p:cNvPr id="31" name="CuadroTexto 30"/>
          <p:cNvSpPr txBox="1"/>
          <p:nvPr/>
        </p:nvSpPr>
        <p:spPr>
          <a:xfrm rot="824214">
            <a:off x="5187510" y="315894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Trama 1</a:t>
            </a:r>
            <a:endParaRPr lang="es-MX" sz="1000" dirty="0"/>
          </a:p>
        </p:txBody>
      </p:sp>
      <p:sp>
        <p:nvSpPr>
          <p:cNvPr id="32" name="CuadroTexto 31"/>
          <p:cNvSpPr txBox="1"/>
          <p:nvPr/>
        </p:nvSpPr>
        <p:spPr>
          <a:xfrm rot="20752532">
            <a:off x="4678548" y="3929476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 err="1"/>
              <a:t>Ack</a:t>
            </a:r>
            <a:r>
              <a:rPr lang="es-ES" sz="1000" dirty="0"/>
              <a:t> 3</a:t>
            </a:r>
            <a:endParaRPr lang="es-MX" sz="1000" dirty="0"/>
          </a:p>
        </p:txBody>
      </p:sp>
      <p:sp>
        <p:nvSpPr>
          <p:cNvPr id="33" name="Abrir llave 32"/>
          <p:cNvSpPr/>
          <p:nvPr/>
        </p:nvSpPr>
        <p:spPr>
          <a:xfrm>
            <a:off x="4566378" y="3005531"/>
            <a:ext cx="45719" cy="152463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5" name="CuadroTexto 34"/>
          <p:cNvSpPr txBox="1"/>
          <p:nvPr/>
        </p:nvSpPr>
        <p:spPr>
          <a:xfrm rot="16200000">
            <a:off x="3865140" y="3491701"/>
            <a:ext cx="10310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Temporizador</a:t>
            </a:r>
            <a:endParaRPr lang="es-MX" sz="1000" dirty="0"/>
          </a:p>
        </p:txBody>
      </p:sp>
      <p:sp>
        <p:nvSpPr>
          <p:cNvPr id="72" name="CuadroTexto 71"/>
          <p:cNvSpPr txBox="1"/>
          <p:nvPr/>
        </p:nvSpPr>
        <p:spPr>
          <a:xfrm>
            <a:off x="1277264" y="6581001"/>
            <a:ext cx="108622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</a:t>
            </a:r>
            <a:r>
              <a:rPr lang="es-MX" sz="1200" dirty="0">
                <a:hlinkClick r:id="rId2"/>
              </a:rPr>
              <a:t>http://exa.unne.edu.ar/depar/areas/informatica/teleproc/Comunicaciones/Presentaciones_Proyector/ControldelEnlacedeDatos.pdf</a:t>
            </a:r>
            <a:r>
              <a:rPr lang="es-MX" sz="1200" dirty="0"/>
              <a:t>.</a:t>
            </a:r>
          </a:p>
        </p:txBody>
      </p:sp>
      <p:cxnSp>
        <p:nvCxnSpPr>
          <p:cNvPr id="73" name="Conector recto 72"/>
          <p:cNvCxnSpPr/>
          <p:nvPr/>
        </p:nvCxnSpPr>
        <p:spPr>
          <a:xfrm>
            <a:off x="4666755" y="3448850"/>
            <a:ext cx="1766044" cy="3483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CuadroTexto 73"/>
          <p:cNvSpPr txBox="1"/>
          <p:nvPr/>
        </p:nvSpPr>
        <p:spPr>
          <a:xfrm rot="824214">
            <a:off x="5184525" y="3362781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Trama 2</a:t>
            </a:r>
            <a:endParaRPr lang="es-MX" sz="1000" dirty="0"/>
          </a:p>
        </p:txBody>
      </p:sp>
      <p:cxnSp>
        <p:nvCxnSpPr>
          <p:cNvPr id="75" name="Conector recto 74"/>
          <p:cNvCxnSpPr/>
          <p:nvPr/>
        </p:nvCxnSpPr>
        <p:spPr>
          <a:xfrm>
            <a:off x="4666755" y="3664002"/>
            <a:ext cx="1766044" cy="3483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CuadroTexto 75"/>
          <p:cNvSpPr txBox="1"/>
          <p:nvPr/>
        </p:nvSpPr>
        <p:spPr>
          <a:xfrm rot="824214">
            <a:off x="5184525" y="3577933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Trama 3</a:t>
            </a:r>
            <a:endParaRPr lang="es-MX" sz="1000" dirty="0"/>
          </a:p>
        </p:txBody>
      </p:sp>
      <p:cxnSp>
        <p:nvCxnSpPr>
          <p:cNvPr id="59" name="Conector recto 58"/>
          <p:cNvCxnSpPr/>
          <p:nvPr/>
        </p:nvCxnSpPr>
        <p:spPr>
          <a:xfrm>
            <a:off x="4671238" y="3211287"/>
            <a:ext cx="1766044" cy="3483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59"/>
          <p:cNvCxnSpPr/>
          <p:nvPr/>
        </p:nvCxnSpPr>
        <p:spPr>
          <a:xfrm flipH="1">
            <a:off x="4660566" y="3402321"/>
            <a:ext cx="1766044" cy="4006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CuadroTexto 60"/>
          <p:cNvSpPr txBox="1"/>
          <p:nvPr/>
        </p:nvSpPr>
        <p:spPr>
          <a:xfrm rot="20752532">
            <a:off x="4642690" y="3543996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 err="1"/>
              <a:t>Ack</a:t>
            </a:r>
            <a:r>
              <a:rPr lang="es-ES" sz="1000" dirty="0"/>
              <a:t> 1</a:t>
            </a:r>
            <a:endParaRPr lang="es-MX" sz="1000" dirty="0"/>
          </a:p>
        </p:txBody>
      </p:sp>
      <p:cxnSp>
        <p:nvCxnSpPr>
          <p:cNvPr id="62" name="Conector recto 61"/>
          <p:cNvCxnSpPr/>
          <p:nvPr/>
        </p:nvCxnSpPr>
        <p:spPr>
          <a:xfrm flipH="1">
            <a:off x="4660566" y="4020883"/>
            <a:ext cx="1766044" cy="4006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uadroTexto 63"/>
          <p:cNvSpPr txBox="1"/>
          <p:nvPr/>
        </p:nvSpPr>
        <p:spPr>
          <a:xfrm rot="20752532">
            <a:off x="4709925" y="4149111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 err="1"/>
              <a:t>Ack</a:t>
            </a:r>
            <a:r>
              <a:rPr lang="es-ES" sz="1000" dirty="0"/>
              <a:t> 4</a:t>
            </a:r>
            <a:endParaRPr lang="es-MX" sz="1000" dirty="0"/>
          </a:p>
        </p:txBody>
      </p:sp>
      <p:cxnSp>
        <p:nvCxnSpPr>
          <p:cNvPr id="65" name="Conector recto 64"/>
          <p:cNvCxnSpPr/>
          <p:nvPr/>
        </p:nvCxnSpPr>
        <p:spPr>
          <a:xfrm flipH="1">
            <a:off x="5264436" y="3590579"/>
            <a:ext cx="1162174" cy="3040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uadroTexto 65"/>
          <p:cNvSpPr txBox="1"/>
          <p:nvPr/>
        </p:nvSpPr>
        <p:spPr>
          <a:xfrm rot="20752532">
            <a:off x="5772238" y="3490208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 err="1"/>
              <a:t>Ack</a:t>
            </a:r>
            <a:r>
              <a:rPr lang="es-ES" sz="1000" dirty="0"/>
              <a:t> 2</a:t>
            </a:r>
            <a:endParaRPr lang="es-MX" sz="1000" dirty="0"/>
          </a:p>
        </p:txBody>
      </p:sp>
      <p:sp>
        <p:nvSpPr>
          <p:cNvPr id="12" name="Cerrar llave 11"/>
          <p:cNvSpPr/>
          <p:nvPr/>
        </p:nvSpPr>
        <p:spPr>
          <a:xfrm>
            <a:off x="6549342" y="3385458"/>
            <a:ext cx="76133" cy="81648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CuadroTexto 13"/>
          <p:cNvSpPr txBox="1"/>
          <p:nvPr/>
        </p:nvSpPr>
        <p:spPr>
          <a:xfrm>
            <a:off x="6657784" y="3629492"/>
            <a:ext cx="14350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Acuses implícitos</a:t>
            </a:r>
            <a:endParaRPr lang="es-MX" sz="1200" dirty="0"/>
          </a:p>
        </p:txBody>
      </p:sp>
    </p:spTree>
    <p:extLst>
      <p:ext uri="{BB962C8B-B14F-4D97-AF65-F5344CB8AC3E}">
        <p14:creationId xmlns:p14="http://schemas.microsoft.com/office/powerpoint/2010/main" val="135853650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69632" y="288658"/>
            <a:ext cx="8911687" cy="745998"/>
          </a:xfrm>
        </p:spPr>
        <p:txBody>
          <a:bodyPr/>
          <a:lstStyle/>
          <a:p>
            <a:r>
              <a:rPr lang="es-ES" dirty="0"/>
              <a:t>Control de flujo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553456" y="981138"/>
            <a:ext cx="8915400" cy="596153"/>
          </a:xfrm>
        </p:spPr>
        <p:txBody>
          <a:bodyPr>
            <a:normAutofit fontScale="85000" lnSpcReduction="20000"/>
          </a:bodyPr>
          <a:lstStyle/>
          <a:p>
            <a:r>
              <a:rPr lang="es-ES" dirty="0"/>
              <a:t>Control de error en Ventana deslizante</a:t>
            </a:r>
          </a:p>
          <a:p>
            <a:pPr marL="0" indent="0">
              <a:buNone/>
            </a:pPr>
            <a:r>
              <a:rPr lang="es-ES" b="1" dirty="0"/>
              <a:t>  - Todos los acuses se pierden</a:t>
            </a:r>
            <a:endParaRPr lang="es-MX" b="1" dirty="0"/>
          </a:p>
        </p:txBody>
      </p:sp>
      <p:sp>
        <p:nvSpPr>
          <p:cNvPr id="72" name="CuadroTexto 71"/>
          <p:cNvSpPr txBox="1"/>
          <p:nvPr/>
        </p:nvSpPr>
        <p:spPr>
          <a:xfrm>
            <a:off x="1277264" y="6581001"/>
            <a:ext cx="108622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</a:t>
            </a:r>
            <a:r>
              <a:rPr lang="es-MX" sz="1200" dirty="0">
                <a:hlinkClick r:id="rId2"/>
              </a:rPr>
              <a:t>http://exa.unne.edu.ar/depar/areas/informatica/teleproc/Comunicaciones/Presentaciones_Proyector/ControldelEnlacedeDatos.pdf</a:t>
            </a:r>
            <a:r>
              <a:rPr lang="es-MX" sz="1200" dirty="0"/>
              <a:t>.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1173003" y="2422833"/>
            <a:ext cx="100389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Supongamos que K=8 (ventana de 8 tramas) y n=3 (3 bits para numerar  8 tramas).</a:t>
            </a:r>
          </a:p>
          <a:p>
            <a:r>
              <a:rPr lang="es-ES" dirty="0"/>
              <a:t>Supongamos que se envían las 8 tramas, se reciben bien y se transmiten los 8 acuses, pero todos ellos se pierden en el camino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33650900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1039" y="60085"/>
            <a:ext cx="8911687" cy="694987"/>
          </a:xfrm>
        </p:spPr>
        <p:txBody>
          <a:bodyPr/>
          <a:lstStyle/>
          <a:p>
            <a:r>
              <a:rPr lang="es-ES" dirty="0"/>
              <a:t>Control de flujo</a:t>
            </a:r>
            <a:endParaRPr lang="es-MX" dirty="0"/>
          </a:p>
        </p:txBody>
      </p:sp>
      <p:cxnSp>
        <p:nvCxnSpPr>
          <p:cNvPr id="38" name="Conector recto de flecha 37"/>
          <p:cNvCxnSpPr>
            <a:stCxn id="42" idx="2"/>
          </p:cNvCxnSpPr>
          <p:nvPr/>
        </p:nvCxnSpPr>
        <p:spPr>
          <a:xfrm>
            <a:off x="5527800" y="397126"/>
            <a:ext cx="895" cy="5783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uadroTexto 38"/>
          <p:cNvSpPr txBox="1"/>
          <p:nvPr/>
        </p:nvSpPr>
        <p:spPr>
          <a:xfrm>
            <a:off x="5422368" y="6158002"/>
            <a:ext cx="2375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t</a:t>
            </a:r>
            <a:endParaRPr lang="es-MX" sz="1200" dirty="0"/>
          </a:p>
        </p:txBody>
      </p:sp>
      <p:cxnSp>
        <p:nvCxnSpPr>
          <p:cNvPr id="40" name="Conector recto de flecha 39"/>
          <p:cNvCxnSpPr>
            <a:endCxn id="41" idx="0"/>
          </p:cNvCxnSpPr>
          <p:nvPr/>
        </p:nvCxnSpPr>
        <p:spPr>
          <a:xfrm flipH="1">
            <a:off x="7307195" y="419752"/>
            <a:ext cx="4483" cy="5742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uadroTexto 40"/>
          <p:cNvSpPr txBox="1"/>
          <p:nvPr/>
        </p:nvSpPr>
        <p:spPr>
          <a:xfrm>
            <a:off x="7188412" y="6162485"/>
            <a:ext cx="2375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t</a:t>
            </a:r>
            <a:endParaRPr lang="es-MX" sz="1200" dirty="0"/>
          </a:p>
        </p:txBody>
      </p:sp>
      <p:sp>
        <p:nvSpPr>
          <p:cNvPr id="42" name="Rectángulo 41"/>
          <p:cNvSpPr/>
          <p:nvPr/>
        </p:nvSpPr>
        <p:spPr>
          <a:xfrm>
            <a:off x="5308801" y="155987"/>
            <a:ext cx="437998" cy="24113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 err="1">
                <a:solidFill>
                  <a:schemeClr val="tx1"/>
                </a:solidFill>
              </a:rPr>
              <a:t>tx</a:t>
            </a:r>
            <a:endParaRPr lang="es-MX" sz="1000" dirty="0">
              <a:solidFill>
                <a:schemeClr val="tx1"/>
              </a:solidFill>
            </a:endParaRPr>
          </a:p>
        </p:txBody>
      </p:sp>
      <p:sp>
        <p:nvSpPr>
          <p:cNvPr id="43" name="Rectángulo 42"/>
          <p:cNvSpPr/>
          <p:nvPr/>
        </p:nvSpPr>
        <p:spPr>
          <a:xfrm>
            <a:off x="7101316" y="163247"/>
            <a:ext cx="437998" cy="24113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 err="1">
                <a:solidFill>
                  <a:schemeClr val="tx1"/>
                </a:solidFill>
              </a:rPr>
              <a:t>rx</a:t>
            </a:r>
            <a:endParaRPr lang="es-MX" sz="1000" dirty="0">
              <a:solidFill>
                <a:schemeClr val="tx1"/>
              </a:solidFill>
            </a:endParaRPr>
          </a:p>
        </p:txBody>
      </p:sp>
      <p:cxnSp>
        <p:nvCxnSpPr>
          <p:cNvPr id="44" name="Conector recto 43"/>
          <p:cNvCxnSpPr/>
          <p:nvPr/>
        </p:nvCxnSpPr>
        <p:spPr>
          <a:xfrm>
            <a:off x="5539762" y="604918"/>
            <a:ext cx="1766044" cy="3483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CuadroTexto 51"/>
          <p:cNvSpPr txBox="1"/>
          <p:nvPr/>
        </p:nvSpPr>
        <p:spPr>
          <a:xfrm rot="824214">
            <a:off x="5522065" y="44984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Trama 0</a:t>
            </a:r>
            <a:endParaRPr lang="es-MX" sz="1000" dirty="0"/>
          </a:p>
        </p:txBody>
      </p:sp>
      <p:cxnSp>
        <p:nvCxnSpPr>
          <p:cNvPr id="53" name="Conector recto 52"/>
          <p:cNvCxnSpPr/>
          <p:nvPr/>
        </p:nvCxnSpPr>
        <p:spPr>
          <a:xfrm>
            <a:off x="5539763" y="810355"/>
            <a:ext cx="1766044" cy="3483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CuadroTexto 59"/>
          <p:cNvSpPr txBox="1"/>
          <p:nvPr/>
        </p:nvSpPr>
        <p:spPr>
          <a:xfrm rot="824214">
            <a:off x="5502535" y="6757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Trama 1</a:t>
            </a:r>
            <a:endParaRPr lang="es-MX" sz="1000" dirty="0"/>
          </a:p>
        </p:txBody>
      </p:sp>
      <p:cxnSp>
        <p:nvCxnSpPr>
          <p:cNvPr id="61" name="Conector recto 60"/>
          <p:cNvCxnSpPr/>
          <p:nvPr/>
        </p:nvCxnSpPr>
        <p:spPr>
          <a:xfrm flipH="1">
            <a:off x="6485806" y="954971"/>
            <a:ext cx="812742" cy="1952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CuadroTexto 61"/>
          <p:cNvSpPr txBox="1"/>
          <p:nvPr/>
        </p:nvSpPr>
        <p:spPr>
          <a:xfrm rot="20752532">
            <a:off x="6611463" y="857326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 err="1"/>
              <a:t>Ack</a:t>
            </a:r>
            <a:r>
              <a:rPr lang="es-ES" sz="1000" dirty="0"/>
              <a:t> 1</a:t>
            </a:r>
            <a:endParaRPr lang="es-MX" sz="1000" dirty="0"/>
          </a:p>
        </p:txBody>
      </p:sp>
      <p:sp>
        <p:nvSpPr>
          <p:cNvPr id="72" name="CuadroTexto 71"/>
          <p:cNvSpPr txBox="1"/>
          <p:nvPr/>
        </p:nvSpPr>
        <p:spPr>
          <a:xfrm>
            <a:off x="1277264" y="6581001"/>
            <a:ext cx="108622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</a:t>
            </a:r>
            <a:r>
              <a:rPr lang="es-MX" sz="1200" dirty="0">
                <a:hlinkClick r:id="rId2"/>
              </a:rPr>
              <a:t>http://exa.unne.edu.ar/depar/areas/informatica/teleproc/Comunicaciones/Presentaciones_Proyector/ControldelEnlacedeDatos.pdf</a:t>
            </a:r>
            <a:r>
              <a:rPr lang="es-MX" sz="1200" dirty="0"/>
              <a:t>.</a:t>
            </a:r>
          </a:p>
        </p:txBody>
      </p:sp>
      <p:graphicFrame>
        <p:nvGraphicFramePr>
          <p:cNvPr id="24" name="Tabla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8060045"/>
              </p:ext>
            </p:extLst>
          </p:nvPr>
        </p:nvGraphicFramePr>
        <p:xfrm>
          <a:off x="1371597" y="931480"/>
          <a:ext cx="3941744" cy="21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63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73059">
                <a:tc>
                  <a:txBody>
                    <a:bodyPr/>
                    <a:lstStyle/>
                    <a:p>
                      <a:r>
                        <a:rPr lang="es-ES" sz="800" dirty="0"/>
                        <a:t>0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1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2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3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4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5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6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7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0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1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2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3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4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5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6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7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3" name="Tabla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429041"/>
              </p:ext>
            </p:extLst>
          </p:nvPr>
        </p:nvGraphicFramePr>
        <p:xfrm>
          <a:off x="7992037" y="922516"/>
          <a:ext cx="3941744" cy="21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63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73059">
                <a:tc>
                  <a:txBody>
                    <a:bodyPr/>
                    <a:lstStyle/>
                    <a:p>
                      <a:r>
                        <a:rPr lang="es-ES" sz="800" dirty="0"/>
                        <a:t>0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1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2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3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4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5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6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7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0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1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2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3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4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5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6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7</a:t>
                      </a:r>
                      <a:endParaRPr lang="es-MX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7" name="Rectángulo 26"/>
          <p:cNvSpPr/>
          <p:nvPr/>
        </p:nvSpPr>
        <p:spPr>
          <a:xfrm>
            <a:off x="1393370" y="820405"/>
            <a:ext cx="1940673" cy="426720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63" name="CuadroTexto 62"/>
          <p:cNvSpPr txBox="1"/>
          <p:nvPr/>
        </p:nvSpPr>
        <p:spPr>
          <a:xfrm>
            <a:off x="1367784" y="544456"/>
            <a:ext cx="19800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a</a:t>
            </a:r>
            <a:r>
              <a:rPr lang="es-ES" sz="1200" baseline="-25000" dirty="0"/>
              <a:t>1</a:t>
            </a:r>
            <a:r>
              <a:rPr lang="es-ES" sz="1200" dirty="0"/>
              <a:t>                                  a</a:t>
            </a:r>
            <a:r>
              <a:rPr lang="es-ES" sz="1200" baseline="-25000" dirty="0"/>
              <a:t>2</a:t>
            </a:r>
            <a:endParaRPr lang="es-MX" sz="1200" baseline="-25000" dirty="0"/>
          </a:p>
        </p:txBody>
      </p:sp>
      <p:sp>
        <p:nvSpPr>
          <p:cNvPr id="74" name="Rectángulo 73"/>
          <p:cNvSpPr/>
          <p:nvPr/>
        </p:nvSpPr>
        <p:spPr>
          <a:xfrm>
            <a:off x="8004626" y="813151"/>
            <a:ext cx="1955300" cy="426720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75" name="CuadroTexto 74"/>
          <p:cNvSpPr txBox="1"/>
          <p:nvPr/>
        </p:nvSpPr>
        <p:spPr>
          <a:xfrm>
            <a:off x="7979040" y="537202"/>
            <a:ext cx="20201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b</a:t>
            </a:r>
            <a:r>
              <a:rPr lang="es-ES" sz="1200" baseline="-25000" dirty="0"/>
              <a:t>1</a:t>
            </a:r>
            <a:r>
              <a:rPr lang="es-ES" sz="1200" dirty="0"/>
              <a:t>                                   b</a:t>
            </a:r>
            <a:r>
              <a:rPr lang="es-ES" sz="1200" baseline="-25000" dirty="0"/>
              <a:t>2</a:t>
            </a:r>
            <a:endParaRPr lang="es-MX" sz="1200" baseline="-25000" dirty="0"/>
          </a:p>
        </p:txBody>
      </p:sp>
      <p:graphicFrame>
        <p:nvGraphicFramePr>
          <p:cNvPr id="82" name="Tabla 8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7412113"/>
              </p:ext>
            </p:extLst>
          </p:nvPr>
        </p:nvGraphicFramePr>
        <p:xfrm>
          <a:off x="1371602" y="2440960"/>
          <a:ext cx="3941744" cy="21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63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73059">
                <a:tc>
                  <a:txBody>
                    <a:bodyPr/>
                    <a:lstStyle/>
                    <a:p>
                      <a:r>
                        <a:rPr lang="es-ES" sz="800" dirty="0"/>
                        <a:t>0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1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2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3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4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5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6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7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0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1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2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3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4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5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6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7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5" name="Tabla 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1596608"/>
              </p:ext>
            </p:extLst>
          </p:nvPr>
        </p:nvGraphicFramePr>
        <p:xfrm>
          <a:off x="7992039" y="2751314"/>
          <a:ext cx="3941744" cy="21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63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73059">
                <a:tc>
                  <a:txBody>
                    <a:bodyPr/>
                    <a:lstStyle/>
                    <a:p>
                      <a:r>
                        <a:rPr lang="es-ES" sz="800" dirty="0"/>
                        <a:t>0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1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2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3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4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5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6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7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0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1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2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3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4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5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6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7</a:t>
                      </a:r>
                      <a:endParaRPr lang="es-MX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8" name="Conector recto 57"/>
          <p:cNvCxnSpPr/>
          <p:nvPr/>
        </p:nvCxnSpPr>
        <p:spPr>
          <a:xfrm>
            <a:off x="5537414" y="982406"/>
            <a:ext cx="1766044" cy="3483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uadroTexto 58"/>
          <p:cNvSpPr txBox="1"/>
          <p:nvPr/>
        </p:nvSpPr>
        <p:spPr>
          <a:xfrm rot="824214">
            <a:off x="5491582" y="855470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Trama 2</a:t>
            </a:r>
            <a:endParaRPr lang="es-MX" sz="1000" dirty="0"/>
          </a:p>
        </p:txBody>
      </p:sp>
      <p:cxnSp>
        <p:nvCxnSpPr>
          <p:cNvPr id="64" name="Conector recto 63"/>
          <p:cNvCxnSpPr/>
          <p:nvPr/>
        </p:nvCxnSpPr>
        <p:spPr>
          <a:xfrm>
            <a:off x="5537415" y="1187843"/>
            <a:ext cx="1766044" cy="3483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CuadroTexto 64"/>
          <p:cNvSpPr txBox="1"/>
          <p:nvPr/>
        </p:nvSpPr>
        <p:spPr>
          <a:xfrm rot="824214">
            <a:off x="5486116" y="103913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Trama 3</a:t>
            </a:r>
            <a:endParaRPr lang="es-MX" sz="1000" dirty="0"/>
          </a:p>
        </p:txBody>
      </p:sp>
      <p:cxnSp>
        <p:nvCxnSpPr>
          <p:cNvPr id="66" name="Conector recto 65"/>
          <p:cNvCxnSpPr/>
          <p:nvPr/>
        </p:nvCxnSpPr>
        <p:spPr>
          <a:xfrm>
            <a:off x="5537417" y="1390363"/>
            <a:ext cx="1766044" cy="3483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CuadroTexto 66"/>
          <p:cNvSpPr txBox="1"/>
          <p:nvPr/>
        </p:nvSpPr>
        <p:spPr>
          <a:xfrm rot="824214">
            <a:off x="5477520" y="1235291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Trama 4</a:t>
            </a:r>
            <a:endParaRPr lang="es-MX" sz="1000" dirty="0"/>
          </a:p>
        </p:txBody>
      </p:sp>
      <p:cxnSp>
        <p:nvCxnSpPr>
          <p:cNvPr id="68" name="Conector recto 67"/>
          <p:cNvCxnSpPr/>
          <p:nvPr/>
        </p:nvCxnSpPr>
        <p:spPr>
          <a:xfrm>
            <a:off x="5537418" y="1595800"/>
            <a:ext cx="1766044" cy="3483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CuadroTexto 68"/>
          <p:cNvSpPr txBox="1"/>
          <p:nvPr/>
        </p:nvSpPr>
        <p:spPr>
          <a:xfrm rot="824214">
            <a:off x="5472051" y="1447093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Trama 5</a:t>
            </a:r>
            <a:endParaRPr lang="es-MX" sz="1000" dirty="0"/>
          </a:p>
        </p:txBody>
      </p:sp>
      <p:cxnSp>
        <p:nvCxnSpPr>
          <p:cNvPr id="70" name="Conector recto 69"/>
          <p:cNvCxnSpPr/>
          <p:nvPr/>
        </p:nvCxnSpPr>
        <p:spPr>
          <a:xfrm>
            <a:off x="5535069" y="1767851"/>
            <a:ext cx="1766044" cy="3483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CuadroTexto 70"/>
          <p:cNvSpPr txBox="1"/>
          <p:nvPr/>
        </p:nvSpPr>
        <p:spPr>
          <a:xfrm rot="824214">
            <a:off x="5475171" y="1640915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Trama 6</a:t>
            </a:r>
            <a:endParaRPr lang="es-MX" sz="1000" dirty="0"/>
          </a:p>
        </p:txBody>
      </p:sp>
      <p:cxnSp>
        <p:nvCxnSpPr>
          <p:cNvPr id="112" name="Conector recto 111"/>
          <p:cNvCxnSpPr/>
          <p:nvPr/>
        </p:nvCxnSpPr>
        <p:spPr>
          <a:xfrm>
            <a:off x="5535070" y="1973288"/>
            <a:ext cx="1766044" cy="3483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CuadroTexto 112"/>
          <p:cNvSpPr txBox="1"/>
          <p:nvPr/>
        </p:nvSpPr>
        <p:spPr>
          <a:xfrm rot="824214">
            <a:off x="5483769" y="1838649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Trama 7</a:t>
            </a:r>
            <a:endParaRPr lang="es-MX" sz="1000" dirty="0"/>
          </a:p>
        </p:txBody>
      </p:sp>
      <p:sp>
        <p:nvSpPr>
          <p:cNvPr id="4" name="Abrir llave 3"/>
          <p:cNvSpPr/>
          <p:nvPr/>
        </p:nvSpPr>
        <p:spPr>
          <a:xfrm>
            <a:off x="5369408" y="572956"/>
            <a:ext cx="149846" cy="206566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14" name="Conector recto 113"/>
          <p:cNvCxnSpPr/>
          <p:nvPr/>
        </p:nvCxnSpPr>
        <p:spPr>
          <a:xfrm>
            <a:off x="5537414" y="2712731"/>
            <a:ext cx="1766044" cy="3483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CuadroTexto 114"/>
          <p:cNvSpPr txBox="1"/>
          <p:nvPr/>
        </p:nvSpPr>
        <p:spPr>
          <a:xfrm rot="824214">
            <a:off x="5519717" y="2557659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Trama 0</a:t>
            </a:r>
            <a:endParaRPr lang="es-MX" sz="1000" dirty="0"/>
          </a:p>
        </p:txBody>
      </p:sp>
      <p:cxnSp>
        <p:nvCxnSpPr>
          <p:cNvPr id="116" name="Conector recto 115"/>
          <p:cNvCxnSpPr/>
          <p:nvPr/>
        </p:nvCxnSpPr>
        <p:spPr>
          <a:xfrm>
            <a:off x="5537415" y="2918168"/>
            <a:ext cx="1766044" cy="3483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CuadroTexto 116"/>
          <p:cNvSpPr txBox="1"/>
          <p:nvPr/>
        </p:nvSpPr>
        <p:spPr>
          <a:xfrm rot="824214">
            <a:off x="5500187" y="2783529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Trama 1</a:t>
            </a:r>
            <a:endParaRPr lang="es-MX" sz="1000" dirty="0"/>
          </a:p>
        </p:txBody>
      </p:sp>
      <p:cxnSp>
        <p:nvCxnSpPr>
          <p:cNvPr id="118" name="Conector recto 117"/>
          <p:cNvCxnSpPr/>
          <p:nvPr/>
        </p:nvCxnSpPr>
        <p:spPr>
          <a:xfrm>
            <a:off x="5535066" y="3090219"/>
            <a:ext cx="1766044" cy="3483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CuadroTexto 118"/>
          <p:cNvSpPr txBox="1"/>
          <p:nvPr/>
        </p:nvSpPr>
        <p:spPr>
          <a:xfrm rot="824214">
            <a:off x="5489234" y="2963283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Trama 2</a:t>
            </a:r>
            <a:endParaRPr lang="es-MX" sz="1000" dirty="0"/>
          </a:p>
        </p:txBody>
      </p:sp>
      <p:cxnSp>
        <p:nvCxnSpPr>
          <p:cNvPr id="120" name="Conector recto 119"/>
          <p:cNvCxnSpPr/>
          <p:nvPr/>
        </p:nvCxnSpPr>
        <p:spPr>
          <a:xfrm>
            <a:off x="5535067" y="3295656"/>
            <a:ext cx="1766044" cy="3483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CuadroTexto 120"/>
          <p:cNvSpPr txBox="1"/>
          <p:nvPr/>
        </p:nvSpPr>
        <p:spPr>
          <a:xfrm rot="824214">
            <a:off x="5483768" y="3146949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Trama 3</a:t>
            </a:r>
            <a:endParaRPr lang="es-MX" sz="1000" dirty="0"/>
          </a:p>
        </p:txBody>
      </p:sp>
      <p:cxnSp>
        <p:nvCxnSpPr>
          <p:cNvPr id="122" name="Conector recto 121"/>
          <p:cNvCxnSpPr/>
          <p:nvPr/>
        </p:nvCxnSpPr>
        <p:spPr>
          <a:xfrm>
            <a:off x="5535069" y="3498176"/>
            <a:ext cx="1766044" cy="3483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CuadroTexto 122"/>
          <p:cNvSpPr txBox="1"/>
          <p:nvPr/>
        </p:nvSpPr>
        <p:spPr>
          <a:xfrm rot="824214">
            <a:off x="5475172" y="3343104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Trama 4</a:t>
            </a:r>
            <a:endParaRPr lang="es-MX" sz="1000" dirty="0"/>
          </a:p>
        </p:txBody>
      </p:sp>
      <p:cxnSp>
        <p:nvCxnSpPr>
          <p:cNvPr id="124" name="Conector recto 123"/>
          <p:cNvCxnSpPr/>
          <p:nvPr/>
        </p:nvCxnSpPr>
        <p:spPr>
          <a:xfrm>
            <a:off x="5535070" y="3703613"/>
            <a:ext cx="1766044" cy="3483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CuadroTexto 124"/>
          <p:cNvSpPr txBox="1"/>
          <p:nvPr/>
        </p:nvSpPr>
        <p:spPr>
          <a:xfrm rot="824214">
            <a:off x="5469703" y="355490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Trama 5</a:t>
            </a:r>
            <a:endParaRPr lang="es-MX" sz="1000" dirty="0"/>
          </a:p>
        </p:txBody>
      </p:sp>
      <p:cxnSp>
        <p:nvCxnSpPr>
          <p:cNvPr id="126" name="Conector recto 125"/>
          <p:cNvCxnSpPr/>
          <p:nvPr/>
        </p:nvCxnSpPr>
        <p:spPr>
          <a:xfrm>
            <a:off x="5532721" y="3875664"/>
            <a:ext cx="1766044" cy="3483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CuadroTexto 126"/>
          <p:cNvSpPr txBox="1"/>
          <p:nvPr/>
        </p:nvSpPr>
        <p:spPr>
          <a:xfrm rot="824214">
            <a:off x="5472823" y="3748728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Trama 6</a:t>
            </a:r>
            <a:endParaRPr lang="es-MX" sz="1000" dirty="0"/>
          </a:p>
        </p:txBody>
      </p:sp>
      <p:cxnSp>
        <p:nvCxnSpPr>
          <p:cNvPr id="128" name="Conector recto 127"/>
          <p:cNvCxnSpPr/>
          <p:nvPr/>
        </p:nvCxnSpPr>
        <p:spPr>
          <a:xfrm>
            <a:off x="5532722" y="4081101"/>
            <a:ext cx="1766044" cy="3483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CuadroTexto 128"/>
          <p:cNvSpPr txBox="1"/>
          <p:nvPr/>
        </p:nvSpPr>
        <p:spPr>
          <a:xfrm rot="824214">
            <a:off x="5481421" y="3946462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Trama 7</a:t>
            </a:r>
            <a:endParaRPr lang="es-MX" sz="1000" dirty="0"/>
          </a:p>
        </p:txBody>
      </p:sp>
      <p:sp>
        <p:nvSpPr>
          <p:cNvPr id="130" name="CuadroTexto 129"/>
          <p:cNvSpPr txBox="1"/>
          <p:nvPr/>
        </p:nvSpPr>
        <p:spPr>
          <a:xfrm>
            <a:off x="6340731" y="1021699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X</a:t>
            </a:r>
            <a:endParaRPr lang="es-MX" sz="1100" dirty="0"/>
          </a:p>
        </p:txBody>
      </p:sp>
      <p:cxnSp>
        <p:nvCxnSpPr>
          <p:cNvPr id="131" name="Conector recto 130"/>
          <p:cNvCxnSpPr/>
          <p:nvPr/>
        </p:nvCxnSpPr>
        <p:spPr>
          <a:xfrm flipH="1">
            <a:off x="6503566" y="1167077"/>
            <a:ext cx="812742" cy="1952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CuadroTexto 131"/>
          <p:cNvSpPr txBox="1"/>
          <p:nvPr/>
        </p:nvSpPr>
        <p:spPr>
          <a:xfrm rot="20752532">
            <a:off x="6629223" y="1069432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 err="1"/>
              <a:t>Ack</a:t>
            </a:r>
            <a:r>
              <a:rPr lang="es-ES" sz="1000" dirty="0"/>
              <a:t> 2</a:t>
            </a:r>
            <a:endParaRPr lang="es-MX" sz="1000" dirty="0"/>
          </a:p>
        </p:txBody>
      </p:sp>
      <p:sp>
        <p:nvSpPr>
          <p:cNvPr id="133" name="CuadroTexto 132"/>
          <p:cNvSpPr txBox="1"/>
          <p:nvPr/>
        </p:nvSpPr>
        <p:spPr>
          <a:xfrm>
            <a:off x="6358491" y="1233805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X</a:t>
            </a:r>
            <a:endParaRPr lang="es-MX" sz="1100" dirty="0"/>
          </a:p>
        </p:txBody>
      </p:sp>
      <p:cxnSp>
        <p:nvCxnSpPr>
          <p:cNvPr id="134" name="Conector recto 133"/>
          <p:cNvCxnSpPr/>
          <p:nvPr/>
        </p:nvCxnSpPr>
        <p:spPr>
          <a:xfrm flipH="1">
            <a:off x="6503570" y="1334707"/>
            <a:ext cx="812742" cy="1952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CuadroTexto 134"/>
          <p:cNvSpPr txBox="1"/>
          <p:nvPr/>
        </p:nvSpPr>
        <p:spPr>
          <a:xfrm rot="20752532">
            <a:off x="6629227" y="1237062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 err="1"/>
              <a:t>Ack</a:t>
            </a:r>
            <a:r>
              <a:rPr lang="es-ES" sz="1000" dirty="0"/>
              <a:t> 3</a:t>
            </a:r>
            <a:endParaRPr lang="es-MX" sz="1000" dirty="0"/>
          </a:p>
        </p:txBody>
      </p:sp>
      <p:sp>
        <p:nvSpPr>
          <p:cNvPr id="136" name="CuadroTexto 135"/>
          <p:cNvSpPr txBox="1"/>
          <p:nvPr/>
        </p:nvSpPr>
        <p:spPr>
          <a:xfrm>
            <a:off x="6358495" y="1401435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X</a:t>
            </a:r>
            <a:endParaRPr lang="es-MX" sz="1100" dirty="0"/>
          </a:p>
        </p:txBody>
      </p:sp>
      <p:cxnSp>
        <p:nvCxnSpPr>
          <p:cNvPr id="137" name="Conector recto 136"/>
          <p:cNvCxnSpPr/>
          <p:nvPr/>
        </p:nvCxnSpPr>
        <p:spPr>
          <a:xfrm flipH="1">
            <a:off x="6497956" y="1562037"/>
            <a:ext cx="812742" cy="1952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CuadroTexto 137"/>
          <p:cNvSpPr txBox="1"/>
          <p:nvPr/>
        </p:nvSpPr>
        <p:spPr>
          <a:xfrm rot="20752532">
            <a:off x="6623613" y="1464392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 err="1"/>
              <a:t>Ack</a:t>
            </a:r>
            <a:r>
              <a:rPr lang="es-ES" sz="1000" dirty="0"/>
              <a:t> 4</a:t>
            </a:r>
            <a:endParaRPr lang="es-MX" sz="1000" dirty="0"/>
          </a:p>
        </p:txBody>
      </p:sp>
      <p:sp>
        <p:nvSpPr>
          <p:cNvPr id="139" name="CuadroTexto 138"/>
          <p:cNvSpPr txBox="1"/>
          <p:nvPr/>
        </p:nvSpPr>
        <p:spPr>
          <a:xfrm>
            <a:off x="6352881" y="1628765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X</a:t>
            </a:r>
            <a:endParaRPr lang="es-MX" sz="1100" dirty="0"/>
          </a:p>
        </p:txBody>
      </p:sp>
      <p:cxnSp>
        <p:nvCxnSpPr>
          <p:cNvPr id="143" name="Conector recto 142"/>
          <p:cNvCxnSpPr/>
          <p:nvPr/>
        </p:nvCxnSpPr>
        <p:spPr>
          <a:xfrm flipH="1">
            <a:off x="6486740" y="1740550"/>
            <a:ext cx="812742" cy="1952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CuadroTexto 143"/>
          <p:cNvSpPr txBox="1"/>
          <p:nvPr/>
        </p:nvSpPr>
        <p:spPr>
          <a:xfrm rot="20752532">
            <a:off x="6612397" y="1642905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 err="1"/>
              <a:t>Ack</a:t>
            </a:r>
            <a:r>
              <a:rPr lang="es-ES" sz="1000" dirty="0"/>
              <a:t> 5</a:t>
            </a:r>
            <a:endParaRPr lang="es-MX" sz="1000" dirty="0"/>
          </a:p>
        </p:txBody>
      </p:sp>
      <p:sp>
        <p:nvSpPr>
          <p:cNvPr id="145" name="CuadroTexto 144"/>
          <p:cNvSpPr txBox="1"/>
          <p:nvPr/>
        </p:nvSpPr>
        <p:spPr>
          <a:xfrm>
            <a:off x="6341665" y="1807278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X</a:t>
            </a:r>
            <a:endParaRPr lang="es-MX" sz="1100" dirty="0"/>
          </a:p>
        </p:txBody>
      </p:sp>
      <p:cxnSp>
        <p:nvCxnSpPr>
          <p:cNvPr id="146" name="Conector recto 145"/>
          <p:cNvCxnSpPr/>
          <p:nvPr/>
        </p:nvCxnSpPr>
        <p:spPr>
          <a:xfrm flipH="1">
            <a:off x="6504500" y="1963540"/>
            <a:ext cx="812742" cy="1952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CuadroTexto 146"/>
          <p:cNvSpPr txBox="1"/>
          <p:nvPr/>
        </p:nvSpPr>
        <p:spPr>
          <a:xfrm rot="20752532">
            <a:off x="6630157" y="1865895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 err="1"/>
              <a:t>Ack</a:t>
            </a:r>
            <a:r>
              <a:rPr lang="es-ES" sz="1000" dirty="0"/>
              <a:t> 6</a:t>
            </a:r>
            <a:endParaRPr lang="es-MX" sz="1000" dirty="0"/>
          </a:p>
        </p:txBody>
      </p:sp>
      <p:sp>
        <p:nvSpPr>
          <p:cNvPr id="148" name="CuadroTexto 147"/>
          <p:cNvSpPr txBox="1"/>
          <p:nvPr/>
        </p:nvSpPr>
        <p:spPr>
          <a:xfrm>
            <a:off x="6359425" y="2030268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X</a:t>
            </a:r>
            <a:endParaRPr lang="es-MX" sz="1100" dirty="0"/>
          </a:p>
        </p:txBody>
      </p:sp>
      <p:cxnSp>
        <p:nvCxnSpPr>
          <p:cNvPr id="149" name="Conector recto 148"/>
          <p:cNvCxnSpPr/>
          <p:nvPr/>
        </p:nvCxnSpPr>
        <p:spPr>
          <a:xfrm flipH="1">
            <a:off x="6504504" y="2131168"/>
            <a:ext cx="812742" cy="1952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CuadroTexto 149"/>
          <p:cNvSpPr txBox="1"/>
          <p:nvPr/>
        </p:nvSpPr>
        <p:spPr>
          <a:xfrm rot="20752532">
            <a:off x="6630161" y="2033523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 err="1"/>
              <a:t>Ack</a:t>
            </a:r>
            <a:r>
              <a:rPr lang="es-ES" sz="1000" dirty="0"/>
              <a:t> 7</a:t>
            </a:r>
            <a:endParaRPr lang="es-MX" sz="1000" dirty="0"/>
          </a:p>
        </p:txBody>
      </p:sp>
      <p:sp>
        <p:nvSpPr>
          <p:cNvPr id="151" name="CuadroTexto 150"/>
          <p:cNvSpPr txBox="1"/>
          <p:nvPr/>
        </p:nvSpPr>
        <p:spPr>
          <a:xfrm>
            <a:off x="6359429" y="2197896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X</a:t>
            </a:r>
            <a:endParaRPr lang="es-MX" sz="1100" dirty="0"/>
          </a:p>
        </p:txBody>
      </p:sp>
      <p:cxnSp>
        <p:nvCxnSpPr>
          <p:cNvPr id="152" name="Conector recto 151"/>
          <p:cNvCxnSpPr/>
          <p:nvPr/>
        </p:nvCxnSpPr>
        <p:spPr>
          <a:xfrm flipH="1">
            <a:off x="6498890" y="2314957"/>
            <a:ext cx="812742" cy="1952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CuadroTexto 152"/>
          <p:cNvSpPr txBox="1"/>
          <p:nvPr/>
        </p:nvSpPr>
        <p:spPr>
          <a:xfrm rot="20752532">
            <a:off x="6624547" y="2228196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 err="1"/>
              <a:t>Ack</a:t>
            </a:r>
            <a:r>
              <a:rPr lang="es-ES" sz="1000" dirty="0"/>
              <a:t> 0</a:t>
            </a:r>
            <a:endParaRPr lang="es-MX" sz="1000" dirty="0"/>
          </a:p>
        </p:txBody>
      </p:sp>
      <p:sp>
        <p:nvSpPr>
          <p:cNvPr id="154" name="CuadroTexto 153"/>
          <p:cNvSpPr txBox="1"/>
          <p:nvPr/>
        </p:nvSpPr>
        <p:spPr>
          <a:xfrm>
            <a:off x="6365973" y="2377010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X</a:t>
            </a:r>
            <a:endParaRPr lang="es-MX" sz="1100" dirty="0"/>
          </a:p>
        </p:txBody>
      </p:sp>
      <p:sp>
        <p:nvSpPr>
          <p:cNvPr id="155" name="Rectángulo 154"/>
          <p:cNvSpPr/>
          <p:nvPr/>
        </p:nvSpPr>
        <p:spPr>
          <a:xfrm>
            <a:off x="9964057" y="2631072"/>
            <a:ext cx="1955300" cy="426720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56" name="CuadroTexto 155"/>
          <p:cNvSpPr txBox="1"/>
          <p:nvPr/>
        </p:nvSpPr>
        <p:spPr>
          <a:xfrm>
            <a:off x="9949360" y="2366007"/>
            <a:ext cx="20201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b</a:t>
            </a:r>
            <a:r>
              <a:rPr lang="es-ES" sz="1200" baseline="-25000" dirty="0"/>
              <a:t>1</a:t>
            </a:r>
            <a:r>
              <a:rPr lang="es-ES" sz="1200" dirty="0"/>
              <a:t>                                   b</a:t>
            </a:r>
            <a:r>
              <a:rPr lang="es-ES" sz="1200" baseline="-25000" dirty="0"/>
              <a:t>2</a:t>
            </a:r>
            <a:endParaRPr lang="es-MX" sz="1200" baseline="-25000" dirty="0"/>
          </a:p>
        </p:txBody>
      </p:sp>
      <p:sp>
        <p:nvSpPr>
          <p:cNvPr id="157" name="Rectángulo 156"/>
          <p:cNvSpPr/>
          <p:nvPr/>
        </p:nvSpPr>
        <p:spPr>
          <a:xfrm>
            <a:off x="1382483" y="2322634"/>
            <a:ext cx="1940673" cy="426720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58" name="CuadroTexto 157"/>
          <p:cNvSpPr txBox="1"/>
          <p:nvPr/>
        </p:nvSpPr>
        <p:spPr>
          <a:xfrm>
            <a:off x="1378670" y="2057573"/>
            <a:ext cx="19800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a</a:t>
            </a:r>
            <a:r>
              <a:rPr lang="es-ES" sz="1200" baseline="-25000" dirty="0"/>
              <a:t>1</a:t>
            </a:r>
            <a:r>
              <a:rPr lang="es-ES" sz="1200" dirty="0"/>
              <a:t>                                  a</a:t>
            </a:r>
            <a:r>
              <a:rPr lang="es-ES" sz="1200" baseline="-25000" dirty="0"/>
              <a:t>2</a:t>
            </a:r>
            <a:endParaRPr lang="es-MX" sz="1200" baseline="-25000" dirty="0"/>
          </a:p>
        </p:txBody>
      </p:sp>
      <p:sp>
        <p:nvSpPr>
          <p:cNvPr id="5" name="CuadroTexto 4"/>
          <p:cNvSpPr txBox="1"/>
          <p:nvPr/>
        </p:nvSpPr>
        <p:spPr>
          <a:xfrm>
            <a:off x="1043138" y="5001501"/>
            <a:ext cx="3962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rgbClr val="FF0000"/>
                </a:solidFill>
              </a:rPr>
              <a:t>* Si se pierden todos los acuses, se puede duplicar la ventana completa</a:t>
            </a:r>
            <a:endParaRPr lang="es-MX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506022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1039" y="60085"/>
            <a:ext cx="8911687" cy="694987"/>
          </a:xfrm>
        </p:spPr>
        <p:txBody>
          <a:bodyPr/>
          <a:lstStyle/>
          <a:p>
            <a:r>
              <a:rPr lang="es-ES" dirty="0"/>
              <a:t>Control de flujo</a:t>
            </a:r>
            <a:endParaRPr lang="es-MX" dirty="0"/>
          </a:p>
        </p:txBody>
      </p:sp>
      <p:cxnSp>
        <p:nvCxnSpPr>
          <p:cNvPr id="38" name="Conector recto de flecha 37"/>
          <p:cNvCxnSpPr>
            <a:stCxn id="42" idx="2"/>
          </p:cNvCxnSpPr>
          <p:nvPr/>
        </p:nvCxnSpPr>
        <p:spPr>
          <a:xfrm>
            <a:off x="5527800" y="397126"/>
            <a:ext cx="895" cy="5783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uadroTexto 38"/>
          <p:cNvSpPr txBox="1"/>
          <p:nvPr/>
        </p:nvSpPr>
        <p:spPr>
          <a:xfrm>
            <a:off x="5422368" y="6158002"/>
            <a:ext cx="2375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t</a:t>
            </a:r>
            <a:endParaRPr lang="es-MX" sz="1200" dirty="0"/>
          </a:p>
        </p:txBody>
      </p:sp>
      <p:cxnSp>
        <p:nvCxnSpPr>
          <p:cNvPr id="40" name="Conector recto de flecha 39"/>
          <p:cNvCxnSpPr>
            <a:endCxn id="41" idx="0"/>
          </p:cNvCxnSpPr>
          <p:nvPr/>
        </p:nvCxnSpPr>
        <p:spPr>
          <a:xfrm flipH="1">
            <a:off x="7307195" y="419752"/>
            <a:ext cx="4483" cy="5742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uadroTexto 40"/>
          <p:cNvSpPr txBox="1"/>
          <p:nvPr/>
        </p:nvSpPr>
        <p:spPr>
          <a:xfrm>
            <a:off x="7188412" y="6162485"/>
            <a:ext cx="2375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t</a:t>
            </a:r>
            <a:endParaRPr lang="es-MX" sz="1200" dirty="0"/>
          </a:p>
        </p:txBody>
      </p:sp>
      <p:sp>
        <p:nvSpPr>
          <p:cNvPr id="42" name="Rectángulo 41"/>
          <p:cNvSpPr/>
          <p:nvPr/>
        </p:nvSpPr>
        <p:spPr>
          <a:xfrm>
            <a:off x="5308801" y="155987"/>
            <a:ext cx="437998" cy="24113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 err="1">
                <a:solidFill>
                  <a:schemeClr val="tx1"/>
                </a:solidFill>
              </a:rPr>
              <a:t>tx</a:t>
            </a:r>
            <a:endParaRPr lang="es-MX" sz="1000" dirty="0">
              <a:solidFill>
                <a:schemeClr val="tx1"/>
              </a:solidFill>
            </a:endParaRPr>
          </a:p>
        </p:txBody>
      </p:sp>
      <p:sp>
        <p:nvSpPr>
          <p:cNvPr id="43" name="Rectángulo 42"/>
          <p:cNvSpPr/>
          <p:nvPr/>
        </p:nvSpPr>
        <p:spPr>
          <a:xfrm>
            <a:off x="7101316" y="163247"/>
            <a:ext cx="437998" cy="24113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 err="1">
                <a:solidFill>
                  <a:schemeClr val="tx1"/>
                </a:solidFill>
              </a:rPr>
              <a:t>rx</a:t>
            </a:r>
            <a:endParaRPr lang="es-MX" sz="1000" dirty="0">
              <a:solidFill>
                <a:schemeClr val="tx1"/>
              </a:solidFill>
            </a:endParaRPr>
          </a:p>
        </p:txBody>
      </p:sp>
      <p:cxnSp>
        <p:nvCxnSpPr>
          <p:cNvPr id="44" name="Conector recto 43"/>
          <p:cNvCxnSpPr/>
          <p:nvPr/>
        </p:nvCxnSpPr>
        <p:spPr>
          <a:xfrm>
            <a:off x="5539762" y="604918"/>
            <a:ext cx="1766044" cy="3483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CuadroTexto 51"/>
          <p:cNvSpPr txBox="1"/>
          <p:nvPr/>
        </p:nvSpPr>
        <p:spPr>
          <a:xfrm rot="824214">
            <a:off x="5522065" y="44984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Trama 0</a:t>
            </a:r>
            <a:endParaRPr lang="es-MX" sz="1000" dirty="0"/>
          </a:p>
        </p:txBody>
      </p:sp>
      <p:cxnSp>
        <p:nvCxnSpPr>
          <p:cNvPr id="53" name="Conector recto 52"/>
          <p:cNvCxnSpPr/>
          <p:nvPr/>
        </p:nvCxnSpPr>
        <p:spPr>
          <a:xfrm>
            <a:off x="5539763" y="810355"/>
            <a:ext cx="1766044" cy="3483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CuadroTexto 59"/>
          <p:cNvSpPr txBox="1"/>
          <p:nvPr/>
        </p:nvSpPr>
        <p:spPr>
          <a:xfrm rot="824214">
            <a:off x="5502535" y="6757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Trama 1</a:t>
            </a:r>
            <a:endParaRPr lang="es-MX" sz="1000" dirty="0"/>
          </a:p>
        </p:txBody>
      </p:sp>
      <p:cxnSp>
        <p:nvCxnSpPr>
          <p:cNvPr id="61" name="Conector recto 60"/>
          <p:cNvCxnSpPr/>
          <p:nvPr/>
        </p:nvCxnSpPr>
        <p:spPr>
          <a:xfrm flipH="1">
            <a:off x="6485806" y="954971"/>
            <a:ext cx="812742" cy="1952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CuadroTexto 61"/>
          <p:cNvSpPr txBox="1"/>
          <p:nvPr/>
        </p:nvSpPr>
        <p:spPr>
          <a:xfrm rot="20752532">
            <a:off x="6611463" y="857326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 err="1"/>
              <a:t>Ack</a:t>
            </a:r>
            <a:r>
              <a:rPr lang="es-ES" sz="1000" dirty="0"/>
              <a:t> 1</a:t>
            </a:r>
            <a:endParaRPr lang="es-MX" sz="1000" dirty="0"/>
          </a:p>
        </p:txBody>
      </p:sp>
      <p:sp>
        <p:nvSpPr>
          <p:cNvPr id="72" name="CuadroTexto 71"/>
          <p:cNvSpPr txBox="1"/>
          <p:nvPr/>
        </p:nvSpPr>
        <p:spPr>
          <a:xfrm>
            <a:off x="1277264" y="6581001"/>
            <a:ext cx="108622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</a:t>
            </a:r>
            <a:r>
              <a:rPr lang="es-MX" sz="1200" dirty="0">
                <a:hlinkClick r:id="rId2"/>
              </a:rPr>
              <a:t>http://exa.unne.edu.ar/depar/areas/informatica/teleproc/Comunicaciones/Presentaciones_Proyector/ControldelEnlacedeDatos.pdf</a:t>
            </a:r>
            <a:r>
              <a:rPr lang="es-MX" sz="1200" dirty="0"/>
              <a:t>.</a:t>
            </a:r>
          </a:p>
        </p:txBody>
      </p:sp>
      <p:graphicFrame>
        <p:nvGraphicFramePr>
          <p:cNvPr id="24" name="Tabla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8060045"/>
              </p:ext>
            </p:extLst>
          </p:nvPr>
        </p:nvGraphicFramePr>
        <p:xfrm>
          <a:off x="1371597" y="931480"/>
          <a:ext cx="3941744" cy="21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63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73059">
                <a:tc>
                  <a:txBody>
                    <a:bodyPr/>
                    <a:lstStyle/>
                    <a:p>
                      <a:r>
                        <a:rPr lang="es-ES" sz="800" dirty="0"/>
                        <a:t>0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1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2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3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4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5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6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7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0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1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2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3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4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5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6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7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3" name="Tabla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429041"/>
              </p:ext>
            </p:extLst>
          </p:nvPr>
        </p:nvGraphicFramePr>
        <p:xfrm>
          <a:off x="7992037" y="922516"/>
          <a:ext cx="3941744" cy="21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63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73059">
                <a:tc>
                  <a:txBody>
                    <a:bodyPr/>
                    <a:lstStyle/>
                    <a:p>
                      <a:r>
                        <a:rPr lang="es-ES" sz="800" dirty="0"/>
                        <a:t>0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1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2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3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4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5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6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7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0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1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2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3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4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5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6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7</a:t>
                      </a:r>
                      <a:endParaRPr lang="es-MX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7" name="Rectángulo 26"/>
          <p:cNvSpPr/>
          <p:nvPr/>
        </p:nvSpPr>
        <p:spPr>
          <a:xfrm>
            <a:off x="1393370" y="820405"/>
            <a:ext cx="1940673" cy="426720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63" name="CuadroTexto 62"/>
          <p:cNvSpPr txBox="1"/>
          <p:nvPr/>
        </p:nvSpPr>
        <p:spPr>
          <a:xfrm>
            <a:off x="1367784" y="544456"/>
            <a:ext cx="18069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a</a:t>
            </a:r>
            <a:r>
              <a:rPr lang="es-ES" sz="1200" baseline="-25000" dirty="0"/>
              <a:t>1</a:t>
            </a:r>
            <a:r>
              <a:rPr lang="es-ES" sz="1200" dirty="0"/>
              <a:t>                              a</a:t>
            </a:r>
            <a:r>
              <a:rPr lang="es-ES" sz="1200" baseline="-25000" dirty="0"/>
              <a:t>2</a:t>
            </a:r>
            <a:endParaRPr lang="es-MX" sz="1200" baseline="-25000" dirty="0"/>
          </a:p>
        </p:txBody>
      </p:sp>
      <p:sp>
        <p:nvSpPr>
          <p:cNvPr id="74" name="Rectángulo 73"/>
          <p:cNvSpPr/>
          <p:nvPr/>
        </p:nvSpPr>
        <p:spPr>
          <a:xfrm>
            <a:off x="8004626" y="813151"/>
            <a:ext cx="1955300" cy="426720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75" name="CuadroTexto 74"/>
          <p:cNvSpPr txBox="1"/>
          <p:nvPr/>
        </p:nvSpPr>
        <p:spPr>
          <a:xfrm>
            <a:off x="7979040" y="537202"/>
            <a:ext cx="18469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b</a:t>
            </a:r>
            <a:r>
              <a:rPr lang="es-ES" sz="1200" baseline="-25000" dirty="0"/>
              <a:t>1</a:t>
            </a:r>
            <a:r>
              <a:rPr lang="es-ES" sz="1200" dirty="0"/>
              <a:t>                              b</a:t>
            </a:r>
            <a:r>
              <a:rPr lang="es-ES" sz="1200" baseline="-25000" dirty="0"/>
              <a:t>2</a:t>
            </a:r>
            <a:endParaRPr lang="es-MX" sz="1200" baseline="-25000" dirty="0"/>
          </a:p>
        </p:txBody>
      </p:sp>
      <p:graphicFrame>
        <p:nvGraphicFramePr>
          <p:cNvPr id="82" name="Tabla 8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7412113"/>
              </p:ext>
            </p:extLst>
          </p:nvPr>
        </p:nvGraphicFramePr>
        <p:xfrm>
          <a:off x="1371602" y="2440960"/>
          <a:ext cx="3941744" cy="21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63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73059">
                <a:tc>
                  <a:txBody>
                    <a:bodyPr/>
                    <a:lstStyle/>
                    <a:p>
                      <a:r>
                        <a:rPr lang="es-ES" sz="800" dirty="0"/>
                        <a:t>0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1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2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3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4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5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6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7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0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1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2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3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4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5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6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7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5" name="Tabla 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1596608"/>
              </p:ext>
            </p:extLst>
          </p:nvPr>
        </p:nvGraphicFramePr>
        <p:xfrm>
          <a:off x="7992039" y="2751314"/>
          <a:ext cx="3941744" cy="21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63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73059">
                <a:tc>
                  <a:txBody>
                    <a:bodyPr/>
                    <a:lstStyle/>
                    <a:p>
                      <a:r>
                        <a:rPr lang="es-ES" sz="800" dirty="0"/>
                        <a:t>0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1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2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3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4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5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6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7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0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1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2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3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4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5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6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7</a:t>
                      </a:r>
                      <a:endParaRPr lang="es-MX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8" name="Conector recto 57"/>
          <p:cNvCxnSpPr/>
          <p:nvPr/>
        </p:nvCxnSpPr>
        <p:spPr>
          <a:xfrm>
            <a:off x="5537414" y="982406"/>
            <a:ext cx="1766044" cy="3483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uadroTexto 58"/>
          <p:cNvSpPr txBox="1"/>
          <p:nvPr/>
        </p:nvSpPr>
        <p:spPr>
          <a:xfrm rot="824214">
            <a:off x="5491582" y="855470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Trama 2</a:t>
            </a:r>
            <a:endParaRPr lang="es-MX" sz="1000" dirty="0"/>
          </a:p>
        </p:txBody>
      </p:sp>
      <p:cxnSp>
        <p:nvCxnSpPr>
          <p:cNvPr id="64" name="Conector recto 63"/>
          <p:cNvCxnSpPr/>
          <p:nvPr/>
        </p:nvCxnSpPr>
        <p:spPr>
          <a:xfrm>
            <a:off x="5537415" y="1187843"/>
            <a:ext cx="1766044" cy="3483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CuadroTexto 64"/>
          <p:cNvSpPr txBox="1"/>
          <p:nvPr/>
        </p:nvSpPr>
        <p:spPr>
          <a:xfrm rot="824214">
            <a:off x="5486116" y="103913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Trama 3</a:t>
            </a:r>
            <a:endParaRPr lang="es-MX" sz="1000" dirty="0"/>
          </a:p>
        </p:txBody>
      </p:sp>
      <p:cxnSp>
        <p:nvCxnSpPr>
          <p:cNvPr id="66" name="Conector recto 65"/>
          <p:cNvCxnSpPr/>
          <p:nvPr/>
        </p:nvCxnSpPr>
        <p:spPr>
          <a:xfrm>
            <a:off x="5537417" y="1390363"/>
            <a:ext cx="1766044" cy="3483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CuadroTexto 66"/>
          <p:cNvSpPr txBox="1"/>
          <p:nvPr/>
        </p:nvSpPr>
        <p:spPr>
          <a:xfrm rot="824214">
            <a:off x="5477520" y="1235291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Trama 4</a:t>
            </a:r>
            <a:endParaRPr lang="es-MX" sz="1000" dirty="0"/>
          </a:p>
        </p:txBody>
      </p:sp>
      <p:cxnSp>
        <p:nvCxnSpPr>
          <p:cNvPr id="68" name="Conector recto 67"/>
          <p:cNvCxnSpPr/>
          <p:nvPr/>
        </p:nvCxnSpPr>
        <p:spPr>
          <a:xfrm>
            <a:off x="5537418" y="1595800"/>
            <a:ext cx="1766044" cy="3483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CuadroTexto 68"/>
          <p:cNvSpPr txBox="1"/>
          <p:nvPr/>
        </p:nvSpPr>
        <p:spPr>
          <a:xfrm rot="824214">
            <a:off x="5472051" y="1447093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Trama 5</a:t>
            </a:r>
            <a:endParaRPr lang="es-MX" sz="1000" dirty="0"/>
          </a:p>
        </p:txBody>
      </p:sp>
      <p:cxnSp>
        <p:nvCxnSpPr>
          <p:cNvPr id="70" name="Conector recto 69"/>
          <p:cNvCxnSpPr/>
          <p:nvPr/>
        </p:nvCxnSpPr>
        <p:spPr>
          <a:xfrm>
            <a:off x="5535069" y="1767851"/>
            <a:ext cx="1766044" cy="3483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CuadroTexto 70"/>
          <p:cNvSpPr txBox="1"/>
          <p:nvPr/>
        </p:nvSpPr>
        <p:spPr>
          <a:xfrm rot="824214">
            <a:off x="5475171" y="1640915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Trama 6</a:t>
            </a:r>
            <a:endParaRPr lang="es-MX" sz="1000" dirty="0"/>
          </a:p>
        </p:txBody>
      </p:sp>
      <p:sp>
        <p:nvSpPr>
          <p:cNvPr id="4" name="Abrir llave 3"/>
          <p:cNvSpPr/>
          <p:nvPr/>
        </p:nvSpPr>
        <p:spPr>
          <a:xfrm>
            <a:off x="5369408" y="572956"/>
            <a:ext cx="149846" cy="206566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14" name="Conector recto 113"/>
          <p:cNvCxnSpPr/>
          <p:nvPr/>
        </p:nvCxnSpPr>
        <p:spPr>
          <a:xfrm>
            <a:off x="5537414" y="2712731"/>
            <a:ext cx="1766044" cy="3483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CuadroTexto 114"/>
          <p:cNvSpPr txBox="1"/>
          <p:nvPr/>
        </p:nvSpPr>
        <p:spPr>
          <a:xfrm rot="824214">
            <a:off x="5519717" y="2557659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Trama 0</a:t>
            </a:r>
            <a:endParaRPr lang="es-MX" sz="1000" dirty="0"/>
          </a:p>
        </p:txBody>
      </p:sp>
      <p:cxnSp>
        <p:nvCxnSpPr>
          <p:cNvPr id="116" name="Conector recto 115"/>
          <p:cNvCxnSpPr/>
          <p:nvPr/>
        </p:nvCxnSpPr>
        <p:spPr>
          <a:xfrm>
            <a:off x="5537415" y="2918168"/>
            <a:ext cx="1766044" cy="3483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CuadroTexto 116"/>
          <p:cNvSpPr txBox="1"/>
          <p:nvPr/>
        </p:nvSpPr>
        <p:spPr>
          <a:xfrm rot="824214">
            <a:off x="5500187" y="2783529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Trama 1</a:t>
            </a:r>
            <a:endParaRPr lang="es-MX" sz="1000" dirty="0"/>
          </a:p>
        </p:txBody>
      </p:sp>
      <p:cxnSp>
        <p:nvCxnSpPr>
          <p:cNvPr id="118" name="Conector recto 117"/>
          <p:cNvCxnSpPr/>
          <p:nvPr/>
        </p:nvCxnSpPr>
        <p:spPr>
          <a:xfrm>
            <a:off x="5535066" y="3090219"/>
            <a:ext cx="1766044" cy="3483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CuadroTexto 118"/>
          <p:cNvSpPr txBox="1"/>
          <p:nvPr/>
        </p:nvSpPr>
        <p:spPr>
          <a:xfrm rot="824214">
            <a:off x="5489234" y="2963283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Trama 2</a:t>
            </a:r>
            <a:endParaRPr lang="es-MX" sz="1000" dirty="0"/>
          </a:p>
        </p:txBody>
      </p:sp>
      <p:cxnSp>
        <p:nvCxnSpPr>
          <p:cNvPr id="120" name="Conector recto 119"/>
          <p:cNvCxnSpPr/>
          <p:nvPr/>
        </p:nvCxnSpPr>
        <p:spPr>
          <a:xfrm>
            <a:off x="5535067" y="3295656"/>
            <a:ext cx="1766044" cy="3483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CuadroTexto 120"/>
          <p:cNvSpPr txBox="1"/>
          <p:nvPr/>
        </p:nvSpPr>
        <p:spPr>
          <a:xfrm rot="824214">
            <a:off x="5483768" y="3146949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Trama 3</a:t>
            </a:r>
            <a:endParaRPr lang="es-MX" sz="1000" dirty="0"/>
          </a:p>
        </p:txBody>
      </p:sp>
      <p:cxnSp>
        <p:nvCxnSpPr>
          <p:cNvPr id="122" name="Conector recto 121"/>
          <p:cNvCxnSpPr/>
          <p:nvPr/>
        </p:nvCxnSpPr>
        <p:spPr>
          <a:xfrm>
            <a:off x="5535069" y="3498176"/>
            <a:ext cx="1766044" cy="3483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CuadroTexto 122"/>
          <p:cNvSpPr txBox="1"/>
          <p:nvPr/>
        </p:nvSpPr>
        <p:spPr>
          <a:xfrm rot="824214">
            <a:off x="5475172" y="3343104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Trama 4</a:t>
            </a:r>
            <a:endParaRPr lang="es-MX" sz="1000" dirty="0"/>
          </a:p>
        </p:txBody>
      </p:sp>
      <p:cxnSp>
        <p:nvCxnSpPr>
          <p:cNvPr id="124" name="Conector recto 123"/>
          <p:cNvCxnSpPr/>
          <p:nvPr/>
        </p:nvCxnSpPr>
        <p:spPr>
          <a:xfrm>
            <a:off x="5535070" y="3703613"/>
            <a:ext cx="1766044" cy="3483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CuadroTexto 124"/>
          <p:cNvSpPr txBox="1"/>
          <p:nvPr/>
        </p:nvSpPr>
        <p:spPr>
          <a:xfrm rot="824214">
            <a:off x="5469703" y="355490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Trama 5</a:t>
            </a:r>
            <a:endParaRPr lang="es-MX" sz="1000" dirty="0"/>
          </a:p>
        </p:txBody>
      </p:sp>
      <p:cxnSp>
        <p:nvCxnSpPr>
          <p:cNvPr id="126" name="Conector recto 125"/>
          <p:cNvCxnSpPr/>
          <p:nvPr/>
        </p:nvCxnSpPr>
        <p:spPr>
          <a:xfrm>
            <a:off x="5532721" y="3875664"/>
            <a:ext cx="1766044" cy="3483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CuadroTexto 126"/>
          <p:cNvSpPr txBox="1"/>
          <p:nvPr/>
        </p:nvSpPr>
        <p:spPr>
          <a:xfrm rot="824214">
            <a:off x="5472823" y="3748728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Trama 6</a:t>
            </a:r>
            <a:endParaRPr lang="es-MX" sz="1000" dirty="0"/>
          </a:p>
        </p:txBody>
      </p:sp>
      <p:sp>
        <p:nvSpPr>
          <p:cNvPr id="130" name="CuadroTexto 129"/>
          <p:cNvSpPr txBox="1"/>
          <p:nvPr/>
        </p:nvSpPr>
        <p:spPr>
          <a:xfrm>
            <a:off x="6340731" y="1021699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X</a:t>
            </a:r>
            <a:endParaRPr lang="es-MX" sz="1100" dirty="0"/>
          </a:p>
        </p:txBody>
      </p:sp>
      <p:cxnSp>
        <p:nvCxnSpPr>
          <p:cNvPr id="131" name="Conector recto 130"/>
          <p:cNvCxnSpPr/>
          <p:nvPr/>
        </p:nvCxnSpPr>
        <p:spPr>
          <a:xfrm flipH="1">
            <a:off x="6503566" y="1167077"/>
            <a:ext cx="812742" cy="1952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CuadroTexto 131"/>
          <p:cNvSpPr txBox="1"/>
          <p:nvPr/>
        </p:nvSpPr>
        <p:spPr>
          <a:xfrm rot="20752532">
            <a:off x="6629223" y="1069432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 err="1"/>
              <a:t>Ack</a:t>
            </a:r>
            <a:r>
              <a:rPr lang="es-ES" sz="1000" dirty="0"/>
              <a:t> 2</a:t>
            </a:r>
            <a:endParaRPr lang="es-MX" sz="1000" dirty="0"/>
          </a:p>
        </p:txBody>
      </p:sp>
      <p:sp>
        <p:nvSpPr>
          <p:cNvPr id="133" name="CuadroTexto 132"/>
          <p:cNvSpPr txBox="1"/>
          <p:nvPr/>
        </p:nvSpPr>
        <p:spPr>
          <a:xfrm>
            <a:off x="6358491" y="1233805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X</a:t>
            </a:r>
            <a:endParaRPr lang="es-MX" sz="1100" dirty="0"/>
          </a:p>
        </p:txBody>
      </p:sp>
      <p:cxnSp>
        <p:nvCxnSpPr>
          <p:cNvPr id="134" name="Conector recto 133"/>
          <p:cNvCxnSpPr/>
          <p:nvPr/>
        </p:nvCxnSpPr>
        <p:spPr>
          <a:xfrm flipH="1">
            <a:off x="6503570" y="1334707"/>
            <a:ext cx="812742" cy="1952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CuadroTexto 134"/>
          <p:cNvSpPr txBox="1"/>
          <p:nvPr/>
        </p:nvSpPr>
        <p:spPr>
          <a:xfrm rot="20752532">
            <a:off x="6629227" y="1237062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 err="1"/>
              <a:t>Ack</a:t>
            </a:r>
            <a:r>
              <a:rPr lang="es-ES" sz="1000" dirty="0"/>
              <a:t> 3</a:t>
            </a:r>
            <a:endParaRPr lang="es-MX" sz="1000" dirty="0"/>
          </a:p>
        </p:txBody>
      </p:sp>
      <p:sp>
        <p:nvSpPr>
          <p:cNvPr id="136" name="CuadroTexto 135"/>
          <p:cNvSpPr txBox="1"/>
          <p:nvPr/>
        </p:nvSpPr>
        <p:spPr>
          <a:xfrm>
            <a:off x="6358495" y="1401435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X</a:t>
            </a:r>
            <a:endParaRPr lang="es-MX" sz="1100" dirty="0"/>
          </a:p>
        </p:txBody>
      </p:sp>
      <p:cxnSp>
        <p:nvCxnSpPr>
          <p:cNvPr id="137" name="Conector recto 136"/>
          <p:cNvCxnSpPr/>
          <p:nvPr/>
        </p:nvCxnSpPr>
        <p:spPr>
          <a:xfrm flipH="1">
            <a:off x="6497956" y="1562037"/>
            <a:ext cx="812742" cy="1952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CuadroTexto 137"/>
          <p:cNvSpPr txBox="1"/>
          <p:nvPr/>
        </p:nvSpPr>
        <p:spPr>
          <a:xfrm rot="20752532">
            <a:off x="6623613" y="1464392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 err="1"/>
              <a:t>Ack</a:t>
            </a:r>
            <a:r>
              <a:rPr lang="es-ES" sz="1000" dirty="0"/>
              <a:t> 4</a:t>
            </a:r>
            <a:endParaRPr lang="es-MX" sz="1000" dirty="0"/>
          </a:p>
        </p:txBody>
      </p:sp>
      <p:sp>
        <p:nvSpPr>
          <p:cNvPr id="139" name="CuadroTexto 138"/>
          <p:cNvSpPr txBox="1"/>
          <p:nvPr/>
        </p:nvSpPr>
        <p:spPr>
          <a:xfrm>
            <a:off x="6352881" y="1628765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X</a:t>
            </a:r>
            <a:endParaRPr lang="es-MX" sz="1100" dirty="0"/>
          </a:p>
        </p:txBody>
      </p:sp>
      <p:cxnSp>
        <p:nvCxnSpPr>
          <p:cNvPr id="143" name="Conector recto 142"/>
          <p:cNvCxnSpPr/>
          <p:nvPr/>
        </p:nvCxnSpPr>
        <p:spPr>
          <a:xfrm flipH="1">
            <a:off x="6486740" y="1740550"/>
            <a:ext cx="812742" cy="1952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CuadroTexto 143"/>
          <p:cNvSpPr txBox="1"/>
          <p:nvPr/>
        </p:nvSpPr>
        <p:spPr>
          <a:xfrm rot="20752532">
            <a:off x="6612397" y="1642905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 err="1"/>
              <a:t>Ack</a:t>
            </a:r>
            <a:r>
              <a:rPr lang="es-ES" sz="1000" dirty="0"/>
              <a:t> 5</a:t>
            </a:r>
            <a:endParaRPr lang="es-MX" sz="1000" dirty="0"/>
          </a:p>
        </p:txBody>
      </p:sp>
      <p:sp>
        <p:nvSpPr>
          <p:cNvPr id="145" name="CuadroTexto 144"/>
          <p:cNvSpPr txBox="1"/>
          <p:nvPr/>
        </p:nvSpPr>
        <p:spPr>
          <a:xfrm>
            <a:off x="6341665" y="1807278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X</a:t>
            </a:r>
            <a:endParaRPr lang="es-MX" sz="1100" dirty="0"/>
          </a:p>
        </p:txBody>
      </p:sp>
      <p:cxnSp>
        <p:nvCxnSpPr>
          <p:cNvPr id="146" name="Conector recto 145"/>
          <p:cNvCxnSpPr/>
          <p:nvPr/>
        </p:nvCxnSpPr>
        <p:spPr>
          <a:xfrm flipH="1">
            <a:off x="6504500" y="1963540"/>
            <a:ext cx="812742" cy="1952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CuadroTexto 146"/>
          <p:cNvSpPr txBox="1"/>
          <p:nvPr/>
        </p:nvSpPr>
        <p:spPr>
          <a:xfrm rot="20752532">
            <a:off x="6630157" y="1865895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 err="1"/>
              <a:t>Ack</a:t>
            </a:r>
            <a:r>
              <a:rPr lang="es-ES" sz="1000" dirty="0"/>
              <a:t> 6</a:t>
            </a:r>
            <a:endParaRPr lang="es-MX" sz="1000" dirty="0"/>
          </a:p>
        </p:txBody>
      </p:sp>
      <p:sp>
        <p:nvSpPr>
          <p:cNvPr id="148" name="CuadroTexto 147"/>
          <p:cNvSpPr txBox="1"/>
          <p:nvPr/>
        </p:nvSpPr>
        <p:spPr>
          <a:xfrm>
            <a:off x="6359425" y="2030268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X</a:t>
            </a:r>
            <a:endParaRPr lang="es-MX" sz="1100" dirty="0"/>
          </a:p>
        </p:txBody>
      </p:sp>
      <p:cxnSp>
        <p:nvCxnSpPr>
          <p:cNvPr id="149" name="Conector recto 148"/>
          <p:cNvCxnSpPr/>
          <p:nvPr/>
        </p:nvCxnSpPr>
        <p:spPr>
          <a:xfrm flipH="1">
            <a:off x="6504504" y="2131168"/>
            <a:ext cx="812742" cy="1952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CuadroTexto 149"/>
          <p:cNvSpPr txBox="1"/>
          <p:nvPr/>
        </p:nvSpPr>
        <p:spPr>
          <a:xfrm rot="20752532">
            <a:off x="6630161" y="2033523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 err="1"/>
              <a:t>Ack</a:t>
            </a:r>
            <a:r>
              <a:rPr lang="es-ES" sz="1000" dirty="0"/>
              <a:t> 7</a:t>
            </a:r>
            <a:endParaRPr lang="es-MX" sz="1000" dirty="0"/>
          </a:p>
        </p:txBody>
      </p:sp>
      <p:sp>
        <p:nvSpPr>
          <p:cNvPr id="151" name="CuadroTexto 150"/>
          <p:cNvSpPr txBox="1"/>
          <p:nvPr/>
        </p:nvSpPr>
        <p:spPr>
          <a:xfrm>
            <a:off x="6359429" y="2197896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X</a:t>
            </a:r>
            <a:endParaRPr lang="es-MX" sz="1100" dirty="0"/>
          </a:p>
        </p:txBody>
      </p:sp>
      <p:sp>
        <p:nvSpPr>
          <p:cNvPr id="155" name="Rectángulo 154"/>
          <p:cNvSpPr/>
          <p:nvPr/>
        </p:nvSpPr>
        <p:spPr>
          <a:xfrm>
            <a:off x="9964057" y="2631072"/>
            <a:ext cx="1955300" cy="426720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56" name="CuadroTexto 155"/>
          <p:cNvSpPr txBox="1"/>
          <p:nvPr/>
        </p:nvSpPr>
        <p:spPr>
          <a:xfrm>
            <a:off x="9677213" y="2366007"/>
            <a:ext cx="18469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b</a:t>
            </a:r>
            <a:r>
              <a:rPr lang="es-ES" sz="1200" baseline="-25000" dirty="0"/>
              <a:t>1</a:t>
            </a:r>
            <a:r>
              <a:rPr lang="es-ES" sz="1200" dirty="0"/>
              <a:t>                              b</a:t>
            </a:r>
            <a:r>
              <a:rPr lang="es-ES" sz="1200" baseline="-25000" dirty="0"/>
              <a:t>2</a:t>
            </a:r>
            <a:endParaRPr lang="es-MX" sz="1200" baseline="-25000" dirty="0"/>
          </a:p>
        </p:txBody>
      </p:sp>
      <p:sp>
        <p:nvSpPr>
          <p:cNvPr id="157" name="Rectángulo 156"/>
          <p:cNvSpPr/>
          <p:nvPr/>
        </p:nvSpPr>
        <p:spPr>
          <a:xfrm>
            <a:off x="1382483" y="2322634"/>
            <a:ext cx="1940673" cy="426720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58" name="CuadroTexto 157"/>
          <p:cNvSpPr txBox="1"/>
          <p:nvPr/>
        </p:nvSpPr>
        <p:spPr>
          <a:xfrm>
            <a:off x="1378670" y="2057573"/>
            <a:ext cx="18069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a</a:t>
            </a:r>
            <a:r>
              <a:rPr lang="es-ES" sz="1200" baseline="-25000" dirty="0"/>
              <a:t>1</a:t>
            </a:r>
            <a:r>
              <a:rPr lang="es-ES" sz="1200" dirty="0"/>
              <a:t>                             a</a:t>
            </a:r>
            <a:r>
              <a:rPr lang="es-ES" sz="1200" baseline="-25000" dirty="0"/>
              <a:t>2</a:t>
            </a:r>
            <a:endParaRPr lang="es-MX" sz="1200" baseline="-25000" dirty="0"/>
          </a:p>
        </p:txBody>
      </p:sp>
      <p:sp>
        <p:nvSpPr>
          <p:cNvPr id="5" name="CuadroTexto 4"/>
          <p:cNvSpPr txBox="1"/>
          <p:nvPr/>
        </p:nvSpPr>
        <p:spPr>
          <a:xfrm>
            <a:off x="1043138" y="5001501"/>
            <a:ext cx="3962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rgbClr val="FF0000"/>
                </a:solidFill>
              </a:rPr>
              <a:t>* Vuelta atrás N puede detectar ventanas duplicadas, pero Rechazo Selectivo NO</a:t>
            </a:r>
            <a:endParaRPr lang="es-MX" sz="1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/>
              <p:cNvSpPr txBox="1"/>
              <p:nvPr/>
            </p:nvSpPr>
            <p:spPr>
              <a:xfrm>
                <a:off x="1683715" y="4309896"/>
                <a:ext cx="3116559" cy="5386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1400" dirty="0"/>
                  <a:t>Si usamos un tamaño de ventana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s-E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s-E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s-E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s-E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s-MX" sz="1400" dirty="0"/>
              </a:p>
            </p:txBody>
          </p:sp>
        </mc:Choice>
        <mc:Fallback xmlns="">
          <p:sp>
            <p:nvSpPr>
              <p:cNvPr id="3" name="CuadroText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3715" y="4309896"/>
                <a:ext cx="3116559" cy="538609"/>
              </a:xfrm>
              <a:prstGeom prst="rect">
                <a:avLst/>
              </a:prstGeom>
              <a:blipFill rotWithShape="0">
                <a:blip r:embed="rId3"/>
                <a:stretch>
                  <a:fillRect l="-587" t="-227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Rectángulo 80"/>
          <p:cNvSpPr/>
          <p:nvPr/>
        </p:nvSpPr>
        <p:spPr>
          <a:xfrm>
            <a:off x="1382486" y="874831"/>
            <a:ext cx="1709058" cy="339653"/>
          </a:xfrm>
          <a:prstGeom prst="rect">
            <a:avLst/>
          </a:prstGeom>
          <a:noFill/>
          <a:ln w="22225">
            <a:solidFill>
              <a:srgbClr val="2EF4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83" name="Rectángulo 82"/>
          <p:cNvSpPr/>
          <p:nvPr/>
        </p:nvSpPr>
        <p:spPr>
          <a:xfrm>
            <a:off x="8000995" y="863942"/>
            <a:ext cx="1709058" cy="339653"/>
          </a:xfrm>
          <a:prstGeom prst="rect">
            <a:avLst/>
          </a:prstGeom>
          <a:noFill/>
          <a:ln w="22225">
            <a:solidFill>
              <a:srgbClr val="2EF4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84" name="Rectángulo 83"/>
          <p:cNvSpPr/>
          <p:nvPr/>
        </p:nvSpPr>
        <p:spPr>
          <a:xfrm>
            <a:off x="1382487" y="2366177"/>
            <a:ext cx="1709058" cy="339653"/>
          </a:xfrm>
          <a:prstGeom prst="rect">
            <a:avLst/>
          </a:prstGeom>
          <a:noFill/>
          <a:ln w="22225">
            <a:solidFill>
              <a:srgbClr val="2EF4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86" name="Rectángulo 85"/>
          <p:cNvSpPr/>
          <p:nvPr/>
        </p:nvSpPr>
        <p:spPr>
          <a:xfrm>
            <a:off x="9710050" y="2681861"/>
            <a:ext cx="1709058" cy="339653"/>
          </a:xfrm>
          <a:prstGeom prst="rect">
            <a:avLst/>
          </a:prstGeom>
          <a:noFill/>
          <a:ln w="22225">
            <a:solidFill>
              <a:srgbClr val="2EF4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36326433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1039" y="60085"/>
            <a:ext cx="8911687" cy="694987"/>
          </a:xfrm>
        </p:spPr>
        <p:txBody>
          <a:bodyPr/>
          <a:lstStyle/>
          <a:p>
            <a:r>
              <a:rPr lang="es-ES" dirty="0"/>
              <a:t>Control de flujo</a:t>
            </a:r>
            <a:endParaRPr lang="es-MX" dirty="0"/>
          </a:p>
        </p:txBody>
      </p:sp>
      <p:cxnSp>
        <p:nvCxnSpPr>
          <p:cNvPr id="38" name="Conector recto de flecha 37"/>
          <p:cNvCxnSpPr>
            <a:stCxn id="42" idx="2"/>
          </p:cNvCxnSpPr>
          <p:nvPr/>
        </p:nvCxnSpPr>
        <p:spPr>
          <a:xfrm>
            <a:off x="5527800" y="397126"/>
            <a:ext cx="895" cy="5783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uadroTexto 38"/>
          <p:cNvSpPr txBox="1"/>
          <p:nvPr/>
        </p:nvSpPr>
        <p:spPr>
          <a:xfrm>
            <a:off x="5422368" y="6158002"/>
            <a:ext cx="2375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t</a:t>
            </a:r>
            <a:endParaRPr lang="es-MX" sz="1200" dirty="0"/>
          </a:p>
        </p:txBody>
      </p:sp>
      <p:cxnSp>
        <p:nvCxnSpPr>
          <p:cNvPr id="40" name="Conector recto de flecha 39"/>
          <p:cNvCxnSpPr>
            <a:endCxn id="41" idx="0"/>
          </p:cNvCxnSpPr>
          <p:nvPr/>
        </p:nvCxnSpPr>
        <p:spPr>
          <a:xfrm flipH="1">
            <a:off x="7307195" y="419752"/>
            <a:ext cx="4483" cy="5742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uadroTexto 40"/>
          <p:cNvSpPr txBox="1"/>
          <p:nvPr/>
        </p:nvSpPr>
        <p:spPr>
          <a:xfrm>
            <a:off x="7188412" y="6162485"/>
            <a:ext cx="2375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t</a:t>
            </a:r>
            <a:endParaRPr lang="es-MX" sz="1200" dirty="0"/>
          </a:p>
        </p:txBody>
      </p:sp>
      <p:sp>
        <p:nvSpPr>
          <p:cNvPr id="42" name="Rectángulo 41"/>
          <p:cNvSpPr/>
          <p:nvPr/>
        </p:nvSpPr>
        <p:spPr>
          <a:xfrm>
            <a:off x="5308801" y="155987"/>
            <a:ext cx="437998" cy="24113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 err="1">
                <a:solidFill>
                  <a:schemeClr val="tx1"/>
                </a:solidFill>
              </a:rPr>
              <a:t>tx</a:t>
            </a:r>
            <a:endParaRPr lang="es-MX" sz="1000" dirty="0">
              <a:solidFill>
                <a:schemeClr val="tx1"/>
              </a:solidFill>
            </a:endParaRPr>
          </a:p>
        </p:txBody>
      </p:sp>
      <p:sp>
        <p:nvSpPr>
          <p:cNvPr id="43" name="Rectángulo 42"/>
          <p:cNvSpPr/>
          <p:nvPr/>
        </p:nvSpPr>
        <p:spPr>
          <a:xfrm>
            <a:off x="7101316" y="163247"/>
            <a:ext cx="437998" cy="24113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 err="1">
                <a:solidFill>
                  <a:schemeClr val="tx1"/>
                </a:solidFill>
              </a:rPr>
              <a:t>rx</a:t>
            </a:r>
            <a:endParaRPr lang="es-MX" sz="1000" dirty="0">
              <a:solidFill>
                <a:schemeClr val="tx1"/>
              </a:solidFill>
            </a:endParaRPr>
          </a:p>
        </p:txBody>
      </p:sp>
      <p:cxnSp>
        <p:nvCxnSpPr>
          <p:cNvPr id="44" name="Conector recto 43"/>
          <p:cNvCxnSpPr/>
          <p:nvPr/>
        </p:nvCxnSpPr>
        <p:spPr>
          <a:xfrm>
            <a:off x="5539762" y="604918"/>
            <a:ext cx="1766044" cy="3483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CuadroTexto 51"/>
          <p:cNvSpPr txBox="1"/>
          <p:nvPr/>
        </p:nvSpPr>
        <p:spPr>
          <a:xfrm rot="824214">
            <a:off x="5522065" y="44984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Trama 0</a:t>
            </a:r>
            <a:endParaRPr lang="es-MX" sz="1000" dirty="0"/>
          </a:p>
        </p:txBody>
      </p:sp>
      <p:cxnSp>
        <p:nvCxnSpPr>
          <p:cNvPr id="53" name="Conector recto 52"/>
          <p:cNvCxnSpPr/>
          <p:nvPr/>
        </p:nvCxnSpPr>
        <p:spPr>
          <a:xfrm>
            <a:off x="5539763" y="810355"/>
            <a:ext cx="1766044" cy="3483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CuadroTexto 59"/>
          <p:cNvSpPr txBox="1"/>
          <p:nvPr/>
        </p:nvSpPr>
        <p:spPr>
          <a:xfrm rot="824214">
            <a:off x="5502535" y="6757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Trama 1</a:t>
            </a:r>
            <a:endParaRPr lang="es-MX" sz="1000" dirty="0"/>
          </a:p>
        </p:txBody>
      </p:sp>
      <p:cxnSp>
        <p:nvCxnSpPr>
          <p:cNvPr id="61" name="Conector recto 60"/>
          <p:cNvCxnSpPr/>
          <p:nvPr/>
        </p:nvCxnSpPr>
        <p:spPr>
          <a:xfrm flipH="1">
            <a:off x="6485806" y="954971"/>
            <a:ext cx="812742" cy="1952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CuadroTexto 61"/>
          <p:cNvSpPr txBox="1"/>
          <p:nvPr/>
        </p:nvSpPr>
        <p:spPr>
          <a:xfrm rot="20752532">
            <a:off x="6611463" y="857326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 err="1"/>
              <a:t>Ack</a:t>
            </a:r>
            <a:r>
              <a:rPr lang="es-ES" sz="1000" dirty="0"/>
              <a:t> 1</a:t>
            </a:r>
            <a:endParaRPr lang="es-MX" sz="1000" dirty="0"/>
          </a:p>
        </p:txBody>
      </p:sp>
      <p:sp>
        <p:nvSpPr>
          <p:cNvPr id="72" name="CuadroTexto 71"/>
          <p:cNvSpPr txBox="1"/>
          <p:nvPr/>
        </p:nvSpPr>
        <p:spPr>
          <a:xfrm>
            <a:off x="1277264" y="6581001"/>
            <a:ext cx="108622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</a:t>
            </a:r>
            <a:r>
              <a:rPr lang="es-MX" sz="1200" dirty="0">
                <a:hlinkClick r:id="rId2"/>
              </a:rPr>
              <a:t>http://exa.unne.edu.ar/depar/areas/informatica/teleproc/Comunicaciones/Presentaciones_Proyector/ControldelEnlacedeDatos.pdf</a:t>
            </a:r>
            <a:r>
              <a:rPr lang="es-MX" sz="1200" dirty="0"/>
              <a:t>.</a:t>
            </a:r>
          </a:p>
        </p:txBody>
      </p:sp>
      <p:graphicFrame>
        <p:nvGraphicFramePr>
          <p:cNvPr id="24" name="Tabla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8060045"/>
              </p:ext>
            </p:extLst>
          </p:nvPr>
        </p:nvGraphicFramePr>
        <p:xfrm>
          <a:off x="1371597" y="931480"/>
          <a:ext cx="3941744" cy="21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63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73059">
                <a:tc>
                  <a:txBody>
                    <a:bodyPr/>
                    <a:lstStyle/>
                    <a:p>
                      <a:r>
                        <a:rPr lang="es-ES" sz="800" dirty="0"/>
                        <a:t>0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1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2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3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4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5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6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7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0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1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2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3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4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5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6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7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3" name="Tabla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429041"/>
              </p:ext>
            </p:extLst>
          </p:nvPr>
        </p:nvGraphicFramePr>
        <p:xfrm>
          <a:off x="7992037" y="922516"/>
          <a:ext cx="3941744" cy="21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63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73059">
                <a:tc>
                  <a:txBody>
                    <a:bodyPr/>
                    <a:lstStyle/>
                    <a:p>
                      <a:r>
                        <a:rPr lang="es-ES" sz="800" dirty="0"/>
                        <a:t>0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1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2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3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4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5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6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7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0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1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2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3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4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5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6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7</a:t>
                      </a:r>
                      <a:endParaRPr lang="es-MX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7" name="Rectángulo 26"/>
          <p:cNvSpPr/>
          <p:nvPr/>
        </p:nvSpPr>
        <p:spPr>
          <a:xfrm>
            <a:off x="1393370" y="820405"/>
            <a:ext cx="1940673" cy="426720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63" name="CuadroTexto 62"/>
          <p:cNvSpPr txBox="1"/>
          <p:nvPr/>
        </p:nvSpPr>
        <p:spPr>
          <a:xfrm>
            <a:off x="1367784" y="544456"/>
            <a:ext cx="10278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a</a:t>
            </a:r>
            <a:r>
              <a:rPr lang="es-ES" sz="1200" baseline="-25000" dirty="0"/>
              <a:t>1</a:t>
            </a:r>
            <a:r>
              <a:rPr lang="es-ES" sz="1200" dirty="0"/>
              <a:t>            a</a:t>
            </a:r>
            <a:r>
              <a:rPr lang="es-ES" sz="1200" baseline="-25000" dirty="0"/>
              <a:t>2</a:t>
            </a:r>
            <a:endParaRPr lang="es-MX" sz="1200" baseline="-25000" dirty="0"/>
          </a:p>
        </p:txBody>
      </p:sp>
      <p:sp>
        <p:nvSpPr>
          <p:cNvPr id="74" name="Rectángulo 73"/>
          <p:cNvSpPr/>
          <p:nvPr/>
        </p:nvSpPr>
        <p:spPr>
          <a:xfrm>
            <a:off x="8004626" y="813151"/>
            <a:ext cx="1955300" cy="426720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75" name="CuadroTexto 74"/>
          <p:cNvSpPr txBox="1"/>
          <p:nvPr/>
        </p:nvSpPr>
        <p:spPr>
          <a:xfrm>
            <a:off x="7979040" y="537202"/>
            <a:ext cx="10679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b</a:t>
            </a:r>
            <a:r>
              <a:rPr lang="es-ES" sz="1200" baseline="-25000" dirty="0"/>
              <a:t>1</a:t>
            </a:r>
            <a:r>
              <a:rPr lang="es-ES" sz="1200" dirty="0"/>
              <a:t>             b</a:t>
            </a:r>
            <a:r>
              <a:rPr lang="es-ES" sz="1200" baseline="-25000" dirty="0"/>
              <a:t>2</a:t>
            </a:r>
            <a:endParaRPr lang="es-MX" sz="1200" baseline="-25000" dirty="0"/>
          </a:p>
        </p:txBody>
      </p:sp>
      <p:graphicFrame>
        <p:nvGraphicFramePr>
          <p:cNvPr id="82" name="Tabla 8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7412113"/>
              </p:ext>
            </p:extLst>
          </p:nvPr>
        </p:nvGraphicFramePr>
        <p:xfrm>
          <a:off x="1371602" y="2440960"/>
          <a:ext cx="3941744" cy="21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63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73059">
                <a:tc>
                  <a:txBody>
                    <a:bodyPr/>
                    <a:lstStyle/>
                    <a:p>
                      <a:r>
                        <a:rPr lang="es-ES" sz="800" dirty="0"/>
                        <a:t>0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1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2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3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4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5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6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7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0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1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2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3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4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5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6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7</a:t>
                      </a:r>
                      <a:endParaRPr lang="es-MX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5" name="Tabla 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1596608"/>
              </p:ext>
            </p:extLst>
          </p:nvPr>
        </p:nvGraphicFramePr>
        <p:xfrm>
          <a:off x="7992039" y="2751314"/>
          <a:ext cx="3941744" cy="21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63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4635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73059">
                <a:tc>
                  <a:txBody>
                    <a:bodyPr/>
                    <a:lstStyle/>
                    <a:p>
                      <a:r>
                        <a:rPr lang="es-ES" sz="800" dirty="0"/>
                        <a:t>0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1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2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3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4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5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6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7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0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1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2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3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4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5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6</a:t>
                      </a:r>
                      <a:endParaRPr lang="es-MX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800" dirty="0"/>
                        <a:t>7</a:t>
                      </a:r>
                      <a:endParaRPr lang="es-MX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8" name="Conector recto 57"/>
          <p:cNvCxnSpPr/>
          <p:nvPr/>
        </p:nvCxnSpPr>
        <p:spPr>
          <a:xfrm>
            <a:off x="5537414" y="982406"/>
            <a:ext cx="1766044" cy="3483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uadroTexto 58"/>
          <p:cNvSpPr txBox="1"/>
          <p:nvPr/>
        </p:nvSpPr>
        <p:spPr>
          <a:xfrm rot="824214">
            <a:off x="5491582" y="855470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Trama 2</a:t>
            </a:r>
            <a:endParaRPr lang="es-MX" sz="1000" dirty="0"/>
          </a:p>
        </p:txBody>
      </p:sp>
      <p:cxnSp>
        <p:nvCxnSpPr>
          <p:cNvPr id="64" name="Conector recto 63"/>
          <p:cNvCxnSpPr/>
          <p:nvPr/>
        </p:nvCxnSpPr>
        <p:spPr>
          <a:xfrm>
            <a:off x="5537415" y="1187843"/>
            <a:ext cx="1766044" cy="3483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CuadroTexto 64"/>
          <p:cNvSpPr txBox="1"/>
          <p:nvPr/>
        </p:nvSpPr>
        <p:spPr>
          <a:xfrm rot="824214">
            <a:off x="5486116" y="103913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Trama 3</a:t>
            </a:r>
            <a:endParaRPr lang="es-MX" sz="1000" dirty="0"/>
          </a:p>
        </p:txBody>
      </p:sp>
      <p:sp>
        <p:nvSpPr>
          <p:cNvPr id="4" name="Abrir llave 3"/>
          <p:cNvSpPr/>
          <p:nvPr/>
        </p:nvSpPr>
        <p:spPr>
          <a:xfrm>
            <a:off x="5369408" y="572956"/>
            <a:ext cx="149846" cy="206566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14" name="Conector recto 113"/>
          <p:cNvCxnSpPr/>
          <p:nvPr/>
        </p:nvCxnSpPr>
        <p:spPr>
          <a:xfrm>
            <a:off x="5537414" y="2712731"/>
            <a:ext cx="1766044" cy="3483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CuadroTexto 114"/>
          <p:cNvSpPr txBox="1"/>
          <p:nvPr/>
        </p:nvSpPr>
        <p:spPr>
          <a:xfrm rot="824214">
            <a:off x="5519717" y="2557659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Trama 0</a:t>
            </a:r>
            <a:endParaRPr lang="es-MX" sz="1000" dirty="0"/>
          </a:p>
        </p:txBody>
      </p:sp>
      <p:cxnSp>
        <p:nvCxnSpPr>
          <p:cNvPr id="116" name="Conector recto 115"/>
          <p:cNvCxnSpPr/>
          <p:nvPr/>
        </p:nvCxnSpPr>
        <p:spPr>
          <a:xfrm>
            <a:off x="5537415" y="2918168"/>
            <a:ext cx="1766044" cy="3483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CuadroTexto 116"/>
          <p:cNvSpPr txBox="1"/>
          <p:nvPr/>
        </p:nvSpPr>
        <p:spPr>
          <a:xfrm rot="824214">
            <a:off x="5500187" y="2783529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Trama 1</a:t>
            </a:r>
            <a:endParaRPr lang="es-MX" sz="1000" dirty="0"/>
          </a:p>
        </p:txBody>
      </p:sp>
      <p:cxnSp>
        <p:nvCxnSpPr>
          <p:cNvPr id="118" name="Conector recto 117"/>
          <p:cNvCxnSpPr/>
          <p:nvPr/>
        </p:nvCxnSpPr>
        <p:spPr>
          <a:xfrm>
            <a:off x="5535066" y="3090219"/>
            <a:ext cx="1766044" cy="3483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CuadroTexto 118"/>
          <p:cNvSpPr txBox="1"/>
          <p:nvPr/>
        </p:nvSpPr>
        <p:spPr>
          <a:xfrm rot="824214">
            <a:off x="5489234" y="2963283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Trama 2</a:t>
            </a:r>
            <a:endParaRPr lang="es-MX" sz="1000" dirty="0"/>
          </a:p>
        </p:txBody>
      </p:sp>
      <p:cxnSp>
        <p:nvCxnSpPr>
          <p:cNvPr id="120" name="Conector recto 119"/>
          <p:cNvCxnSpPr/>
          <p:nvPr/>
        </p:nvCxnSpPr>
        <p:spPr>
          <a:xfrm>
            <a:off x="5535067" y="3295656"/>
            <a:ext cx="1766044" cy="3483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CuadroTexto 120"/>
          <p:cNvSpPr txBox="1"/>
          <p:nvPr/>
        </p:nvSpPr>
        <p:spPr>
          <a:xfrm rot="824214">
            <a:off x="5483768" y="3146949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Trama 3</a:t>
            </a:r>
            <a:endParaRPr lang="es-MX" sz="1000" dirty="0"/>
          </a:p>
        </p:txBody>
      </p:sp>
      <p:sp>
        <p:nvSpPr>
          <p:cNvPr id="130" name="CuadroTexto 129"/>
          <p:cNvSpPr txBox="1"/>
          <p:nvPr/>
        </p:nvSpPr>
        <p:spPr>
          <a:xfrm>
            <a:off x="6340731" y="1021699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X</a:t>
            </a:r>
            <a:endParaRPr lang="es-MX" sz="1100" dirty="0"/>
          </a:p>
        </p:txBody>
      </p:sp>
      <p:cxnSp>
        <p:nvCxnSpPr>
          <p:cNvPr id="131" name="Conector recto 130"/>
          <p:cNvCxnSpPr/>
          <p:nvPr/>
        </p:nvCxnSpPr>
        <p:spPr>
          <a:xfrm flipH="1">
            <a:off x="6503566" y="1167077"/>
            <a:ext cx="812742" cy="1952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CuadroTexto 131"/>
          <p:cNvSpPr txBox="1"/>
          <p:nvPr/>
        </p:nvSpPr>
        <p:spPr>
          <a:xfrm rot="20752532">
            <a:off x="6629223" y="1069432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 err="1"/>
              <a:t>Ack</a:t>
            </a:r>
            <a:r>
              <a:rPr lang="es-ES" sz="1000" dirty="0"/>
              <a:t> 2</a:t>
            </a:r>
            <a:endParaRPr lang="es-MX" sz="1000" dirty="0"/>
          </a:p>
        </p:txBody>
      </p:sp>
      <p:sp>
        <p:nvSpPr>
          <p:cNvPr id="133" name="CuadroTexto 132"/>
          <p:cNvSpPr txBox="1"/>
          <p:nvPr/>
        </p:nvSpPr>
        <p:spPr>
          <a:xfrm>
            <a:off x="6358491" y="1233805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X</a:t>
            </a:r>
            <a:endParaRPr lang="es-MX" sz="1100" dirty="0"/>
          </a:p>
        </p:txBody>
      </p:sp>
      <p:cxnSp>
        <p:nvCxnSpPr>
          <p:cNvPr id="134" name="Conector recto 133"/>
          <p:cNvCxnSpPr/>
          <p:nvPr/>
        </p:nvCxnSpPr>
        <p:spPr>
          <a:xfrm flipH="1">
            <a:off x="6503570" y="1334707"/>
            <a:ext cx="812742" cy="1952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CuadroTexto 134"/>
          <p:cNvSpPr txBox="1"/>
          <p:nvPr/>
        </p:nvSpPr>
        <p:spPr>
          <a:xfrm rot="20752532">
            <a:off x="6629227" y="1237062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 err="1"/>
              <a:t>Ack</a:t>
            </a:r>
            <a:r>
              <a:rPr lang="es-ES" sz="1000" dirty="0"/>
              <a:t> 3</a:t>
            </a:r>
            <a:endParaRPr lang="es-MX" sz="1000" dirty="0"/>
          </a:p>
        </p:txBody>
      </p:sp>
      <p:sp>
        <p:nvSpPr>
          <p:cNvPr id="136" name="CuadroTexto 135"/>
          <p:cNvSpPr txBox="1"/>
          <p:nvPr/>
        </p:nvSpPr>
        <p:spPr>
          <a:xfrm>
            <a:off x="6358495" y="1401435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X</a:t>
            </a:r>
            <a:endParaRPr lang="es-MX" sz="1100" dirty="0"/>
          </a:p>
        </p:txBody>
      </p:sp>
      <p:cxnSp>
        <p:nvCxnSpPr>
          <p:cNvPr id="137" name="Conector recto 136"/>
          <p:cNvCxnSpPr/>
          <p:nvPr/>
        </p:nvCxnSpPr>
        <p:spPr>
          <a:xfrm flipH="1">
            <a:off x="6497956" y="1562037"/>
            <a:ext cx="812742" cy="1952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CuadroTexto 137"/>
          <p:cNvSpPr txBox="1"/>
          <p:nvPr/>
        </p:nvSpPr>
        <p:spPr>
          <a:xfrm rot="20752532">
            <a:off x="6623613" y="1464392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 err="1"/>
              <a:t>Ack</a:t>
            </a:r>
            <a:r>
              <a:rPr lang="es-ES" sz="1000" dirty="0"/>
              <a:t> 4</a:t>
            </a:r>
            <a:endParaRPr lang="es-MX" sz="1000" dirty="0"/>
          </a:p>
        </p:txBody>
      </p:sp>
      <p:sp>
        <p:nvSpPr>
          <p:cNvPr id="139" name="CuadroTexto 138"/>
          <p:cNvSpPr txBox="1"/>
          <p:nvPr/>
        </p:nvSpPr>
        <p:spPr>
          <a:xfrm>
            <a:off x="6352881" y="1628765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X</a:t>
            </a:r>
            <a:endParaRPr lang="es-MX" sz="1100" dirty="0"/>
          </a:p>
        </p:txBody>
      </p:sp>
      <p:sp>
        <p:nvSpPr>
          <p:cNvPr id="155" name="Rectángulo 154"/>
          <p:cNvSpPr/>
          <p:nvPr/>
        </p:nvSpPr>
        <p:spPr>
          <a:xfrm>
            <a:off x="9964057" y="2631072"/>
            <a:ext cx="1955300" cy="426720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56" name="CuadroTexto 155"/>
          <p:cNvSpPr txBox="1"/>
          <p:nvPr/>
        </p:nvSpPr>
        <p:spPr>
          <a:xfrm>
            <a:off x="8947870" y="2366007"/>
            <a:ext cx="10246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b</a:t>
            </a:r>
            <a:r>
              <a:rPr lang="es-ES" sz="1200" baseline="-25000" dirty="0"/>
              <a:t>1</a:t>
            </a:r>
            <a:r>
              <a:rPr lang="es-ES" sz="1200" dirty="0"/>
              <a:t>            b</a:t>
            </a:r>
            <a:r>
              <a:rPr lang="es-ES" sz="1200" baseline="-25000" dirty="0"/>
              <a:t>2</a:t>
            </a:r>
            <a:endParaRPr lang="es-MX" sz="1200" baseline="-25000" dirty="0"/>
          </a:p>
        </p:txBody>
      </p:sp>
      <p:sp>
        <p:nvSpPr>
          <p:cNvPr id="157" name="Rectángulo 156"/>
          <p:cNvSpPr/>
          <p:nvPr/>
        </p:nvSpPr>
        <p:spPr>
          <a:xfrm>
            <a:off x="1382483" y="2322634"/>
            <a:ext cx="1940673" cy="426720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58" name="CuadroTexto 157"/>
          <p:cNvSpPr txBox="1"/>
          <p:nvPr/>
        </p:nvSpPr>
        <p:spPr>
          <a:xfrm>
            <a:off x="1378670" y="2057573"/>
            <a:ext cx="10278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a</a:t>
            </a:r>
            <a:r>
              <a:rPr lang="es-ES" sz="1200" baseline="-25000" dirty="0"/>
              <a:t>1</a:t>
            </a:r>
            <a:r>
              <a:rPr lang="es-ES" sz="1200" dirty="0"/>
              <a:t>            a</a:t>
            </a:r>
            <a:r>
              <a:rPr lang="es-ES" sz="1200" baseline="-25000" dirty="0"/>
              <a:t>2</a:t>
            </a:r>
            <a:endParaRPr lang="es-MX" sz="1200" baseline="-25000" dirty="0"/>
          </a:p>
        </p:txBody>
      </p:sp>
      <p:sp>
        <p:nvSpPr>
          <p:cNvPr id="5" name="CuadroTexto 4"/>
          <p:cNvSpPr txBox="1"/>
          <p:nvPr/>
        </p:nvSpPr>
        <p:spPr>
          <a:xfrm>
            <a:off x="1043138" y="5001501"/>
            <a:ext cx="3962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rgbClr val="FF0000"/>
                </a:solidFill>
              </a:rPr>
              <a:t>* Rechazo Selectivo ya puede detectar ventanas duplicadas</a:t>
            </a:r>
            <a:endParaRPr lang="es-MX" sz="1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/>
              <p:cNvSpPr txBox="1"/>
              <p:nvPr/>
            </p:nvSpPr>
            <p:spPr>
              <a:xfrm>
                <a:off x="1683715" y="4309896"/>
                <a:ext cx="3116559" cy="7210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1400" dirty="0"/>
                  <a:t>Si usamos un tamaño de ventana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s-E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E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s-ES" sz="1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num>
                        <m:den>
                          <m:r>
                            <a:rPr lang="es-E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MX" sz="1400" dirty="0"/>
              </a:p>
            </p:txBody>
          </p:sp>
        </mc:Choice>
        <mc:Fallback xmlns="">
          <p:sp>
            <p:nvSpPr>
              <p:cNvPr id="3" name="CuadroText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3715" y="4309896"/>
                <a:ext cx="3116559" cy="721095"/>
              </a:xfrm>
              <a:prstGeom prst="rect">
                <a:avLst/>
              </a:prstGeom>
              <a:blipFill rotWithShape="0">
                <a:blip r:embed="rId3"/>
                <a:stretch>
                  <a:fillRect l="-587" t="-1695" b="-169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Rectángulo 80"/>
          <p:cNvSpPr/>
          <p:nvPr/>
        </p:nvSpPr>
        <p:spPr>
          <a:xfrm>
            <a:off x="1382486" y="874831"/>
            <a:ext cx="968828" cy="339653"/>
          </a:xfrm>
          <a:prstGeom prst="rect">
            <a:avLst/>
          </a:prstGeom>
          <a:noFill/>
          <a:ln w="2222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83" name="Rectángulo 82"/>
          <p:cNvSpPr/>
          <p:nvPr/>
        </p:nvSpPr>
        <p:spPr>
          <a:xfrm>
            <a:off x="8000995" y="863942"/>
            <a:ext cx="961239" cy="339653"/>
          </a:xfrm>
          <a:prstGeom prst="rect">
            <a:avLst/>
          </a:prstGeom>
          <a:noFill/>
          <a:ln w="2222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84" name="Rectángulo 83"/>
          <p:cNvSpPr/>
          <p:nvPr/>
        </p:nvSpPr>
        <p:spPr>
          <a:xfrm>
            <a:off x="1382487" y="2366177"/>
            <a:ext cx="968827" cy="339653"/>
          </a:xfrm>
          <a:prstGeom prst="rect">
            <a:avLst/>
          </a:prstGeom>
          <a:noFill/>
          <a:ln w="2222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86" name="Rectángulo 85"/>
          <p:cNvSpPr/>
          <p:nvPr/>
        </p:nvSpPr>
        <p:spPr>
          <a:xfrm>
            <a:off x="8980703" y="2681861"/>
            <a:ext cx="983354" cy="339653"/>
          </a:xfrm>
          <a:prstGeom prst="rect">
            <a:avLst/>
          </a:prstGeom>
          <a:noFill/>
          <a:ln w="2222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51148053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69632" y="288658"/>
            <a:ext cx="8911687" cy="745998"/>
          </a:xfrm>
        </p:spPr>
        <p:txBody>
          <a:bodyPr/>
          <a:lstStyle/>
          <a:p>
            <a:r>
              <a:rPr lang="es-ES" dirty="0"/>
              <a:t>Control de flujo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553456" y="981138"/>
            <a:ext cx="8915400" cy="596153"/>
          </a:xfrm>
        </p:spPr>
        <p:txBody>
          <a:bodyPr>
            <a:normAutofit fontScale="85000" lnSpcReduction="20000"/>
          </a:bodyPr>
          <a:lstStyle/>
          <a:p>
            <a:r>
              <a:rPr lang="es-ES" dirty="0"/>
              <a:t>Control de error en Ventana deslizante</a:t>
            </a:r>
          </a:p>
          <a:p>
            <a:pPr marL="0" indent="0">
              <a:buNone/>
            </a:pPr>
            <a:r>
              <a:rPr lang="es-ES" b="1" dirty="0"/>
              <a:t>  - Tamaño máximo de ventana</a:t>
            </a:r>
            <a:endParaRPr lang="es-MX" b="1" dirty="0"/>
          </a:p>
        </p:txBody>
      </p:sp>
      <p:sp>
        <p:nvSpPr>
          <p:cNvPr id="72" name="CuadroTexto 71"/>
          <p:cNvSpPr txBox="1"/>
          <p:nvPr/>
        </p:nvSpPr>
        <p:spPr>
          <a:xfrm>
            <a:off x="1277264" y="6581001"/>
            <a:ext cx="108622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</a:t>
            </a:r>
            <a:r>
              <a:rPr lang="es-MX" sz="1200" dirty="0">
                <a:hlinkClick r:id="rId2"/>
              </a:rPr>
              <a:t>http://exa.unne.edu.ar/depar/areas/informatica/teleproc/Comunicaciones/Presentaciones_Proyector/ControldelEnlacedeDatos.pdf</a:t>
            </a:r>
            <a:r>
              <a:rPr lang="es-MX" sz="1200" dirty="0"/>
              <a:t>.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1173003" y="2808905"/>
            <a:ext cx="3507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Tamaño máximo de ventana</a:t>
            </a:r>
            <a:endParaRPr lang="es-MX" dirty="0"/>
          </a:p>
        </p:txBody>
      </p:sp>
      <p:sp>
        <p:nvSpPr>
          <p:cNvPr id="5" name="Abrir llave 4"/>
          <p:cNvSpPr/>
          <p:nvPr/>
        </p:nvSpPr>
        <p:spPr>
          <a:xfrm>
            <a:off x="4572001" y="2013856"/>
            <a:ext cx="402771" cy="195942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/>
              <p:cNvSpPr txBox="1"/>
              <p:nvPr/>
            </p:nvSpPr>
            <p:spPr>
              <a:xfrm>
                <a:off x="4773386" y="3175963"/>
                <a:ext cx="7113814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1400" dirty="0"/>
                  <a:t> </a:t>
                </a:r>
                <a14:m>
                  <m:oMath xmlns:m="http://schemas.openxmlformats.org/officeDocument/2006/math">
                    <m:r>
                      <a:rPr lang="es-ES" sz="14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s-ES" sz="1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s-ES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s-ES" sz="1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s-ES" sz="1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s-ES" sz="1400" dirty="0"/>
                  <a:t> para Rechazo Selectivo</a:t>
                </a:r>
              </a:p>
            </p:txBody>
          </p:sp>
        </mc:Choice>
        <mc:Fallback xmlns="">
          <p:sp>
            <p:nvSpPr>
              <p:cNvPr id="7" name="CuadroTexto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3386" y="3175963"/>
                <a:ext cx="7113814" cy="417358"/>
              </a:xfrm>
              <a:prstGeom prst="rect">
                <a:avLst/>
              </a:prstGeom>
              <a:blipFill rotWithShape="0">
                <a:blip r:embed="rId3"/>
                <a:stretch>
                  <a:fillRect b="-147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/>
              <p:cNvSpPr txBox="1"/>
              <p:nvPr/>
            </p:nvSpPr>
            <p:spPr>
              <a:xfrm>
                <a:off x="4773386" y="2257390"/>
                <a:ext cx="288944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1400" dirty="0"/>
                  <a:t>  </a:t>
                </a:r>
                <a14:m>
                  <m:oMath xmlns:m="http://schemas.openxmlformats.org/officeDocument/2006/math">
                    <m:r>
                      <a:rPr lang="es-ES" sz="14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s-E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s-E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s-E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s-E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s-ES" sz="1400" dirty="0"/>
                  <a:t> para Vuelta atrás N</a:t>
                </a:r>
              </a:p>
            </p:txBody>
          </p:sp>
        </mc:Choice>
        <mc:Fallback xmlns="">
          <p:sp>
            <p:nvSpPr>
              <p:cNvPr id="8" name="CuadroTexto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3386" y="2257390"/>
                <a:ext cx="2889445" cy="307777"/>
              </a:xfrm>
              <a:prstGeom prst="rect">
                <a:avLst/>
              </a:prstGeom>
              <a:blipFill rotWithShape="0">
                <a:blip r:embed="rId4"/>
                <a:stretch>
                  <a:fillRect t="-1961" b="-19608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2051198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69632" y="288658"/>
            <a:ext cx="8911687" cy="745998"/>
          </a:xfrm>
        </p:spPr>
        <p:txBody>
          <a:bodyPr/>
          <a:lstStyle/>
          <a:p>
            <a:r>
              <a:rPr lang="es-ES" dirty="0"/>
              <a:t>Control de flujo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553456" y="981138"/>
            <a:ext cx="8915400" cy="596153"/>
          </a:xfrm>
        </p:spPr>
        <p:txBody>
          <a:bodyPr>
            <a:normAutofit/>
          </a:bodyPr>
          <a:lstStyle/>
          <a:p>
            <a:r>
              <a:rPr lang="es-ES" dirty="0"/>
              <a:t>Utilización de canal en Ventana deslizante</a:t>
            </a:r>
          </a:p>
        </p:txBody>
      </p:sp>
      <p:sp>
        <p:nvSpPr>
          <p:cNvPr id="72" name="CuadroTexto 71"/>
          <p:cNvSpPr txBox="1"/>
          <p:nvPr/>
        </p:nvSpPr>
        <p:spPr>
          <a:xfrm>
            <a:off x="1277264" y="6581001"/>
            <a:ext cx="108622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*Fuente:</a:t>
            </a:r>
            <a:r>
              <a:rPr lang="es-MX" sz="1200" dirty="0">
                <a:hlinkClick r:id="rId2"/>
              </a:rPr>
              <a:t>http://exa.unne.edu.ar/depar/areas/informatica/teleproc/Comunicaciones/Presentaciones_Proyector/ControldelEnlacedeDatos.pdf</a:t>
            </a:r>
            <a:r>
              <a:rPr lang="es-MX" sz="12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/>
              <p:cNvSpPr txBox="1"/>
              <p:nvPr/>
            </p:nvSpPr>
            <p:spPr>
              <a:xfrm>
                <a:off x="3929351" y="2808905"/>
                <a:ext cx="7515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4" name="Cuadro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9351" y="2808905"/>
                <a:ext cx="751506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brir llave 4"/>
          <p:cNvSpPr/>
          <p:nvPr/>
        </p:nvSpPr>
        <p:spPr>
          <a:xfrm>
            <a:off x="4572001" y="2013856"/>
            <a:ext cx="402771" cy="195942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/>
              <p:cNvSpPr txBox="1"/>
              <p:nvPr/>
            </p:nvSpPr>
            <p:spPr>
              <a:xfrm>
                <a:off x="4845661" y="3225014"/>
                <a:ext cx="7113814" cy="417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1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E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s-ES" sz="14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s-ES" sz="14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ES" sz="1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es-ES" sz="1400" dirty="0"/>
                  <a:t> x 100 %   ;   cuando </a:t>
                </a:r>
                <a14:m>
                  <m:oMath xmlns:m="http://schemas.openxmlformats.org/officeDocument/2006/math">
                    <m:r>
                      <a:rPr lang="es-ES" sz="1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s-ES" sz="1400" b="0" i="1" smtClean="0">
                        <a:latin typeface="Cambria Math" panose="02040503050406030204" pitchFamily="18" charset="0"/>
                      </a:rPr>
                      <m:t>&lt;1+2</m:t>
                    </m:r>
                    <m:r>
                      <a:rPr lang="es-ES" sz="1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s-ES" sz="1400" dirty="0"/>
              </a:p>
            </p:txBody>
          </p:sp>
        </mc:Choice>
        <mc:Fallback xmlns="">
          <p:sp>
            <p:nvSpPr>
              <p:cNvPr id="7" name="CuadroTexto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5661" y="3225014"/>
                <a:ext cx="7113814" cy="41735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/>
              <p:cNvSpPr txBox="1"/>
              <p:nvPr/>
            </p:nvSpPr>
            <p:spPr>
              <a:xfrm>
                <a:off x="4773386" y="2257390"/>
                <a:ext cx="49151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1400" dirty="0"/>
                  <a:t>  1 x 100 %  ;   cuando     </a:t>
                </a:r>
                <a14:m>
                  <m:oMath xmlns:m="http://schemas.openxmlformats.org/officeDocument/2006/math">
                    <m:r>
                      <a:rPr lang="es-ES" sz="14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s-ES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s-E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1+2</m:t>
                    </m:r>
                    <m:r>
                      <a:rPr lang="es-E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s-ES" sz="1400" dirty="0"/>
                  <a:t> para Vuelta atrás N</a:t>
                </a:r>
              </a:p>
            </p:txBody>
          </p:sp>
        </mc:Choice>
        <mc:Fallback xmlns="">
          <p:sp>
            <p:nvSpPr>
              <p:cNvPr id="8" name="CuadroTexto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3386" y="2257390"/>
                <a:ext cx="4915128" cy="307777"/>
              </a:xfrm>
              <a:prstGeom prst="rect">
                <a:avLst/>
              </a:prstGeom>
              <a:blipFill rotWithShape="0">
                <a:blip r:embed="rId5"/>
                <a:stretch>
                  <a:fillRect t="-1961" b="-19608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627921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>
                <a:hlinkClick r:id="rId2"/>
              </a:rPr>
              <a:t>https://archive.org/details/Transmision.de.Datos.y.Redes.de.Comunicaciones.2da.Edicion.Behrouz.A.Forouzan/page/n206/mode/1up?q=cap%C3%ADtulo+12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11631814"/>
      </p:ext>
    </p:extLst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Personalizado 3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3F3F3F"/>
      </a:hlink>
      <a:folHlink>
        <a:srgbClr val="000000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39579</TotalTime>
  <Words>11098</Words>
  <Application>Microsoft Office PowerPoint</Application>
  <PresentationFormat>Panorámica</PresentationFormat>
  <Paragraphs>2248</Paragraphs>
  <Slides>108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108</vt:i4>
      </vt:variant>
    </vt:vector>
  </HeadingPairs>
  <TitlesOfParts>
    <vt:vector size="113" baseType="lpstr">
      <vt:lpstr>Arial</vt:lpstr>
      <vt:lpstr>Cambria Math</vt:lpstr>
      <vt:lpstr>Century Gothic</vt:lpstr>
      <vt:lpstr>Wingdings 3</vt:lpstr>
      <vt:lpstr>Espiral</vt:lpstr>
      <vt:lpstr>Redes de Computadoras</vt:lpstr>
      <vt:lpstr>Red de Computadoras (def.)</vt:lpstr>
      <vt:lpstr>Clasificación de las redes de computadoras</vt:lpstr>
      <vt:lpstr>Clasificación de las redes de computadoras</vt:lpstr>
      <vt:lpstr>Clasificación de las redes de computadoras</vt:lpstr>
      <vt:lpstr>Clasificación de las redes de computadoras</vt:lpstr>
      <vt:lpstr>Clasificación de las redes de computadoras</vt:lpstr>
      <vt:lpstr>Clasificación de las redes de computadoras</vt:lpstr>
      <vt:lpstr>Clasificación de las redes de computadoras</vt:lpstr>
      <vt:lpstr>Clasificación de las redes de computadoras</vt:lpstr>
      <vt:lpstr>Clasificación de las redes de computadoras</vt:lpstr>
      <vt:lpstr>Clasificación de las redes de computadoras</vt:lpstr>
      <vt:lpstr>Protocolo de comunicación (def.)</vt:lpstr>
      <vt:lpstr>Ej. Protocolo TCP</vt:lpstr>
      <vt:lpstr>Ej. Protocolo TCP</vt:lpstr>
      <vt:lpstr>Ej. Protocolo TCP</vt:lpstr>
      <vt:lpstr>Protocolo estándar vs no estándar </vt:lpstr>
      <vt:lpstr>Organizaciones de estandarización</vt:lpstr>
      <vt:lpstr>Modelo de Interconexión de Sistemas Abiertos (OSI)</vt:lpstr>
      <vt:lpstr>Modelo de Interconexión de Sistemas Abiertos (OSI)</vt:lpstr>
      <vt:lpstr>Modelo de Interconexión de Sistemas Abiertos (OSI)</vt:lpstr>
      <vt:lpstr>Modelo de Interconexión de Sistemas Abiertos (OSI)</vt:lpstr>
      <vt:lpstr>Modelo de Interconexión de Sistemas Abiertos (OSI)</vt:lpstr>
      <vt:lpstr>Modelo de Interconexión de Sistemas Abiertos (OSI)</vt:lpstr>
      <vt:lpstr>Modelo de Interconexión de Sistemas Abiertos (OSI)</vt:lpstr>
      <vt:lpstr>Modelo de Interconexión de Sistemas Abiertos (OSI)</vt:lpstr>
      <vt:lpstr>Modelo de Interconexión de Sistemas Abiertos (OSI)</vt:lpstr>
      <vt:lpstr>Modelo de Interconexión de Sistemas Abiertos (OSI)</vt:lpstr>
      <vt:lpstr>Funciones que deben desempeñar todas las redes</vt:lpstr>
      <vt:lpstr>Funciones que deben desempeñar todas las redes</vt:lpstr>
      <vt:lpstr>Funciones que deben desempeñar todas las redes</vt:lpstr>
      <vt:lpstr>Control de error</vt:lpstr>
      <vt:lpstr>Control de error</vt:lpstr>
      <vt:lpstr>Control de error</vt:lpstr>
      <vt:lpstr>Control de error</vt:lpstr>
      <vt:lpstr>Control de error</vt:lpstr>
      <vt:lpstr>Control de error</vt:lpstr>
      <vt:lpstr>Control de error</vt:lpstr>
      <vt:lpstr>Control de error</vt:lpstr>
      <vt:lpstr>Control de error</vt:lpstr>
      <vt:lpstr>Control de error</vt:lpstr>
      <vt:lpstr>Control de error</vt:lpstr>
      <vt:lpstr>Control de error</vt:lpstr>
      <vt:lpstr>Control de error</vt:lpstr>
      <vt:lpstr>Control de error</vt:lpstr>
      <vt:lpstr>Control de error</vt:lpstr>
      <vt:lpstr>Control de error</vt:lpstr>
      <vt:lpstr>Control de error</vt:lpstr>
      <vt:lpstr>Control de error</vt:lpstr>
      <vt:lpstr>Control de error</vt:lpstr>
      <vt:lpstr>Control de error</vt:lpstr>
      <vt:lpstr>Control de error</vt:lpstr>
      <vt:lpstr>Control de error</vt:lpstr>
      <vt:lpstr>Control de error</vt:lpstr>
      <vt:lpstr>Control de error</vt:lpstr>
      <vt:lpstr>Control de error</vt:lpstr>
      <vt:lpstr>Control de error</vt:lpstr>
      <vt:lpstr>Control de error</vt:lpstr>
      <vt:lpstr>Control de error</vt:lpstr>
      <vt:lpstr>Control de error</vt:lpstr>
      <vt:lpstr>Control de error</vt:lpstr>
      <vt:lpstr>Control de error</vt:lpstr>
      <vt:lpstr>Control de error</vt:lpstr>
      <vt:lpstr>Control de error</vt:lpstr>
      <vt:lpstr>Control de error</vt:lpstr>
      <vt:lpstr>Control de error</vt:lpstr>
      <vt:lpstr>Control de error</vt:lpstr>
      <vt:lpstr>Control de error</vt:lpstr>
      <vt:lpstr>Control de error</vt:lpstr>
      <vt:lpstr>Control de error</vt:lpstr>
      <vt:lpstr>Control de error</vt:lpstr>
      <vt:lpstr>Control de error</vt:lpstr>
      <vt:lpstr>Control de error</vt:lpstr>
      <vt:lpstr>Control de error</vt:lpstr>
      <vt:lpstr>Direccionamiento</vt:lpstr>
      <vt:lpstr>Direccionamiento</vt:lpstr>
      <vt:lpstr>Direccionamiento</vt:lpstr>
      <vt:lpstr>Entrega en orden</vt:lpstr>
      <vt:lpstr>Control de conexión</vt:lpstr>
      <vt:lpstr>Servicios de transmisión</vt:lpstr>
      <vt:lpstr>Servicios de transmisión</vt:lpstr>
      <vt:lpstr>Multiplexación</vt:lpstr>
      <vt:lpstr>Multiplexación</vt:lpstr>
      <vt:lpstr>Segmentación y ensamblado</vt:lpstr>
      <vt:lpstr>Segmentación y ensamblado</vt:lpstr>
      <vt:lpstr>Control de flujo</vt:lpstr>
      <vt:lpstr>Control de flujo</vt:lpstr>
      <vt:lpstr>Control de flujo</vt:lpstr>
      <vt:lpstr>Control de flujo</vt:lpstr>
      <vt:lpstr>Control de flujo</vt:lpstr>
      <vt:lpstr>Control de flujo</vt:lpstr>
      <vt:lpstr>Control de flujo</vt:lpstr>
      <vt:lpstr>Control de flujo</vt:lpstr>
      <vt:lpstr>Control de flujo</vt:lpstr>
      <vt:lpstr>Control de flujo</vt:lpstr>
      <vt:lpstr>Control de flujo</vt:lpstr>
      <vt:lpstr>Control de flujo</vt:lpstr>
      <vt:lpstr>Control de flujo</vt:lpstr>
      <vt:lpstr>Control de flujo</vt:lpstr>
      <vt:lpstr>Control de flujo</vt:lpstr>
      <vt:lpstr>Control de flujo</vt:lpstr>
      <vt:lpstr>Control de flujo</vt:lpstr>
      <vt:lpstr>Control de flujo</vt:lpstr>
      <vt:lpstr>Control de flujo</vt:lpstr>
      <vt:lpstr>Control de flujo</vt:lpstr>
      <vt:lpstr>Control de flujo</vt:lpstr>
      <vt:lpstr>Control de flujo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Redes de Computadoras</dc:title>
  <dc:creator>axel axel</dc:creator>
  <cp:lastModifiedBy>Axel Moreno</cp:lastModifiedBy>
  <cp:revision>254</cp:revision>
  <dcterms:created xsi:type="dcterms:W3CDTF">2020-08-09T20:19:49Z</dcterms:created>
  <dcterms:modified xsi:type="dcterms:W3CDTF">2024-03-26T13:40:03Z</dcterms:modified>
</cp:coreProperties>
</file>