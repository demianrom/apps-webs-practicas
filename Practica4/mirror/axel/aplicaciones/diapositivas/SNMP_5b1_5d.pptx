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92" r:id="rId18"/>
    <p:sldId id="293" r:id="rId19"/>
    <p:sldId id="294" r:id="rId20"/>
    <p:sldId id="271" r:id="rId21"/>
    <p:sldId id="272" r:id="rId22"/>
    <p:sldId id="273" r:id="rId23"/>
    <p:sldId id="274" r:id="rId24"/>
    <p:sldId id="275" r:id="rId25"/>
    <p:sldId id="276" r:id="rId26"/>
    <p:sldId id="277" r:id="rId27"/>
    <p:sldId id="278" r:id="rId28"/>
    <p:sldId id="295" r:id="rId29"/>
    <p:sldId id="296" r:id="rId30"/>
    <p:sldId id="297" r:id="rId31"/>
    <p:sldId id="298" r:id="rId32"/>
    <p:sldId id="299" r:id="rId33"/>
    <p:sldId id="300" r:id="rId34"/>
    <p:sldId id="301" r:id="rId35"/>
    <p:sldId id="302" r:id="rId36"/>
    <p:sldId id="303" r:id="rId37"/>
    <p:sldId id="304" r:id="rId38"/>
    <p:sldId id="279" r:id="rId39"/>
    <p:sldId id="280" r:id="rId40"/>
    <p:sldId id="281" r:id="rId41"/>
    <p:sldId id="282" r:id="rId42"/>
    <p:sldId id="283" r:id="rId43"/>
    <p:sldId id="284" r:id="rId44"/>
    <p:sldId id="290" r:id="rId45"/>
    <p:sldId id="291" r:id="rId46"/>
    <p:sldId id="285" r:id="rId47"/>
    <p:sldId id="286" r:id="rId48"/>
    <p:sldId id="287" r:id="rId49"/>
    <p:sldId id="288" r:id="rId50"/>
    <p:sldId id="289" r:id="rId51"/>
  </p:sldIdLst>
  <p:sldSz cx="12192000" cy="6858000"/>
  <p:notesSz cx="7772400" cy="100584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B75391-BF5C-47AF-B4D2-AE01E57D0AE0}" v="15" dt="2023-06-20T02:02:32.76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5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13" name="PlaceHolder 3"/>
          <p:cNvSpPr>
            <a:spLocks noGrp="1"/>
          </p:cNvSpPr>
          <p:nvPr>
            <p:ph type="body"/>
          </p:nvPr>
        </p:nvSpPr>
        <p:spPr>
          <a:xfrm>
            <a:off x="609480" y="368208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14" name="PlaceHolder 4"/>
          <p:cNvSpPr>
            <a:spLocks noGrp="1"/>
          </p:cNvSpPr>
          <p:nvPr>
            <p:ph type="body"/>
          </p:nvPr>
        </p:nvSpPr>
        <p:spPr>
          <a:xfrm>
            <a:off x="6231960" y="1604520"/>
            <a:ext cx="535428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29" name="PlaceHolder 4"/>
          <p:cNvSpPr>
            <a:spLocks noGrp="1"/>
          </p:cNvSpPr>
          <p:nvPr>
            <p:ph type="body"/>
          </p:nvPr>
        </p:nvSpPr>
        <p:spPr>
          <a:xfrm>
            <a:off x="6231960" y="368208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30" name="PlaceHolder 5"/>
          <p:cNvSpPr>
            <a:spLocks noGrp="1"/>
          </p:cNvSpPr>
          <p:nvPr>
            <p:ph type="body"/>
          </p:nvPr>
        </p:nvSpPr>
        <p:spPr>
          <a:xfrm>
            <a:off x="609480" y="368208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32" name="PlaceHolder 2"/>
          <p:cNvSpPr>
            <a:spLocks noGrp="1"/>
          </p:cNvSpPr>
          <p:nvPr>
            <p:ph type="body"/>
          </p:nvPr>
        </p:nvSpPr>
        <p:spPr>
          <a:xfrm>
            <a:off x="609480" y="1604520"/>
            <a:ext cx="1097244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33" name="PlaceHolder 3"/>
          <p:cNvSpPr>
            <a:spLocks noGrp="1"/>
          </p:cNvSpPr>
          <p:nvPr>
            <p:ph type="body"/>
          </p:nvPr>
        </p:nvSpPr>
        <p:spPr>
          <a:xfrm>
            <a:off x="609480" y="1604520"/>
            <a:ext cx="1097244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pic>
        <p:nvPicPr>
          <p:cNvPr id="34" name="Imagen 33"/>
          <p:cNvPicPr/>
          <p:nvPr/>
        </p:nvPicPr>
        <p:blipFill>
          <a:blip r:embed="rId2"/>
          <a:stretch/>
        </p:blipFill>
        <p:spPr>
          <a:xfrm>
            <a:off x="3602880" y="1604520"/>
            <a:ext cx="4984920" cy="3977280"/>
          </a:xfrm>
          <a:prstGeom prst="rect">
            <a:avLst/>
          </a:prstGeom>
          <a:ln>
            <a:noFill/>
          </a:ln>
        </p:spPr>
      </p:pic>
      <p:pic>
        <p:nvPicPr>
          <p:cNvPr id="35" name="Imagen 34"/>
          <p:cNvPicPr/>
          <p:nvPr/>
        </p:nvPicPr>
        <p:blipFill>
          <a:blip r:embed="rId2"/>
          <a:stretch/>
        </p:blipFill>
        <p:spPr>
          <a:xfrm>
            <a:off x="3602880" y="1604520"/>
            <a:ext cx="498492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39"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41" name="PlaceHolder 2"/>
          <p:cNvSpPr>
            <a:spLocks noGrp="1"/>
          </p:cNvSpPr>
          <p:nvPr>
            <p:ph type="body"/>
          </p:nvPr>
        </p:nvSpPr>
        <p:spPr>
          <a:xfrm>
            <a:off x="609480" y="1604520"/>
            <a:ext cx="1097244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43" name="PlaceHolder 2"/>
          <p:cNvSpPr>
            <a:spLocks noGrp="1"/>
          </p:cNvSpPr>
          <p:nvPr>
            <p:ph type="body"/>
          </p:nvPr>
        </p:nvSpPr>
        <p:spPr>
          <a:xfrm>
            <a:off x="609480" y="1604520"/>
            <a:ext cx="535428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44" name="PlaceHolder 3"/>
          <p:cNvSpPr>
            <a:spLocks noGrp="1"/>
          </p:cNvSpPr>
          <p:nvPr>
            <p:ph type="body"/>
          </p:nvPr>
        </p:nvSpPr>
        <p:spPr>
          <a:xfrm>
            <a:off x="6231960" y="1604520"/>
            <a:ext cx="535428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48" name="PlaceHolder 2"/>
          <p:cNvSpPr>
            <a:spLocks noGrp="1"/>
          </p:cNvSpPr>
          <p:nvPr>
            <p:ph type="body"/>
          </p:nvPr>
        </p:nvSpPr>
        <p:spPr>
          <a:xfrm>
            <a:off x="60948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49" name="PlaceHolder 3"/>
          <p:cNvSpPr>
            <a:spLocks noGrp="1"/>
          </p:cNvSpPr>
          <p:nvPr>
            <p:ph type="body"/>
          </p:nvPr>
        </p:nvSpPr>
        <p:spPr>
          <a:xfrm>
            <a:off x="609480" y="368208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50" name="PlaceHolder 4"/>
          <p:cNvSpPr>
            <a:spLocks noGrp="1"/>
          </p:cNvSpPr>
          <p:nvPr>
            <p:ph type="body"/>
          </p:nvPr>
        </p:nvSpPr>
        <p:spPr>
          <a:xfrm>
            <a:off x="6231960" y="1604520"/>
            <a:ext cx="535428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53" name="PlaceHolder 3"/>
          <p:cNvSpPr>
            <a:spLocks noGrp="1"/>
          </p:cNvSpPr>
          <p:nvPr>
            <p:ph type="body"/>
          </p:nvPr>
        </p:nvSpPr>
        <p:spPr>
          <a:xfrm>
            <a:off x="623196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54" name="PlaceHolder 4"/>
          <p:cNvSpPr>
            <a:spLocks noGrp="1"/>
          </p:cNvSpPr>
          <p:nvPr>
            <p:ph type="body"/>
          </p:nvPr>
        </p:nvSpPr>
        <p:spPr>
          <a:xfrm>
            <a:off x="6231960" y="368208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56" name="PlaceHolder 2"/>
          <p:cNvSpPr>
            <a:spLocks noGrp="1"/>
          </p:cNvSpPr>
          <p:nvPr>
            <p:ph type="body"/>
          </p:nvPr>
        </p:nvSpPr>
        <p:spPr>
          <a:xfrm>
            <a:off x="60948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57" name="PlaceHolder 3"/>
          <p:cNvSpPr>
            <a:spLocks noGrp="1"/>
          </p:cNvSpPr>
          <p:nvPr>
            <p:ph type="body"/>
          </p:nvPr>
        </p:nvSpPr>
        <p:spPr>
          <a:xfrm>
            <a:off x="623196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58" name="PlaceHolder 4"/>
          <p:cNvSpPr>
            <a:spLocks noGrp="1"/>
          </p:cNvSpPr>
          <p:nvPr>
            <p:ph type="body"/>
          </p:nvPr>
        </p:nvSpPr>
        <p:spPr>
          <a:xfrm>
            <a:off x="609480" y="3682080"/>
            <a:ext cx="1097244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60" name="PlaceHolder 2"/>
          <p:cNvSpPr>
            <a:spLocks noGrp="1"/>
          </p:cNvSpPr>
          <p:nvPr>
            <p:ph type="body"/>
          </p:nvPr>
        </p:nvSpPr>
        <p:spPr>
          <a:xfrm>
            <a:off x="609480" y="1604520"/>
            <a:ext cx="1097244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61" name="PlaceHolder 3"/>
          <p:cNvSpPr>
            <a:spLocks noGrp="1"/>
          </p:cNvSpPr>
          <p:nvPr>
            <p:ph type="body"/>
          </p:nvPr>
        </p:nvSpPr>
        <p:spPr>
          <a:xfrm>
            <a:off x="609480" y="3682080"/>
            <a:ext cx="1097244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63" name="PlaceHolder 2"/>
          <p:cNvSpPr>
            <a:spLocks noGrp="1"/>
          </p:cNvSpPr>
          <p:nvPr>
            <p:ph type="body"/>
          </p:nvPr>
        </p:nvSpPr>
        <p:spPr>
          <a:xfrm>
            <a:off x="60948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64" name="PlaceHolder 3"/>
          <p:cNvSpPr>
            <a:spLocks noGrp="1"/>
          </p:cNvSpPr>
          <p:nvPr>
            <p:ph type="body"/>
          </p:nvPr>
        </p:nvSpPr>
        <p:spPr>
          <a:xfrm>
            <a:off x="6231960" y="160452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65" name="PlaceHolder 4"/>
          <p:cNvSpPr>
            <a:spLocks noGrp="1"/>
          </p:cNvSpPr>
          <p:nvPr>
            <p:ph type="body"/>
          </p:nvPr>
        </p:nvSpPr>
        <p:spPr>
          <a:xfrm>
            <a:off x="6231960" y="368208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66" name="PlaceHolder 5"/>
          <p:cNvSpPr>
            <a:spLocks noGrp="1"/>
          </p:cNvSpPr>
          <p:nvPr>
            <p:ph type="body"/>
          </p:nvPr>
        </p:nvSpPr>
        <p:spPr>
          <a:xfrm>
            <a:off x="609480" y="3682080"/>
            <a:ext cx="5354280" cy="189684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68" name="PlaceHolder 2"/>
          <p:cNvSpPr>
            <a:spLocks noGrp="1"/>
          </p:cNvSpPr>
          <p:nvPr>
            <p:ph type="body"/>
          </p:nvPr>
        </p:nvSpPr>
        <p:spPr>
          <a:xfrm>
            <a:off x="609480" y="1604520"/>
            <a:ext cx="1097244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sp>
        <p:nvSpPr>
          <p:cNvPr id="69" name="PlaceHolder 3"/>
          <p:cNvSpPr>
            <a:spLocks noGrp="1"/>
          </p:cNvSpPr>
          <p:nvPr>
            <p:ph type="body"/>
          </p:nvPr>
        </p:nvSpPr>
        <p:spPr>
          <a:xfrm>
            <a:off x="609480" y="1604520"/>
            <a:ext cx="10972440" cy="3977280"/>
          </a:xfrm>
          <a:prstGeom prst="rect">
            <a:avLst/>
          </a:prstGeom>
        </p:spPr>
        <p:txBody>
          <a:bodyPr lIns="0" tIns="0" rIns="0" bIns="0"/>
          <a:lstStyle/>
          <a:p>
            <a:endParaRPr lang="es-MX" sz="3200" b="0" strike="noStrike" spc="-1">
              <a:solidFill>
                <a:srgbClr val="000000"/>
              </a:solidFill>
              <a:uFill>
                <a:solidFill>
                  <a:srgbClr val="FFFFFF"/>
                </a:solidFill>
              </a:uFill>
              <a:latin typeface="Arial"/>
            </a:endParaRPr>
          </a:p>
        </p:txBody>
      </p:sp>
      <p:pic>
        <p:nvPicPr>
          <p:cNvPr id="70" name="Imagen 69"/>
          <p:cNvPicPr/>
          <p:nvPr/>
        </p:nvPicPr>
        <p:blipFill>
          <a:blip r:embed="rId2"/>
          <a:stretch/>
        </p:blipFill>
        <p:spPr>
          <a:xfrm>
            <a:off x="3602880" y="1604520"/>
            <a:ext cx="4984920" cy="3977280"/>
          </a:xfrm>
          <a:prstGeom prst="rect">
            <a:avLst/>
          </a:prstGeom>
          <a:ln>
            <a:noFill/>
          </a:ln>
        </p:spPr>
      </p:pic>
      <p:pic>
        <p:nvPicPr>
          <p:cNvPr id="71" name="Imagen 70"/>
          <p:cNvPicPr/>
          <p:nvPr/>
        </p:nvPicPr>
        <p:blipFill>
          <a:blip r:embed="rId2"/>
          <a:stretch/>
        </p:blipFill>
        <p:spPr>
          <a:xfrm>
            <a:off x="3602880" y="1604520"/>
            <a:ext cx="498492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880" cy="1325160"/>
          </a:xfrm>
          <a:prstGeom prst="rect">
            <a:avLst/>
          </a:prstGeom>
        </p:spPr>
        <p:txBody>
          <a:bodyPr lIns="0" tIns="0" rIns="0" bIns="0" anchor="ctr"/>
          <a:lstStyle/>
          <a:p>
            <a:pPr algn="ctr"/>
            <a:endParaRPr lang="es-MX" sz="4400" b="0" strike="noStrike" spc="-1">
              <a:solidFill>
                <a:srgbClr val="000000"/>
              </a:solidFill>
              <a:uFill>
                <a:solidFill>
                  <a:srgbClr val="FFFFFF"/>
                </a:solidFill>
              </a:uFill>
              <a:latin typeface="Arial"/>
            </a:endParaRPr>
          </a:p>
        </p:txBody>
      </p:sp>
      <p:sp>
        <p:nvSpPr>
          <p:cNvPr id="3" name="PlaceHolder 2"/>
          <p:cNvSpPr>
            <a:spLocks noGrp="1"/>
          </p:cNvSpPr>
          <p:nvPr>
            <p:ph type="body"/>
          </p:nvPr>
        </p:nvSpPr>
        <p:spPr>
          <a:xfrm>
            <a:off x="609480" y="1604520"/>
            <a:ext cx="10972440" cy="3977280"/>
          </a:xfrm>
          <a:prstGeom prst="rect">
            <a:avLst/>
          </a:prstGeom>
        </p:spPr>
        <p:txBody>
          <a:bodyPr lIns="0" tIns="0" rIns="0" bIns="0"/>
          <a:lstStyle/>
          <a:p>
            <a:pPr marL="432000" indent="-324000">
              <a:buClr>
                <a:srgbClr val="000000"/>
              </a:buClr>
              <a:buSzPct val="45000"/>
              <a:buFont typeface="Wingdings" charset="2"/>
              <a:buChar char=""/>
            </a:pPr>
            <a:r>
              <a:rPr lang="es-MX" sz="3200" b="0" strike="noStrike" spc="-1">
                <a:solidFill>
                  <a:srgbClr val="000000"/>
                </a:solidFill>
                <a:uFill>
                  <a:solidFill>
                    <a:srgbClr val="FFFFFF"/>
                  </a:solidFill>
                </a:uFill>
                <a:latin typeface="Arial"/>
              </a:rPr>
              <a:t>Pulse para editar el formato de esquema del texto</a:t>
            </a:r>
          </a:p>
          <a:p>
            <a:pPr marL="864000" lvl="1" indent="-324000">
              <a:buClr>
                <a:srgbClr val="000000"/>
              </a:buClr>
              <a:buSzPct val="75000"/>
              <a:buFont typeface="Symbol" charset="2"/>
              <a:buChar char=""/>
            </a:pPr>
            <a:r>
              <a:rPr lang="es-MX" sz="2800" b="0" strike="noStrike" spc="-1">
                <a:solidFill>
                  <a:srgbClr val="000000"/>
                </a:solidFill>
                <a:uFill>
                  <a:solidFill>
                    <a:srgbClr val="FFFFFF"/>
                  </a:solidFill>
                </a:uFill>
                <a:latin typeface="Arial"/>
              </a:rPr>
              <a:t>Segundo nivel del esquema</a:t>
            </a:r>
          </a:p>
          <a:p>
            <a:pPr marL="1296000" lvl="2" indent="-288000">
              <a:buClr>
                <a:srgbClr val="000000"/>
              </a:buClr>
              <a:buSzPct val="45000"/>
              <a:buFont typeface="Wingdings" charset="2"/>
              <a:buChar char=""/>
            </a:pPr>
            <a:r>
              <a:rPr lang="es-MX" sz="2400" b="0" strike="noStrike" spc="-1">
                <a:solidFill>
                  <a:srgbClr val="000000"/>
                </a:solidFill>
                <a:uFill>
                  <a:solidFill>
                    <a:srgbClr val="FFFFFF"/>
                  </a:solidFill>
                </a:uFill>
                <a:latin typeface="Arial"/>
              </a:rPr>
              <a:t>Tercer nivel del esquema</a:t>
            </a:r>
          </a:p>
          <a:p>
            <a:pPr marL="1728000" lvl="3" indent="-216000">
              <a:buClr>
                <a:srgbClr val="000000"/>
              </a:buClr>
              <a:buSzPct val="75000"/>
              <a:buFont typeface="Symbol" charset="2"/>
              <a:buChar char=""/>
            </a:pPr>
            <a:r>
              <a:rPr lang="es-MX" sz="2000" b="0" strike="noStrike" spc="-1">
                <a:solidFill>
                  <a:srgbClr val="000000"/>
                </a:solidFill>
                <a:uFill>
                  <a:solidFill>
                    <a:srgbClr val="FFFFFF"/>
                  </a:solidFill>
                </a:uFill>
                <a:latin typeface="Arial"/>
              </a:rPr>
              <a:t>Cuarto nivel del esquema</a:t>
            </a:r>
          </a:p>
          <a:p>
            <a:pPr marL="2160000" lvl="4" indent="-216000">
              <a:buClr>
                <a:srgbClr val="000000"/>
              </a:buClr>
              <a:buSzPct val="45000"/>
              <a:buFont typeface="Wingdings" charset="2"/>
              <a:buChar char=""/>
            </a:pPr>
            <a:r>
              <a:rPr lang="es-MX" sz="2000" b="0" strike="noStrike" spc="-1">
                <a:solidFill>
                  <a:srgbClr val="000000"/>
                </a:solidFill>
                <a:uFill>
                  <a:solidFill>
                    <a:srgbClr val="FFFFFF"/>
                  </a:solidFill>
                </a:uFill>
                <a:latin typeface="Arial"/>
              </a:rPr>
              <a:t>Quinto nivel del esquema</a:t>
            </a:r>
          </a:p>
          <a:p>
            <a:pPr marL="2592000" lvl="5" indent="-216000">
              <a:buClr>
                <a:srgbClr val="000000"/>
              </a:buClr>
              <a:buSzPct val="45000"/>
              <a:buFont typeface="Wingdings" charset="2"/>
              <a:buChar char=""/>
            </a:pPr>
            <a:r>
              <a:rPr lang="es-MX" sz="2000" b="0" strike="noStrike" spc="-1">
                <a:solidFill>
                  <a:srgbClr val="000000"/>
                </a:solidFill>
                <a:uFill>
                  <a:solidFill>
                    <a:srgbClr val="FFFFFF"/>
                  </a:solidFill>
                </a:uFill>
                <a:latin typeface="Arial"/>
              </a:rPr>
              <a:t>Sexto nivel del esquema</a:t>
            </a:r>
          </a:p>
          <a:p>
            <a:pPr marL="3024000" lvl="6" indent="-216000">
              <a:buClr>
                <a:srgbClr val="000000"/>
              </a:buClr>
              <a:buSzPct val="45000"/>
              <a:buFont typeface="Wingdings" charset="2"/>
              <a:buChar char=""/>
            </a:pPr>
            <a:r>
              <a:rPr lang="es-MX" sz="2000" b="0" strike="noStrike" spc="-1">
                <a:solidFill>
                  <a:srgbClr val="000000"/>
                </a:solidFill>
                <a:uFill>
                  <a:solidFill>
                    <a:srgbClr val="FFFFFF"/>
                  </a:solidFill>
                </a:u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p:spPr>
        <p:txBody>
          <a:bodyPr lIns="0" tIns="0" rIns="0" bIns="0" anchor="ctr"/>
          <a:lstStyle/>
          <a:p>
            <a:pPr algn="ctr"/>
            <a:r>
              <a:rPr lang="es-MX" sz="4400" b="0" strike="noStrike" spc="-1">
                <a:solidFill>
                  <a:srgbClr val="000000"/>
                </a:solidFill>
                <a:uFill>
                  <a:solidFill>
                    <a:srgbClr val="FFFFFF"/>
                  </a:solidFill>
                </a:uFill>
                <a:latin typeface="Arial"/>
              </a:rPr>
              <a:t>Pulse para editar el formato del texto de título</a:t>
            </a:r>
          </a:p>
        </p:txBody>
      </p:sp>
      <p:sp>
        <p:nvSpPr>
          <p:cNvPr id="37" name="PlaceHolder 2"/>
          <p:cNvSpPr>
            <a:spLocks noGrp="1"/>
          </p:cNvSpPr>
          <p:nvPr>
            <p:ph type="body"/>
          </p:nvPr>
        </p:nvSpPr>
        <p:spPr>
          <a:xfrm>
            <a:off x="609480" y="1604520"/>
            <a:ext cx="10972440" cy="3977280"/>
          </a:xfrm>
          <a:prstGeom prst="rect">
            <a:avLst/>
          </a:prstGeom>
        </p:spPr>
        <p:txBody>
          <a:bodyPr lIns="0" tIns="0" rIns="0" bIns="0"/>
          <a:lstStyle/>
          <a:p>
            <a:pPr marL="432000" indent="-324000">
              <a:buClr>
                <a:srgbClr val="000000"/>
              </a:buClr>
              <a:buSzPct val="45000"/>
              <a:buFont typeface="Wingdings" charset="2"/>
              <a:buChar char=""/>
            </a:pPr>
            <a:r>
              <a:rPr lang="es-MX" sz="3200" b="0" strike="noStrike" spc="-1">
                <a:solidFill>
                  <a:srgbClr val="000000"/>
                </a:solidFill>
                <a:uFill>
                  <a:solidFill>
                    <a:srgbClr val="FFFFFF"/>
                  </a:solidFill>
                </a:uFill>
                <a:latin typeface="Arial"/>
              </a:rPr>
              <a:t>Pulse para editar el formato de esquema del texto</a:t>
            </a:r>
          </a:p>
          <a:p>
            <a:pPr marL="864000" lvl="1" indent="-324000">
              <a:buClr>
                <a:srgbClr val="000000"/>
              </a:buClr>
              <a:buSzPct val="75000"/>
              <a:buFont typeface="Symbol" charset="2"/>
              <a:buChar char=""/>
            </a:pPr>
            <a:r>
              <a:rPr lang="es-MX" sz="2800" b="0" strike="noStrike" spc="-1">
                <a:solidFill>
                  <a:srgbClr val="000000"/>
                </a:solidFill>
                <a:uFill>
                  <a:solidFill>
                    <a:srgbClr val="FFFFFF"/>
                  </a:solidFill>
                </a:uFill>
                <a:latin typeface="Arial"/>
              </a:rPr>
              <a:t>Segundo nivel del esquema</a:t>
            </a:r>
          </a:p>
          <a:p>
            <a:pPr marL="1296000" lvl="2" indent="-288000">
              <a:buClr>
                <a:srgbClr val="000000"/>
              </a:buClr>
              <a:buSzPct val="45000"/>
              <a:buFont typeface="Wingdings" charset="2"/>
              <a:buChar char=""/>
            </a:pPr>
            <a:r>
              <a:rPr lang="es-MX" sz="2400" b="0" strike="noStrike" spc="-1">
                <a:solidFill>
                  <a:srgbClr val="000000"/>
                </a:solidFill>
                <a:uFill>
                  <a:solidFill>
                    <a:srgbClr val="FFFFFF"/>
                  </a:solidFill>
                </a:uFill>
                <a:latin typeface="Arial"/>
              </a:rPr>
              <a:t>Tercer nivel del esquema</a:t>
            </a:r>
          </a:p>
          <a:p>
            <a:pPr marL="1728000" lvl="3" indent="-216000">
              <a:buClr>
                <a:srgbClr val="000000"/>
              </a:buClr>
              <a:buSzPct val="75000"/>
              <a:buFont typeface="Symbol" charset="2"/>
              <a:buChar char=""/>
            </a:pPr>
            <a:r>
              <a:rPr lang="es-MX" sz="2000" b="0" strike="noStrike" spc="-1">
                <a:solidFill>
                  <a:srgbClr val="000000"/>
                </a:solidFill>
                <a:uFill>
                  <a:solidFill>
                    <a:srgbClr val="FFFFFF"/>
                  </a:solidFill>
                </a:uFill>
                <a:latin typeface="Arial"/>
              </a:rPr>
              <a:t>Cuarto nivel del esquema</a:t>
            </a:r>
          </a:p>
          <a:p>
            <a:pPr marL="2160000" lvl="4" indent="-216000">
              <a:buClr>
                <a:srgbClr val="000000"/>
              </a:buClr>
              <a:buSzPct val="45000"/>
              <a:buFont typeface="Wingdings" charset="2"/>
              <a:buChar char=""/>
            </a:pPr>
            <a:r>
              <a:rPr lang="es-MX" sz="2000" b="0" strike="noStrike" spc="-1">
                <a:solidFill>
                  <a:srgbClr val="000000"/>
                </a:solidFill>
                <a:uFill>
                  <a:solidFill>
                    <a:srgbClr val="FFFFFF"/>
                  </a:solidFill>
                </a:uFill>
                <a:latin typeface="Arial"/>
              </a:rPr>
              <a:t>Quinto nivel del esquema</a:t>
            </a:r>
          </a:p>
          <a:p>
            <a:pPr marL="2592000" lvl="5" indent="-216000">
              <a:buClr>
                <a:srgbClr val="000000"/>
              </a:buClr>
              <a:buSzPct val="45000"/>
              <a:buFont typeface="Wingdings" charset="2"/>
              <a:buChar char=""/>
            </a:pPr>
            <a:r>
              <a:rPr lang="es-MX" sz="2000" b="0" strike="noStrike" spc="-1">
                <a:solidFill>
                  <a:srgbClr val="000000"/>
                </a:solidFill>
                <a:uFill>
                  <a:solidFill>
                    <a:srgbClr val="FFFFFF"/>
                  </a:solidFill>
                </a:uFill>
                <a:latin typeface="Arial"/>
              </a:rPr>
              <a:t>Sexto nivel del esquema</a:t>
            </a:r>
          </a:p>
          <a:p>
            <a:pPr marL="3024000" lvl="6" indent="-216000">
              <a:buClr>
                <a:srgbClr val="000000"/>
              </a:buClr>
              <a:buSzPct val="45000"/>
              <a:buFont typeface="Wingdings" charset="2"/>
              <a:buChar char=""/>
            </a:pPr>
            <a:r>
              <a:rPr lang="es-MX" sz="2000" b="0" strike="noStrike" spc="-1">
                <a:solidFill>
                  <a:srgbClr val="000000"/>
                </a:solidFill>
                <a:uFill>
                  <a:solidFill>
                    <a:srgbClr val="FFFFFF"/>
                  </a:solidFill>
                </a:u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CustomShape 1"/>
          <p:cNvSpPr/>
          <p:nvPr/>
        </p:nvSpPr>
        <p:spPr>
          <a:xfrm>
            <a:off x="1523880" y="1122480"/>
            <a:ext cx="9143280" cy="2386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s-MX" sz="4000" b="1" strike="noStrike" spc="-1">
                <a:solidFill>
                  <a:srgbClr val="000000"/>
                </a:solidFill>
                <a:uFill>
                  <a:solidFill>
                    <a:srgbClr val="FFFFFF"/>
                  </a:solidFill>
                </a:uFill>
                <a:latin typeface="Calibri Light"/>
              </a:rPr>
              <a:t>Simple Network Management Protocol</a:t>
            </a:r>
            <a:endParaRPr lang="es-MX" sz="1800" b="0" strike="noStrike" spc="-1">
              <a:solidFill>
                <a:srgbClr val="000000"/>
              </a:solidFill>
              <a:uFill>
                <a:solidFill>
                  <a:srgbClr val="FFFFFF"/>
                </a:solidFill>
              </a:uFill>
              <a:latin typeface="Arial"/>
            </a:endParaRPr>
          </a:p>
        </p:txBody>
      </p:sp>
      <p:sp>
        <p:nvSpPr>
          <p:cNvPr id="73" name="CustomShape 2"/>
          <p:cNvSpPr/>
          <p:nvPr/>
        </p:nvSpPr>
        <p:spPr>
          <a:xfrm>
            <a:off x="1523880" y="3602160"/>
            <a:ext cx="9143280" cy="165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s-MX" sz="2400" b="0" strike="noStrike" spc="-1">
                <a:solidFill>
                  <a:srgbClr val="000000"/>
                </a:solidFill>
                <a:uFill>
                  <a:solidFill>
                    <a:srgbClr val="FFFFFF"/>
                  </a:solidFill>
                </a:uFill>
                <a:latin typeface="Calibri"/>
              </a:rPr>
              <a:t>(SNMP)</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4400" b="0" strike="noStrike" spc="-1">
                <a:solidFill>
                  <a:srgbClr val="000000"/>
                </a:solidFill>
                <a:uFill>
                  <a:solidFill>
                    <a:srgbClr val="FFFFFF"/>
                  </a:solidFill>
                </a:uFill>
                <a:latin typeface="Calibri Light"/>
              </a:rPr>
              <a:t>Organismos de estandarización</a:t>
            </a:r>
            <a:endParaRPr lang="es-MX" sz="1800" b="0" strike="noStrike" spc="-1">
              <a:solidFill>
                <a:srgbClr val="000000"/>
              </a:solidFill>
              <a:uFill>
                <a:solidFill>
                  <a:srgbClr val="FFFFFF"/>
                </a:solidFill>
              </a:uFill>
              <a:latin typeface="Arial"/>
            </a:endParaRPr>
          </a:p>
        </p:txBody>
      </p:sp>
      <p:sp>
        <p:nvSpPr>
          <p:cNvPr id="75"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1" strike="noStrike" spc="-1" dirty="0">
                <a:solidFill>
                  <a:srgbClr val="000000"/>
                </a:solidFill>
                <a:uFill>
                  <a:solidFill>
                    <a:srgbClr val="FFFFFF"/>
                  </a:solidFill>
                </a:uFill>
                <a:latin typeface="Calibri"/>
              </a:rPr>
              <a:t>ISOC (Internet </a:t>
            </a:r>
            <a:r>
              <a:rPr lang="es-MX" sz="2800" b="1" strike="noStrike" spc="-1" dirty="0" err="1">
                <a:solidFill>
                  <a:srgbClr val="000000"/>
                </a:solidFill>
                <a:uFill>
                  <a:solidFill>
                    <a:srgbClr val="FFFFFF"/>
                  </a:solidFill>
                </a:uFill>
                <a:latin typeface="Calibri"/>
              </a:rPr>
              <a:t>Society</a:t>
            </a:r>
            <a:r>
              <a:rPr lang="es-MX" sz="2800" b="1" strike="noStrike" spc="-1" dirty="0">
                <a:solidFill>
                  <a:srgbClr val="000000"/>
                </a:solidFill>
                <a:uFill>
                  <a:solidFill>
                    <a:srgbClr val="FFFFFF"/>
                  </a:solidFill>
                </a:uFill>
                <a:latin typeface="Calibri"/>
              </a:rPr>
              <a:t>)</a:t>
            </a:r>
            <a:endParaRPr lang="es-MX" sz="1800" b="0" strike="noStrike" spc="-1" dirty="0">
              <a:solidFill>
                <a:srgbClr val="000000"/>
              </a:solidFill>
              <a:uFill>
                <a:solidFill>
                  <a:srgbClr val="FFFFFF"/>
                </a:solidFill>
              </a:uFill>
              <a:latin typeface="Arial"/>
            </a:endParaRPr>
          </a:p>
          <a:p>
            <a:pPr>
              <a:lnSpc>
                <a:spcPct val="90000"/>
              </a:lnSpc>
            </a:pP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Es responsable de promover el desarrollo, evolución y uso abierto de Internet en todo el mundo. </a:t>
            </a: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También facilita el desarrollo abierto de estándares y protocolos para la infraestructura técnica de Internet, incluida la supervisión del Internet </a:t>
            </a:r>
            <a:r>
              <a:rPr lang="es-MX" sz="2800" b="0" strike="noStrike" spc="-1" dirty="0" err="1">
                <a:solidFill>
                  <a:srgbClr val="000000"/>
                </a:solidFill>
                <a:uFill>
                  <a:solidFill>
                    <a:srgbClr val="FFFFFF"/>
                  </a:solidFill>
                </a:uFill>
                <a:latin typeface="Calibri"/>
              </a:rPr>
              <a:t>Architecture</a:t>
            </a:r>
            <a:r>
              <a:rPr lang="es-MX" sz="2800" b="0" strike="noStrike" spc="-1" dirty="0">
                <a:solidFill>
                  <a:srgbClr val="000000"/>
                </a:solidFill>
                <a:uFill>
                  <a:solidFill>
                    <a:srgbClr val="FFFFFF"/>
                  </a:solidFill>
                </a:uFill>
                <a:latin typeface="Calibri"/>
              </a:rPr>
              <a:t> </a:t>
            </a:r>
            <a:r>
              <a:rPr lang="es-MX" sz="2800" b="0" strike="noStrike" spc="-1" dirty="0" err="1">
                <a:solidFill>
                  <a:srgbClr val="000000"/>
                </a:solidFill>
                <a:uFill>
                  <a:solidFill>
                    <a:srgbClr val="FFFFFF"/>
                  </a:solidFill>
                </a:uFill>
                <a:latin typeface="Calibri"/>
              </a:rPr>
              <a:t>Board</a:t>
            </a:r>
            <a:r>
              <a:rPr lang="es-MX" sz="2800" b="0" strike="noStrike" spc="-1" dirty="0">
                <a:solidFill>
                  <a:srgbClr val="000000"/>
                </a:solidFill>
                <a:uFill>
                  <a:solidFill>
                    <a:srgbClr val="FFFFFF"/>
                  </a:solidFill>
                </a:uFill>
                <a:latin typeface="Calibri"/>
              </a:rPr>
              <a:t> (IAB, Comité de Arquitectura de Internet)</a:t>
            </a:r>
            <a:endParaRPr lang="es-MX" sz="1800" b="0" strike="noStrike" spc="-1" dirty="0">
              <a:solidFill>
                <a:srgbClr val="000000"/>
              </a:solidFill>
              <a:uFill>
                <a:solidFill>
                  <a:srgbClr val="FFFFFF"/>
                </a:solidFill>
              </a:uFill>
              <a:latin typeface="Arial"/>
            </a:endParaRPr>
          </a:p>
        </p:txBody>
      </p:sp>
      <p:sp>
        <p:nvSpPr>
          <p:cNvPr id="76" name="CustomShape 3"/>
          <p:cNvSpPr/>
          <p:nvPr/>
        </p:nvSpPr>
        <p:spPr>
          <a:xfrm>
            <a:off x="254520" y="6465240"/>
            <a:ext cx="867564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http://ecovi.uagro.mx/ccna1/course/module3/3.2.3.2/3.2.3.2.html</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CustomShape 1"/>
          <p:cNvSpPr/>
          <p:nvPr/>
        </p:nvSpPr>
        <p:spPr>
          <a:xfrm>
            <a:off x="838080" y="365040"/>
            <a:ext cx="10514880" cy="793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200" b="1" strike="noStrike" spc="-1" dirty="0">
                <a:solidFill>
                  <a:srgbClr val="000000"/>
                </a:solidFill>
                <a:uFill>
                  <a:solidFill>
                    <a:srgbClr val="FFFFFF"/>
                  </a:solidFill>
                </a:uFill>
                <a:latin typeface="Calibri Light"/>
              </a:rPr>
              <a:t>IAB (Internet </a:t>
            </a:r>
            <a:r>
              <a:rPr lang="es-MX" sz="3200" b="1" strike="noStrike" spc="-1" dirty="0" err="1">
                <a:solidFill>
                  <a:srgbClr val="000000"/>
                </a:solidFill>
                <a:uFill>
                  <a:solidFill>
                    <a:srgbClr val="FFFFFF"/>
                  </a:solidFill>
                </a:uFill>
                <a:latin typeface="Calibri Light"/>
              </a:rPr>
              <a:t>Architecture</a:t>
            </a:r>
            <a:r>
              <a:rPr lang="es-MX" sz="3200" b="1" strike="noStrike" spc="-1" dirty="0">
                <a:solidFill>
                  <a:srgbClr val="000000"/>
                </a:solidFill>
                <a:uFill>
                  <a:solidFill>
                    <a:srgbClr val="FFFFFF"/>
                  </a:solidFill>
                </a:uFill>
                <a:latin typeface="Calibri Light"/>
              </a:rPr>
              <a:t> </a:t>
            </a:r>
            <a:r>
              <a:rPr lang="es-MX" sz="3200" b="1" strike="noStrike" spc="-1" dirty="0" err="1">
                <a:solidFill>
                  <a:srgbClr val="000000"/>
                </a:solidFill>
                <a:uFill>
                  <a:solidFill>
                    <a:srgbClr val="FFFFFF"/>
                  </a:solidFill>
                </a:uFill>
                <a:latin typeface="Calibri Light"/>
              </a:rPr>
              <a:t>Board</a:t>
            </a:r>
            <a:r>
              <a:rPr lang="es-MX" sz="3200" b="1" strike="noStrike" spc="-1" dirty="0">
                <a:solidFill>
                  <a:srgbClr val="000000"/>
                </a:solidFill>
                <a:uFill>
                  <a:solidFill>
                    <a:srgbClr val="FFFFFF"/>
                  </a:solidFill>
                </a:uFill>
                <a:latin typeface="Calibri Light"/>
              </a:rPr>
              <a:t>, Comité de Arquitectura de Internet)</a:t>
            </a:r>
            <a:endParaRPr lang="es-MX" sz="1800" b="0" strike="noStrike" spc="-1" dirty="0">
              <a:solidFill>
                <a:srgbClr val="000000"/>
              </a:solidFill>
              <a:uFill>
                <a:solidFill>
                  <a:srgbClr val="FFFFFF"/>
                </a:solidFill>
              </a:uFill>
              <a:latin typeface="Arial"/>
            </a:endParaRPr>
          </a:p>
        </p:txBody>
      </p:sp>
      <p:sp>
        <p:nvSpPr>
          <p:cNvPr id="78"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2800" b="0" strike="noStrike" spc="-1">
                <a:solidFill>
                  <a:srgbClr val="000000"/>
                </a:solidFill>
                <a:uFill>
                  <a:solidFill>
                    <a:srgbClr val="FFFFFF"/>
                  </a:solidFill>
                </a:uFill>
                <a:latin typeface="Calibri"/>
              </a:rPr>
              <a:t>Es responsable de la administración y el desarrollo general de los estándares de Internet. </a:t>
            </a:r>
            <a:endParaRPr lang="es-MX" sz="1800" b="0" strike="noStrike" spc="-1">
              <a:solidFill>
                <a:srgbClr val="000000"/>
              </a:solidFill>
              <a:uFill>
                <a:solidFill>
                  <a:srgbClr val="FFFFFF"/>
                </a:solidFill>
              </a:uFill>
              <a:latin typeface="Arial"/>
            </a:endParaRPr>
          </a:p>
          <a:p>
            <a:pPr>
              <a:lnSpc>
                <a:spcPct val="100000"/>
              </a:lnSpc>
            </a:pPr>
            <a:r>
              <a:rPr lang="es-MX" sz="2800" b="0" strike="noStrike" spc="-1">
                <a:solidFill>
                  <a:srgbClr val="000000"/>
                </a:solidFill>
                <a:uFill>
                  <a:solidFill>
                    <a:srgbClr val="FFFFFF"/>
                  </a:solidFill>
                </a:uFill>
                <a:latin typeface="Calibri"/>
              </a:rPr>
              <a:t>También supervisa la arquitectura para los protocolos y los procedimientos que utiliza Internet.</a:t>
            </a:r>
            <a:endParaRPr lang="es-MX" sz="1800" b="0" strike="noStrike" spc="-1">
              <a:solidFill>
                <a:srgbClr val="000000"/>
              </a:solidFill>
              <a:uFill>
                <a:solidFill>
                  <a:srgbClr val="FFFFFF"/>
                </a:solidFill>
              </a:uFill>
              <a:latin typeface="Arial"/>
            </a:endParaRPr>
          </a:p>
          <a:p>
            <a:pPr>
              <a:lnSpc>
                <a:spcPct val="100000"/>
              </a:lnSpc>
            </a:pPr>
            <a:r>
              <a:rPr lang="es-MX" sz="2800" b="0" strike="noStrike" spc="-1">
                <a:solidFill>
                  <a:srgbClr val="000000"/>
                </a:solidFill>
                <a:uFill>
                  <a:solidFill>
                    <a:srgbClr val="FFFFFF"/>
                  </a:solidFill>
                </a:uFill>
                <a:latin typeface="Calibri"/>
              </a:rPr>
              <a:t>El IAB consta de 13 miembros, entre los cuales se encuentra el presidente del IETF (Internet Engineering Task Force).</a:t>
            </a:r>
            <a:endParaRPr lang="es-MX" sz="1800" b="0" strike="noStrike" spc="-1">
              <a:solidFill>
                <a:srgbClr val="000000"/>
              </a:solidFill>
              <a:uFill>
                <a:solidFill>
                  <a:srgbClr val="FFFFFF"/>
                </a:solidFill>
              </a:uFill>
              <a:latin typeface="Arial"/>
            </a:endParaRPr>
          </a:p>
        </p:txBody>
      </p:sp>
      <p:sp>
        <p:nvSpPr>
          <p:cNvPr id="79" name="CustomShape 3"/>
          <p:cNvSpPr/>
          <p:nvPr/>
        </p:nvSpPr>
        <p:spPr>
          <a:xfrm>
            <a:off x="254520" y="6465240"/>
            <a:ext cx="867564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http://ecovi.uagro.mx/ccna1/course/module3/3.2.3.2/3.2.3.2.html</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1" strike="noStrike" spc="-1" dirty="0">
                <a:solidFill>
                  <a:srgbClr val="000000"/>
                </a:solidFill>
                <a:uFill>
                  <a:solidFill>
                    <a:srgbClr val="FFFFFF"/>
                  </a:solidFill>
                </a:uFill>
                <a:latin typeface="Calibri Light"/>
              </a:rPr>
              <a:t>IETF (Internet </a:t>
            </a:r>
            <a:r>
              <a:rPr lang="es-MX" sz="3600" b="1" strike="noStrike" spc="-1" dirty="0" err="1">
                <a:solidFill>
                  <a:srgbClr val="000000"/>
                </a:solidFill>
                <a:uFill>
                  <a:solidFill>
                    <a:srgbClr val="FFFFFF"/>
                  </a:solidFill>
                </a:uFill>
                <a:latin typeface="Calibri Light"/>
              </a:rPr>
              <a:t>Engineering</a:t>
            </a:r>
            <a:r>
              <a:rPr lang="es-MX" sz="3600" b="1" strike="noStrike" spc="-1" dirty="0">
                <a:solidFill>
                  <a:srgbClr val="000000"/>
                </a:solidFill>
                <a:uFill>
                  <a:solidFill>
                    <a:srgbClr val="FFFFFF"/>
                  </a:solidFill>
                </a:uFill>
                <a:latin typeface="Calibri Light"/>
              </a:rPr>
              <a:t> </a:t>
            </a:r>
            <a:r>
              <a:rPr lang="es-MX" sz="3600" b="1" strike="noStrike" spc="-1" dirty="0" err="1">
                <a:solidFill>
                  <a:srgbClr val="000000"/>
                </a:solidFill>
                <a:uFill>
                  <a:solidFill>
                    <a:srgbClr val="FFFFFF"/>
                  </a:solidFill>
                </a:uFill>
                <a:latin typeface="Calibri Light"/>
              </a:rPr>
              <a:t>Task</a:t>
            </a:r>
            <a:r>
              <a:rPr lang="es-MX" sz="3600" b="1" strike="noStrike" spc="-1" dirty="0">
                <a:solidFill>
                  <a:srgbClr val="000000"/>
                </a:solidFill>
                <a:uFill>
                  <a:solidFill>
                    <a:srgbClr val="FFFFFF"/>
                  </a:solidFill>
                </a:uFill>
                <a:latin typeface="Calibri Light"/>
              </a:rPr>
              <a:t> </a:t>
            </a:r>
            <a:r>
              <a:rPr lang="es-MX" sz="3600" b="1" strike="noStrike" spc="-1" dirty="0" err="1">
                <a:solidFill>
                  <a:srgbClr val="000000"/>
                </a:solidFill>
                <a:uFill>
                  <a:solidFill>
                    <a:srgbClr val="FFFFFF"/>
                  </a:solidFill>
                </a:uFill>
                <a:latin typeface="Calibri Light"/>
              </a:rPr>
              <a:t>Force</a:t>
            </a:r>
            <a:r>
              <a:rPr lang="es-MX" sz="3600" b="1" strike="noStrike" spc="-1" dirty="0">
                <a:solidFill>
                  <a:srgbClr val="000000"/>
                </a:solidFill>
                <a:uFill>
                  <a:solidFill>
                    <a:srgbClr val="FFFFFF"/>
                  </a:solidFill>
                </a:uFill>
                <a:latin typeface="Calibri Light"/>
              </a:rPr>
              <a:t>, Grupo de Trabajo de Ingeniería de Internet)</a:t>
            </a:r>
            <a:endParaRPr lang="es-MX" sz="1800" b="0" strike="noStrike" spc="-1" dirty="0">
              <a:solidFill>
                <a:srgbClr val="000000"/>
              </a:solidFill>
              <a:uFill>
                <a:solidFill>
                  <a:srgbClr val="FFFFFF"/>
                </a:solidFill>
              </a:uFill>
              <a:latin typeface="Arial"/>
            </a:endParaRPr>
          </a:p>
        </p:txBody>
      </p:sp>
      <p:sp>
        <p:nvSpPr>
          <p:cNvPr id="81"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2800" b="0" strike="noStrike" spc="-1">
                <a:solidFill>
                  <a:srgbClr val="000000"/>
                </a:solidFill>
                <a:uFill>
                  <a:solidFill>
                    <a:srgbClr val="FFFFFF"/>
                  </a:solidFill>
                </a:uFill>
                <a:latin typeface="Calibri"/>
              </a:rPr>
              <a:t>Se encarga de desarrollar, actualizar y mantener Internet y las tecnologías TCP/IP. (corto plazo)</a:t>
            </a:r>
            <a:endParaRPr lang="es-MX" sz="1800" b="0" strike="noStrike" spc="-1">
              <a:solidFill>
                <a:srgbClr val="000000"/>
              </a:solidFill>
              <a:uFill>
                <a:solidFill>
                  <a:srgbClr val="FFFFFF"/>
                </a:solidFill>
              </a:uFill>
              <a:latin typeface="Arial"/>
            </a:endParaRPr>
          </a:p>
          <a:p>
            <a:pPr>
              <a:lnSpc>
                <a:spcPct val="100000"/>
              </a:lnSpc>
            </a:pPr>
            <a:r>
              <a:rPr lang="es-MX" sz="2800" b="0" strike="noStrike" spc="-1">
                <a:solidFill>
                  <a:srgbClr val="000000"/>
                </a:solidFill>
                <a:uFill>
                  <a:solidFill>
                    <a:srgbClr val="FFFFFF"/>
                  </a:solidFill>
                </a:uFill>
                <a:latin typeface="Calibri"/>
              </a:rPr>
              <a:t>Una de sus principales responsabilidades es producir documentos RFC (Request For Comments) que contienen especificaciones de protocolos, procesos y tecnologías para Internet.</a:t>
            </a: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a:p>
            <a:pPr>
              <a:lnSpc>
                <a:spcPct val="100000"/>
              </a:lnSpc>
            </a:pPr>
            <a:r>
              <a:rPr lang="es-MX" sz="2800" b="0" strike="noStrike" spc="-1">
                <a:solidFill>
                  <a:srgbClr val="000000"/>
                </a:solidFill>
                <a:uFill>
                  <a:solidFill>
                    <a:srgbClr val="FFFFFF"/>
                  </a:solidFill>
                </a:uFill>
                <a:latin typeface="Calibri"/>
              </a:rPr>
              <a:t>Consta de Grupos de Trabajo (WG) encargados de desarrollar las especificaciones.</a:t>
            </a:r>
            <a:endParaRPr lang="es-MX" sz="1800" b="0" strike="noStrike" spc="-1">
              <a:solidFill>
                <a:srgbClr val="000000"/>
              </a:solidFill>
              <a:uFill>
                <a:solidFill>
                  <a:srgbClr val="FFFFFF"/>
                </a:solidFill>
              </a:uFill>
              <a:latin typeface="Arial"/>
            </a:endParaRPr>
          </a:p>
        </p:txBody>
      </p:sp>
      <p:sp>
        <p:nvSpPr>
          <p:cNvPr id="82" name="CustomShape 3"/>
          <p:cNvSpPr/>
          <p:nvPr/>
        </p:nvSpPr>
        <p:spPr>
          <a:xfrm>
            <a:off x="254520" y="6465240"/>
            <a:ext cx="867564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http://ecovi.uagro.mx/ccna1/course/module3/3.2.3.2/3.2.3.2.html</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1" strike="noStrike" spc="-1">
                <a:solidFill>
                  <a:srgbClr val="000000"/>
                </a:solidFill>
                <a:uFill>
                  <a:solidFill>
                    <a:srgbClr val="FFFFFF"/>
                  </a:solidFill>
                </a:uFill>
                <a:latin typeface="Calibri Light"/>
              </a:rPr>
              <a:t>IESG (Internet Engineering Steering Group, Comité Directivo de Ingeniería de Internet)</a:t>
            </a:r>
            <a:endParaRPr lang="es-MX" sz="1800" b="0" strike="noStrike" spc="-1">
              <a:solidFill>
                <a:srgbClr val="000000"/>
              </a:solidFill>
              <a:uFill>
                <a:solidFill>
                  <a:srgbClr val="FFFFFF"/>
                </a:solidFill>
              </a:uFill>
              <a:latin typeface="Arial"/>
            </a:endParaRPr>
          </a:p>
        </p:txBody>
      </p:sp>
      <p:sp>
        <p:nvSpPr>
          <p:cNvPr id="84"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2800" b="0" strike="noStrike" spc="-1">
                <a:solidFill>
                  <a:srgbClr val="000000"/>
                </a:solidFill>
                <a:uFill>
                  <a:solidFill>
                    <a:srgbClr val="FFFFFF"/>
                  </a:solidFill>
                </a:uFill>
                <a:latin typeface="Calibri"/>
              </a:rPr>
              <a:t>Es responsable de la administración técnica del IETF y el proceso de los estándares de Internet.</a:t>
            </a:r>
            <a:endParaRPr lang="es-MX" sz="1800" b="0" strike="noStrike" spc="-1">
              <a:solidFill>
                <a:srgbClr val="000000"/>
              </a:solidFill>
              <a:uFill>
                <a:solidFill>
                  <a:srgbClr val="FFFFFF"/>
                </a:solidFill>
              </a:uFill>
              <a:latin typeface="Arial"/>
            </a:endParaRPr>
          </a:p>
        </p:txBody>
      </p:sp>
      <p:sp>
        <p:nvSpPr>
          <p:cNvPr id="85" name="CustomShape 3"/>
          <p:cNvSpPr/>
          <p:nvPr/>
        </p:nvSpPr>
        <p:spPr>
          <a:xfrm>
            <a:off x="254520" y="6465240"/>
            <a:ext cx="867564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http://ecovi.uagro.mx/ccna1/course/module3/3.2.3.2/3.2.3.2.html</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1" strike="noStrike" spc="-1" dirty="0">
                <a:solidFill>
                  <a:srgbClr val="000000"/>
                </a:solidFill>
                <a:uFill>
                  <a:solidFill>
                    <a:srgbClr val="FFFFFF"/>
                  </a:solidFill>
                </a:uFill>
                <a:latin typeface="Calibri Light"/>
              </a:rPr>
              <a:t>IRTF (Internet </a:t>
            </a:r>
            <a:r>
              <a:rPr lang="es-MX" sz="3600" b="1" strike="noStrike" spc="-1" dirty="0" err="1">
                <a:solidFill>
                  <a:srgbClr val="000000"/>
                </a:solidFill>
                <a:uFill>
                  <a:solidFill>
                    <a:srgbClr val="FFFFFF"/>
                  </a:solidFill>
                </a:uFill>
                <a:latin typeface="Calibri Light"/>
              </a:rPr>
              <a:t>Research</a:t>
            </a:r>
            <a:r>
              <a:rPr lang="es-MX" sz="3600" b="1" strike="noStrike" spc="-1" dirty="0">
                <a:solidFill>
                  <a:srgbClr val="000000"/>
                </a:solidFill>
                <a:uFill>
                  <a:solidFill>
                    <a:srgbClr val="FFFFFF"/>
                  </a:solidFill>
                </a:uFill>
                <a:latin typeface="Calibri Light"/>
              </a:rPr>
              <a:t> </a:t>
            </a:r>
            <a:r>
              <a:rPr lang="es-MX" sz="3600" b="1" strike="noStrike" spc="-1" dirty="0" err="1">
                <a:solidFill>
                  <a:srgbClr val="000000"/>
                </a:solidFill>
                <a:uFill>
                  <a:solidFill>
                    <a:srgbClr val="FFFFFF"/>
                  </a:solidFill>
                </a:uFill>
                <a:latin typeface="Calibri Light"/>
              </a:rPr>
              <a:t>Task</a:t>
            </a:r>
            <a:r>
              <a:rPr lang="es-MX" sz="3600" b="1" strike="noStrike" spc="-1" dirty="0">
                <a:solidFill>
                  <a:srgbClr val="000000"/>
                </a:solidFill>
                <a:uFill>
                  <a:solidFill>
                    <a:srgbClr val="FFFFFF"/>
                  </a:solidFill>
                </a:uFill>
                <a:latin typeface="Calibri Light"/>
              </a:rPr>
              <a:t> </a:t>
            </a:r>
            <a:r>
              <a:rPr lang="es-MX" sz="3600" b="1" strike="noStrike" spc="-1" dirty="0" err="1">
                <a:solidFill>
                  <a:srgbClr val="000000"/>
                </a:solidFill>
                <a:uFill>
                  <a:solidFill>
                    <a:srgbClr val="FFFFFF"/>
                  </a:solidFill>
                </a:uFill>
                <a:latin typeface="Calibri Light"/>
              </a:rPr>
              <a:t>Force</a:t>
            </a:r>
            <a:r>
              <a:rPr lang="es-MX" sz="3600" b="1" strike="noStrike" spc="-1" dirty="0">
                <a:solidFill>
                  <a:srgbClr val="000000"/>
                </a:solidFill>
                <a:uFill>
                  <a:solidFill>
                    <a:srgbClr val="FFFFFF"/>
                  </a:solidFill>
                </a:uFill>
                <a:latin typeface="Calibri Light"/>
              </a:rPr>
              <a:t>, Grupo de Trabajo de Investigación de Internet)</a:t>
            </a:r>
            <a:endParaRPr lang="es-MX" sz="1800" b="0" strike="noStrike" spc="-1" dirty="0">
              <a:solidFill>
                <a:srgbClr val="000000"/>
              </a:solidFill>
              <a:uFill>
                <a:solidFill>
                  <a:srgbClr val="FFFFFF"/>
                </a:solidFill>
              </a:uFill>
              <a:latin typeface="Arial"/>
            </a:endParaRPr>
          </a:p>
        </p:txBody>
      </p:sp>
      <p:sp>
        <p:nvSpPr>
          <p:cNvPr id="87"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2800" b="0" strike="noStrike" spc="-1">
                <a:solidFill>
                  <a:srgbClr val="000000"/>
                </a:solidFill>
                <a:uFill>
                  <a:solidFill>
                    <a:srgbClr val="FFFFFF"/>
                  </a:solidFill>
                </a:uFill>
                <a:latin typeface="Calibri"/>
              </a:rPr>
              <a:t>Se centra en la investigación a largo plazo relacionada con los protocolos, aplicaciones, arquitecturas y tecnologías de TCP/IP y de Internet.</a:t>
            </a:r>
            <a:endParaRPr lang="es-MX" sz="1800" b="0" strike="noStrike" spc="-1">
              <a:solidFill>
                <a:srgbClr val="000000"/>
              </a:solidFill>
              <a:uFill>
                <a:solidFill>
                  <a:srgbClr val="FFFFFF"/>
                </a:solidFill>
              </a:uFill>
              <a:latin typeface="Arial"/>
            </a:endParaRPr>
          </a:p>
        </p:txBody>
      </p:sp>
      <p:sp>
        <p:nvSpPr>
          <p:cNvPr id="88" name="CustomShape 3"/>
          <p:cNvSpPr/>
          <p:nvPr/>
        </p:nvSpPr>
        <p:spPr>
          <a:xfrm>
            <a:off x="254520" y="6465240"/>
            <a:ext cx="867564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http://ecovi.uagro.mx/ccna1/course/module3/3.2.3.2/3.2.3.2.html</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 name="Imagen 3"/>
          <p:cNvPicPr/>
          <p:nvPr/>
        </p:nvPicPr>
        <p:blipFill>
          <a:blip r:embed="rId2"/>
          <a:stretch/>
        </p:blipFill>
        <p:spPr>
          <a:xfrm>
            <a:off x="2585880" y="376920"/>
            <a:ext cx="7019280" cy="5742720"/>
          </a:xfrm>
          <a:prstGeom prst="rect">
            <a:avLst/>
          </a:prstGeom>
          <a:ln>
            <a:noFill/>
          </a:ln>
        </p:spPr>
      </p:pic>
      <p:sp>
        <p:nvSpPr>
          <p:cNvPr id="90" name="CustomShape 1"/>
          <p:cNvSpPr/>
          <p:nvPr/>
        </p:nvSpPr>
        <p:spPr>
          <a:xfrm>
            <a:off x="254520" y="6465240"/>
            <a:ext cx="867564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http://ecovi.uagro.mx/ccna1/course/module3/3.2.3.2/3.2.3.2.html</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1" strike="noStrike" spc="-1">
                <a:solidFill>
                  <a:srgbClr val="000000"/>
                </a:solidFill>
                <a:uFill>
                  <a:solidFill>
                    <a:srgbClr val="FFFFFF"/>
                  </a:solidFill>
                </a:uFill>
                <a:latin typeface="Calibri Light"/>
              </a:rPr>
              <a:t>Simple Network Management Protocol</a:t>
            </a:r>
            <a:endParaRPr lang="es-MX" sz="1800" b="0" strike="noStrike" spc="-1">
              <a:solidFill>
                <a:srgbClr val="000000"/>
              </a:solidFill>
              <a:uFill>
                <a:solidFill>
                  <a:srgbClr val="FFFFFF"/>
                </a:solidFill>
              </a:uFill>
              <a:latin typeface="Arial"/>
            </a:endParaRPr>
          </a:p>
        </p:txBody>
      </p:sp>
      <p:sp>
        <p:nvSpPr>
          <p:cNvPr id="92"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SNMP es un protocolo implementado sobre la capa de aplicación</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Definido por la Internet Arhitecture Board(IAB) en el RFC 1157 en 1988</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Creado para intercambiar información de gestión y monitoreo entre dispositivos de red.</a:t>
            </a: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a:p>
            <a:pPr>
              <a:lnSpc>
                <a:spcPct val="90000"/>
              </a:lnSpc>
            </a:pPr>
            <a:endParaRPr lang="es-MX" sz="1800" b="0" strike="noStrike" spc="-1">
              <a:solidFill>
                <a:srgbClr val="000000"/>
              </a:solidFill>
              <a:uFill>
                <a:solidFill>
                  <a:srgbClr val="FFFFFF"/>
                </a:solidFill>
              </a:uFill>
              <a:latin typeface="Arial"/>
            </a:endParaRPr>
          </a:p>
          <a:p>
            <a:pPr>
              <a:lnSpc>
                <a:spcPct val="90000"/>
              </a:lnSpc>
            </a:pP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Imagen 3"/>
          <p:cNvPicPr/>
          <p:nvPr/>
        </p:nvPicPr>
        <p:blipFill>
          <a:blip r:embed="rId2"/>
          <a:stretch/>
        </p:blipFill>
        <p:spPr>
          <a:xfrm>
            <a:off x="2022120" y="1101240"/>
            <a:ext cx="7399800" cy="5607720"/>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CustomShape 1"/>
          <p:cNvSpPr/>
          <p:nvPr/>
        </p:nvSpPr>
        <p:spPr>
          <a:xfrm>
            <a:off x="838080" y="365040"/>
            <a:ext cx="10514880" cy="58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0" strike="noStrike" spc="-1">
                <a:solidFill>
                  <a:srgbClr val="000000"/>
                </a:solidFill>
                <a:uFill>
                  <a:solidFill>
                    <a:srgbClr val="FFFFFF"/>
                  </a:solidFill>
                </a:uFill>
                <a:latin typeface="Calibri Light"/>
              </a:rPr>
              <a:t>Arquitectura de SNMP</a:t>
            </a:r>
            <a:endParaRPr lang="es-MX" sz="1800" b="0" strike="noStrike" spc="-1">
              <a:solidFill>
                <a:srgbClr val="000000"/>
              </a:solidFill>
              <a:uFill>
                <a:solidFill>
                  <a:srgbClr val="FFFFFF"/>
                </a:solidFill>
              </a:uFill>
              <a:latin typeface="Arial"/>
            </a:endParaRPr>
          </a:p>
        </p:txBody>
      </p:sp>
      <p:pic>
        <p:nvPicPr>
          <p:cNvPr id="95" name="Imagen 3"/>
          <p:cNvPicPr/>
          <p:nvPr/>
        </p:nvPicPr>
        <p:blipFill>
          <a:blip r:embed="rId2"/>
          <a:stretch/>
        </p:blipFill>
        <p:spPr>
          <a:xfrm>
            <a:off x="1179360" y="1159200"/>
            <a:ext cx="9832680" cy="4668840"/>
          </a:xfrm>
          <a:prstGeom prst="rect">
            <a:avLst/>
          </a:prstGeom>
          <a:ln>
            <a:noFill/>
          </a:ln>
        </p:spPr>
      </p:pic>
      <p:sp>
        <p:nvSpPr>
          <p:cNvPr id="96" name="CustomShape 2"/>
          <p:cNvSpPr/>
          <p:nvPr/>
        </p:nvSpPr>
        <p:spPr>
          <a:xfrm>
            <a:off x="622080" y="6465240"/>
            <a:ext cx="439308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http://www.dpstelecom.com</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Imagen 3"/>
          <p:cNvPicPr/>
          <p:nvPr/>
        </p:nvPicPr>
        <p:blipFill>
          <a:blip r:embed="rId2"/>
          <a:stretch/>
        </p:blipFill>
        <p:spPr>
          <a:xfrm>
            <a:off x="2138040" y="270360"/>
            <a:ext cx="8125920" cy="6484320"/>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4400" b="0" strike="noStrike" spc="-1">
                <a:solidFill>
                  <a:srgbClr val="000000"/>
                </a:solidFill>
                <a:uFill>
                  <a:solidFill>
                    <a:srgbClr val="FFFFFF"/>
                  </a:solidFill>
                </a:uFill>
                <a:latin typeface="Calibri Light"/>
              </a:rPr>
              <a:t>Componentes de SNMP</a:t>
            </a:r>
            <a:endParaRPr lang="es-MX" sz="1800" b="0" strike="noStrike" spc="-1">
              <a:solidFill>
                <a:srgbClr val="000000"/>
              </a:solidFill>
              <a:uFill>
                <a:solidFill>
                  <a:srgbClr val="FFFFFF"/>
                </a:solidFill>
              </a:uFill>
              <a:latin typeface="Arial"/>
            </a:endParaRPr>
          </a:p>
        </p:txBody>
      </p:sp>
      <p:sp>
        <p:nvSpPr>
          <p:cNvPr id="99"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Administrador SNMP</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Dispositivos administrados</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Agente SNMP</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Management Information Base (MIB)</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CustomShape 1"/>
          <p:cNvSpPr/>
          <p:nvPr/>
        </p:nvSpPr>
        <p:spPr>
          <a:xfrm>
            <a:off x="838080" y="365040"/>
            <a:ext cx="10514880" cy="651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1" strike="noStrike" spc="-1">
                <a:solidFill>
                  <a:srgbClr val="000000"/>
                </a:solidFill>
                <a:uFill>
                  <a:solidFill>
                    <a:srgbClr val="FFFFFF"/>
                  </a:solidFill>
                </a:uFill>
                <a:latin typeface="Calibri Light"/>
              </a:rPr>
              <a:t>Administrador SNMP</a:t>
            </a:r>
            <a:endParaRPr lang="es-MX" sz="1800" b="0" strike="noStrike" spc="-1">
              <a:solidFill>
                <a:srgbClr val="000000"/>
              </a:solidFill>
              <a:uFill>
                <a:solidFill>
                  <a:srgbClr val="FFFFFF"/>
                </a:solidFill>
              </a:uFill>
              <a:latin typeface="Arial"/>
            </a:endParaRPr>
          </a:p>
        </p:txBody>
      </p:sp>
      <p:sp>
        <p:nvSpPr>
          <p:cNvPr id="101"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2800" b="0" strike="noStrike" spc="-1">
                <a:solidFill>
                  <a:srgbClr val="000000"/>
                </a:solidFill>
                <a:uFill>
                  <a:solidFill>
                    <a:srgbClr val="FFFFFF"/>
                  </a:solidFill>
                </a:uFill>
                <a:latin typeface="Calibri"/>
              </a:rPr>
              <a:t>El administrador o sistema de administración SNMP es responsable de comunicarse con el agente SNMP implementado en los dispositivos administrados. Sus principales funciones son:</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Consultar a los agentes SNMP</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Obtener respuestas de los agentes</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Establecer variables en los agentes</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Acusar eventos asíncronos de los agentes (traps)</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4400" b="0" strike="noStrike" spc="-1">
                <a:solidFill>
                  <a:srgbClr val="000000"/>
                </a:solidFill>
                <a:uFill>
                  <a:solidFill>
                    <a:srgbClr val="FFFFFF"/>
                  </a:solidFill>
                </a:uFill>
                <a:latin typeface="Calibri Light"/>
              </a:rPr>
              <a:t>Management Information Base (MIB)</a:t>
            </a:r>
            <a:endParaRPr lang="es-MX" sz="1800" b="0" strike="noStrike" spc="-1">
              <a:solidFill>
                <a:srgbClr val="000000"/>
              </a:solidFill>
              <a:uFill>
                <a:solidFill>
                  <a:srgbClr val="FFFFFF"/>
                </a:solidFill>
              </a:uFill>
              <a:latin typeface="Arial"/>
            </a:endParaRPr>
          </a:p>
        </p:txBody>
      </p:sp>
      <p:sp>
        <p:nvSpPr>
          <p:cNvPr id="103"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Es un archivo de texto que describe los elementos de red SNMP como una lista de objetos de datos.</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Contiene información jerárquica, estructurada en forma de árbol con variables individuales (estado, descripción) de los dispositivos gestionados  en una red. </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Su principal función es traducir cadenas numéricas en texto entendible a los humanos.</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Es parte de la gestión de red definida en el modelo OSI</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Un número entero largo es usado como ID de Objeto (OID) para distinguir cada variable de forma única</a:t>
            </a:r>
            <a:endParaRPr lang="es-MX" sz="1800" b="0" strike="noStrike" spc="-1">
              <a:solidFill>
                <a:srgbClr val="000000"/>
              </a:solidFill>
              <a:uFill>
                <a:solidFill>
                  <a:srgbClr val="FFFFFF"/>
                </a:solidFill>
              </a:uFill>
              <a:latin typeface="Arial"/>
            </a:endParaRPr>
          </a:p>
          <a:p>
            <a:pPr>
              <a:lnSpc>
                <a:spcPct val="90000"/>
              </a:lnSpc>
            </a:pP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4400" b="0" strike="noStrike" spc="-1">
                <a:solidFill>
                  <a:srgbClr val="000000"/>
                </a:solidFill>
                <a:uFill>
                  <a:solidFill>
                    <a:srgbClr val="FFFFFF"/>
                  </a:solidFill>
                </a:uFill>
                <a:latin typeface="Calibri Light"/>
              </a:rPr>
              <a:t>OID(Object Identier)</a:t>
            </a:r>
            <a:endParaRPr lang="es-MX" sz="1800" b="0" strike="noStrike" spc="-1">
              <a:solidFill>
                <a:srgbClr val="000000"/>
              </a:solidFill>
              <a:uFill>
                <a:solidFill>
                  <a:srgbClr val="FFFFFF"/>
                </a:solidFill>
              </a:uFill>
              <a:latin typeface="Arial"/>
            </a:endParaRPr>
          </a:p>
        </p:txBody>
      </p:sp>
      <p:sp>
        <p:nvSpPr>
          <p:cNvPr id="105"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0" strike="noStrike" spc="-1" dirty="0">
                <a:solidFill>
                  <a:srgbClr val="000000"/>
                </a:solidFill>
                <a:uFill>
                  <a:solidFill>
                    <a:srgbClr val="FFFFFF"/>
                  </a:solidFill>
                </a:uFill>
                <a:latin typeface="Calibri"/>
              </a:rPr>
              <a:t>Es una dirección utilizada para identificar dispositivos y su estado.</a:t>
            </a:r>
            <a:endParaRPr lang="es-MX" sz="1800" b="0" strike="noStrike" spc="-1" dirty="0">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dirty="0">
                <a:solidFill>
                  <a:srgbClr val="000000"/>
                </a:solidFill>
                <a:uFill>
                  <a:solidFill>
                    <a:srgbClr val="FFFFFF"/>
                  </a:solidFill>
                </a:uFill>
                <a:latin typeface="Calibri"/>
              </a:rPr>
              <a:t>Ej.</a:t>
            </a:r>
            <a:endParaRPr lang="es-MX" sz="1800" b="0" strike="noStrike" spc="-1" dirty="0">
              <a:solidFill>
                <a:srgbClr val="000000"/>
              </a:solidFill>
              <a:uFill>
                <a:solidFill>
                  <a:srgbClr val="FFFFFF"/>
                </a:solidFill>
              </a:uFill>
              <a:latin typeface="Arial"/>
            </a:endParaRPr>
          </a:p>
          <a:p>
            <a:pPr marL="432000" lvl="1" indent="-216000">
              <a:lnSpc>
                <a:spcPct val="100000"/>
              </a:lnSpc>
              <a:buClr>
                <a:srgbClr val="000000"/>
              </a:buClr>
              <a:buFont typeface="Arial"/>
              <a:buChar char="•"/>
            </a:pPr>
            <a:r>
              <a:rPr lang="es-MX" sz="2400" b="0" strike="noStrike" spc="-1" dirty="0">
                <a:solidFill>
                  <a:srgbClr val="000000"/>
                </a:solidFill>
                <a:uFill>
                  <a:solidFill>
                    <a:srgbClr val="FFFFFF"/>
                  </a:solidFill>
                </a:uFill>
                <a:latin typeface="Calibri"/>
              </a:rPr>
              <a:t>Ancho de banda utilizado por un dispositivo</a:t>
            </a:r>
            <a:endParaRPr lang="es-MX" sz="1800" b="0" strike="noStrike" spc="-1" dirty="0">
              <a:solidFill>
                <a:srgbClr val="000000"/>
              </a:solidFill>
              <a:uFill>
                <a:solidFill>
                  <a:srgbClr val="FFFFFF"/>
                </a:solidFill>
              </a:uFill>
              <a:latin typeface="Arial"/>
            </a:endParaRPr>
          </a:p>
          <a:p>
            <a:pPr marL="432000" lvl="1" indent="-216000">
              <a:lnSpc>
                <a:spcPct val="100000"/>
              </a:lnSpc>
              <a:buClr>
                <a:srgbClr val="000000"/>
              </a:buClr>
              <a:buFont typeface="Arial"/>
              <a:buChar char="•"/>
            </a:pPr>
            <a:r>
              <a:rPr lang="es-MX" sz="2400" b="0" strike="noStrike" spc="-1" dirty="0">
                <a:solidFill>
                  <a:srgbClr val="000000"/>
                </a:solidFill>
                <a:uFill>
                  <a:solidFill>
                    <a:srgbClr val="FFFFFF"/>
                  </a:solidFill>
                </a:uFill>
                <a:latin typeface="Calibri"/>
              </a:rPr>
              <a:t>Cantidad de memoria disponible</a:t>
            </a:r>
            <a:endParaRPr lang="es-MX" sz="1800" b="0" strike="noStrike" spc="-1" dirty="0">
              <a:solidFill>
                <a:srgbClr val="000000"/>
              </a:solidFill>
              <a:uFill>
                <a:solidFill>
                  <a:srgbClr val="FFFFFF"/>
                </a:solidFill>
              </a:uFill>
              <a:latin typeface="Arial"/>
            </a:endParaRPr>
          </a:p>
          <a:p>
            <a:pPr marL="432000" lvl="1" indent="-216000">
              <a:lnSpc>
                <a:spcPct val="100000"/>
              </a:lnSpc>
              <a:buClr>
                <a:srgbClr val="000000"/>
              </a:buClr>
              <a:buFont typeface="Arial"/>
              <a:buChar char="•"/>
            </a:pPr>
            <a:r>
              <a:rPr lang="es-MX" sz="2400" b="0" strike="noStrike" spc="-1" dirty="0">
                <a:solidFill>
                  <a:srgbClr val="000000"/>
                </a:solidFill>
                <a:uFill>
                  <a:solidFill>
                    <a:srgbClr val="FFFFFF"/>
                  </a:solidFill>
                </a:uFill>
                <a:latin typeface="Calibri"/>
              </a:rPr>
              <a:t>Dirección IP</a:t>
            </a:r>
            <a:endParaRPr lang="es-MX" sz="1800" b="0" strike="noStrike" spc="-1" dirty="0">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dirty="0">
                <a:solidFill>
                  <a:srgbClr val="000000"/>
                </a:solidFill>
                <a:uFill>
                  <a:solidFill>
                    <a:srgbClr val="FFFFFF"/>
                  </a:solidFill>
                </a:uFill>
                <a:latin typeface="Calibri"/>
              </a:rPr>
              <a:t>Tiene una estructura de árbol donde cada número define un nivel de direccionamiento distinto</a:t>
            </a:r>
          </a:p>
          <a:p>
            <a:pPr marL="216000" indent="-216000">
              <a:lnSpc>
                <a:spcPct val="90000"/>
              </a:lnSpc>
              <a:buClr>
                <a:srgbClr val="000000"/>
              </a:buClr>
              <a:buFont typeface="Arial"/>
              <a:buChar char="•"/>
            </a:pPr>
            <a:r>
              <a:rPr lang="es-MX" sz="1800" b="0" strike="noStrike" spc="-1" dirty="0">
                <a:solidFill>
                  <a:srgbClr val="000000"/>
                </a:solidFill>
                <a:uFill>
                  <a:solidFill>
                    <a:srgbClr val="FFFFFF"/>
                  </a:solidFill>
                </a:uFill>
                <a:latin typeface="Arial"/>
              </a:rPr>
              <a:t> </a:t>
            </a:r>
            <a:r>
              <a:rPr lang="es-MX" sz="2800" spc="-1" dirty="0">
                <a:solidFill>
                  <a:srgbClr val="000000"/>
                </a:solidFill>
                <a:uFill>
                  <a:solidFill>
                    <a:srgbClr val="FFFFFF"/>
                  </a:solidFill>
                </a:uFill>
                <a:latin typeface="Calibri"/>
              </a:rPr>
              <a:t>Los tipos de datos de los OID están definidos por </a:t>
            </a:r>
            <a:r>
              <a:rPr lang="es-MX" sz="2800" b="1" spc="-1" dirty="0">
                <a:solidFill>
                  <a:srgbClr val="000000"/>
                </a:solidFill>
                <a:uFill>
                  <a:solidFill>
                    <a:srgbClr val="FFFFFF"/>
                  </a:solidFill>
                </a:uFill>
                <a:latin typeface="Calibri"/>
              </a:rPr>
              <a:t>ASN.1</a:t>
            </a:r>
            <a:r>
              <a:rPr lang="es-MX" sz="2800" spc="-1" dirty="0">
                <a:solidFill>
                  <a:srgbClr val="000000"/>
                </a:solidFill>
                <a:uFill>
                  <a:solidFill>
                    <a:srgbClr val="FFFFFF"/>
                  </a:solidFill>
                </a:uFill>
                <a:latin typeface="Calibri"/>
              </a:rPr>
              <a:t> (Notación de Sintaxis Abstracta 1) y usan una codificación específica denominada </a:t>
            </a:r>
            <a:r>
              <a:rPr lang="es-MX" sz="2800" b="1" spc="-1" dirty="0">
                <a:solidFill>
                  <a:srgbClr val="000000"/>
                </a:solidFill>
                <a:uFill>
                  <a:solidFill>
                    <a:srgbClr val="FFFFFF"/>
                  </a:solidFill>
                </a:uFill>
                <a:latin typeface="Calibri"/>
              </a:rPr>
              <a:t>BER</a:t>
            </a:r>
            <a:r>
              <a:rPr lang="es-MX" sz="2800" spc="-1" dirty="0">
                <a:solidFill>
                  <a:srgbClr val="000000"/>
                </a:solidFill>
                <a:uFill>
                  <a:solidFill>
                    <a:srgbClr val="FFFFFF"/>
                  </a:solidFill>
                </a:uFill>
                <a:latin typeface="Calibri"/>
              </a:rPr>
              <a:t> (Basic </a:t>
            </a:r>
            <a:r>
              <a:rPr lang="es-MX" sz="2800" spc="-1" dirty="0" err="1">
                <a:solidFill>
                  <a:srgbClr val="000000"/>
                </a:solidFill>
                <a:uFill>
                  <a:solidFill>
                    <a:srgbClr val="FFFFFF"/>
                  </a:solidFill>
                </a:uFill>
                <a:latin typeface="Calibri"/>
              </a:rPr>
              <a:t>Encoding</a:t>
            </a:r>
            <a:r>
              <a:rPr lang="es-MX" sz="2800" spc="-1" dirty="0">
                <a:solidFill>
                  <a:srgbClr val="000000"/>
                </a:solidFill>
                <a:uFill>
                  <a:solidFill>
                    <a:srgbClr val="FFFFFF"/>
                  </a:solidFill>
                </a:uFill>
                <a:latin typeface="Calibri"/>
              </a:rPr>
              <a:t> Rules)</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6AA660-C99B-7B1D-388D-6024E9E9E1E6}"/>
              </a:ext>
            </a:extLst>
          </p:cNvPr>
          <p:cNvSpPr>
            <a:spLocks noGrp="1"/>
          </p:cNvSpPr>
          <p:nvPr>
            <p:ph type="title"/>
          </p:nvPr>
        </p:nvSpPr>
        <p:spPr/>
        <p:txBody>
          <a:bodyPr/>
          <a:lstStyle/>
          <a:p>
            <a:r>
              <a:rPr lang="es-MX" dirty="0"/>
              <a:t>Tipos de datos definidos por ASN.1</a:t>
            </a:r>
          </a:p>
        </p:txBody>
      </p:sp>
      <p:sp>
        <p:nvSpPr>
          <p:cNvPr id="3" name="Subtítulo 2">
            <a:extLst>
              <a:ext uri="{FF2B5EF4-FFF2-40B4-BE49-F238E27FC236}">
                <a16:creationId xmlns:a16="http://schemas.microsoft.com/office/drawing/2014/main" id="{DC0606CD-90D7-68FF-2540-AEBECD4B6489}"/>
              </a:ext>
            </a:extLst>
          </p:cNvPr>
          <p:cNvSpPr>
            <a:spLocks noGrp="1"/>
          </p:cNvSpPr>
          <p:nvPr>
            <p:ph type="subTitle"/>
          </p:nvPr>
        </p:nvSpPr>
        <p:spPr>
          <a:xfrm>
            <a:off x="511509" y="3005914"/>
            <a:ext cx="10972440" cy="1144800"/>
          </a:xfrm>
        </p:spPr>
        <p:txBody>
          <a:bodyPr/>
          <a:lstStyle/>
          <a:p>
            <a:r>
              <a:rPr lang="es-MX" sz="2600" b="1" dirty="0"/>
              <a:t>Tipos de datos primitivos</a:t>
            </a:r>
            <a:r>
              <a:rPr lang="es-MX" sz="2600" dirty="0"/>
              <a:t>: son escalares (almacenan un único valor )</a:t>
            </a:r>
          </a:p>
          <a:p>
            <a:pPr marL="0" indent="0">
              <a:buNone/>
            </a:pPr>
            <a:endParaRPr lang="es-MX" dirty="0"/>
          </a:p>
          <a:p>
            <a:pPr>
              <a:buFont typeface="Wingdings" panose="05000000000000000000" pitchFamily="2" charset="2"/>
              <a:buChar char="§"/>
            </a:pPr>
            <a:r>
              <a:rPr lang="es-MX" sz="1600" dirty="0"/>
              <a:t>El tipo </a:t>
            </a:r>
            <a:r>
              <a:rPr lang="es-MX" sz="1600" b="1" dirty="0"/>
              <a:t>INTEGER</a:t>
            </a:r>
            <a:r>
              <a:rPr lang="es-MX" sz="1600" dirty="0"/>
              <a:t> se usa para representar números enteros.</a:t>
            </a:r>
          </a:p>
          <a:p>
            <a:pPr>
              <a:buFont typeface="Wingdings" panose="05000000000000000000" pitchFamily="2" charset="2"/>
              <a:buChar char="§"/>
            </a:pPr>
            <a:r>
              <a:rPr lang="es-MX" sz="1600" dirty="0"/>
              <a:t>El tipo </a:t>
            </a:r>
            <a:r>
              <a:rPr lang="es-MX" sz="1600" b="1" dirty="0"/>
              <a:t>OCTET STRING</a:t>
            </a:r>
            <a:r>
              <a:rPr lang="es-MX" sz="1600" dirty="0"/>
              <a:t> almacena una secuencia de bytes. De él se derivan tres subtipos:</a:t>
            </a:r>
          </a:p>
          <a:p>
            <a:pPr lvl="1">
              <a:buFont typeface="Wingdings" panose="05000000000000000000" pitchFamily="2" charset="2"/>
              <a:buChar char="§"/>
            </a:pPr>
            <a:r>
              <a:rPr lang="es-MX" sz="1600" b="1" dirty="0" err="1"/>
              <a:t>DisplayString</a:t>
            </a:r>
            <a:r>
              <a:rPr lang="es-MX" sz="1600" dirty="0"/>
              <a:t> (para cadenas de caracteres ASCII)</a:t>
            </a:r>
          </a:p>
          <a:p>
            <a:pPr lvl="1">
              <a:buFont typeface="Wingdings" panose="05000000000000000000" pitchFamily="2" charset="2"/>
              <a:buChar char="§"/>
            </a:pPr>
            <a:r>
              <a:rPr lang="es-MX" sz="1600" b="1" dirty="0" err="1"/>
              <a:t>OctetBitString</a:t>
            </a:r>
            <a:r>
              <a:rPr lang="es-MX" sz="1600" dirty="0"/>
              <a:t> (para cadenas de bits mayores de 32)</a:t>
            </a:r>
          </a:p>
          <a:p>
            <a:pPr lvl="1">
              <a:buFont typeface="Wingdings" panose="05000000000000000000" pitchFamily="2" charset="2"/>
              <a:buChar char="§"/>
            </a:pPr>
            <a:r>
              <a:rPr lang="es-MX" sz="1600" b="1" dirty="0" err="1"/>
              <a:t>PhysAddress</a:t>
            </a:r>
            <a:r>
              <a:rPr lang="es-MX" sz="1600" dirty="0"/>
              <a:t> (para representar direcciones del nivel de enlace).</a:t>
            </a:r>
          </a:p>
          <a:p>
            <a:pPr>
              <a:buFont typeface="Wingdings" panose="05000000000000000000" pitchFamily="2" charset="2"/>
              <a:buChar char="§"/>
            </a:pPr>
            <a:r>
              <a:rPr lang="es-MX" sz="1600" dirty="0"/>
              <a:t>El tipo </a:t>
            </a:r>
            <a:r>
              <a:rPr lang="es-MX" sz="1600" b="1" dirty="0"/>
              <a:t>OBJECT IDENTIFIER</a:t>
            </a:r>
            <a:r>
              <a:rPr lang="es-MX" sz="1600" dirty="0"/>
              <a:t> para representar los identificadores de los objetos, es decir, la posición de un objeto dentro del árbol de la MIB.</a:t>
            </a:r>
          </a:p>
          <a:p>
            <a:pPr>
              <a:buFont typeface="Wingdings" panose="05000000000000000000" pitchFamily="2" charset="2"/>
              <a:buChar char="§"/>
            </a:pPr>
            <a:r>
              <a:rPr lang="es-MX" sz="1600" dirty="0"/>
              <a:t>El tipo </a:t>
            </a:r>
            <a:r>
              <a:rPr lang="es-MX" sz="1600" b="1" dirty="0"/>
              <a:t>BOOLEAN</a:t>
            </a:r>
            <a:r>
              <a:rPr lang="es-MX" sz="1600" dirty="0"/>
              <a:t> para valores que solo pueden ser verdadero o falso.</a:t>
            </a:r>
          </a:p>
          <a:p>
            <a:pPr>
              <a:buFont typeface="Wingdings" panose="05000000000000000000" pitchFamily="2" charset="2"/>
              <a:buChar char="§"/>
            </a:pPr>
            <a:r>
              <a:rPr lang="es-MX" sz="1600" dirty="0"/>
              <a:t>El tipo </a:t>
            </a:r>
            <a:r>
              <a:rPr lang="es-MX" sz="1600" b="1" dirty="0"/>
              <a:t>NULL</a:t>
            </a:r>
            <a:r>
              <a:rPr lang="es-MX" sz="1600" dirty="0"/>
              <a:t> para representar la ausencia de valor.</a:t>
            </a:r>
          </a:p>
        </p:txBody>
      </p:sp>
    </p:spTree>
    <p:extLst>
      <p:ext uri="{BB962C8B-B14F-4D97-AF65-F5344CB8AC3E}">
        <p14:creationId xmlns:p14="http://schemas.microsoft.com/office/powerpoint/2010/main" val="2524559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6AA660-C99B-7B1D-388D-6024E9E9E1E6}"/>
              </a:ext>
            </a:extLst>
          </p:cNvPr>
          <p:cNvSpPr>
            <a:spLocks noGrp="1"/>
          </p:cNvSpPr>
          <p:nvPr>
            <p:ph type="title"/>
          </p:nvPr>
        </p:nvSpPr>
        <p:spPr/>
        <p:txBody>
          <a:bodyPr/>
          <a:lstStyle/>
          <a:p>
            <a:r>
              <a:rPr lang="es-MX" dirty="0"/>
              <a:t>Tipos de datos definidos por ASN.1</a:t>
            </a:r>
          </a:p>
        </p:txBody>
      </p:sp>
      <p:sp>
        <p:nvSpPr>
          <p:cNvPr id="3" name="Subtítulo 2">
            <a:extLst>
              <a:ext uri="{FF2B5EF4-FFF2-40B4-BE49-F238E27FC236}">
                <a16:creationId xmlns:a16="http://schemas.microsoft.com/office/drawing/2014/main" id="{DC0606CD-90D7-68FF-2540-AEBECD4B6489}"/>
              </a:ext>
            </a:extLst>
          </p:cNvPr>
          <p:cNvSpPr>
            <a:spLocks noGrp="1"/>
          </p:cNvSpPr>
          <p:nvPr>
            <p:ph type="subTitle"/>
          </p:nvPr>
        </p:nvSpPr>
        <p:spPr>
          <a:xfrm>
            <a:off x="324344" y="1217496"/>
            <a:ext cx="10972440" cy="5025987"/>
          </a:xfrm>
        </p:spPr>
        <p:txBody>
          <a:bodyPr/>
          <a:lstStyle/>
          <a:p>
            <a:r>
              <a:rPr lang="es-MX" sz="2600" b="1" dirty="0"/>
              <a:t>Tipos de datos compuestos</a:t>
            </a:r>
            <a:r>
              <a:rPr lang="es-MX" sz="2600" dirty="0"/>
              <a:t>: construidos a partir de otros tipos. (Se usan para crear arreglos y tablas).</a:t>
            </a:r>
          </a:p>
          <a:p>
            <a:pPr marL="0" indent="0">
              <a:buNone/>
            </a:pPr>
            <a:endParaRPr lang="es-MX" dirty="0"/>
          </a:p>
          <a:p>
            <a:pPr>
              <a:buFont typeface="Wingdings" panose="05000000000000000000" pitchFamily="2" charset="2"/>
              <a:buChar char="§"/>
            </a:pPr>
            <a:r>
              <a:rPr lang="es-MX" sz="1600" dirty="0"/>
              <a:t>El tipo </a:t>
            </a:r>
            <a:r>
              <a:rPr lang="es-MX" sz="1600" b="1" dirty="0"/>
              <a:t>SEQUENCE</a:t>
            </a:r>
            <a:r>
              <a:rPr lang="es-MX" sz="1600" dirty="0"/>
              <a:t> es una estructura de datos, es decir, una lista ordenada de tipos de datos diferentes. Es el tipo que se usa para almacenar una fila de una tabla.</a:t>
            </a:r>
          </a:p>
          <a:p>
            <a:pPr>
              <a:buFont typeface="Wingdings" panose="05000000000000000000" pitchFamily="2" charset="2"/>
              <a:buChar char="§"/>
            </a:pPr>
            <a:r>
              <a:rPr lang="es-MX" sz="1600" dirty="0"/>
              <a:t>El tipo </a:t>
            </a:r>
            <a:r>
              <a:rPr lang="es-MX" sz="1600" b="1" dirty="0"/>
              <a:t>SEQUENCE OF</a:t>
            </a:r>
            <a:r>
              <a:rPr lang="es-MX" sz="1600" dirty="0"/>
              <a:t> es una lista ordenada de tipos de datos iguales. Es similar al tipo "SEQUENCE", excepto que todos los tipos han de ser iguales. Es el tipo usado en tablas para almacenar todas las filas.</a:t>
            </a:r>
          </a:p>
          <a:p>
            <a:pPr>
              <a:buFont typeface="Wingdings" panose="05000000000000000000" pitchFamily="2" charset="2"/>
              <a:buChar char="§"/>
            </a:pPr>
            <a:r>
              <a:rPr lang="es-MX" sz="1600" dirty="0"/>
              <a:t>El tipo </a:t>
            </a:r>
            <a:r>
              <a:rPr lang="es-MX" sz="1600" b="1" dirty="0"/>
              <a:t>SET</a:t>
            </a:r>
            <a:r>
              <a:rPr lang="es-MX" sz="1600" dirty="0"/>
              <a:t> es equivalente al "SEQUENCE", pero la lista no está ordenada. Hay que notar que todos los componentes de la lista SET deben ser diferentes si no la definición sería ambigua.</a:t>
            </a:r>
          </a:p>
          <a:p>
            <a:pPr>
              <a:buFont typeface="Wingdings" panose="05000000000000000000" pitchFamily="2" charset="2"/>
              <a:buChar char="§"/>
            </a:pPr>
            <a:r>
              <a:rPr lang="es-MX" sz="1600" dirty="0"/>
              <a:t>El tipo </a:t>
            </a:r>
            <a:r>
              <a:rPr lang="es-MX" sz="1600" b="1" dirty="0"/>
              <a:t>SET OF</a:t>
            </a:r>
            <a:r>
              <a:rPr lang="es-MX" sz="1600" dirty="0"/>
              <a:t> es equivalente al "SEQUENCE OF" pero la lista no está ordenada.</a:t>
            </a:r>
          </a:p>
          <a:p>
            <a:pPr>
              <a:buFont typeface="Wingdings" panose="05000000000000000000" pitchFamily="2" charset="2"/>
              <a:buChar char="§"/>
            </a:pPr>
            <a:r>
              <a:rPr lang="es-MX" sz="1600" dirty="0"/>
              <a:t>El tipo </a:t>
            </a:r>
            <a:r>
              <a:rPr lang="es-MX" sz="1600" b="1" dirty="0"/>
              <a:t>CHOICE</a:t>
            </a:r>
            <a:r>
              <a:rPr lang="es-MX" sz="1600" dirty="0"/>
              <a:t> es un tipo de datos en el que hay que elegir uno de entre los tipos disponibles en una lista. Por ejemplo, un tipo "Animal" podría ser una "CHOICE" entre los tipos "Perro", "Gato" o "Pez".</a:t>
            </a:r>
          </a:p>
        </p:txBody>
      </p:sp>
    </p:spTree>
    <p:extLst>
      <p:ext uri="{BB962C8B-B14F-4D97-AF65-F5344CB8AC3E}">
        <p14:creationId xmlns:p14="http://schemas.microsoft.com/office/powerpoint/2010/main" val="3360934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6AA660-C99B-7B1D-388D-6024E9E9E1E6}"/>
              </a:ext>
            </a:extLst>
          </p:cNvPr>
          <p:cNvSpPr>
            <a:spLocks noGrp="1"/>
          </p:cNvSpPr>
          <p:nvPr>
            <p:ph type="title"/>
          </p:nvPr>
        </p:nvSpPr>
        <p:spPr/>
        <p:txBody>
          <a:bodyPr/>
          <a:lstStyle/>
          <a:p>
            <a:r>
              <a:rPr lang="es-MX" dirty="0"/>
              <a:t>Tipos de datos definidos por ASN.1</a:t>
            </a:r>
          </a:p>
        </p:txBody>
      </p:sp>
      <p:sp>
        <p:nvSpPr>
          <p:cNvPr id="3" name="Subtítulo 2">
            <a:extLst>
              <a:ext uri="{FF2B5EF4-FFF2-40B4-BE49-F238E27FC236}">
                <a16:creationId xmlns:a16="http://schemas.microsoft.com/office/drawing/2014/main" id="{DC0606CD-90D7-68FF-2540-AEBECD4B6489}"/>
              </a:ext>
            </a:extLst>
          </p:cNvPr>
          <p:cNvSpPr>
            <a:spLocks noGrp="1"/>
          </p:cNvSpPr>
          <p:nvPr>
            <p:ph type="subTitle"/>
          </p:nvPr>
        </p:nvSpPr>
        <p:spPr>
          <a:xfrm>
            <a:off x="324344" y="1217496"/>
            <a:ext cx="10972440" cy="5025987"/>
          </a:xfrm>
        </p:spPr>
        <p:txBody>
          <a:bodyPr/>
          <a:lstStyle/>
          <a:p>
            <a:r>
              <a:rPr lang="es-MX" sz="2600" b="1" dirty="0"/>
              <a:t>Tipos de datos definidos</a:t>
            </a:r>
            <a:r>
              <a:rPr lang="es-MX" sz="2600" dirty="0"/>
              <a:t>: son derivados de los tipos construidos, pero tienen un nombre más descriptivo</a:t>
            </a:r>
          </a:p>
          <a:p>
            <a:pPr marL="0" indent="0">
              <a:buNone/>
            </a:pPr>
            <a:endParaRPr lang="es-MX" dirty="0"/>
          </a:p>
          <a:p>
            <a:pPr>
              <a:buFont typeface="Wingdings" panose="05000000000000000000" pitchFamily="2" charset="2"/>
              <a:buChar char="§"/>
            </a:pPr>
            <a:r>
              <a:rPr lang="es-MX" sz="1600" b="1" dirty="0" err="1"/>
              <a:t>IpAddress</a:t>
            </a:r>
            <a:r>
              <a:rPr lang="es-MX" sz="1600" dirty="0"/>
              <a:t> sirve para almacenar una dirección IP. Son 4 bytes y se define como "OCTET STRING (SIZE (4))".</a:t>
            </a:r>
          </a:p>
          <a:p>
            <a:pPr>
              <a:buFont typeface="Wingdings" panose="05000000000000000000" pitchFamily="2" charset="2"/>
              <a:buChar char="§"/>
            </a:pPr>
            <a:r>
              <a:rPr lang="es-MX" sz="1600" b="1" dirty="0" err="1"/>
              <a:t>Counter</a:t>
            </a:r>
            <a:r>
              <a:rPr lang="es-MX" sz="1600" dirty="0"/>
              <a:t> representa un contador que únicamente puede incrementar su valor y que cuando llega a su valor máximo, vuelve a cero. Se define como un entero sin signo, que solo puede tomar valores positivos y el cero.</a:t>
            </a:r>
          </a:p>
          <a:p>
            <a:pPr>
              <a:buFont typeface="Wingdings" panose="05000000000000000000" pitchFamily="2" charset="2"/>
              <a:buChar char="§"/>
            </a:pPr>
            <a:r>
              <a:rPr lang="es-MX" sz="1600" b="1" dirty="0"/>
              <a:t>Gauge</a:t>
            </a:r>
            <a:r>
              <a:rPr lang="es-MX" sz="1600" dirty="0"/>
              <a:t> es como un indicador de nivel. Es un valor que </a:t>
            </a:r>
            <a:r>
              <a:rPr lang="es-MX" sz="1600" b="1" dirty="0"/>
              <a:t>puede incrementar o decrementar</a:t>
            </a:r>
            <a:r>
              <a:rPr lang="es-MX" sz="1600" dirty="0"/>
              <a:t>. Puede llevar asociadas acciones a tomar en caso de que se superen unos umbrales. Un ejemplo es un medidor del ancho de banda medido en un determinado interfaz. Está definido como un </a:t>
            </a:r>
            <a:r>
              <a:rPr lang="es-MX" sz="1600" b="1" dirty="0"/>
              <a:t>entero de 32 bits</a:t>
            </a:r>
            <a:r>
              <a:rPr lang="es-MX" sz="1600" dirty="0"/>
              <a:t>.</a:t>
            </a:r>
          </a:p>
          <a:p>
            <a:pPr>
              <a:buFont typeface="Wingdings" panose="05000000000000000000" pitchFamily="2" charset="2"/>
              <a:buChar char="§"/>
            </a:pPr>
            <a:r>
              <a:rPr lang="es-MX" sz="1600" b="1" dirty="0" err="1"/>
              <a:t>TimeTicks</a:t>
            </a:r>
            <a:r>
              <a:rPr lang="es-MX" sz="1600" dirty="0"/>
              <a:t> es un tipo de datos usado para medir tiempos. Indica el número de centésimas de segundo que han transcurrido desde un determinado evento temporal. Es un </a:t>
            </a:r>
            <a:r>
              <a:rPr lang="es-MX" sz="1600" b="1" dirty="0"/>
              <a:t>entero de 32 bits</a:t>
            </a:r>
            <a:r>
              <a:rPr lang="es-MX" sz="1600" dirty="0"/>
              <a:t>.</a:t>
            </a:r>
          </a:p>
          <a:p>
            <a:pPr>
              <a:buFont typeface="Wingdings" panose="05000000000000000000" pitchFamily="2" charset="2"/>
              <a:buChar char="§"/>
            </a:pPr>
            <a:r>
              <a:rPr lang="es-MX" sz="1600" b="1" dirty="0"/>
              <a:t>Opaque</a:t>
            </a:r>
            <a:r>
              <a:rPr lang="es-MX" sz="1600" dirty="0"/>
              <a:t> define datos arbitrarios codificados como OCTET STRING.</a:t>
            </a:r>
          </a:p>
          <a:p>
            <a:pPr>
              <a:buFont typeface="Wingdings" panose="05000000000000000000" pitchFamily="2" charset="2"/>
              <a:buChar char="§"/>
            </a:pPr>
            <a:r>
              <a:rPr lang="es-MX" sz="1600" b="1" dirty="0" err="1"/>
              <a:t>NetworkAddress</a:t>
            </a:r>
            <a:r>
              <a:rPr lang="es-MX" sz="1600" dirty="0"/>
              <a:t> es un CHOICE que permite seleccionar varios formatos de direcciones. Actualmente solo </a:t>
            </a:r>
            <a:r>
              <a:rPr lang="es-MX" sz="1600" dirty="0" err="1"/>
              <a:t>IpAddress</a:t>
            </a:r>
            <a:r>
              <a:rPr lang="es-MX" sz="1600" dirty="0"/>
              <a:t>.</a:t>
            </a:r>
          </a:p>
        </p:txBody>
      </p:sp>
    </p:spTree>
    <p:extLst>
      <p:ext uri="{BB962C8B-B14F-4D97-AF65-F5344CB8AC3E}">
        <p14:creationId xmlns:p14="http://schemas.microsoft.com/office/powerpoint/2010/main" val="4073641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838080" y="365040"/>
            <a:ext cx="10514880" cy="651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0" strike="noStrike" spc="-1">
                <a:solidFill>
                  <a:srgbClr val="000000"/>
                </a:solidFill>
                <a:uFill>
                  <a:solidFill>
                    <a:srgbClr val="FFFFFF"/>
                  </a:solidFill>
                </a:uFill>
                <a:latin typeface="Calibri Light"/>
              </a:rPr>
              <a:t>Estructura del árbol OID</a:t>
            </a:r>
            <a:endParaRPr lang="es-MX" sz="1800" b="0" strike="noStrike" spc="-1">
              <a:solidFill>
                <a:srgbClr val="000000"/>
              </a:solidFill>
              <a:uFill>
                <a:solidFill>
                  <a:srgbClr val="FFFFFF"/>
                </a:solidFill>
              </a:uFill>
              <a:latin typeface="Arial"/>
            </a:endParaRPr>
          </a:p>
        </p:txBody>
      </p:sp>
      <p:pic>
        <p:nvPicPr>
          <p:cNvPr id="107" name="Imagen 3"/>
          <p:cNvPicPr/>
          <p:nvPr/>
        </p:nvPicPr>
        <p:blipFill>
          <a:blip r:embed="rId2"/>
          <a:stretch/>
        </p:blipFill>
        <p:spPr>
          <a:xfrm>
            <a:off x="1850400" y="1173240"/>
            <a:ext cx="8145720" cy="4662720"/>
          </a:xfrm>
          <a:prstGeom prst="rect">
            <a:avLst/>
          </a:prstGeom>
          <a:ln>
            <a:noFill/>
          </a:ln>
        </p:spPr>
      </p:pic>
      <p:sp>
        <p:nvSpPr>
          <p:cNvPr id="108" name="CustomShape 2"/>
          <p:cNvSpPr/>
          <p:nvPr/>
        </p:nvSpPr>
        <p:spPr>
          <a:xfrm>
            <a:off x="521640" y="5992200"/>
            <a:ext cx="585756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http://rcp100.sourceforge.net/snmp.html</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CustomShape 1"/>
          <p:cNvSpPr/>
          <p:nvPr/>
        </p:nvSpPr>
        <p:spPr>
          <a:xfrm>
            <a:off x="838080" y="365040"/>
            <a:ext cx="10514880" cy="50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200" b="0" strike="noStrike" spc="-1">
                <a:solidFill>
                  <a:srgbClr val="000000"/>
                </a:solidFill>
                <a:uFill>
                  <a:solidFill>
                    <a:srgbClr val="FFFFFF"/>
                  </a:solidFill>
                </a:uFill>
                <a:latin typeface="Calibri Light"/>
              </a:rPr>
              <a:t>Ejemplo de OID (público)</a:t>
            </a:r>
            <a:endParaRPr lang="es-MX" sz="1800" b="0" strike="noStrike" spc="-1">
              <a:solidFill>
                <a:srgbClr val="000000"/>
              </a:solidFill>
              <a:uFill>
                <a:solidFill>
                  <a:srgbClr val="FFFFFF"/>
                </a:solidFill>
              </a:uFill>
              <a:latin typeface="Arial"/>
            </a:endParaRPr>
          </a:p>
        </p:txBody>
      </p:sp>
      <p:sp>
        <p:nvSpPr>
          <p:cNvPr id="110" name="CustomShape 2"/>
          <p:cNvSpPr/>
          <p:nvPr/>
        </p:nvSpPr>
        <p:spPr>
          <a:xfrm>
            <a:off x="838080" y="1825560"/>
            <a:ext cx="10514880" cy="556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2400" b="0" strike="noStrike" spc="-1">
                <a:solidFill>
                  <a:srgbClr val="000000"/>
                </a:solidFill>
                <a:uFill>
                  <a:solidFill>
                    <a:srgbClr val="FFFFFF"/>
                  </a:solidFill>
                </a:uFill>
                <a:latin typeface="Calibri"/>
              </a:rPr>
              <a:t>1.3.6.1.2.1.1.4</a:t>
            </a:r>
            <a:endParaRPr lang="es-MX" sz="1800" b="0" strike="noStrike" spc="-1">
              <a:solidFill>
                <a:srgbClr val="000000"/>
              </a:solidFill>
              <a:uFill>
                <a:solidFill>
                  <a:srgbClr val="FFFFFF"/>
                </a:solidFill>
              </a:uFill>
              <a:latin typeface="Arial"/>
            </a:endParaRPr>
          </a:p>
        </p:txBody>
      </p:sp>
      <p:graphicFrame>
        <p:nvGraphicFramePr>
          <p:cNvPr id="111" name="Table 3"/>
          <p:cNvGraphicFramePr/>
          <p:nvPr/>
        </p:nvGraphicFramePr>
        <p:xfrm>
          <a:off x="1078920" y="2509920"/>
          <a:ext cx="10274400" cy="4091040"/>
        </p:xfrm>
        <a:graphic>
          <a:graphicData uri="http://schemas.openxmlformats.org/drawingml/2006/table">
            <a:tbl>
              <a:tblPr/>
              <a:tblGrid>
                <a:gridCol w="1517400">
                  <a:extLst>
                    <a:ext uri="{9D8B030D-6E8A-4147-A177-3AD203B41FA5}">
                      <a16:colId xmlns:a16="http://schemas.microsoft.com/office/drawing/2014/main" val="20000"/>
                    </a:ext>
                  </a:extLst>
                </a:gridCol>
                <a:gridCol w="1676880">
                  <a:extLst>
                    <a:ext uri="{9D8B030D-6E8A-4147-A177-3AD203B41FA5}">
                      <a16:colId xmlns:a16="http://schemas.microsoft.com/office/drawing/2014/main" val="20001"/>
                    </a:ext>
                  </a:extLst>
                </a:gridCol>
                <a:gridCol w="7080120">
                  <a:extLst>
                    <a:ext uri="{9D8B030D-6E8A-4147-A177-3AD203B41FA5}">
                      <a16:colId xmlns:a16="http://schemas.microsoft.com/office/drawing/2014/main" val="20002"/>
                    </a:ext>
                  </a:extLst>
                </a:gridCol>
              </a:tblGrid>
              <a:tr h="360000">
                <a:tc>
                  <a:txBody>
                    <a:bodyPr/>
                    <a:lstStyle/>
                    <a:p>
                      <a:pPr algn="ctr">
                        <a:lnSpc>
                          <a:spcPct val="100000"/>
                        </a:lnSpc>
                      </a:pPr>
                      <a:r>
                        <a:rPr lang="es-MX" sz="1800" b="1" strike="noStrike" spc="-1">
                          <a:solidFill>
                            <a:srgbClr val="FFFFFF"/>
                          </a:solidFill>
                          <a:uFill>
                            <a:solidFill>
                              <a:srgbClr val="FFFFFF"/>
                            </a:solidFill>
                          </a:uFill>
                          <a:latin typeface="Calibri"/>
                        </a:rPr>
                        <a:t>Número</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gn="ctr">
                        <a:lnSpc>
                          <a:spcPct val="100000"/>
                        </a:lnSpc>
                      </a:pPr>
                      <a:r>
                        <a:rPr lang="es-MX" sz="1800" b="1" strike="noStrike" spc="-1">
                          <a:solidFill>
                            <a:srgbClr val="FFFFFF"/>
                          </a:solidFill>
                          <a:uFill>
                            <a:solidFill>
                              <a:srgbClr val="FFFFFF"/>
                            </a:solidFill>
                          </a:uFill>
                          <a:latin typeface="Calibri"/>
                        </a:rPr>
                        <a:t>Etiqueta</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gn="ctr">
                        <a:lnSpc>
                          <a:spcPct val="100000"/>
                        </a:lnSpc>
                      </a:pPr>
                      <a:r>
                        <a:rPr lang="es-MX" sz="1800" b="1" strike="noStrike" spc="-1">
                          <a:solidFill>
                            <a:srgbClr val="FFFFFF"/>
                          </a:solidFill>
                          <a:uFill>
                            <a:solidFill>
                              <a:srgbClr val="FFFFFF"/>
                            </a:solidFill>
                          </a:uFill>
                          <a:latin typeface="Calibri"/>
                        </a:rPr>
                        <a:t>Explicación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0"/>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iso</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ISO es el grupo que estableció el estándar OID</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1"/>
                  </a:ext>
                </a:extLst>
              </a:tr>
              <a:tr h="360000">
                <a:tc>
                  <a:txBody>
                    <a:bodyPr/>
                    <a:lstStyle/>
                    <a:p>
                      <a:pPr>
                        <a:lnSpc>
                          <a:spcPct val="100000"/>
                        </a:lnSpc>
                      </a:pPr>
                      <a:r>
                        <a:rPr lang="es-MX" sz="1800" b="0" strike="noStrike" spc="-1">
                          <a:solidFill>
                            <a:srgbClr val="000000"/>
                          </a:solidFill>
                          <a:uFill>
                            <a:solidFill>
                              <a:srgbClr val="FFFFFF"/>
                            </a:solidFill>
                          </a:uFill>
                          <a:latin typeface="Calibri"/>
                        </a:rPr>
                        <a:t>.3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org</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Una organización será especificada a continuación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2"/>
                  </a:ext>
                </a:extLst>
              </a:tr>
              <a:tr h="628200">
                <a:tc>
                  <a:txBody>
                    <a:bodyPr/>
                    <a:lstStyle/>
                    <a:p>
                      <a:pPr>
                        <a:lnSpc>
                          <a:spcPct val="100000"/>
                        </a:lnSpc>
                      </a:pPr>
                      <a:r>
                        <a:rPr lang="es-MX" sz="1800" b="0" strike="noStrike" spc="-1">
                          <a:solidFill>
                            <a:srgbClr val="000000"/>
                          </a:solidFill>
                          <a:uFill>
                            <a:solidFill>
                              <a:srgbClr val="FFFFFF"/>
                            </a:solidFill>
                          </a:uFill>
                          <a:latin typeface="Calibri"/>
                        </a:rPr>
                        <a:t>.6</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dod</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Departamento de Defensa de los Estados Unidos de Norteamérica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3"/>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internet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Comunicación será vía Internet/Red</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4"/>
                  </a:ext>
                </a:extLst>
              </a:tr>
              <a:tr h="360000">
                <a:tc>
                  <a:txBody>
                    <a:bodyPr/>
                    <a:lstStyle/>
                    <a:p>
                      <a:pPr>
                        <a:lnSpc>
                          <a:spcPct val="100000"/>
                        </a:lnSpc>
                      </a:pPr>
                      <a:r>
                        <a:rPr lang="es-MX" sz="1800" b="0" strike="noStrike" spc="-1">
                          <a:solidFill>
                            <a:srgbClr val="000000"/>
                          </a:solidFill>
                          <a:uFill>
                            <a:solidFill>
                              <a:srgbClr val="FFFFFF"/>
                            </a:solidFill>
                          </a:uFill>
                          <a:latin typeface="Calibri"/>
                        </a:rPr>
                        <a:t>.2</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mgmt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Este es un dispositivo de gestión definido por el IETF</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5"/>
                  </a:ext>
                </a:extLst>
              </a:tr>
              <a:tr h="6282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MIB-2</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El OID está definido en la versión 2 de la especificación de MIB</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6"/>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System</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Éste es un parámetro de sistema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7"/>
                  </a:ext>
                </a:extLst>
              </a:tr>
              <a:tr h="627840">
                <a:tc>
                  <a:txBody>
                    <a:bodyPr/>
                    <a:lstStyle/>
                    <a:p>
                      <a:pPr>
                        <a:lnSpc>
                          <a:spcPct val="100000"/>
                        </a:lnSpc>
                      </a:pPr>
                      <a:r>
                        <a:rPr lang="es-MX" sz="1800" b="0" strike="noStrike" spc="-1">
                          <a:solidFill>
                            <a:srgbClr val="000000"/>
                          </a:solidFill>
                          <a:uFill>
                            <a:solidFill>
                              <a:srgbClr val="FFFFFF"/>
                            </a:solidFill>
                          </a:uFill>
                          <a:latin typeface="Calibri"/>
                        </a:rPr>
                        <a:t>.4</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sysContact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Éste parámetro es la información de contacto para el administrador de un sistema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stomShape 1"/>
          <p:cNvSpPr/>
          <p:nvPr/>
        </p:nvSpPr>
        <p:spPr>
          <a:xfrm>
            <a:off x="838080" y="365040"/>
            <a:ext cx="10514880" cy="50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200" b="0" strike="noStrike" spc="-1">
                <a:solidFill>
                  <a:srgbClr val="000000"/>
                </a:solidFill>
                <a:uFill>
                  <a:solidFill>
                    <a:srgbClr val="FFFFFF"/>
                  </a:solidFill>
                </a:uFill>
                <a:latin typeface="Calibri Light"/>
              </a:rPr>
              <a:t>Ejemplo de OID (privado)</a:t>
            </a:r>
            <a:endParaRPr lang="es-MX" sz="1800" b="0" strike="noStrike" spc="-1">
              <a:solidFill>
                <a:srgbClr val="000000"/>
              </a:solidFill>
              <a:uFill>
                <a:solidFill>
                  <a:srgbClr val="FFFFFF"/>
                </a:solidFill>
              </a:uFill>
              <a:latin typeface="Arial"/>
            </a:endParaRPr>
          </a:p>
        </p:txBody>
      </p:sp>
      <p:sp>
        <p:nvSpPr>
          <p:cNvPr id="113" name="CustomShape 2"/>
          <p:cNvSpPr/>
          <p:nvPr/>
        </p:nvSpPr>
        <p:spPr>
          <a:xfrm>
            <a:off x="1078920" y="1851480"/>
            <a:ext cx="7236000" cy="556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2400" b="0" strike="noStrike" spc="-1">
                <a:solidFill>
                  <a:srgbClr val="000000"/>
                </a:solidFill>
                <a:uFill>
                  <a:solidFill>
                    <a:srgbClr val="FFFFFF"/>
                  </a:solidFill>
                </a:uFill>
                <a:latin typeface="Calibri"/>
              </a:rPr>
              <a:t>1 . 3 . 6 . 1 . 4 . 1 . 2682 . 1 . 4 . 5 . 1 . 1. 99 . 1 . 1 . 6</a:t>
            </a:r>
            <a:endParaRPr lang="es-MX" sz="1800" b="0" strike="noStrike" spc="-1">
              <a:solidFill>
                <a:srgbClr val="000000"/>
              </a:solidFill>
              <a:uFill>
                <a:solidFill>
                  <a:srgbClr val="FFFFFF"/>
                </a:solidFill>
              </a:uFill>
              <a:latin typeface="Arial"/>
            </a:endParaRPr>
          </a:p>
        </p:txBody>
      </p:sp>
      <p:graphicFrame>
        <p:nvGraphicFramePr>
          <p:cNvPr id="114" name="Table 3"/>
          <p:cNvGraphicFramePr/>
          <p:nvPr/>
        </p:nvGraphicFramePr>
        <p:xfrm>
          <a:off x="1078920" y="2509920"/>
          <a:ext cx="10274400" cy="3097080"/>
        </p:xfrm>
        <a:graphic>
          <a:graphicData uri="http://schemas.openxmlformats.org/drawingml/2006/table">
            <a:tbl>
              <a:tblPr/>
              <a:tblGrid>
                <a:gridCol w="1517400">
                  <a:extLst>
                    <a:ext uri="{9D8B030D-6E8A-4147-A177-3AD203B41FA5}">
                      <a16:colId xmlns:a16="http://schemas.microsoft.com/office/drawing/2014/main" val="20000"/>
                    </a:ext>
                  </a:extLst>
                </a:gridCol>
                <a:gridCol w="1676880">
                  <a:extLst>
                    <a:ext uri="{9D8B030D-6E8A-4147-A177-3AD203B41FA5}">
                      <a16:colId xmlns:a16="http://schemas.microsoft.com/office/drawing/2014/main" val="20001"/>
                    </a:ext>
                  </a:extLst>
                </a:gridCol>
                <a:gridCol w="7080120">
                  <a:extLst>
                    <a:ext uri="{9D8B030D-6E8A-4147-A177-3AD203B41FA5}">
                      <a16:colId xmlns:a16="http://schemas.microsoft.com/office/drawing/2014/main" val="20002"/>
                    </a:ext>
                  </a:extLst>
                </a:gridCol>
              </a:tblGrid>
              <a:tr h="360000">
                <a:tc>
                  <a:txBody>
                    <a:bodyPr/>
                    <a:lstStyle/>
                    <a:p>
                      <a:pPr algn="ctr">
                        <a:lnSpc>
                          <a:spcPct val="100000"/>
                        </a:lnSpc>
                      </a:pPr>
                      <a:r>
                        <a:rPr lang="es-MX" sz="1800" b="1" strike="noStrike" spc="-1">
                          <a:solidFill>
                            <a:srgbClr val="FFFFFF"/>
                          </a:solidFill>
                          <a:uFill>
                            <a:solidFill>
                              <a:srgbClr val="FFFFFF"/>
                            </a:solidFill>
                          </a:uFill>
                          <a:latin typeface="Calibri"/>
                        </a:rPr>
                        <a:t>Número</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gn="ctr">
                        <a:lnSpc>
                          <a:spcPct val="100000"/>
                        </a:lnSpc>
                      </a:pPr>
                      <a:r>
                        <a:rPr lang="es-MX" sz="1800" b="1" strike="noStrike" spc="-1">
                          <a:solidFill>
                            <a:srgbClr val="FFFFFF"/>
                          </a:solidFill>
                          <a:uFill>
                            <a:solidFill>
                              <a:srgbClr val="FFFFFF"/>
                            </a:solidFill>
                          </a:uFill>
                          <a:latin typeface="Calibri"/>
                        </a:rPr>
                        <a:t>Etiqueta</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gn="ctr">
                        <a:lnSpc>
                          <a:spcPct val="100000"/>
                        </a:lnSpc>
                      </a:pPr>
                      <a:r>
                        <a:rPr lang="es-MX" sz="1800" b="1" strike="noStrike" spc="-1">
                          <a:solidFill>
                            <a:srgbClr val="FFFFFF"/>
                          </a:solidFill>
                          <a:uFill>
                            <a:solidFill>
                              <a:srgbClr val="FFFFFF"/>
                            </a:solidFill>
                          </a:uFill>
                          <a:latin typeface="Calibri"/>
                        </a:rPr>
                        <a:t>Explicación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0"/>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iso</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ISO es el grupo que estableció el estándar OID</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1"/>
                  </a:ext>
                </a:extLst>
              </a:tr>
              <a:tr h="360000">
                <a:tc>
                  <a:txBody>
                    <a:bodyPr/>
                    <a:lstStyle/>
                    <a:p>
                      <a:pPr>
                        <a:lnSpc>
                          <a:spcPct val="100000"/>
                        </a:lnSpc>
                      </a:pPr>
                      <a:r>
                        <a:rPr lang="es-MX" sz="1800" b="0" strike="noStrike" spc="-1">
                          <a:solidFill>
                            <a:srgbClr val="000000"/>
                          </a:solidFill>
                          <a:uFill>
                            <a:solidFill>
                              <a:srgbClr val="FFFFFF"/>
                            </a:solidFill>
                          </a:uFill>
                          <a:latin typeface="Calibri"/>
                        </a:rPr>
                        <a:t>.3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org</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Una organización será especificada a continuación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2"/>
                  </a:ext>
                </a:extLst>
              </a:tr>
              <a:tr h="628200">
                <a:tc>
                  <a:txBody>
                    <a:bodyPr/>
                    <a:lstStyle/>
                    <a:p>
                      <a:pPr>
                        <a:lnSpc>
                          <a:spcPct val="100000"/>
                        </a:lnSpc>
                      </a:pPr>
                      <a:r>
                        <a:rPr lang="es-MX" sz="1800" b="0" strike="noStrike" spc="-1">
                          <a:solidFill>
                            <a:srgbClr val="000000"/>
                          </a:solidFill>
                          <a:uFill>
                            <a:solidFill>
                              <a:srgbClr val="FFFFFF"/>
                            </a:solidFill>
                          </a:uFill>
                          <a:latin typeface="Calibri"/>
                        </a:rPr>
                        <a:t>.6</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dod</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Departamento de Defensa de los Estados Unidos de Norteamérica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3"/>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internet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Comunicación será vía Internet/Red</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4"/>
                  </a:ext>
                </a:extLst>
              </a:tr>
              <a:tr h="628200">
                <a:tc>
                  <a:txBody>
                    <a:bodyPr/>
                    <a:lstStyle/>
                    <a:p>
                      <a:pPr>
                        <a:lnSpc>
                          <a:spcPct val="100000"/>
                        </a:lnSpc>
                      </a:pPr>
                      <a:r>
                        <a:rPr lang="es-MX" sz="1800" b="0" strike="noStrike" spc="-1">
                          <a:solidFill>
                            <a:srgbClr val="000000"/>
                          </a:solidFill>
                          <a:uFill>
                            <a:solidFill>
                              <a:srgbClr val="FFFFFF"/>
                            </a:solidFill>
                          </a:uFill>
                          <a:latin typeface="Calibri"/>
                        </a:rPr>
                        <a:t>.4</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private</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Este es un dispositivo manufacturado por una entidad privada (no gubernamental)</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5"/>
                  </a:ext>
                </a:extLst>
              </a:tr>
              <a:tr h="35964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enterprise</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El fabricante está catalogado como una empresa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838080" y="365040"/>
            <a:ext cx="10514880" cy="50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200" b="0" strike="noStrike" spc="-1">
                <a:solidFill>
                  <a:srgbClr val="000000"/>
                </a:solidFill>
                <a:uFill>
                  <a:solidFill>
                    <a:srgbClr val="FFFFFF"/>
                  </a:solidFill>
                </a:uFill>
                <a:latin typeface="Calibri Light"/>
              </a:rPr>
              <a:t>Ejemplo de OID (privado)</a:t>
            </a:r>
            <a:endParaRPr lang="es-MX" sz="1800" b="0" strike="noStrike" spc="-1">
              <a:solidFill>
                <a:srgbClr val="000000"/>
              </a:solidFill>
              <a:uFill>
                <a:solidFill>
                  <a:srgbClr val="FFFFFF"/>
                </a:solidFill>
              </a:uFill>
              <a:latin typeface="Arial"/>
            </a:endParaRPr>
          </a:p>
        </p:txBody>
      </p:sp>
      <p:sp>
        <p:nvSpPr>
          <p:cNvPr id="116" name="CustomShape 2"/>
          <p:cNvSpPr/>
          <p:nvPr/>
        </p:nvSpPr>
        <p:spPr>
          <a:xfrm>
            <a:off x="1078920" y="1228320"/>
            <a:ext cx="7995960" cy="556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2400" b="0" strike="noStrike" spc="-1">
                <a:solidFill>
                  <a:srgbClr val="000000"/>
                </a:solidFill>
                <a:uFill>
                  <a:solidFill>
                    <a:srgbClr val="FFFFFF"/>
                  </a:solidFill>
                </a:uFill>
                <a:latin typeface="Calibri"/>
              </a:rPr>
              <a:t>1 . 3 . 6 . 1 . 4 . 1 . 2682 . 1 . 4 . 5 . 1 . 1. 99 . 1 . 1 . 6</a:t>
            </a:r>
            <a:endParaRPr lang="es-MX" sz="1800" b="0" strike="noStrike" spc="-1">
              <a:solidFill>
                <a:srgbClr val="000000"/>
              </a:solidFill>
              <a:uFill>
                <a:solidFill>
                  <a:srgbClr val="FFFFFF"/>
                </a:solidFill>
              </a:uFill>
              <a:latin typeface="Arial"/>
            </a:endParaRPr>
          </a:p>
        </p:txBody>
      </p:sp>
      <p:graphicFrame>
        <p:nvGraphicFramePr>
          <p:cNvPr id="117" name="Table 3"/>
          <p:cNvGraphicFramePr/>
          <p:nvPr/>
        </p:nvGraphicFramePr>
        <p:xfrm>
          <a:off x="1078920" y="2138040"/>
          <a:ext cx="10274400" cy="4559760"/>
        </p:xfrm>
        <a:graphic>
          <a:graphicData uri="http://schemas.openxmlformats.org/drawingml/2006/table">
            <a:tbl>
              <a:tblPr/>
              <a:tblGrid>
                <a:gridCol w="1517400">
                  <a:extLst>
                    <a:ext uri="{9D8B030D-6E8A-4147-A177-3AD203B41FA5}">
                      <a16:colId xmlns:a16="http://schemas.microsoft.com/office/drawing/2014/main" val="20000"/>
                    </a:ext>
                  </a:extLst>
                </a:gridCol>
                <a:gridCol w="1676880">
                  <a:extLst>
                    <a:ext uri="{9D8B030D-6E8A-4147-A177-3AD203B41FA5}">
                      <a16:colId xmlns:a16="http://schemas.microsoft.com/office/drawing/2014/main" val="20001"/>
                    </a:ext>
                  </a:extLst>
                </a:gridCol>
                <a:gridCol w="7080120">
                  <a:extLst>
                    <a:ext uri="{9D8B030D-6E8A-4147-A177-3AD203B41FA5}">
                      <a16:colId xmlns:a16="http://schemas.microsoft.com/office/drawing/2014/main" val="20002"/>
                    </a:ext>
                  </a:extLst>
                </a:gridCol>
              </a:tblGrid>
              <a:tr h="360000">
                <a:tc>
                  <a:txBody>
                    <a:bodyPr/>
                    <a:lstStyle/>
                    <a:p>
                      <a:pPr algn="ctr">
                        <a:lnSpc>
                          <a:spcPct val="100000"/>
                        </a:lnSpc>
                      </a:pPr>
                      <a:r>
                        <a:rPr lang="es-MX" sz="1800" b="1" strike="noStrike" spc="-1">
                          <a:solidFill>
                            <a:srgbClr val="FFFFFF"/>
                          </a:solidFill>
                          <a:uFill>
                            <a:solidFill>
                              <a:srgbClr val="FFFFFF"/>
                            </a:solidFill>
                          </a:uFill>
                          <a:latin typeface="Calibri"/>
                        </a:rPr>
                        <a:t>Número</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gn="ctr">
                        <a:lnSpc>
                          <a:spcPct val="100000"/>
                        </a:lnSpc>
                      </a:pPr>
                      <a:r>
                        <a:rPr lang="es-MX" sz="1800" b="1" strike="noStrike" spc="-1">
                          <a:solidFill>
                            <a:srgbClr val="FFFFFF"/>
                          </a:solidFill>
                          <a:uFill>
                            <a:solidFill>
                              <a:srgbClr val="FFFFFF"/>
                            </a:solidFill>
                          </a:uFill>
                          <a:latin typeface="Calibri"/>
                        </a:rPr>
                        <a:t>Etiqueta</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gn="ctr">
                        <a:lnSpc>
                          <a:spcPct val="100000"/>
                        </a:lnSpc>
                      </a:pPr>
                      <a:r>
                        <a:rPr lang="es-MX" sz="1800" b="1" strike="noStrike" spc="-1">
                          <a:solidFill>
                            <a:srgbClr val="FFFFFF"/>
                          </a:solidFill>
                          <a:uFill>
                            <a:solidFill>
                              <a:srgbClr val="FFFFFF"/>
                            </a:solidFill>
                          </a:uFill>
                          <a:latin typeface="Calibri"/>
                        </a:rPr>
                        <a:t>Explicación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0"/>
                  </a:ext>
                </a:extLst>
              </a:tr>
              <a:tr h="360000">
                <a:tc>
                  <a:txBody>
                    <a:bodyPr/>
                    <a:lstStyle/>
                    <a:p>
                      <a:pPr>
                        <a:lnSpc>
                          <a:spcPct val="100000"/>
                        </a:lnSpc>
                      </a:pPr>
                      <a:r>
                        <a:rPr lang="es-MX" sz="1800" b="0" strike="noStrike" spc="-1">
                          <a:solidFill>
                            <a:srgbClr val="000000"/>
                          </a:solidFill>
                          <a:uFill>
                            <a:solidFill>
                              <a:srgbClr val="FFFFFF"/>
                            </a:solidFill>
                          </a:uFill>
                          <a:latin typeface="Calibri"/>
                        </a:rPr>
                        <a:t>.2682</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dpsInc</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El fabricante es DPS Telecom Inc.</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1"/>
                  </a:ext>
                </a:extLst>
              </a:tr>
              <a:tr h="6282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dpsAlarmControl</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Ésta es una alarma y dispositivo de control fabricado por DPS</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2"/>
                  </a:ext>
                </a:extLst>
              </a:tr>
              <a:tr h="360000">
                <a:tc>
                  <a:txBody>
                    <a:bodyPr/>
                    <a:lstStyle/>
                    <a:p>
                      <a:pPr>
                        <a:lnSpc>
                          <a:spcPct val="100000"/>
                        </a:lnSpc>
                      </a:pPr>
                      <a:r>
                        <a:rPr lang="es-MX" sz="1800" b="0" strike="noStrike" spc="-1">
                          <a:solidFill>
                            <a:srgbClr val="000000"/>
                          </a:solidFill>
                          <a:uFill>
                            <a:solidFill>
                              <a:srgbClr val="FFFFFF"/>
                            </a:solidFill>
                          </a:uFill>
                          <a:latin typeface="Calibri"/>
                        </a:rPr>
                        <a:t>.4</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dpsRTU</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Ésta es una Unidad Terminal Remota (RTU)</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3"/>
                  </a:ext>
                </a:extLst>
              </a:tr>
              <a:tr h="360000">
                <a:tc>
                  <a:txBody>
                    <a:bodyPr/>
                    <a:lstStyle/>
                    <a:p>
                      <a:pPr>
                        <a:lnSpc>
                          <a:spcPct val="100000"/>
                        </a:lnSpc>
                      </a:pPr>
                      <a:r>
                        <a:rPr lang="es-MX" sz="1800" b="0" strike="noStrike" spc="-1">
                          <a:solidFill>
                            <a:srgbClr val="000000"/>
                          </a:solidFill>
                          <a:uFill>
                            <a:solidFill>
                              <a:srgbClr val="FFFFFF"/>
                            </a:solidFill>
                          </a:uFill>
                          <a:latin typeface="Calibri"/>
                        </a:rPr>
                        <a:t>.5</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AlarmGrid</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Se trata de un punto de alarma discreta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4"/>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AlarmEntry</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Un punto de alarma será especificado a continuación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5"/>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Port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Éste es el puerto para este punto de alarma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6"/>
                  </a:ext>
                </a:extLst>
              </a:tr>
              <a:tr h="360000">
                <a:tc>
                  <a:txBody>
                    <a:bodyPr/>
                    <a:lstStyle/>
                    <a:p>
                      <a:pPr>
                        <a:lnSpc>
                          <a:spcPct val="100000"/>
                        </a:lnSpc>
                      </a:pPr>
                      <a:r>
                        <a:rPr lang="es-MX" sz="1800" b="0" strike="noStrike" spc="-1">
                          <a:solidFill>
                            <a:srgbClr val="000000"/>
                          </a:solidFill>
                          <a:uFill>
                            <a:solidFill>
                              <a:srgbClr val="FFFFFF"/>
                            </a:solidFill>
                          </a:uFill>
                          <a:latin typeface="Calibri"/>
                        </a:rPr>
                        <a:t>.99</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Address</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Ésta es la dirección de éste punto de alarma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7"/>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Display</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Éste es el display para este punto de alarma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8"/>
                  </a:ext>
                </a:extLst>
              </a:tr>
              <a:tr h="360000">
                <a:tc>
                  <a:txBody>
                    <a:bodyPr/>
                    <a:lstStyle/>
                    <a:p>
                      <a:pPr>
                        <a:lnSpc>
                          <a:spcPct val="100000"/>
                        </a:lnSpc>
                      </a:pPr>
                      <a:r>
                        <a:rPr lang="es-MX" sz="1800" b="0" strike="noStrike" spc="-1">
                          <a:solidFill>
                            <a:srgbClr val="000000"/>
                          </a:solidFill>
                          <a:uFill>
                            <a:solidFill>
                              <a:srgbClr val="FFFFFF"/>
                            </a:solidFill>
                          </a:uFill>
                          <a:latin typeface="Calibri"/>
                        </a:rPr>
                        <a:t>.1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Point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Éste es el número de punto de alarma</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9"/>
                  </a:ext>
                </a:extLst>
              </a:tr>
              <a:tr h="627840">
                <a:tc>
                  <a:txBody>
                    <a:bodyPr/>
                    <a:lstStyle/>
                    <a:p>
                      <a:pPr>
                        <a:lnSpc>
                          <a:spcPct val="100000"/>
                        </a:lnSpc>
                      </a:pPr>
                      <a:r>
                        <a:rPr lang="es-MX" sz="1800" b="0" strike="noStrike" spc="-1">
                          <a:solidFill>
                            <a:srgbClr val="000000"/>
                          </a:solidFill>
                          <a:uFill>
                            <a:solidFill>
                              <a:srgbClr val="FFFFFF"/>
                            </a:solidFill>
                          </a:uFill>
                          <a:latin typeface="Calibri"/>
                        </a:rPr>
                        <a:t>.6</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dpsRTUAState</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800" b="0" strike="noStrike" spc="-1">
                          <a:solidFill>
                            <a:srgbClr val="000000"/>
                          </a:solidFill>
                          <a:uFill>
                            <a:solidFill>
                              <a:srgbClr val="FFFFFF"/>
                            </a:solidFill>
                          </a:uFill>
                          <a:latin typeface="Calibri"/>
                        </a:rPr>
                        <a:t>Éste es el estado del punto de alarma(set, clear, etc.)</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 name="Table 1"/>
          <p:cNvGraphicFramePr/>
          <p:nvPr/>
        </p:nvGraphicFramePr>
        <p:xfrm>
          <a:off x="1439640" y="421920"/>
          <a:ext cx="9172080" cy="6096240"/>
        </p:xfrm>
        <a:graphic>
          <a:graphicData uri="http://schemas.openxmlformats.org/drawingml/2006/table">
            <a:tbl>
              <a:tblPr/>
              <a:tblGrid>
                <a:gridCol w="2292840">
                  <a:extLst>
                    <a:ext uri="{9D8B030D-6E8A-4147-A177-3AD203B41FA5}">
                      <a16:colId xmlns:a16="http://schemas.microsoft.com/office/drawing/2014/main" val="20000"/>
                    </a:ext>
                  </a:extLst>
                </a:gridCol>
                <a:gridCol w="2292840">
                  <a:extLst>
                    <a:ext uri="{9D8B030D-6E8A-4147-A177-3AD203B41FA5}">
                      <a16:colId xmlns:a16="http://schemas.microsoft.com/office/drawing/2014/main" val="20001"/>
                    </a:ext>
                  </a:extLst>
                </a:gridCol>
                <a:gridCol w="2292840">
                  <a:extLst>
                    <a:ext uri="{9D8B030D-6E8A-4147-A177-3AD203B41FA5}">
                      <a16:colId xmlns:a16="http://schemas.microsoft.com/office/drawing/2014/main" val="20002"/>
                    </a:ext>
                  </a:extLst>
                </a:gridCol>
                <a:gridCol w="2293560">
                  <a:extLst>
                    <a:ext uri="{9D8B030D-6E8A-4147-A177-3AD203B41FA5}">
                      <a16:colId xmlns:a16="http://schemas.microsoft.com/office/drawing/2014/main" val="20003"/>
                    </a:ext>
                  </a:extLst>
                </a:gridCol>
              </a:tblGrid>
              <a:tr h="326520">
                <a:tc>
                  <a:txBody>
                    <a:bodyPr/>
                    <a:lstStyle/>
                    <a:p>
                      <a:pPr>
                        <a:lnSpc>
                          <a:spcPct val="100000"/>
                        </a:lnSpc>
                      </a:pPr>
                      <a:r>
                        <a:rPr lang="es-MX" sz="1600" b="0" strike="noStrike" spc="-1">
                          <a:solidFill>
                            <a:srgbClr val="000000"/>
                          </a:solidFill>
                          <a:uFill>
                            <a:solidFill>
                              <a:srgbClr val="FFFFFF"/>
                            </a:solidFill>
                          </a:uFill>
                          <a:latin typeface="Calibri"/>
                        </a:rPr>
                        <a:t>Subtree Name</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OID</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Description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0"/>
                  </a:ext>
                </a:extLst>
              </a:tr>
              <a:tr h="428760">
                <a:tc>
                  <a:txBody>
                    <a:bodyPr/>
                    <a:lstStyle/>
                    <a:p>
                      <a:endParaRPr lang="es-MX"/>
                    </a:p>
                  </a:txBody>
                  <a:tcPr>
                    <a:solidFill>
                      <a:srgbClr val="729FCF"/>
                    </a:solidFill>
                  </a:tcPr>
                </a:tc>
                <a:tc>
                  <a:txBody>
                    <a:bodyPr/>
                    <a:lstStyle/>
                    <a:p>
                      <a:endParaRPr lang="es-MX"/>
                    </a:p>
                  </a:txBody>
                  <a:tcPr>
                    <a:solidFill>
                      <a:srgbClr val="729FCF"/>
                    </a:solidFill>
                  </a:tcPr>
                </a:tc>
                <a:tc>
                  <a:txBody>
                    <a:bodyPr/>
                    <a:lstStyle/>
                    <a:p>
                      <a:endParaRPr lang="es-MX"/>
                    </a:p>
                  </a:txBody>
                  <a:tcPr>
                    <a:solidFill>
                      <a:srgbClr val="729FCF"/>
                    </a:solidFill>
                  </a:tcPr>
                </a:tc>
                <a:tc>
                  <a:txBody>
                    <a:bodyPr/>
                    <a:lstStyle/>
                    <a:p>
                      <a:endParaRPr lang="es-MX"/>
                    </a:p>
                  </a:txBody>
                  <a:tcPr>
                    <a:solidFill>
                      <a:srgbClr val="729FCF"/>
                    </a:solidFill>
                  </a:tcPr>
                </a:tc>
                <a:extLst>
                  <a:ext uri="{0D108BD9-81ED-4DB2-BD59-A6C34878D82A}">
                    <a16:rowId xmlns:a16="http://schemas.microsoft.com/office/drawing/2014/main" val="10001"/>
                  </a:ext>
                </a:extLst>
              </a:tr>
              <a:tr h="326520">
                <a:tc>
                  <a:txBody>
                    <a:bodyPr/>
                    <a:lstStyle/>
                    <a:p>
                      <a:pPr>
                        <a:lnSpc>
                          <a:spcPct val="100000"/>
                        </a:lnSpc>
                      </a:pPr>
                      <a:r>
                        <a:rPr lang="es-MX" sz="1600" b="0" strike="noStrike" spc="-1">
                          <a:solidFill>
                            <a:srgbClr val="000000"/>
                          </a:solidFill>
                          <a:uFill>
                            <a:solidFill>
                              <a:srgbClr val="FFFFFF"/>
                            </a:solidFill>
                          </a:uFill>
                          <a:latin typeface="Calibri"/>
                        </a:rPr>
                        <a:t>system</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RFC1213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System information.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2"/>
                  </a:ext>
                </a:extLst>
              </a:tr>
              <a:tr h="561240">
                <a:tc>
                  <a:txBody>
                    <a:bodyPr/>
                    <a:lstStyle/>
                    <a:p>
                      <a:pPr>
                        <a:lnSpc>
                          <a:spcPct val="100000"/>
                        </a:lnSpc>
                      </a:pPr>
                      <a:r>
                        <a:rPr lang="es-MX" sz="1600" b="0" strike="noStrike" spc="-1">
                          <a:solidFill>
                            <a:srgbClr val="000000"/>
                          </a:solidFill>
                          <a:uFill>
                            <a:solidFill>
                              <a:srgbClr val="FFFFFF"/>
                            </a:solidFill>
                          </a:uFill>
                          <a:latin typeface="Calibri"/>
                        </a:rPr>
                        <a:t>interfaces</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1.3.6.1.2.1.2</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RFC2863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Interface information.</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3"/>
                  </a:ext>
                </a:extLst>
              </a:tr>
              <a:tr h="561240">
                <a:tc>
                  <a:txBody>
                    <a:bodyPr/>
                    <a:lstStyle/>
                    <a:p>
                      <a:pPr>
                        <a:lnSpc>
                          <a:spcPct val="100000"/>
                        </a:lnSpc>
                      </a:pPr>
                      <a:r>
                        <a:rPr lang="es-MX" sz="1600" b="0" strike="noStrike" spc="-1">
                          <a:solidFill>
                            <a:srgbClr val="000000"/>
                          </a:solidFill>
                          <a:uFill>
                            <a:solidFill>
                              <a:srgbClr val="FFFFFF"/>
                            </a:solidFill>
                          </a:uFill>
                          <a:latin typeface="Calibri"/>
                        </a:rPr>
                        <a:t>at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RFC1213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Translation MIB, deprecated</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4"/>
                  </a:ext>
                </a:extLst>
              </a:tr>
              <a:tr h="326520">
                <a:tc>
                  <a:txBody>
                    <a:bodyPr/>
                    <a:lstStyle/>
                    <a:p>
                      <a:pPr>
                        <a:lnSpc>
                          <a:spcPct val="100000"/>
                        </a:lnSpc>
                      </a:pPr>
                      <a:r>
                        <a:rPr lang="es-MX" sz="1600" b="0" strike="noStrike" spc="-1">
                          <a:solidFill>
                            <a:srgbClr val="000000"/>
                          </a:solidFill>
                          <a:uFill>
                            <a:solidFill>
                              <a:srgbClr val="FFFFFF"/>
                            </a:solidFill>
                          </a:uFill>
                          <a:latin typeface="Calibri"/>
                        </a:rPr>
                        <a:t>ip</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1.3.6.1.2.1.4</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RFC4292, RFC4293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Internet Protocol</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5"/>
                  </a:ext>
                </a:extLst>
              </a:tr>
              <a:tr h="561240">
                <a:tc>
                  <a:txBody>
                    <a:bodyPr/>
                    <a:lstStyle/>
                    <a:p>
                      <a:pPr>
                        <a:lnSpc>
                          <a:spcPct val="100000"/>
                        </a:lnSpc>
                      </a:pPr>
                      <a:r>
                        <a:rPr lang="es-MX" sz="1600" b="0" strike="noStrike" spc="-1">
                          <a:solidFill>
                            <a:srgbClr val="000000"/>
                          </a:solidFill>
                          <a:uFill>
                            <a:solidFill>
                              <a:srgbClr val="FFFFFF"/>
                            </a:solidFill>
                          </a:uFill>
                          <a:latin typeface="Calibri"/>
                        </a:rPr>
                        <a:t>icmp</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1.3.6.1.2.1.5</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RFC1213, RFC4293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Internet Control Message Protocol</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6"/>
                  </a:ext>
                </a:extLst>
              </a:tr>
              <a:tr h="561240">
                <a:tc>
                  <a:txBody>
                    <a:bodyPr/>
                    <a:lstStyle/>
                    <a:p>
                      <a:pPr>
                        <a:lnSpc>
                          <a:spcPct val="100000"/>
                        </a:lnSpc>
                      </a:pPr>
                      <a:r>
                        <a:rPr lang="es-MX" sz="1600" b="0" strike="noStrike" spc="-1">
                          <a:solidFill>
                            <a:srgbClr val="000000"/>
                          </a:solidFill>
                          <a:uFill>
                            <a:solidFill>
                              <a:srgbClr val="FFFFFF"/>
                            </a:solidFill>
                          </a:uFill>
                          <a:latin typeface="Calibri"/>
                        </a:rPr>
                        <a:t>tcp</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1.3.6.1.2.1.6</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RFC4022</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Transmission Control Protocol</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7"/>
                  </a:ext>
                </a:extLst>
              </a:tr>
              <a:tr h="561240">
                <a:tc>
                  <a:txBody>
                    <a:bodyPr/>
                    <a:lstStyle/>
                    <a:p>
                      <a:pPr>
                        <a:lnSpc>
                          <a:spcPct val="100000"/>
                        </a:lnSpc>
                      </a:pPr>
                      <a:r>
                        <a:rPr lang="es-MX" sz="1600" b="0" strike="noStrike" spc="-1">
                          <a:solidFill>
                            <a:srgbClr val="000000"/>
                          </a:solidFill>
                          <a:uFill>
                            <a:solidFill>
                              <a:srgbClr val="FFFFFF"/>
                            </a:solidFill>
                          </a:uFill>
                          <a:latin typeface="Calibri"/>
                        </a:rPr>
                        <a:t>udp</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1.3.6.1.2.1.7</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RFC4113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User Datagram Protocol</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8"/>
                  </a:ext>
                </a:extLst>
              </a:tr>
              <a:tr h="795960">
                <a:tc>
                  <a:txBody>
                    <a:bodyPr/>
                    <a:lstStyle/>
                    <a:p>
                      <a:pPr>
                        <a:lnSpc>
                          <a:spcPct val="100000"/>
                        </a:lnSpc>
                      </a:pPr>
                      <a:r>
                        <a:rPr lang="es-MX" sz="1600" b="0" strike="noStrike" spc="-1">
                          <a:solidFill>
                            <a:srgbClr val="000000"/>
                          </a:solidFill>
                          <a:uFill>
                            <a:solidFill>
                              <a:srgbClr val="FFFFFF"/>
                            </a:solidFill>
                          </a:uFill>
                          <a:latin typeface="Calibri"/>
                        </a:rPr>
                        <a:t>snmp</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1.3.6.1.2.1.11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RFC1213</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Simple Network Management Protocol</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09"/>
                  </a:ext>
                </a:extLst>
              </a:tr>
              <a:tr h="326520">
                <a:tc>
                  <a:txBody>
                    <a:bodyPr/>
                    <a:lstStyle/>
                    <a:p>
                      <a:pPr>
                        <a:lnSpc>
                          <a:spcPct val="100000"/>
                        </a:lnSpc>
                      </a:pPr>
                      <a:r>
                        <a:rPr lang="es-MX" sz="1600" b="0" strike="noStrike" spc="-1">
                          <a:solidFill>
                            <a:srgbClr val="000000"/>
                          </a:solidFill>
                          <a:uFill>
                            <a:solidFill>
                              <a:srgbClr val="FFFFFF"/>
                            </a:solidFill>
                          </a:uFill>
                          <a:latin typeface="Calibri"/>
                        </a:rPr>
                        <a:t>host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1.3.6.1.2.1.25</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RFC2790</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Host Resources</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10"/>
                  </a:ext>
                </a:extLst>
              </a:tr>
              <a:tr h="326520">
                <a:tc>
                  <a:txBody>
                    <a:bodyPr/>
                    <a:lstStyle/>
                    <a:p>
                      <a:pPr>
                        <a:lnSpc>
                          <a:spcPct val="100000"/>
                        </a:lnSpc>
                      </a:pPr>
                      <a:r>
                        <a:rPr lang="es-MX" sz="1600" b="0" strike="noStrike" spc="-1">
                          <a:solidFill>
                            <a:srgbClr val="000000"/>
                          </a:solidFill>
                          <a:uFill>
                            <a:solidFill>
                              <a:srgbClr val="FFFFFF"/>
                            </a:solidFill>
                          </a:uFill>
                          <a:latin typeface="Calibri"/>
                        </a:rPr>
                        <a:t>event</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1.3.6.1.2.1.88</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RFC2981</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DISMAN Event</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11"/>
                  </a:ext>
                </a:extLst>
              </a:tr>
              <a:tr h="326520">
                <a:tc>
                  <a:txBody>
                    <a:bodyPr/>
                    <a:lstStyle/>
                    <a:p>
                      <a:pPr>
                        <a:lnSpc>
                          <a:spcPct val="100000"/>
                        </a:lnSpc>
                      </a:pPr>
                      <a:r>
                        <a:rPr lang="es-MX" sz="1600" b="0" strike="noStrike" spc="-1">
                          <a:solidFill>
                            <a:srgbClr val="000000"/>
                          </a:solidFill>
                          <a:uFill>
                            <a:solidFill>
                              <a:srgbClr val="FFFFFF"/>
                            </a:solidFill>
                          </a:uFill>
                          <a:latin typeface="Calibri"/>
                        </a:rPr>
                        <a:t>notification log</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1.3.6.1.2.1.99</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RFC3014</a:t>
                      </a:r>
                      <a:endParaRPr lang="es-MX" sz="1800" b="0" strike="noStrike" spc="-1">
                        <a:solidFill>
                          <a:srgbClr val="000000"/>
                        </a:solidFill>
                        <a:uFill>
                          <a:solidFill>
                            <a:srgbClr val="FFFFFF"/>
                          </a:solidFill>
                        </a:uFill>
                        <a:latin typeface="Arial"/>
                      </a:endParaRPr>
                    </a:p>
                  </a:txBody>
                  <a:tcPr>
                    <a:solidFill>
                      <a:srgbClr val="729FCF"/>
                    </a:solidFill>
                  </a:tcPr>
                </a:tc>
                <a:tc>
                  <a:txBody>
                    <a:bodyPr/>
                    <a:lstStyle/>
                    <a:p>
                      <a:pPr>
                        <a:lnSpc>
                          <a:spcPct val="100000"/>
                        </a:lnSpc>
                      </a:pPr>
                      <a:r>
                        <a:rPr lang="es-MX" sz="1600" b="0" strike="noStrike" spc="-1">
                          <a:solidFill>
                            <a:srgbClr val="000000"/>
                          </a:solidFill>
                          <a:uFill>
                            <a:solidFill>
                              <a:srgbClr val="FFFFFF"/>
                            </a:solidFill>
                          </a:uFill>
                          <a:latin typeface="Calibri"/>
                        </a:rPr>
                        <a:t>Notification log</a:t>
                      </a:r>
                      <a:endParaRPr lang="es-MX" sz="1800" b="0" strike="noStrike" spc="-1">
                        <a:solidFill>
                          <a:srgbClr val="000000"/>
                        </a:solidFill>
                        <a:uFill>
                          <a:solidFill>
                            <a:srgbClr val="FFFFFF"/>
                          </a:solidFill>
                        </a:uFill>
                        <a:latin typeface="Arial"/>
                      </a:endParaRPr>
                    </a:p>
                  </a:txBody>
                  <a:tcPr>
                    <a:solidFill>
                      <a:srgbClr val="729FCF"/>
                    </a:solidFill>
                  </a:tcPr>
                </a:tc>
                <a:extLst>
                  <a:ext uri="{0D108BD9-81ED-4DB2-BD59-A6C34878D82A}">
                    <a16:rowId xmlns:a16="http://schemas.microsoft.com/office/drawing/2014/main" val="10012"/>
                  </a:ext>
                </a:extLst>
              </a:tr>
            </a:tbl>
          </a:graphicData>
        </a:graphic>
      </p:graphicFrame>
      <p:sp>
        <p:nvSpPr>
          <p:cNvPr id="119" name="CustomShape 2"/>
          <p:cNvSpPr/>
          <p:nvPr/>
        </p:nvSpPr>
        <p:spPr>
          <a:xfrm>
            <a:off x="8189640" y="1521000"/>
            <a:ext cx="183600" cy="609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chor="ctr"/>
          <a:lstStyle/>
          <a:p>
            <a:endParaRPr lang="es-MX" sz="1800" b="0" strike="noStrike" spc="-1">
              <a:solidFill>
                <a:srgbClr val="000000"/>
              </a:solidFill>
              <a:uFill>
                <a:solidFill>
                  <a:srgbClr val="FFFFFF"/>
                </a:solidFill>
              </a:uFill>
              <a:latin typeface="Arial"/>
            </a:endParaRPr>
          </a:p>
          <a:p>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p:txBody>
      </p:sp>
      <p:sp>
        <p:nvSpPr>
          <p:cNvPr id="120" name="CustomShape 3"/>
          <p:cNvSpPr/>
          <p:nvPr/>
        </p:nvSpPr>
        <p:spPr>
          <a:xfrm>
            <a:off x="521640" y="5992200"/>
            <a:ext cx="585756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http://rcp100.sourceforge.net/snmp.html</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CustomShape 1"/>
          <p:cNvSpPr/>
          <p:nvPr/>
        </p:nvSpPr>
        <p:spPr>
          <a:xfrm>
            <a:off x="838080" y="365040"/>
            <a:ext cx="10514880" cy="52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0" strike="noStrike" spc="-1">
                <a:solidFill>
                  <a:srgbClr val="000000"/>
                </a:solidFill>
                <a:uFill>
                  <a:solidFill>
                    <a:srgbClr val="FFFFFF"/>
                  </a:solidFill>
                </a:uFill>
                <a:latin typeface="Calibri Light"/>
              </a:rPr>
              <a:t>Mensajes SNMP</a:t>
            </a:r>
            <a:endParaRPr lang="es-MX" sz="1800" b="0" strike="noStrike" spc="-1">
              <a:solidFill>
                <a:srgbClr val="000000"/>
              </a:solidFill>
              <a:uFill>
                <a:solidFill>
                  <a:srgbClr val="FFFFFF"/>
                </a:solidFill>
              </a:uFill>
              <a:latin typeface="Arial"/>
            </a:endParaRPr>
          </a:p>
        </p:txBody>
      </p:sp>
      <p:sp>
        <p:nvSpPr>
          <p:cNvPr id="122"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5 diferentes tipos de mensajes:</a:t>
            </a:r>
            <a:endParaRPr lang="es-MX" sz="1800" b="0" strike="noStrike" spc="-1">
              <a:solidFill>
                <a:srgbClr val="000000"/>
              </a:solidFill>
              <a:uFill>
                <a:solidFill>
                  <a:srgbClr val="FFFFFF"/>
                </a:solidFill>
              </a:uFill>
              <a:latin typeface="Arial"/>
            </a:endParaRPr>
          </a:p>
          <a:p>
            <a:pPr marL="432000" lvl="1" indent="-216000">
              <a:lnSpc>
                <a:spcPct val="100000"/>
              </a:lnSpc>
              <a:buClr>
                <a:srgbClr val="000000"/>
              </a:buClr>
              <a:buFont typeface="Arial"/>
              <a:buChar char="•"/>
            </a:pPr>
            <a:r>
              <a:rPr lang="es-MX" sz="2400" b="1" strike="noStrike" spc="-1">
                <a:solidFill>
                  <a:srgbClr val="000000"/>
                </a:solidFill>
                <a:uFill>
                  <a:solidFill>
                    <a:srgbClr val="FFFFFF"/>
                  </a:solidFill>
                </a:uFill>
                <a:latin typeface="Calibri"/>
              </a:rPr>
              <a:t>Get</a:t>
            </a:r>
            <a:r>
              <a:rPr lang="es-MX" sz="2400" b="0" strike="noStrike" spc="-1">
                <a:solidFill>
                  <a:srgbClr val="000000"/>
                </a:solidFill>
                <a:uFill>
                  <a:solidFill>
                    <a:srgbClr val="FFFFFF"/>
                  </a:solidFill>
                </a:uFill>
                <a:latin typeface="Calibri"/>
              </a:rPr>
              <a:t>: Usado por el gestor SNMP para consultar una MIB</a:t>
            </a:r>
            <a:endParaRPr lang="es-MX" sz="1800" b="0" strike="noStrike" spc="-1">
              <a:solidFill>
                <a:srgbClr val="000000"/>
              </a:solidFill>
              <a:uFill>
                <a:solidFill>
                  <a:srgbClr val="FFFFFF"/>
                </a:solidFill>
              </a:uFill>
              <a:latin typeface="Arial"/>
            </a:endParaRPr>
          </a:p>
          <a:p>
            <a:pPr marL="432000" lvl="1" indent="-216000">
              <a:lnSpc>
                <a:spcPct val="100000"/>
              </a:lnSpc>
              <a:buClr>
                <a:srgbClr val="000000"/>
              </a:buClr>
              <a:buFont typeface="Arial"/>
              <a:buChar char="•"/>
            </a:pPr>
            <a:r>
              <a:rPr lang="es-MX" sz="2400" b="1" strike="noStrike" spc="-1">
                <a:solidFill>
                  <a:srgbClr val="000000"/>
                </a:solidFill>
                <a:uFill>
                  <a:solidFill>
                    <a:srgbClr val="FFFFFF"/>
                  </a:solidFill>
                </a:uFill>
                <a:latin typeface="Calibri"/>
              </a:rPr>
              <a:t>GetNext</a:t>
            </a:r>
            <a:r>
              <a:rPr lang="es-MX" sz="2400" b="0" strike="noStrike" spc="-1">
                <a:solidFill>
                  <a:srgbClr val="000000"/>
                </a:solidFill>
                <a:uFill>
                  <a:solidFill>
                    <a:srgbClr val="FFFFFF"/>
                  </a:solidFill>
                </a:uFill>
                <a:latin typeface="Calibri"/>
              </a:rPr>
              <a:t>: usado por el gestor SNMP para leer secuencialmente a través de la MIB</a:t>
            </a:r>
            <a:endParaRPr lang="es-MX" sz="1800" b="0" strike="noStrike" spc="-1">
              <a:solidFill>
                <a:srgbClr val="000000"/>
              </a:solidFill>
              <a:uFill>
                <a:solidFill>
                  <a:srgbClr val="FFFFFF"/>
                </a:solidFill>
              </a:uFill>
              <a:latin typeface="Arial"/>
            </a:endParaRPr>
          </a:p>
          <a:p>
            <a:pPr marL="432000" lvl="1" indent="-216000">
              <a:lnSpc>
                <a:spcPct val="100000"/>
              </a:lnSpc>
              <a:buClr>
                <a:srgbClr val="000000"/>
              </a:buClr>
              <a:buFont typeface="Arial"/>
              <a:buChar char="•"/>
            </a:pPr>
            <a:r>
              <a:rPr lang="es-MX" sz="2400" b="1" strike="noStrike" spc="-1">
                <a:solidFill>
                  <a:srgbClr val="000000"/>
                </a:solidFill>
                <a:uFill>
                  <a:solidFill>
                    <a:srgbClr val="FFFFFF"/>
                  </a:solidFill>
                </a:uFill>
                <a:latin typeface="Calibri"/>
              </a:rPr>
              <a:t>GetResponse</a:t>
            </a:r>
            <a:r>
              <a:rPr lang="es-MX" sz="2400" b="0" strike="noStrike" spc="-1">
                <a:solidFill>
                  <a:srgbClr val="000000"/>
                </a:solidFill>
                <a:uFill>
                  <a:solidFill>
                    <a:srgbClr val="FFFFFF"/>
                  </a:solidFill>
                </a:uFill>
                <a:latin typeface="Calibri"/>
              </a:rPr>
              <a:t>: usado por el agente SNMP para responder una petición</a:t>
            </a:r>
            <a:endParaRPr lang="es-MX" sz="1800" b="0" strike="noStrike" spc="-1">
              <a:solidFill>
                <a:srgbClr val="000000"/>
              </a:solidFill>
              <a:uFill>
                <a:solidFill>
                  <a:srgbClr val="FFFFFF"/>
                </a:solidFill>
              </a:uFill>
              <a:latin typeface="Arial"/>
            </a:endParaRPr>
          </a:p>
          <a:p>
            <a:pPr marL="432000" lvl="1" indent="-216000">
              <a:lnSpc>
                <a:spcPct val="100000"/>
              </a:lnSpc>
              <a:buClr>
                <a:srgbClr val="000000"/>
              </a:buClr>
              <a:buFont typeface="Arial"/>
              <a:buChar char="•"/>
            </a:pPr>
            <a:r>
              <a:rPr lang="es-MX" sz="2400" b="1" strike="noStrike" spc="-1">
                <a:solidFill>
                  <a:srgbClr val="000000"/>
                </a:solidFill>
                <a:uFill>
                  <a:solidFill>
                    <a:srgbClr val="FFFFFF"/>
                  </a:solidFill>
                </a:uFill>
                <a:latin typeface="Calibri"/>
              </a:rPr>
              <a:t>Set</a:t>
            </a:r>
            <a:r>
              <a:rPr lang="es-MX" sz="2400" b="0" strike="noStrike" spc="-1">
                <a:solidFill>
                  <a:srgbClr val="000000"/>
                </a:solidFill>
                <a:uFill>
                  <a:solidFill>
                    <a:srgbClr val="FFFFFF"/>
                  </a:solidFill>
                </a:uFill>
                <a:latin typeface="Calibri"/>
              </a:rPr>
              <a:t>: usado por el gestor SNMP para fijar un valor en la MIB</a:t>
            </a:r>
            <a:endParaRPr lang="es-MX" sz="1800" b="0" strike="noStrike" spc="-1">
              <a:solidFill>
                <a:srgbClr val="000000"/>
              </a:solidFill>
              <a:uFill>
                <a:solidFill>
                  <a:srgbClr val="FFFFFF"/>
                </a:solidFill>
              </a:uFill>
              <a:latin typeface="Arial"/>
            </a:endParaRPr>
          </a:p>
          <a:p>
            <a:pPr marL="432000" lvl="1" indent="-216000">
              <a:lnSpc>
                <a:spcPct val="100000"/>
              </a:lnSpc>
              <a:buClr>
                <a:srgbClr val="000000"/>
              </a:buClr>
              <a:buFont typeface="Arial"/>
              <a:buChar char="•"/>
            </a:pPr>
            <a:r>
              <a:rPr lang="es-MX" sz="2400" b="1" strike="noStrike" spc="-1">
                <a:solidFill>
                  <a:srgbClr val="000000"/>
                </a:solidFill>
                <a:uFill>
                  <a:solidFill>
                    <a:srgbClr val="FFFFFF"/>
                  </a:solidFill>
                </a:uFill>
                <a:latin typeface="Calibri"/>
              </a:rPr>
              <a:t>Trap</a:t>
            </a:r>
            <a:r>
              <a:rPr lang="es-MX" sz="2400" b="0" strike="noStrike" spc="-1">
                <a:solidFill>
                  <a:srgbClr val="000000"/>
                </a:solidFill>
                <a:uFill>
                  <a:solidFill>
                    <a:srgbClr val="FFFFFF"/>
                  </a:solidFill>
                </a:uFill>
                <a:latin typeface="Calibri"/>
              </a:rPr>
              <a:t>: usado por el agente SNMP para reportar eventos</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 name="Imagen 3"/>
          <p:cNvPicPr/>
          <p:nvPr/>
        </p:nvPicPr>
        <p:blipFill>
          <a:blip r:embed="rId2"/>
          <a:stretch/>
        </p:blipFill>
        <p:spPr>
          <a:xfrm>
            <a:off x="1684080" y="2112120"/>
            <a:ext cx="7957080" cy="4245120"/>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CustomShape 1"/>
          <p:cNvSpPr/>
          <p:nvPr/>
        </p:nvSpPr>
        <p:spPr>
          <a:xfrm>
            <a:off x="838080" y="365040"/>
            <a:ext cx="10514880" cy="50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0" strike="noStrike" spc="-1">
                <a:solidFill>
                  <a:srgbClr val="000000"/>
                </a:solidFill>
                <a:uFill>
                  <a:solidFill>
                    <a:srgbClr val="FFFFFF"/>
                  </a:solidFill>
                </a:uFill>
                <a:latin typeface="Calibri Light"/>
              </a:rPr>
              <a:t>Formato de mensaje</a:t>
            </a:r>
            <a:endParaRPr lang="es-MX" sz="1800" b="0" strike="noStrike" spc="-1">
              <a:solidFill>
                <a:srgbClr val="000000"/>
              </a:solidFill>
              <a:uFill>
                <a:solidFill>
                  <a:srgbClr val="FFFFFF"/>
                </a:solidFill>
              </a:uFill>
              <a:latin typeface="Arial"/>
            </a:endParaRPr>
          </a:p>
        </p:txBody>
      </p:sp>
      <p:pic>
        <p:nvPicPr>
          <p:cNvPr id="125" name="Imagen 3"/>
          <p:cNvPicPr/>
          <p:nvPr/>
        </p:nvPicPr>
        <p:blipFill>
          <a:blip r:embed="rId2"/>
          <a:stretch/>
        </p:blipFill>
        <p:spPr>
          <a:xfrm>
            <a:off x="553680" y="1133280"/>
            <a:ext cx="10608120" cy="2269440"/>
          </a:xfrm>
          <a:prstGeom prst="rect">
            <a:avLst/>
          </a:prstGeom>
          <a:ln>
            <a:noFill/>
          </a:ln>
        </p:spPr>
      </p:pic>
      <p:sp>
        <p:nvSpPr>
          <p:cNvPr id="126" name="CustomShape 2"/>
          <p:cNvSpPr/>
          <p:nvPr/>
        </p:nvSpPr>
        <p:spPr>
          <a:xfrm>
            <a:off x="926640" y="4581360"/>
            <a:ext cx="555840" cy="7293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400" b="0" strike="noStrike" spc="-1">
                <a:solidFill>
                  <a:srgbClr val="000000"/>
                </a:solidFill>
                <a:uFill>
                  <a:solidFill>
                    <a:srgbClr val="FFFFFF"/>
                  </a:solidFill>
                </a:uFill>
                <a:latin typeface="Calibri"/>
              </a:rPr>
              <a:t>Tipo</a:t>
            </a:r>
            <a:endParaRPr lang="es-MX" sz="1800" b="0" strike="noStrike" spc="-1">
              <a:solidFill>
                <a:srgbClr val="000000"/>
              </a:solidFill>
              <a:uFill>
                <a:solidFill>
                  <a:srgbClr val="FFFFFF"/>
                </a:solidFill>
              </a:uFill>
              <a:latin typeface="Arial"/>
            </a:endParaRPr>
          </a:p>
          <a:p>
            <a:pPr>
              <a:lnSpc>
                <a:spcPct val="100000"/>
              </a:lnSpc>
            </a:pPr>
            <a:r>
              <a:rPr lang="es-MX" sz="1400" b="0" strike="noStrike" spc="-1">
                <a:solidFill>
                  <a:srgbClr val="000000"/>
                </a:solidFill>
                <a:uFill>
                  <a:solidFill>
                    <a:srgbClr val="FFFFFF"/>
                  </a:solidFill>
                </a:uFill>
                <a:latin typeface="Calibri"/>
              </a:rPr>
              <a:t>De</a:t>
            </a:r>
            <a:endParaRPr lang="es-MX" sz="1800" b="0" strike="noStrike" spc="-1">
              <a:solidFill>
                <a:srgbClr val="000000"/>
              </a:solidFill>
              <a:uFill>
                <a:solidFill>
                  <a:srgbClr val="FFFFFF"/>
                </a:solidFill>
              </a:uFill>
              <a:latin typeface="Arial"/>
            </a:endParaRPr>
          </a:p>
          <a:p>
            <a:pPr>
              <a:lnSpc>
                <a:spcPct val="100000"/>
              </a:lnSpc>
            </a:pPr>
            <a:r>
              <a:rPr lang="es-MX" sz="1400" b="0" strike="noStrike" spc="-1">
                <a:solidFill>
                  <a:srgbClr val="000000"/>
                </a:solidFill>
                <a:uFill>
                  <a:solidFill>
                    <a:srgbClr val="FFFFFF"/>
                  </a:solidFill>
                </a:uFill>
                <a:latin typeface="Calibri"/>
              </a:rPr>
              <a:t>PDU</a:t>
            </a:r>
            <a:endParaRPr lang="es-MX" sz="1800" b="0" strike="noStrike" spc="-1">
              <a:solidFill>
                <a:srgbClr val="000000"/>
              </a:solidFill>
              <a:uFill>
                <a:solidFill>
                  <a:srgbClr val="FFFFFF"/>
                </a:solidFill>
              </a:uFill>
              <a:latin typeface="Arial"/>
            </a:endParaRPr>
          </a:p>
        </p:txBody>
      </p:sp>
      <p:sp>
        <p:nvSpPr>
          <p:cNvPr id="127" name="CustomShape 3"/>
          <p:cNvSpPr/>
          <p:nvPr/>
        </p:nvSpPr>
        <p:spPr>
          <a:xfrm>
            <a:off x="1696200" y="4086360"/>
            <a:ext cx="4248720" cy="245397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1600" b="0" strike="noStrike" spc="-1" dirty="0">
                <a:solidFill>
                  <a:srgbClr val="000000"/>
                </a:solidFill>
                <a:uFill>
                  <a:solidFill>
                    <a:srgbClr val="FFFFFF"/>
                  </a:solidFill>
                </a:uFill>
                <a:latin typeface="Calibri"/>
              </a:rPr>
              <a:t>0=</a:t>
            </a:r>
            <a:r>
              <a:rPr lang="es-MX" sz="1600" b="0" strike="noStrike" spc="-1" dirty="0" err="1">
                <a:solidFill>
                  <a:srgbClr val="000000"/>
                </a:solidFill>
                <a:uFill>
                  <a:solidFill>
                    <a:srgbClr val="FFFFFF"/>
                  </a:solidFill>
                </a:uFill>
                <a:latin typeface="Calibri"/>
              </a:rPr>
              <a:t>Get</a:t>
            </a:r>
            <a:r>
              <a:rPr lang="es-MX" sz="1600" b="0" strike="noStrike" spc="-1" dirty="0">
                <a:solidFill>
                  <a:srgbClr val="000000"/>
                </a:solidFill>
                <a:uFill>
                  <a:solidFill>
                    <a:srgbClr val="FFFFFF"/>
                  </a:solidFill>
                </a:uFill>
                <a:latin typeface="Calibri"/>
              </a:rPr>
              <a:t> </a:t>
            </a:r>
            <a:r>
              <a:rPr lang="es-MX" sz="1600" b="0" strike="noStrike" spc="-1" dirty="0" err="1">
                <a:solidFill>
                  <a:srgbClr val="000000"/>
                </a:solidFill>
                <a:uFill>
                  <a:solidFill>
                    <a:srgbClr val="FFFFFF"/>
                  </a:solidFill>
                </a:uFill>
                <a:latin typeface="Calibri"/>
              </a:rPr>
              <a:t>request</a:t>
            </a:r>
            <a:endParaRPr lang="es-MX" sz="1800" b="0" strike="noStrike" spc="-1" dirty="0">
              <a:solidFill>
                <a:srgbClr val="000000"/>
              </a:solidFill>
              <a:uFill>
                <a:solidFill>
                  <a:srgbClr val="FFFFFF"/>
                </a:solidFill>
              </a:uFill>
              <a:latin typeface="Arial"/>
            </a:endParaRPr>
          </a:p>
          <a:p>
            <a:pPr>
              <a:lnSpc>
                <a:spcPct val="100000"/>
              </a:lnSpc>
            </a:pPr>
            <a:r>
              <a:rPr lang="es-MX" sz="1600" b="0" strike="noStrike" spc="-1" dirty="0">
                <a:solidFill>
                  <a:srgbClr val="000000"/>
                </a:solidFill>
                <a:uFill>
                  <a:solidFill>
                    <a:srgbClr val="FFFFFF"/>
                  </a:solidFill>
                </a:uFill>
                <a:latin typeface="Calibri"/>
              </a:rPr>
              <a:t>1=</a:t>
            </a:r>
            <a:r>
              <a:rPr lang="es-MX" sz="1600" b="0" strike="noStrike" spc="-1" dirty="0" err="1">
                <a:solidFill>
                  <a:srgbClr val="000000"/>
                </a:solidFill>
                <a:uFill>
                  <a:solidFill>
                    <a:srgbClr val="FFFFFF"/>
                  </a:solidFill>
                </a:uFill>
                <a:latin typeface="Calibri"/>
              </a:rPr>
              <a:t>GetNext</a:t>
            </a:r>
            <a:r>
              <a:rPr lang="es-MX" sz="1600" b="0" strike="noStrike" spc="-1" dirty="0">
                <a:solidFill>
                  <a:srgbClr val="000000"/>
                </a:solidFill>
                <a:uFill>
                  <a:solidFill>
                    <a:srgbClr val="FFFFFF"/>
                  </a:solidFill>
                </a:uFill>
                <a:latin typeface="Calibri"/>
              </a:rPr>
              <a:t> </a:t>
            </a:r>
            <a:r>
              <a:rPr lang="es-MX" sz="1600" b="0" strike="noStrike" spc="-1" dirty="0" err="1">
                <a:solidFill>
                  <a:srgbClr val="000000"/>
                </a:solidFill>
                <a:uFill>
                  <a:solidFill>
                    <a:srgbClr val="FFFFFF"/>
                  </a:solidFill>
                </a:uFill>
                <a:latin typeface="Calibri"/>
              </a:rPr>
              <a:t>req</a:t>
            </a:r>
            <a:endParaRPr lang="es-MX" sz="1800" b="0" strike="noStrike" spc="-1" dirty="0">
              <a:solidFill>
                <a:srgbClr val="000000"/>
              </a:solidFill>
              <a:uFill>
                <a:solidFill>
                  <a:srgbClr val="FFFFFF"/>
                </a:solidFill>
              </a:uFill>
              <a:latin typeface="Arial"/>
            </a:endParaRPr>
          </a:p>
          <a:p>
            <a:pPr>
              <a:lnSpc>
                <a:spcPct val="100000"/>
              </a:lnSpc>
            </a:pPr>
            <a:r>
              <a:rPr lang="es-MX" sz="1600" b="0" strike="noStrike" spc="-1" dirty="0">
                <a:solidFill>
                  <a:srgbClr val="000000"/>
                </a:solidFill>
                <a:uFill>
                  <a:solidFill>
                    <a:srgbClr val="FFFFFF"/>
                  </a:solidFill>
                </a:uFill>
                <a:latin typeface="Calibri"/>
              </a:rPr>
              <a:t>2=Response</a:t>
            </a:r>
            <a:endParaRPr lang="es-MX" sz="1800" b="0" strike="noStrike" spc="-1" dirty="0">
              <a:solidFill>
                <a:srgbClr val="000000"/>
              </a:solidFill>
              <a:uFill>
                <a:solidFill>
                  <a:srgbClr val="FFFFFF"/>
                </a:solidFill>
              </a:uFill>
              <a:latin typeface="Arial"/>
            </a:endParaRPr>
          </a:p>
          <a:p>
            <a:pPr>
              <a:lnSpc>
                <a:spcPct val="100000"/>
              </a:lnSpc>
            </a:pPr>
            <a:r>
              <a:rPr lang="es-MX" sz="1600" b="0" strike="noStrike" spc="-1" dirty="0">
                <a:solidFill>
                  <a:srgbClr val="000000"/>
                </a:solidFill>
                <a:uFill>
                  <a:solidFill>
                    <a:srgbClr val="FFFFFF"/>
                  </a:solidFill>
                </a:uFill>
                <a:latin typeface="Calibri"/>
              </a:rPr>
              <a:t>3=Set </a:t>
            </a:r>
            <a:r>
              <a:rPr lang="es-MX" sz="1600" b="0" strike="noStrike" spc="-1" dirty="0" err="1">
                <a:solidFill>
                  <a:srgbClr val="000000"/>
                </a:solidFill>
                <a:uFill>
                  <a:solidFill>
                    <a:srgbClr val="FFFFFF"/>
                  </a:solidFill>
                </a:uFill>
                <a:latin typeface="Calibri"/>
              </a:rPr>
              <a:t>req</a:t>
            </a:r>
            <a:endParaRPr lang="es-MX" sz="1800" b="0" strike="noStrike" spc="-1" dirty="0">
              <a:solidFill>
                <a:srgbClr val="000000"/>
              </a:solidFill>
              <a:uFill>
                <a:solidFill>
                  <a:srgbClr val="FFFFFF"/>
                </a:solidFill>
              </a:uFill>
              <a:latin typeface="Arial"/>
            </a:endParaRPr>
          </a:p>
          <a:p>
            <a:pPr>
              <a:lnSpc>
                <a:spcPct val="100000"/>
              </a:lnSpc>
            </a:pPr>
            <a:r>
              <a:rPr lang="es-MX" sz="1600" b="0" strike="noStrike" spc="-1" dirty="0">
                <a:solidFill>
                  <a:srgbClr val="000000"/>
                </a:solidFill>
                <a:uFill>
                  <a:solidFill>
                    <a:srgbClr val="FFFFFF"/>
                  </a:solidFill>
                </a:uFill>
                <a:latin typeface="Calibri"/>
              </a:rPr>
              <a:t>4=</a:t>
            </a:r>
            <a:r>
              <a:rPr lang="es-MX" sz="1600" b="0" strike="noStrike" spc="-1" dirty="0" err="1">
                <a:solidFill>
                  <a:srgbClr val="000000"/>
                </a:solidFill>
                <a:uFill>
                  <a:solidFill>
                    <a:srgbClr val="FFFFFF"/>
                  </a:solidFill>
                </a:uFill>
                <a:latin typeface="Calibri"/>
              </a:rPr>
              <a:t>Trap</a:t>
            </a:r>
            <a:r>
              <a:rPr lang="es-MX" sz="1600" b="0" strike="noStrike" spc="-1" dirty="0">
                <a:solidFill>
                  <a:srgbClr val="000000"/>
                </a:solidFill>
                <a:uFill>
                  <a:solidFill>
                    <a:srgbClr val="FFFFFF"/>
                  </a:solidFill>
                </a:uFill>
                <a:latin typeface="Calibri"/>
              </a:rPr>
              <a:t> (obsoleto)</a:t>
            </a:r>
          </a:p>
          <a:p>
            <a:pPr>
              <a:lnSpc>
                <a:spcPct val="100000"/>
              </a:lnSpc>
            </a:pPr>
            <a:r>
              <a:rPr lang="es-MX" sz="1600" spc="-1" dirty="0">
                <a:solidFill>
                  <a:srgbClr val="000000"/>
                </a:solidFill>
                <a:uFill>
                  <a:solidFill>
                    <a:srgbClr val="FFFFFF"/>
                  </a:solidFill>
                </a:uFill>
                <a:latin typeface="Calibri"/>
              </a:rPr>
              <a:t>5=</a:t>
            </a:r>
            <a:r>
              <a:rPr lang="es-MX" sz="1600" spc="-1" dirty="0" err="1">
                <a:solidFill>
                  <a:srgbClr val="000000"/>
                </a:solidFill>
                <a:uFill>
                  <a:solidFill>
                    <a:srgbClr val="FFFFFF"/>
                  </a:solidFill>
                </a:uFill>
                <a:latin typeface="Calibri"/>
              </a:rPr>
              <a:t>Get</a:t>
            </a:r>
            <a:r>
              <a:rPr lang="es-MX" sz="1600" spc="-1" dirty="0">
                <a:solidFill>
                  <a:srgbClr val="000000"/>
                </a:solidFill>
                <a:uFill>
                  <a:solidFill>
                    <a:srgbClr val="FFFFFF"/>
                  </a:solidFill>
                </a:uFill>
                <a:latin typeface="Calibri"/>
              </a:rPr>
              <a:t> </a:t>
            </a:r>
            <a:r>
              <a:rPr lang="es-MX" sz="1600" spc="-1" dirty="0" err="1">
                <a:solidFill>
                  <a:srgbClr val="000000"/>
                </a:solidFill>
                <a:uFill>
                  <a:solidFill>
                    <a:srgbClr val="FFFFFF"/>
                  </a:solidFill>
                </a:uFill>
                <a:latin typeface="Calibri"/>
              </a:rPr>
              <a:t>bulk</a:t>
            </a:r>
            <a:r>
              <a:rPr lang="es-MX" sz="1600" spc="-1" dirty="0">
                <a:solidFill>
                  <a:srgbClr val="000000"/>
                </a:solidFill>
                <a:uFill>
                  <a:solidFill>
                    <a:srgbClr val="FFFFFF"/>
                  </a:solidFill>
                </a:uFill>
                <a:latin typeface="Calibri"/>
              </a:rPr>
              <a:t> </a:t>
            </a:r>
            <a:r>
              <a:rPr lang="es-MX" sz="1600" spc="-1" dirty="0" err="1">
                <a:solidFill>
                  <a:srgbClr val="000000"/>
                </a:solidFill>
                <a:uFill>
                  <a:solidFill>
                    <a:srgbClr val="FFFFFF"/>
                  </a:solidFill>
                </a:uFill>
                <a:latin typeface="Calibri"/>
              </a:rPr>
              <a:t>req</a:t>
            </a:r>
            <a:endParaRPr lang="es-MX" sz="1600" spc="-1" dirty="0">
              <a:solidFill>
                <a:srgbClr val="000000"/>
              </a:solidFill>
              <a:uFill>
                <a:solidFill>
                  <a:srgbClr val="FFFFFF"/>
                </a:solidFill>
              </a:uFill>
              <a:latin typeface="Calibri"/>
            </a:endParaRPr>
          </a:p>
          <a:p>
            <a:pPr>
              <a:lnSpc>
                <a:spcPct val="100000"/>
              </a:lnSpc>
            </a:pPr>
            <a:r>
              <a:rPr lang="es-MX" sz="1600" b="0" strike="noStrike" spc="-1" dirty="0">
                <a:solidFill>
                  <a:srgbClr val="000000"/>
                </a:solidFill>
                <a:uFill>
                  <a:solidFill>
                    <a:srgbClr val="FFFFFF"/>
                  </a:solidFill>
                </a:uFill>
                <a:latin typeface="Calibri"/>
              </a:rPr>
              <a:t>6=</a:t>
            </a:r>
            <a:r>
              <a:rPr lang="es-MX" sz="1600" b="0" strike="noStrike" spc="-1" dirty="0" err="1">
                <a:solidFill>
                  <a:srgbClr val="000000"/>
                </a:solidFill>
                <a:uFill>
                  <a:solidFill>
                    <a:srgbClr val="FFFFFF"/>
                  </a:solidFill>
                </a:uFill>
                <a:latin typeface="Calibri"/>
              </a:rPr>
              <a:t>Inform</a:t>
            </a:r>
            <a:r>
              <a:rPr lang="es-MX" sz="1600" b="0" strike="noStrike" spc="-1" dirty="0">
                <a:solidFill>
                  <a:srgbClr val="000000"/>
                </a:solidFill>
                <a:uFill>
                  <a:solidFill>
                    <a:srgbClr val="FFFFFF"/>
                  </a:solidFill>
                </a:uFill>
                <a:latin typeface="Calibri"/>
              </a:rPr>
              <a:t> </a:t>
            </a:r>
            <a:r>
              <a:rPr lang="es-MX" sz="1600" b="0" strike="noStrike" spc="-1" dirty="0" err="1">
                <a:solidFill>
                  <a:srgbClr val="000000"/>
                </a:solidFill>
                <a:uFill>
                  <a:solidFill>
                    <a:srgbClr val="FFFFFF"/>
                  </a:solidFill>
                </a:uFill>
                <a:latin typeface="Calibri"/>
              </a:rPr>
              <a:t>req</a:t>
            </a:r>
            <a:r>
              <a:rPr lang="es-MX" sz="1600" b="0" strike="noStrike" spc="-1" dirty="0">
                <a:solidFill>
                  <a:srgbClr val="000000"/>
                </a:solidFill>
                <a:uFill>
                  <a:solidFill>
                    <a:srgbClr val="FFFFFF"/>
                  </a:solidFill>
                </a:uFill>
                <a:latin typeface="Calibri"/>
              </a:rPr>
              <a:t> (envío informes entre gestores </a:t>
            </a:r>
            <a:r>
              <a:rPr lang="es-MX" sz="1600" b="0" strike="noStrike" spc="-1" dirty="0" err="1">
                <a:solidFill>
                  <a:srgbClr val="000000"/>
                </a:solidFill>
                <a:uFill>
                  <a:solidFill>
                    <a:srgbClr val="FFFFFF"/>
                  </a:solidFill>
                </a:uFill>
                <a:latin typeface="Calibri"/>
              </a:rPr>
              <a:t>snmp</a:t>
            </a:r>
            <a:r>
              <a:rPr lang="es-MX" sz="1600" b="0" strike="noStrike" spc="-1" dirty="0">
                <a:solidFill>
                  <a:srgbClr val="000000"/>
                </a:solidFill>
                <a:uFill>
                  <a:solidFill>
                    <a:srgbClr val="FFFFFF"/>
                  </a:solidFill>
                </a:uFill>
                <a:latin typeface="Calibri"/>
              </a:rPr>
              <a:t>)</a:t>
            </a:r>
          </a:p>
          <a:p>
            <a:pPr>
              <a:lnSpc>
                <a:spcPct val="100000"/>
              </a:lnSpc>
            </a:pPr>
            <a:r>
              <a:rPr lang="es-MX" sz="1600" spc="-1" dirty="0">
                <a:solidFill>
                  <a:srgbClr val="000000"/>
                </a:solidFill>
                <a:uFill>
                  <a:solidFill>
                    <a:srgbClr val="FFFFFF"/>
                  </a:solidFill>
                </a:uFill>
                <a:latin typeface="Calibri"/>
              </a:rPr>
              <a:t>7=</a:t>
            </a:r>
            <a:r>
              <a:rPr lang="es-MX" sz="1600" spc="-1" dirty="0" err="1">
                <a:solidFill>
                  <a:srgbClr val="000000"/>
                </a:solidFill>
                <a:uFill>
                  <a:solidFill>
                    <a:srgbClr val="FFFFFF"/>
                  </a:solidFill>
                </a:uFill>
                <a:latin typeface="Calibri"/>
              </a:rPr>
              <a:t>Trap</a:t>
            </a:r>
            <a:endParaRPr lang="es-MX" sz="1600" spc="-1" dirty="0">
              <a:solidFill>
                <a:srgbClr val="000000"/>
              </a:solidFill>
              <a:uFill>
                <a:solidFill>
                  <a:srgbClr val="FFFFFF"/>
                </a:solidFill>
              </a:uFill>
              <a:latin typeface="Calibri"/>
            </a:endParaRPr>
          </a:p>
          <a:p>
            <a:pPr>
              <a:lnSpc>
                <a:spcPct val="100000"/>
              </a:lnSpc>
            </a:pPr>
            <a:r>
              <a:rPr lang="es-MX" sz="1600" b="0" strike="noStrike" spc="-1" dirty="0">
                <a:solidFill>
                  <a:srgbClr val="000000"/>
                </a:solidFill>
                <a:uFill>
                  <a:solidFill>
                    <a:srgbClr val="FFFFFF"/>
                  </a:solidFill>
                </a:uFill>
                <a:latin typeface="Calibri"/>
              </a:rPr>
              <a:t>8= </a:t>
            </a:r>
            <a:r>
              <a:rPr lang="es-MX" sz="1600" b="0" strike="noStrike" spc="-1" dirty="0" err="1">
                <a:solidFill>
                  <a:srgbClr val="000000"/>
                </a:solidFill>
                <a:uFill>
                  <a:solidFill>
                    <a:srgbClr val="FFFFFF"/>
                  </a:solidFill>
                </a:uFill>
                <a:latin typeface="Calibri"/>
              </a:rPr>
              <a:t>Report</a:t>
            </a:r>
            <a:r>
              <a:rPr lang="es-MX" sz="1600" b="0" strike="noStrike" spc="-1" dirty="0">
                <a:solidFill>
                  <a:srgbClr val="000000"/>
                </a:solidFill>
                <a:uFill>
                  <a:solidFill>
                    <a:srgbClr val="FFFFFF"/>
                  </a:solidFill>
                </a:uFill>
                <a:latin typeface="Calibri"/>
              </a:rPr>
              <a:t> (envío de estadísticas de tasa de mensajes (SIP, DNS)</a:t>
            </a:r>
            <a:endParaRPr lang="es-MX" sz="1800" b="0" strike="noStrike" spc="-1" dirty="0">
              <a:solidFill>
                <a:srgbClr val="000000"/>
              </a:solidFill>
              <a:uFill>
                <a:solidFill>
                  <a:srgbClr val="FFFFFF"/>
                </a:solidFill>
              </a:uFill>
              <a:latin typeface="Arial"/>
            </a:endParaRPr>
          </a:p>
        </p:txBody>
      </p:sp>
      <p:sp>
        <p:nvSpPr>
          <p:cNvPr id="128" name="CustomShape 4"/>
          <p:cNvSpPr/>
          <p:nvPr/>
        </p:nvSpPr>
        <p:spPr>
          <a:xfrm>
            <a:off x="1456560" y="4177800"/>
            <a:ext cx="171720" cy="2248272"/>
          </a:xfrm>
          <a:prstGeom prst="leftBrace">
            <a:avLst>
              <a:gd name="adj1" fmla="val 8333"/>
              <a:gd name="adj2" fmla="val 50000"/>
            </a:avLst>
          </a:prstGeom>
          <a:noFill/>
          <a:ln w="6480">
            <a:solidFill>
              <a:srgbClr val="5B9BD5"/>
            </a:solidFill>
            <a:miter/>
          </a:ln>
        </p:spPr>
        <p:style>
          <a:lnRef idx="0">
            <a:scrgbClr r="0" g="0" b="0"/>
          </a:lnRef>
          <a:fillRef idx="0">
            <a:scrgbClr r="0" g="0" b="0"/>
          </a:fillRef>
          <a:effectRef idx="0">
            <a:scrgbClr r="0" g="0" b="0"/>
          </a:effectRef>
          <a:fontRef idx="minor"/>
        </p:style>
      </p:sp>
      <p:sp>
        <p:nvSpPr>
          <p:cNvPr id="129" name="CustomShape 5"/>
          <p:cNvSpPr/>
          <p:nvPr/>
        </p:nvSpPr>
        <p:spPr>
          <a:xfrm>
            <a:off x="645120" y="3525120"/>
            <a:ext cx="921600" cy="3333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600" b="0" strike="noStrike" spc="-1">
                <a:solidFill>
                  <a:srgbClr val="000000"/>
                </a:solidFill>
                <a:uFill>
                  <a:solidFill>
                    <a:srgbClr val="FFFFFF"/>
                  </a:solidFill>
                </a:uFill>
                <a:latin typeface="Calibri"/>
              </a:rPr>
              <a:t>versión</a:t>
            </a:r>
            <a:endParaRPr lang="es-MX" sz="1800" b="0" strike="noStrike" spc="-1">
              <a:solidFill>
                <a:srgbClr val="000000"/>
              </a:solidFill>
              <a:uFill>
                <a:solidFill>
                  <a:srgbClr val="FFFFFF"/>
                </a:solidFill>
              </a:uFill>
              <a:latin typeface="Arial"/>
            </a:endParaRPr>
          </a:p>
        </p:txBody>
      </p:sp>
      <p:sp>
        <p:nvSpPr>
          <p:cNvPr id="130" name="CustomShape 6"/>
          <p:cNvSpPr/>
          <p:nvPr/>
        </p:nvSpPr>
        <p:spPr>
          <a:xfrm>
            <a:off x="1596960" y="3471840"/>
            <a:ext cx="1182600" cy="106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1600" b="0" strike="noStrike" spc="-1">
                <a:solidFill>
                  <a:srgbClr val="000000"/>
                </a:solidFill>
                <a:uFill>
                  <a:solidFill>
                    <a:srgbClr val="FFFFFF"/>
                  </a:solidFill>
                </a:uFill>
                <a:latin typeface="Calibri"/>
              </a:rPr>
              <a:t>0=versión 1</a:t>
            </a:r>
            <a:endParaRPr lang="es-MX" sz="1800" b="0" strike="noStrike" spc="-1">
              <a:solidFill>
                <a:srgbClr val="000000"/>
              </a:solidFill>
              <a:uFill>
                <a:solidFill>
                  <a:srgbClr val="FFFFFF"/>
                </a:solidFill>
              </a:uFill>
              <a:latin typeface="Arial"/>
            </a:endParaRPr>
          </a:p>
          <a:p>
            <a:pPr>
              <a:lnSpc>
                <a:spcPct val="100000"/>
              </a:lnSpc>
            </a:pPr>
            <a:r>
              <a:rPr lang="es-MX" sz="1600" b="0" strike="noStrike" spc="-1">
                <a:solidFill>
                  <a:srgbClr val="000000"/>
                </a:solidFill>
                <a:uFill>
                  <a:solidFill>
                    <a:srgbClr val="FFFFFF"/>
                  </a:solidFill>
                </a:uFill>
                <a:latin typeface="Calibri"/>
              </a:rPr>
              <a:t>1=versión 2</a:t>
            </a:r>
            <a:endParaRPr lang="es-MX" sz="1800" b="0" strike="noStrike" spc="-1">
              <a:solidFill>
                <a:srgbClr val="000000"/>
              </a:solidFill>
              <a:uFill>
                <a:solidFill>
                  <a:srgbClr val="FFFFFF"/>
                </a:solidFill>
              </a:uFill>
              <a:latin typeface="Arial"/>
            </a:endParaRPr>
          </a:p>
        </p:txBody>
      </p:sp>
      <p:sp>
        <p:nvSpPr>
          <p:cNvPr id="131" name="CustomShape 7"/>
          <p:cNvSpPr/>
          <p:nvPr/>
        </p:nvSpPr>
        <p:spPr>
          <a:xfrm>
            <a:off x="1501200" y="3525120"/>
            <a:ext cx="95040" cy="459360"/>
          </a:xfrm>
          <a:prstGeom prst="leftBrace">
            <a:avLst>
              <a:gd name="adj1" fmla="val 8333"/>
              <a:gd name="adj2" fmla="val 50000"/>
            </a:avLst>
          </a:prstGeom>
          <a:noFill/>
          <a:ln w="6480">
            <a:solidFill>
              <a:srgbClr val="5B9BD5"/>
            </a:solidFill>
            <a:miter/>
          </a:ln>
        </p:spPr>
        <p:style>
          <a:lnRef idx="0">
            <a:scrgbClr r="0" g="0" b="0"/>
          </a:lnRef>
          <a:fillRef idx="0">
            <a:scrgbClr r="0" g="0" b="0"/>
          </a:fillRef>
          <a:effectRef idx="0">
            <a:scrgbClr r="0" g="0" b="0"/>
          </a:effectRef>
          <a:fontRef idx="minor"/>
        </p:style>
      </p:sp>
      <p:sp>
        <p:nvSpPr>
          <p:cNvPr id="132" name="CustomShape 8"/>
          <p:cNvSpPr/>
          <p:nvPr/>
        </p:nvSpPr>
        <p:spPr>
          <a:xfrm>
            <a:off x="7234200" y="4460040"/>
            <a:ext cx="727920" cy="516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400" b="0" strike="noStrike" spc="-1">
                <a:solidFill>
                  <a:srgbClr val="000000"/>
                </a:solidFill>
                <a:uFill>
                  <a:solidFill>
                    <a:srgbClr val="FFFFFF"/>
                  </a:solidFill>
                </a:uFill>
                <a:latin typeface="Calibri"/>
              </a:rPr>
              <a:t>Error </a:t>
            </a:r>
            <a:endParaRPr lang="es-MX" sz="1800" b="0" strike="noStrike" spc="-1">
              <a:solidFill>
                <a:srgbClr val="000000"/>
              </a:solidFill>
              <a:uFill>
                <a:solidFill>
                  <a:srgbClr val="FFFFFF"/>
                </a:solidFill>
              </a:uFill>
              <a:latin typeface="Arial"/>
            </a:endParaRPr>
          </a:p>
          <a:p>
            <a:pPr>
              <a:lnSpc>
                <a:spcPct val="100000"/>
              </a:lnSpc>
            </a:pPr>
            <a:r>
              <a:rPr lang="es-MX" sz="1400" b="0" strike="noStrike" spc="-1">
                <a:solidFill>
                  <a:srgbClr val="000000"/>
                </a:solidFill>
                <a:uFill>
                  <a:solidFill>
                    <a:srgbClr val="FFFFFF"/>
                  </a:solidFill>
                </a:uFill>
                <a:latin typeface="Calibri"/>
              </a:rPr>
              <a:t>status</a:t>
            </a:r>
            <a:endParaRPr lang="es-MX" sz="1800" b="0" strike="noStrike" spc="-1">
              <a:solidFill>
                <a:srgbClr val="000000"/>
              </a:solidFill>
              <a:uFill>
                <a:solidFill>
                  <a:srgbClr val="FFFFFF"/>
                </a:solidFill>
              </a:uFill>
              <a:latin typeface="Arial"/>
            </a:endParaRPr>
          </a:p>
        </p:txBody>
      </p:sp>
      <p:sp>
        <p:nvSpPr>
          <p:cNvPr id="133" name="CustomShape 9"/>
          <p:cNvSpPr/>
          <p:nvPr/>
        </p:nvSpPr>
        <p:spPr>
          <a:xfrm>
            <a:off x="8022600" y="4090680"/>
            <a:ext cx="2473200" cy="1550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1600" b="0" strike="noStrike" spc="-1">
                <a:solidFill>
                  <a:srgbClr val="000000"/>
                </a:solidFill>
                <a:uFill>
                  <a:solidFill>
                    <a:srgbClr val="FFFFFF"/>
                  </a:solidFill>
                </a:uFill>
                <a:latin typeface="Calibri"/>
              </a:rPr>
              <a:t>0=No error</a:t>
            </a:r>
            <a:endParaRPr lang="es-MX" sz="1800" b="0" strike="noStrike" spc="-1">
              <a:solidFill>
                <a:srgbClr val="000000"/>
              </a:solidFill>
              <a:uFill>
                <a:solidFill>
                  <a:srgbClr val="FFFFFF"/>
                </a:solidFill>
              </a:uFill>
              <a:latin typeface="Arial"/>
            </a:endParaRPr>
          </a:p>
          <a:p>
            <a:pPr>
              <a:lnSpc>
                <a:spcPct val="100000"/>
              </a:lnSpc>
            </a:pPr>
            <a:r>
              <a:rPr lang="es-MX" sz="1600" b="0" strike="noStrike" spc="-1">
                <a:solidFill>
                  <a:srgbClr val="000000"/>
                </a:solidFill>
                <a:uFill>
                  <a:solidFill>
                    <a:srgbClr val="FFFFFF"/>
                  </a:solidFill>
                </a:uFill>
                <a:latin typeface="Calibri"/>
              </a:rPr>
              <a:t>1=Too big</a:t>
            </a:r>
            <a:endParaRPr lang="es-MX" sz="1800" b="0" strike="noStrike" spc="-1">
              <a:solidFill>
                <a:srgbClr val="000000"/>
              </a:solidFill>
              <a:uFill>
                <a:solidFill>
                  <a:srgbClr val="FFFFFF"/>
                </a:solidFill>
              </a:uFill>
              <a:latin typeface="Arial"/>
            </a:endParaRPr>
          </a:p>
          <a:p>
            <a:pPr>
              <a:lnSpc>
                <a:spcPct val="100000"/>
              </a:lnSpc>
            </a:pPr>
            <a:r>
              <a:rPr lang="es-MX" sz="1600" b="0" strike="noStrike" spc="-1">
                <a:solidFill>
                  <a:srgbClr val="000000"/>
                </a:solidFill>
                <a:uFill>
                  <a:solidFill>
                    <a:srgbClr val="FFFFFF"/>
                  </a:solidFill>
                </a:uFill>
                <a:latin typeface="Calibri"/>
              </a:rPr>
              <a:t>2=No such name</a:t>
            </a:r>
            <a:endParaRPr lang="es-MX" sz="1800" b="0" strike="noStrike" spc="-1">
              <a:solidFill>
                <a:srgbClr val="000000"/>
              </a:solidFill>
              <a:uFill>
                <a:solidFill>
                  <a:srgbClr val="FFFFFF"/>
                </a:solidFill>
              </a:uFill>
              <a:latin typeface="Arial"/>
            </a:endParaRPr>
          </a:p>
          <a:p>
            <a:pPr>
              <a:lnSpc>
                <a:spcPct val="100000"/>
              </a:lnSpc>
            </a:pPr>
            <a:r>
              <a:rPr lang="es-MX" sz="1600" b="0" strike="noStrike" spc="-1">
                <a:solidFill>
                  <a:srgbClr val="000000"/>
                </a:solidFill>
                <a:uFill>
                  <a:solidFill>
                    <a:srgbClr val="FFFFFF"/>
                  </a:solidFill>
                </a:uFill>
                <a:latin typeface="Calibri"/>
              </a:rPr>
              <a:t>3=Bad value</a:t>
            </a:r>
            <a:endParaRPr lang="es-MX" sz="1800" b="0" strike="noStrike" spc="-1">
              <a:solidFill>
                <a:srgbClr val="000000"/>
              </a:solidFill>
              <a:uFill>
                <a:solidFill>
                  <a:srgbClr val="FFFFFF"/>
                </a:solidFill>
              </a:uFill>
              <a:latin typeface="Arial"/>
            </a:endParaRPr>
          </a:p>
          <a:p>
            <a:pPr>
              <a:lnSpc>
                <a:spcPct val="100000"/>
              </a:lnSpc>
            </a:pPr>
            <a:r>
              <a:rPr lang="es-MX" sz="1600" b="0" strike="noStrike" spc="-1">
                <a:solidFill>
                  <a:srgbClr val="000000"/>
                </a:solidFill>
                <a:uFill>
                  <a:solidFill>
                    <a:srgbClr val="FFFFFF"/>
                  </a:solidFill>
                </a:uFill>
                <a:latin typeface="Calibri"/>
              </a:rPr>
              <a:t>4=Read only</a:t>
            </a:r>
            <a:endParaRPr lang="es-MX" sz="1800" b="0" strike="noStrike" spc="-1">
              <a:solidFill>
                <a:srgbClr val="000000"/>
              </a:solidFill>
              <a:uFill>
                <a:solidFill>
                  <a:srgbClr val="FFFFFF"/>
                </a:solidFill>
              </a:uFill>
              <a:latin typeface="Arial"/>
            </a:endParaRPr>
          </a:p>
          <a:p>
            <a:pPr>
              <a:lnSpc>
                <a:spcPct val="100000"/>
              </a:lnSpc>
            </a:pPr>
            <a:r>
              <a:rPr lang="es-MX" sz="1600" b="0" strike="noStrike" spc="-1">
                <a:solidFill>
                  <a:srgbClr val="000000"/>
                </a:solidFill>
                <a:uFill>
                  <a:solidFill>
                    <a:srgbClr val="FFFFFF"/>
                  </a:solidFill>
                </a:uFill>
                <a:latin typeface="Calibri"/>
              </a:rPr>
              <a:t>5=General error</a:t>
            </a:r>
            <a:endParaRPr lang="es-MX" sz="1800" b="0" strike="noStrike" spc="-1">
              <a:solidFill>
                <a:srgbClr val="000000"/>
              </a:solidFill>
              <a:uFill>
                <a:solidFill>
                  <a:srgbClr val="FFFFFF"/>
                </a:solidFill>
              </a:uFill>
              <a:latin typeface="Arial"/>
            </a:endParaRPr>
          </a:p>
        </p:txBody>
      </p:sp>
      <p:sp>
        <p:nvSpPr>
          <p:cNvPr id="134" name="CustomShape 10"/>
          <p:cNvSpPr/>
          <p:nvPr/>
        </p:nvSpPr>
        <p:spPr>
          <a:xfrm>
            <a:off x="7791120" y="4056480"/>
            <a:ext cx="231120" cy="1544760"/>
          </a:xfrm>
          <a:prstGeom prst="leftBrace">
            <a:avLst>
              <a:gd name="adj1" fmla="val 8333"/>
              <a:gd name="adj2" fmla="val 50000"/>
            </a:avLst>
          </a:prstGeom>
          <a:noFill/>
          <a:ln w="6480">
            <a:solidFill>
              <a:srgbClr val="5B9BD5"/>
            </a:solidFill>
            <a:miter/>
          </a:ln>
        </p:spPr>
        <p:style>
          <a:lnRef idx="0">
            <a:scrgbClr r="0" g="0" b="0"/>
          </a:lnRef>
          <a:fillRef idx="0">
            <a:scrgbClr r="0" g="0" b="0"/>
          </a:fillRef>
          <a:effectRef idx="0">
            <a:scrgbClr r="0" g="0" b="0"/>
          </a:effectRef>
          <a:fontRef idx="minor"/>
        </p:style>
      </p:sp>
      <p:sp>
        <p:nvSpPr>
          <p:cNvPr id="135" name="CustomShape 11"/>
          <p:cNvSpPr/>
          <p:nvPr/>
        </p:nvSpPr>
        <p:spPr>
          <a:xfrm>
            <a:off x="8150496" y="6167088"/>
            <a:ext cx="400140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dirty="0">
                <a:solidFill>
                  <a:srgbClr val="000000"/>
                </a:solidFill>
                <a:uFill>
                  <a:solidFill>
                    <a:srgbClr val="FFFFFF"/>
                  </a:solidFill>
                </a:uFill>
                <a:latin typeface="Calibri"/>
              </a:rPr>
              <a:t>*Tamaño máximo del PDU = MTU</a:t>
            </a:r>
            <a:endParaRPr lang="es-MX" sz="1800" b="0" strike="noStrike" spc="-1" dirty="0">
              <a:solidFill>
                <a:srgbClr val="000000"/>
              </a:solidFill>
              <a:uFill>
                <a:solidFill>
                  <a:srgbClr val="FFFFFF"/>
                </a:solidFill>
              </a:uFill>
              <a:latin typeface="Arial"/>
            </a:endParaRPr>
          </a:p>
        </p:txBody>
      </p:sp>
      <p:sp>
        <p:nvSpPr>
          <p:cNvPr id="4" name="CustomShape 11">
            <a:extLst>
              <a:ext uri="{FF2B5EF4-FFF2-40B4-BE49-F238E27FC236}">
                <a16:creationId xmlns:a16="http://schemas.microsoft.com/office/drawing/2014/main" id="{51FCC277-6978-8102-44F2-13D3954EDC52}"/>
              </a:ext>
            </a:extLst>
          </p:cNvPr>
          <p:cNvSpPr/>
          <p:nvPr/>
        </p:nvSpPr>
        <p:spPr>
          <a:xfrm>
            <a:off x="7234200" y="3493272"/>
            <a:ext cx="2000976" cy="34180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s-MX" sz="1800" b="0" strike="noStrike" spc="-1" dirty="0">
                <a:solidFill>
                  <a:srgbClr val="000000"/>
                </a:solidFill>
                <a:uFill>
                  <a:solidFill>
                    <a:srgbClr val="FFFFFF"/>
                  </a:solidFill>
                </a:uFill>
                <a:latin typeface="Calibri"/>
              </a:rPr>
              <a:t>Variable-</a:t>
            </a:r>
            <a:r>
              <a:rPr lang="es-MX" sz="1800" b="0" strike="noStrike" spc="-1" dirty="0" err="1">
                <a:solidFill>
                  <a:srgbClr val="000000"/>
                </a:solidFill>
                <a:uFill>
                  <a:solidFill>
                    <a:srgbClr val="FFFFFF"/>
                  </a:solidFill>
                </a:uFill>
                <a:latin typeface="Calibri"/>
              </a:rPr>
              <a:t>bindings</a:t>
            </a:r>
            <a:endParaRPr lang="es-MX" sz="1800" b="0" strike="noStrike" spc="-1" dirty="0">
              <a:solidFill>
                <a:srgbClr val="000000"/>
              </a:solidFill>
              <a:uFill>
                <a:solidFill>
                  <a:srgbClr val="FFFFFF"/>
                </a:solidFill>
              </a:uFill>
              <a:latin typeface="Arial"/>
            </a:endParaRPr>
          </a:p>
        </p:txBody>
      </p:sp>
      <p:cxnSp>
        <p:nvCxnSpPr>
          <p:cNvPr id="6" name="Conector recto 5">
            <a:extLst>
              <a:ext uri="{FF2B5EF4-FFF2-40B4-BE49-F238E27FC236}">
                <a16:creationId xmlns:a16="http://schemas.microsoft.com/office/drawing/2014/main" id="{8C11096B-5659-42CE-E260-3058BC8E596F}"/>
              </a:ext>
            </a:extLst>
          </p:cNvPr>
          <p:cNvCxnSpPr/>
          <p:nvPr/>
        </p:nvCxnSpPr>
        <p:spPr>
          <a:xfrm>
            <a:off x="7234200" y="3429000"/>
            <a:ext cx="1562328" cy="0"/>
          </a:xfrm>
          <a:prstGeom prst="line">
            <a:avLst/>
          </a:prstGeom>
          <a:ln w="25400">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CCDEA9-B0C1-3FA4-4079-5DA5B758C7CF}"/>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459E8B20-F219-EAB1-90DC-6B579B2AEC7D}"/>
              </a:ext>
            </a:extLst>
          </p:cNvPr>
          <p:cNvSpPr>
            <a:spLocks noGrp="1"/>
          </p:cNvSpPr>
          <p:nvPr>
            <p:ph type="subTitle"/>
          </p:nvPr>
        </p:nvSpPr>
        <p:spPr>
          <a:xfrm>
            <a:off x="499714" y="1295400"/>
            <a:ext cx="10972440" cy="2061998"/>
          </a:xfrm>
        </p:spPr>
        <p:txBody>
          <a:bodyPr/>
          <a:lstStyle/>
          <a:p>
            <a:r>
              <a:rPr lang="es-MX" sz="2400" dirty="0"/>
              <a:t>Cada elemento es codificado de la forma: </a:t>
            </a:r>
            <a:r>
              <a:rPr lang="es-MX" sz="2400" b="1" dirty="0"/>
              <a:t>tipo de identificador,  longitud, datos</a:t>
            </a:r>
            <a:r>
              <a:rPr lang="es-MX" sz="2400" dirty="0"/>
              <a:t> y de ser necesario un </a:t>
            </a:r>
            <a:r>
              <a:rPr lang="es-MX" sz="2400" b="1" dirty="0"/>
              <a:t>fin de contenido</a:t>
            </a:r>
            <a:r>
              <a:rPr lang="es-MX" sz="2400" dirty="0"/>
              <a:t> ()</a:t>
            </a:r>
          </a:p>
          <a:p>
            <a:endParaRPr lang="es-MX" dirty="0"/>
          </a:p>
          <a:p>
            <a:pPr marL="0" indent="0">
              <a:buNone/>
            </a:pPr>
            <a:endParaRPr lang="es-MX" dirty="0"/>
          </a:p>
        </p:txBody>
      </p:sp>
      <p:pic>
        <p:nvPicPr>
          <p:cNvPr id="5" name="Imagen 4">
            <a:extLst>
              <a:ext uri="{FF2B5EF4-FFF2-40B4-BE49-F238E27FC236}">
                <a16:creationId xmlns:a16="http://schemas.microsoft.com/office/drawing/2014/main" id="{828083F9-4DED-F37E-EB2F-586972ED40F6}"/>
              </a:ext>
            </a:extLst>
          </p:cNvPr>
          <p:cNvPicPr>
            <a:picLocks noChangeAspect="1"/>
          </p:cNvPicPr>
          <p:nvPr/>
        </p:nvPicPr>
        <p:blipFill>
          <a:blip r:embed="rId2"/>
          <a:stretch>
            <a:fillRect/>
          </a:stretch>
        </p:blipFill>
        <p:spPr>
          <a:xfrm>
            <a:off x="1642534" y="3939116"/>
            <a:ext cx="8686800" cy="876300"/>
          </a:xfrm>
          <a:prstGeom prst="rect">
            <a:avLst/>
          </a:prstGeom>
        </p:spPr>
      </p:pic>
      <p:sp>
        <p:nvSpPr>
          <p:cNvPr id="6" name="CuadroTexto 5">
            <a:extLst>
              <a:ext uri="{FF2B5EF4-FFF2-40B4-BE49-F238E27FC236}">
                <a16:creationId xmlns:a16="http://schemas.microsoft.com/office/drawing/2014/main" id="{706DC8B2-10B3-9C8A-2483-396F4C6E7D50}"/>
              </a:ext>
            </a:extLst>
          </p:cNvPr>
          <p:cNvSpPr txBox="1"/>
          <p:nvPr/>
        </p:nvSpPr>
        <p:spPr>
          <a:xfrm>
            <a:off x="1769533" y="5397134"/>
            <a:ext cx="6079067" cy="369332"/>
          </a:xfrm>
          <a:prstGeom prst="rect">
            <a:avLst/>
          </a:prstGeom>
          <a:noFill/>
        </p:spPr>
        <p:txBody>
          <a:bodyPr wrap="square" rtlCol="0">
            <a:spAutoFit/>
          </a:bodyPr>
          <a:lstStyle/>
          <a:p>
            <a:r>
              <a:rPr lang="es-MX" dirty="0"/>
              <a:t>*Si longitud = 0, no hay datos (ej. Tipo NULL)</a:t>
            </a:r>
          </a:p>
        </p:txBody>
      </p:sp>
    </p:spTree>
    <p:extLst>
      <p:ext uri="{BB962C8B-B14F-4D97-AF65-F5344CB8AC3E}">
        <p14:creationId xmlns:p14="http://schemas.microsoft.com/office/powerpoint/2010/main" val="2837783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0F5754E7-7B31-D9DE-8D27-DD10DF76432E}"/>
              </a:ext>
            </a:extLst>
          </p:cNvPr>
          <p:cNvSpPr>
            <a:spLocks noGrp="1"/>
          </p:cNvSpPr>
          <p:nvPr>
            <p:ph type="subTitle"/>
          </p:nvPr>
        </p:nvSpPr>
        <p:spPr>
          <a:xfrm>
            <a:off x="516347" y="1138853"/>
            <a:ext cx="10972440" cy="3977280"/>
          </a:xfrm>
        </p:spPr>
        <p:txBody>
          <a:bodyPr/>
          <a:lstStyle/>
          <a:p>
            <a:r>
              <a:rPr lang="es-MX" dirty="0"/>
              <a:t>Tipo de identificador:</a:t>
            </a:r>
          </a:p>
          <a:p>
            <a:endParaRPr lang="es-MX" dirty="0"/>
          </a:p>
          <a:p>
            <a:endParaRPr lang="es-MX" dirty="0"/>
          </a:p>
          <a:p>
            <a:endParaRPr lang="es-MX" dirty="0"/>
          </a:p>
          <a:p>
            <a:endParaRPr lang="es-MX" dirty="0"/>
          </a:p>
          <a:p>
            <a:endParaRPr lang="es-MX" dirty="0"/>
          </a:p>
          <a:p>
            <a:pPr marL="0" indent="0">
              <a:buNone/>
            </a:pPr>
            <a:endParaRPr lang="es-MX" dirty="0"/>
          </a:p>
        </p:txBody>
      </p:sp>
      <p:pic>
        <p:nvPicPr>
          <p:cNvPr id="9" name="Imagen 8">
            <a:extLst>
              <a:ext uri="{FF2B5EF4-FFF2-40B4-BE49-F238E27FC236}">
                <a16:creationId xmlns:a16="http://schemas.microsoft.com/office/drawing/2014/main" id="{722F128F-089F-C2B9-8B23-97076B7431ED}"/>
              </a:ext>
            </a:extLst>
          </p:cNvPr>
          <p:cNvPicPr>
            <a:picLocks noChangeAspect="1"/>
          </p:cNvPicPr>
          <p:nvPr/>
        </p:nvPicPr>
        <p:blipFill>
          <a:blip r:embed="rId2"/>
          <a:stretch>
            <a:fillRect/>
          </a:stretch>
        </p:blipFill>
        <p:spPr>
          <a:xfrm>
            <a:off x="4676444" y="1741868"/>
            <a:ext cx="7228106" cy="3977279"/>
          </a:xfrm>
          <a:prstGeom prst="rect">
            <a:avLst/>
          </a:prstGeom>
        </p:spPr>
      </p:pic>
      <p:sp>
        <p:nvSpPr>
          <p:cNvPr id="10" name="CuadroTexto 9">
            <a:extLst>
              <a:ext uri="{FF2B5EF4-FFF2-40B4-BE49-F238E27FC236}">
                <a16:creationId xmlns:a16="http://schemas.microsoft.com/office/drawing/2014/main" id="{A6AF366C-5187-E1FD-5A7A-AAD150D5B7A1}"/>
              </a:ext>
            </a:extLst>
          </p:cNvPr>
          <p:cNvSpPr txBox="1"/>
          <p:nvPr/>
        </p:nvSpPr>
        <p:spPr>
          <a:xfrm>
            <a:off x="100584" y="4045794"/>
            <a:ext cx="4699327" cy="461665"/>
          </a:xfrm>
          <a:prstGeom prst="rect">
            <a:avLst/>
          </a:prstGeom>
          <a:noFill/>
        </p:spPr>
        <p:txBody>
          <a:bodyPr wrap="square" rtlCol="0">
            <a:spAutoFit/>
          </a:bodyPr>
          <a:lstStyle/>
          <a:p>
            <a:r>
              <a:rPr lang="es-MX" sz="1200" dirty="0"/>
              <a:t>*La tabla puede ser encontrada en:</a:t>
            </a:r>
            <a:r>
              <a:rPr lang="en-US" sz="1200" dirty="0"/>
              <a:t> ITU-T X.680, clause 8, table 1</a:t>
            </a:r>
          </a:p>
          <a:p>
            <a:r>
              <a:rPr lang="en-US" sz="1200" dirty="0"/>
              <a:t>(Unión </a:t>
            </a:r>
            <a:r>
              <a:rPr lang="en-US" sz="1200" dirty="0" err="1"/>
              <a:t>Internacional</a:t>
            </a:r>
            <a:r>
              <a:rPr lang="en-US" sz="1200" dirty="0"/>
              <a:t> de </a:t>
            </a:r>
            <a:r>
              <a:rPr lang="en-US" sz="1200" dirty="0" err="1"/>
              <a:t>Telecomunicaciones</a:t>
            </a:r>
            <a:r>
              <a:rPr lang="en-US" sz="1200" dirty="0"/>
              <a:t> – </a:t>
            </a:r>
            <a:r>
              <a:rPr lang="en-US" sz="1200" dirty="0" err="1"/>
              <a:t>Telecomunicación</a:t>
            </a:r>
            <a:r>
              <a:rPr lang="en-US" sz="1200" dirty="0"/>
              <a:t>)</a:t>
            </a:r>
            <a:endParaRPr lang="es-MX" sz="1200" dirty="0"/>
          </a:p>
        </p:txBody>
      </p:sp>
    </p:spTree>
    <p:extLst>
      <p:ext uri="{BB962C8B-B14F-4D97-AF65-F5344CB8AC3E}">
        <p14:creationId xmlns:p14="http://schemas.microsoft.com/office/powerpoint/2010/main" val="3982325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0F5754E7-7B31-D9DE-8D27-DD10DF76432E}"/>
              </a:ext>
            </a:extLst>
          </p:cNvPr>
          <p:cNvSpPr>
            <a:spLocks noGrp="1"/>
          </p:cNvSpPr>
          <p:nvPr>
            <p:ph type="subTitle"/>
          </p:nvPr>
        </p:nvSpPr>
        <p:spPr>
          <a:xfrm>
            <a:off x="516347" y="1138853"/>
            <a:ext cx="10972440" cy="3977280"/>
          </a:xfrm>
        </p:spPr>
        <p:txBody>
          <a:bodyPr/>
          <a:lstStyle/>
          <a:p>
            <a:r>
              <a:rPr lang="es-MX" dirty="0"/>
              <a:t>Tipo de identificador:</a:t>
            </a:r>
          </a:p>
          <a:p>
            <a:endParaRPr lang="es-MX" dirty="0"/>
          </a:p>
          <a:p>
            <a:endParaRPr lang="es-MX" dirty="0"/>
          </a:p>
          <a:p>
            <a:endParaRPr lang="es-MX" dirty="0"/>
          </a:p>
          <a:p>
            <a:endParaRPr lang="es-MX" dirty="0"/>
          </a:p>
          <a:p>
            <a:endParaRPr lang="es-MX" dirty="0"/>
          </a:p>
          <a:p>
            <a:pPr marL="0" indent="0">
              <a:buNone/>
            </a:pPr>
            <a:endParaRPr lang="es-MX" dirty="0"/>
          </a:p>
        </p:txBody>
      </p:sp>
      <p:sp>
        <p:nvSpPr>
          <p:cNvPr id="10" name="CuadroTexto 9">
            <a:extLst>
              <a:ext uri="{FF2B5EF4-FFF2-40B4-BE49-F238E27FC236}">
                <a16:creationId xmlns:a16="http://schemas.microsoft.com/office/drawing/2014/main" id="{A6AF366C-5187-E1FD-5A7A-AAD150D5B7A1}"/>
              </a:ext>
            </a:extLst>
          </p:cNvPr>
          <p:cNvSpPr txBox="1"/>
          <p:nvPr/>
        </p:nvSpPr>
        <p:spPr>
          <a:xfrm>
            <a:off x="272090" y="4888150"/>
            <a:ext cx="4641287" cy="461665"/>
          </a:xfrm>
          <a:prstGeom prst="rect">
            <a:avLst/>
          </a:prstGeom>
          <a:noFill/>
        </p:spPr>
        <p:txBody>
          <a:bodyPr wrap="square" rtlCol="0">
            <a:spAutoFit/>
          </a:bodyPr>
          <a:lstStyle/>
          <a:p>
            <a:r>
              <a:rPr lang="es-MX" sz="1200" dirty="0"/>
              <a:t>*La tabla puede ser encontrada en:</a:t>
            </a:r>
            <a:r>
              <a:rPr lang="en-US" sz="1200" dirty="0"/>
              <a:t> ITU-T X.680, clause 8, table 1</a:t>
            </a:r>
          </a:p>
          <a:p>
            <a:r>
              <a:rPr lang="en-US" sz="1200" dirty="0"/>
              <a:t>(Unión </a:t>
            </a:r>
            <a:r>
              <a:rPr lang="en-US" sz="1200" dirty="0" err="1"/>
              <a:t>Internacional</a:t>
            </a:r>
            <a:r>
              <a:rPr lang="en-US" sz="1200" dirty="0"/>
              <a:t> de </a:t>
            </a:r>
            <a:r>
              <a:rPr lang="en-US" sz="1200" dirty="0" err="1"/>
              <a:t>Telecomunicaciones</a:t>
            </a:r>
            <a:r>
              <a:rPr lang="en-US" sz="1200" dirty="0"/>
              <a:t> – </a:t>
            </a:r>
            <a:r>
              <a:rPr lang="en-US" sz="1200" dirty="0" err="1"/>
              <a:t>Telecomunicación</a:t>
            </a:r>
            <a:r>
              <a:rPr lang="en-US" sz="1200" dirty="0"/>
              <a:t>)</a:t>
            </a:r>
            <a:endParaRPr lang="es-MX" sz="1200" dirty="0"/>
          </a:p>
        </p:txBody>
      </p:sp>
      <p:pic>
        <p:nvPicPr>
          <p:cNvPr id="5" name="Imagen 4">
            <a:extLst>
              <a:ext uri="{FF2B5EF4-FFF2-40B4-BE49-F238E27FC236}">
                <a16:creationId xmlns:a16="http://schemas.microsoft.com/office/drawing/2014/main" id="{371657CF-1C95-BADE-2839-300D2E1F8F4B}"/>
              </a:ext>
            </a:extLst>
          </p:cNvPr>
          <p:cNvPicPr>
            <a:picLocks noChangeAspect="1"/>
          </p:cNvPicPr>
          <p:nvPr/>
        </p:nvPicPr>
        <p:blipFill>
          <a:blip r:embed="rId2"/>
          <a:stretch>
            <a:fillRect/>
          </a:stretch>
        </p:blipFill>
        <p:spPr>
          <a:xfrm>
            <a:off x="6245352" y="1138852"/>
            <a:ext cx="5373734" cy="5207083"/>
          </a:xfrm>
          <a:prstGeom prst="rect">
            <a:avLst/>
          </a:prstGeom>
        </p:spPr>
      </p:pic>
    </p:spTree>
    <p:extLst>
      <p:ext uri="{BB962C8B-B14F-4D97-AF65-F5344CB8AC3E}">
        <p14:creationId xmlns:p14="http://schemas.microsoft.com/office/powerpoint/2010/main" val="714313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0F5754E7-7B31-D9DE-8D27-DD10DF76432E}"/>
              </a:ext>
            </a:extLst>
          </p:cNvPr>
          <p:cNvSpPr>
            <a:spLocks noGrp="1"/>
          </p:cNvSpPr>
          <p:nvPr>
            <p:ph type="subTitle"/>
          </p:nvPr>
        </p:nvSpPr>
        <p:spPr>
          <a:xfrm>
            <a:off x="516347" y="1138853"/>
            <a:ext cx="10972440" cy="3977280"/>
          </a:xfrm>
        </p:spPr>
        <p:txBody>
          <a:bodyPr/>
          <a:lstStyle/>
          <a:p>
            <a:r>
              <a:rPr lang="es-MX" dirty="0"/>
              <a:t>Tipo de identificador:</a:t>
            </a:r>
          </a:p>
          <a:p>
            <a:endParaRPr lang="es-MX" dirty="0"/>
          </a:p>
          <a:p>
            <a:endParaRPr lang="es-MX" dirty="0"/>
          </a:p>
          <a:p>
            <a:endParaRPr lang="es-MX" dirty="0"/>
          </a:p>
          <a:p>
            <a:endParaRPr lang="es-MX" dirty="0"/>
          </a:p>
          <a:p>
            <a:endParaRPr lang="es-MX" dirty="0"/>
          </a:p>
          <a:p>
            <a:pPr marL="0" indent="0">
              <a:buNone/>
            </a:pPr>
            <a:endParaRPr lang="es-MX" dirty="0"/>
          </a:p>
        </p:txBody>
      </p:sp>
      <p:sp>
        <p:nvSpPr>
          <p:cNvPr id="10" name="CuadroTexto 9">
            <a:extLst>
              <a:ext uri="{FF2B5EF4-FFF2-40B4-BE49-F238E27FC236}">
                <a16:creationId xmlns:a16="http://schemas.microsoft.com/office/drawing/2014/main" id="{A6AF366C-5187-E1FD-5A7A-AAD150D5B7A1}"/>
              </a:ext>
            </a:extLst>
          </p:cNvPr>
          <p:cNvSpPr txBox="1"/>
          <p:nvPr/>
        </p:nvSpPr>
        <p:spPr>
          <a:xfrm>
            <a:off x="272090" y="4888150"/>
            <a:ext cx="4641287" cy="461665"/>
          </a:xfrm>
          <a:prstGeom prst="rect">
            <a:avLst/>
          </a:prstGeom>
          <a:noFill/>
        </p:spPr>
        <p:txBody>
          <a:bodyPr wrap="square" rtlCol="0">
            <a:spAutoFit/>
          </a:bodyPr>
          <a:lstStyle/>
          <a:p>
            <a:r>
              <a:rPr lang="es-MX" sz="1200" dirty="0"/>
              <a:t>*La tabla puede ser encontrada en:</a:t>
            </a:r>
            <a:r>
              <a:rPr lang="en-US" sz="1200" dirty="0"/>
              <a:t> ITU-T X.680, clause 8, table 1</a:t>
            </a:r>
          </a:p>
          <a:p>
            <a:r>
              <a:rPr lang="en-US" sz="1200" dirty="0"/>
              <a:t>(Unión </a:t>
            </a:r>
            <a:r>
              <a:rPr lang="en-US" sz="1200" dirty="0" err="1"/>
              <a:t>Internacional</a:t>
            </a:r>
            <a:r>
              <a:rPr lang="en-US" sz="1200" dirty="0"/>
              <a:t> de </a:t>
            </a:r>
            <a:r>
              <a:rPr lang="en-US" sz="1200" dirty="0" err="1"/>
              <a:t>Telecomunicaciones</a:t>
            </a:r>
            <a:r>
              <a:rPr lang="en-US" sz="1200" dirty="0"/>
              <a:t> – </a:t>
            </a:r>
            <a:r>
              <a:rPr lang="en-US" sz="1200" dirty="0" err="1"/>
              <a:t>Telecomunicación</a:t>
            </a:r>
            <a:r>
              <a:rPr lang="en-US" sz="1200" dirty="0"/>
              <a:t>)</a:t>
            </a:r>
            <a:endParaRPr lang="es-MX" sz="1200" dirty="0"/>
          </a:p>
        </p:txBody>
      </p:sp>
      <p:pic>
        <p:nvPicPr>
          <p:cNvPr id="7" name="Imagen 6">
            <a:extLst>
              <a:ext uri="{FF2B5EF4-FFF2-40B4-BE49-F238E27FC236}">
                <a16:creationId xmlns:a16="http://schemas.microsoft.com/office/drawing/2014/main" id="{3A2EB6B9-D646-D70F-5CC8-5D0183A8789D}"/>
              </a:ext>
            </a:extLst>
          </p:cNvPr>
          <p:cNvPicPr>
            <a:picLocks noChangeAspect="1"/>
          </p:cNvPicPr>
          <p:nvPr/>
        </p:nvPicPr>
        <p:blipFill>
          <a:blip r:embed="rId2"/>
          <a:stretch>
            <a:fillRect/>
          </a:stretch>
        </p:blipFill>
        <p:spPr>
          <a:xfrm>
            <a:off x="4913377" y="1572958"/>
            <a:ext cx="7006533" cy="3876675"/>
          </a:xfrm>
          <a:prstGeom prst="rect">
            <a:avLst/>
          </a:prstGeom>
        </p:spPr>
      </p:pic>
      <p:graphicFrame>
        <p:nvGraphicFramePr>
          <p:cNvPr id="6" name="Tabla 7">
            <a:extLst>
              <a:ext uri="{FF2B5EF4-FFF2-40B4-BE49-F238E27FC236}">
                <a16:creationId xmlns:a16="http://schemas.microsoft.com/office/drawing/2014/main" id="{1D533516-BC42-2EB6-A09B-79E1C98D6E2A}"/>
              </a:ext>
            </a:extLst>
          </p:cNvPr>
          <p:cNvGraphicFramePr>
            <a:graphicFrameLocks noGrp="1"/>
          </p:cNvGraphicFramePr>
          <p:nvPr>
            <p:extLst>
              <p:ext uri="{D42A27DB-BD31-4B8C-83A1-F6EECF244321}">
                <p14:modId xmlns:p14="http://schemas.microsoft.com/office/powerpoint/2010/main" val="999088643"/>
              </p:ext>
            </p:extLst>
          </p:nvPr>
        </p:nvGraphicFramePr>
        <p:xfrm>
          <a:off x="4983480" y="5418771"/>
          <a:ext cx="6876289" cy="370840"/>
        </p:xfrm>
        <a:graphic>
          <a:graphicData uri="http://schemas.openxmlformats.org/drawingml/2006/table">
            <a:tbl>
              <a:tblPr firstRow="1" bandRow="1">
                <a:tableStyleId>{5940675A-B579-460E-94D1-54222C63F5DA}</a:tableStyleId>
              </a:tblPr>
              <a:tblGrid>
                <a:gridCol w="2821119">
                  <a:extLst>
                    <a:ext uri="{9D8B030D-6E8A-4147-A177-3AD203B41FA5}">
                      <a16:colId xmlns:a16="http://schemas.microsoft.com/office/drawing/2014/main" val="1636878663"/>
                    </a:ext>
                  </a:extLst>
                </a:gridCol>
                <a:gridCol w="2000430">
                  <a:extLst>
                    <a:ext uri="{9D8B030D-6E8A-4147-A177-3AD203B41FA5}">
                      <a16:colId xmlns:a16="http://schemas.microsoft.com/office/drawing/2014/main" val="3664267291"/>
                    </a:ext>
                  </a:extLst>
                </a:gridCol>
                <a:gridCol w="823706">
                  <a:extLst>
                    <a:ext uri="{9D8B030D-6E8A-4147-A177-3AD203B41FA5}">
                      <a16:colId xmlns:a16="http://schemas.microsoft.com/office/drawing/2014/main" val="1365190473"/>
                    </a:ext>
                  </a:extLst>
                </a:gridCol>
                <a:gridCol w="1231034">
                  <a:extLst>
                    <a:ext uri="{9D8B030D-6E8A-4147-A177-3AD203B41FA5}">
                      <a16:colId xmlns:a16="http://schemas.microsoft.com/office/drawing/2014/main" val="2974768726"/>
                    </a:ext>
                  </a:extLst>
                </a:gridCol>
              </a:tblGrid>
              <a:tr h="370840">
                <a:tc>
                  <a:txBody>
                    <a:bodyPr/>
                    <a:lstStyle/>
                    <a:p>
                      <a:pPr algn="l"/>
                      <a:r>
                        <a:rPr lang="es-MX" sz="1600" dirty="0" err="1"/>
                        <a:t>Sequence</a:t>
                      </a:r>
                      <a:endParaRPr lang="es-MX" sz="1600" dirty="0"/>
                    </a:p>
                  </a:txBody>
                  <a:tcPr/>
                </a:tc>
                <a:tc>
                  <a:txBody>
                    <a:bodyPr/>
                    <a:lstStyle/>
                    <a:p>
                      <a:pPr algn="ctr"/>
                      <a:r>
                        <a:rPr lang="es-MX" sz="1600" dirty="0" err="1"/>
                        <a:t>Constructed</a:t>
                      </a:r>
                      <a:endParaRPr lang="es-MX" sz="1600" dirty="0"/>
                    </a:p>
                  </a:txBody>
                  <a:tcPr/>
                </a:tc>
                <a:tc>
                  <a:txBody>
                    <a:bodyPr/>
                    <a:lstStyle/>
                    <a:p>
                      <a:pPr algn="ctr"/>
                      <a:r>
                        <a:rPr lang="es-MX" sz="1600" dirty="0"/>
                        <a:t>48</a:t>
                      </a:r>
                    </a:p>
                  </a:txBody>
                  <a:tcPr/>
                </a:tc>
                <a:tc>
                  <a:txBody>
                    <a:bodyPr/>
                    <a:lstStyle/>
                    <a:p>
                      <a:pPr algn="ctr"/>
                      <a:r>
                        <a:rPr lang="es-MX" sz="1600" dirty="0"/>
                        <a:t>30</a:t>
                      </a:r>
                    </a:p>
                  </a:txBody>
                  <a:tcPr/>
                </a:tc>
                <a:extLst>
                  <a:ext uri="{0D108BD9-81ED-4DB2-BD59-A6C34878D82A}">
                    <a16:rowId xmlns:a16="http://schemas.microsoft.com/office/drawing/2014/main" val="4171278934"/>
                  </a:ext>
                </a:extLst>
              </a:tr>
            </a:tbl>
          </a:graphicData>
        </a:graphic>
      </p:graphicFrame>
    </p:spTree>
    <p:extLst>
      <p:ext uri="{BB962C8B-B14F-4D97-AF65-F5344CB8AC3E}">
        <p14:creationId xmlns:p14="http://schemas.microsoft.com/office/powerpoint/2010/main" val="6735974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6868071-9A3E-04F5-EEAB-241F2D456864}"/>
              </a:ext>
            </a:extLst>
          </p:cNvPr>
          <p:cNvPicPr>
            <a:picLocks noChangeAspect="1"/>
          </p:cNvPicPr>
          <p:nvPr/>
        </p:nvPicPr>
        <p:blipFill>
          <a:blip r:embed="rId2"/>
          <a:stretch>
            <a:fillRect/>
          </a:stretch>
        </p:blipFill>
        <p:spPr>
          <a:xfrm>
            <a:off x="2377440" y="1349374"/>
            <a:ext cx="8581072" cy="4799013"/>
          </a:xfrm>
          <a:prstGeom prst="rect">
            <a:avLst/>
          </a:prstGeom>
        </p:spPr>
      </p:pic>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0F5754E7-7B31-D9DE-8D27-DD10DF76432E}"/>
              </a:ext>
            </a:extLst>
          </p:cNvPr>
          <p:cNvSpPr>
            <a:spLocks noGrp="1"/>
          </p:cNvSpPr>
          <p:nvPr>
            <p:ph type="subTitle"/>
          </p:nvPr>
        </p:nvSpPr>
        <p:spPr>
          <a:xfrm>
            <a:off x="516347" y="1138853"/>
            <a:ext cx="10972440" cy="3977280"/>
          </a:xfrm>
        </p:spPr>
        <p:txBody>
          <a:bodyPr/>
          <a:lstStyle/>
          <a:p>
            <a:r>
              <a:rPr lang="es-MX" dirty="0"/>
              <a:t>Longitud:</a:t>
            </a:r>
          </a:p>
          <a:p>
            <a:endParaRPr lang="es-MX" dirty="0"/>
          </a:p>
          <a:p>
            <a:endParaRPr lang="es-MX" dirty="0"/>
          </a:p>
          <a:p>
            <a:endParaRPr lang="es-MX" dirty="0"/>
          </a:p>
          <a:p>
            <a:endParaRPr lang="es-MX" dirty="0"/>
          </a:p>
          <a:p>
            <a:endParaRPr lang="es-MX" dirty="0"/>
          </a:p>
          <a:p>
            <a:pPr marL="0" indent="0">
              <a:buNone/>
            </a:pPr>
            <a:endParaRPr lang="es-MX" dirty="0"/>
          </a:p>
        </p:txBody>
      </p:sp>
    </p:spTree>
    <p:extLst>
      <p:ext uri="{BB962C8B-B14F-4D97-AF65-F5344CB8AC3E}">
        <p14:creationId xmlns:p14="http://schemas.microsoft.com/office/powerpoint/2010/main" val="194902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73EEDF8-E195-1E80-F06A-E1065CC5E629}"/>
              </a:ext>
            </a:extLst>
          </p:cNvPr>
          <p:cNvPicPr>
            <a:picLocks noChangeAspect="1"/>
          </p:cNvPicPr>
          <p:nvPr/>
        </p:nvPicPr>
        <p:blipFill>
          <a:blip r:embed="rId2"/>
          <a:stretch>
            <a:fillRect/>
          </a:stretch>
        </p:blipFill>
        <p:spPr>
          <a:xfrm>
            <a:off x="1928065" y="1014984"/>
            <a:ext cx="9262477" cy="5394960"/>
          </a:xfrm>
          <a:prstGeom prst="rect">
            <a:avLst/>
          </a:prstGeom>
        </p:spPr>
      </p:pic>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0F5754E7-7B31-D9DE-8D27-DD10DF76432E}"/>
              </a:ext>
            </a:extLst>
          </p:cNvPr>
          <p:cNvSpPr>
            <a:spLocks noGrp="1"/>
          </p:cNvSpPr>
          <p:nvPr>
            <p:ph type="subTitle"/>
          </p:nvPr>
        </p:nvSpPr>
        <p:spPr>
          <a:xfrm>
            <a:off x="516347" y="1138853"/>
            <a:ext cx="10972440" cy="3977280"/>
          </a:xfrm>
        </p:spPr>
        <p:txBody>
          <a:bodyPr/>
          <a:lstStyle/>
          <a:p>
            <a:r>
              <a:rPr lang="es-MX" dirty="0"/>
              <a:t>Longitud:</a:t>
            </a:r>
          </a:p>
          <a:p>
            <a:endParaRPr lang="es-MX" dirty="0"/>
          </a:p>
          <a:p>
            <a:endParaRPr lang="es-MX" dirty="0"/>
          </a:p>
          <a:p>
            <a:endParaRPr lang="es-MX" dirty="0"/>
          </a:p>
          <a:p>
            <a:endParaRPr lang="es-MX" dirty="0"/>
          </a:p>
          <a:p>
            <a:endParaRPr lang="es-MX" dirty="0"/>
          </a:p>
          <a:p>
            <a:pPr marL="0" indent="0">
              <a:buNone/>
            </a:pPr>
            <a:endParaRPr lang="es-MX" dirty="0"/>
          </a:p>
        </p:txBody>
      </p:sp>
    </p:spTree>
    <p:extLst>
      <p:ext uri="{BB962C8B-B14F-4D97-AF65-F5344CB8AC3E}">
        <p14:creationId xmlns:p14="http://schemas.microsoft.com/office/powerpoint/2010/main" val="1454140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F4EBA5B-2044-BD7D-3E50-9217C91B98B4}"/>
              </a:ext>
            </a:extLst>
          </p:cNvPr>
          <p:cNvPicPr>
            <a:picLocks noChangeAspect="1"/>
          </p:cNvPicPr>
          <p:nvPr/>
        </p:nvPicPr>
        <p:blipFill>
          <a:blip r:embed="rId2"/>
          <a:stretch>
            <a:fillRect/>
          </a:stretch>
        </p:blipFill>
        <p:spPr>
          <a:xfrm>
            <a:off x="1833262" y="1088475"/>
            <a:ext cx="8524875" cy="5495925"/>
          </a:xfrm>
          <a:prstGeom prst="rect">
            <a:avLst/>
          </a:prstGeom>
        </p:spPr>
      </p:pic>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0F5754E7-7B31-D9DE-8D27-DD10DF76432E}"/>
              </a:ext>
            </a:extLst>
          </p:cNvPr>
          <p:cNvSpPr>
            <a:spLocks noGrp="1"/>
          </p:cNvSpPr>
          <p:nvPr>
            <p:ph type="subTitle"/>
          </p:nvPr>
        </p:nvSpPr>
        <p:spPr>
          <a:xfrm>
            <a:off x="516347" y="1138853"/>
            <a:ext cx="10972440" cy="3977280"/>
          </a:xfrm>
        </p:spPr>
        <p:txBody>
          <a:bodyPr/>
          <a:lstStyle/>
          <a:p>
            <a:r>
              <a:rPr lang="es-MX" dirty="0"/>
              <a:t>Longitud:</a:t>
            </a:r>
          </a:p>
          <a:p>
            <a:endParaRPr lang="es-MX" dirty="0"/>
          </a:p>
          <a:p>
            <a:endParaRPr lang="es-MX" dirty="0"/>
          </a:p>
          <a:p>
            <a:endParaRPr lang="es-MX" dirty="0"/>
          </a:p>
          <a:p>
            <a:endParaRPr lang="es-MX" dirty="0"/>
          </a:p>
          <a:p>
            <a:endParaRPr lang="es-MX" dirty="0"/>
          </a:p>
          <a:p>
            <a:pPr marL="0" indent="0">
              <a:buNone/>
            </a:pPr>
            <a:endParaRPr lang="es-MX" dirty="0"/>
          </a:p>
        </p:txBody>
      </p:sp>
    </p:spTree>
    <p:extLst>
      <p:ext uri="{BB962C8B-B14F-4D97-AF65-F5344CB8AC3E}">
        <p14:creationId xmlns:p14="http://schemas.microsoft.com/office/powerpoint/2010/main" val="2203815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0F5754E7-7B31-D9DE-8D27-DD10DF76432E}"/>
              </a:ext>
            </a:extLst>
          </p:cNvPr>
          <p:cNvSpPr>
            <a:spLocks noGrp="1"/>
          </p:cNvSpPr>
          <p:nvPr>
            <p:ph type="subTitle"/>
          </p:nvPr>
        </p:nvSpPr>
        <p:spPr>
          <a:xfrm>
            <a:off x="516347" y="1138853"/>
            <a:ext cx="10972440" cy="3977280"/>
          </a:xfrm>
        </p:spPr>
        <p:txBody>
          <a:bodyPr/>
          <a:lstStyle/>
          <a:p>
            <a:r>
              <a:rPr lang="es-MX" dirty="0"/>
              <a:t>Representación de OID:</a:t>
            </a:r>
          </a:p>
          <a:p>
            <a:endParaRPr lang="es-MX" dirty="0"/>
          </a:p>
          <a:p>
            <a:endParaRPr lang="es-MX" dirty="0"/>
          </a:p>
          <a:p>
            <a:endParaRPr lang="es-MX" dirty="0"/>
          </a:p>
          <a:p>
            <a:endParaRPr lang="es-MX" dirty="0"/>
          </a:p>
          <a:p>
            <a:endParaRPr lang="es-MX" dirty="0"/>
          </a:p>
          <a:p>
            <a:pPr marL="0" indent="0">
              <a:buNone/>
            </a:pPr>
            <a:endParaRPr lang="es-MX" dirty="0"/>
          </a:p>
        </p:txBody>
      </p:sp>
      <p:sp>
        <p:nvSpPr>
          <p:cNvPr id="6" name="CuadroTexto 5">
            <a:extLst>
              <a:ext uri="{FF2B5EF4-FFF2-40B4-BE49-F238E27FC236}">
                <a16:creationId xmlns:a16="http://schemas.microsoft.com/office/drawing/2014/main" id="{9CE08EB8-628F-3D5C-BF19-8838B7998F74}"/>
              </a:ext>
            </a:extLst>
          </p:cNvPr>
          <p:cNvSpPr txBox="1"/>
          <p:nvPr/>
        </p:nvSpPr>
        <p:spPr>
          <a:xfrm>
            <a:off x="703213" y="2551837"/>
            <a:ext cx="10785574" cy="923330"/>
          </a:xfrm>
          <a:prstGeom prst="rect">
            <a:avLst/>
          </a:prstGeom>
          <a:noFill/>
        </p:spPr>
        <p:txBody>
          <a:bodyPr wrap="square">
            <a:spAutoFit/>
          </a:bodyPr>
          <a:lstStyle/>
          <a:p>
            <a:r>
              <a:rPr lang="es-MX" b="0" i="0" dirty="0">
                <a:solidFill>
                  <a:srgbClr val="212529"/>
                </a:solidFill>
                <a:effectLst/>
                <a:latin typeface="open_sansregular"/>
              </a:rPr>
              <a:t> Los dos primeros números de un OID (</a:t>
            </a:r>
            <a:r>
              <a:rPr lang="es-MX" b="1" i="0" dirty="0" err="1">
                <a:solidFill>
                  <a:srgbClr val="212529"/>
                </a:solidFill>
                <a:effectLst/>
                <a:latin typeface="open_sansregular"/>
              </a:rPr>
              <a:t>x</a:t>
            </a:r>
            <a:r>
              <a:rPr lang="es-MX" b="0" i="0" dirty="0" err="1">
                <a:solidFill>
                  <a:srgbClr val="212529"/>
                </a:solidFill>
                <a:effectLst/>
                <a:latin typeface="open_sansregular"/>
              </a:rPr>
              <a:t>.</a:t>
            </a:r>
            <a:r>
              <a:rPr lang="es-MX" b="1" i="0" dirty="0" err="1">
                <a:solidFill>
                  <a:srgbClr val="212529"/>
                </a:solidFill>
                <a:effectLst/>
                <a:latin typeface="open_sansregular"/>
              </a:rPr>
              <a:t>y</a:t>
            </a:r>
            <a:r>
              <a:rPr lang="es-MX" b="0" i="0" dirty="0">
                <a:solidFill>
                  <a:srgbClr val="212529"/>
                </a:solidFill>
                <a:effectLst/>
                <a:latin typeface="open_sansregular"/>
              </a:rPr>
              <a:t>….) se codifican de una forma especial usando la fórmula (40*</a:t>
            </a:r>
            <a:r>
              <a:rPr lang="es-MX" b="1" i="0" dirty="0">
                <a:solidFill>
                  <a:srgbClr val="212529"/>
                </a:solidFill>
                <a:effectLst/>
                <a:latin typeface="open_sansregular"/>
              </a:rPr>
              <a:t>x</a:t>
            </a:r>
            <a:r>
              <a:rPr lang="es-MX" b="0" i="0" dirty="0">
                <a:solidFill>
                  <a:srgbClr val="212529"/>
                </a:solidFill>
                <a:effectLst/>
                <a:latin typeface="open_sansregular"/>
              </a:rPr>
              <a:t>)+</a:t>
            </a:r>
            <a:r>
              <a:rPr lang="es-MX" b="1" i="0" dirty="0">
                <a:solidFill>
                  <a:srgbClr val="212529"/>
                </a:solidFill>
                <a:effectLst/>
                <a:latin typeface="open_sansregular"/>
              </a:rPr>
              <a:t>y</a:t>
            </a:r>
            <a:r>
              <a:rPr lang="es-MX" b="0" i="0" dirty="0">
                <a:solidFill>
                  <a:srgbClr val="212529"/>
                </a:solidFill>
                <a:effectLst/>
                <a:latin typeface="open_sansregular"/>
              </a:rPr>
              <a:t>, así los dos primeros números del OID (1.3….) = (40*1)+3=43=0x2B, enviándose (0x2B), el resto se codifica por su correspondencia hexadecimal del número entero. Para un OID = </a:t>
            </a:r>
            <a:r>
              <a:rPr lang="es-MX" b="1" i="0" dirty="0">
                <a:solidFill>
                  <a:srgbClr val="212529"/>
                </a:solidFill>
                <a:effectLst/>
                <a:latin typeface="open_sansregular"/>
              </a:rPr>
              <a:t>1.3.6.1.2.1.1.5.0</a:t>
            </a:r>
            <a:r>
              <a:rPr lang="es-MX" b="0" i="0" dirty="0">
                <a:solidFill>
                  <a:srgbClr val="212529"/>
                </a:solidFill>
                <a:effectLst/>
                <a:latin typeface="open_sansregular"/>
              </a:rPr>
              <a:t>, su codificación será:</a:t>
            </a:r>
            <a:endParaRPr lang="es-MX" dirty="0"/>
          </a:p>
        </p:txBody>
      </p:sp>
      <p:pic>
        <p:nvPicPr>
          <p:cNvPr id="8" name="Imagen 7" descr="Gráfico&#10;&#10;Descripción generada automáticamente">
            <a:extLst>
              <a:ext uri="{FF2B5EF4-FFF2-40B4-BE49-F238E27FC236}">
                <a16:creationId xmlns:a16="http://schemas.microsoft.com/office/drawing/2014/main" id="{99E2374E-5806-8607-3443-C1BCA38EC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4786" y="3585927"/>
            <a:ext cx="7486074" cy="2797248"/>
          </a:xfrm>
          <a:prstGeom prst="rect">
            <a:avLst/>
          </a:prstGeom>
        </p:spPr>
      </p:pic>
    </p:spTree>
    <p:extLst>
      <p:ext uri="{BB962C8B-B14F-4D97-AF65-F5344CB8AC3E}">
        <p14:creationId xmlns:p14="http://schemas.microsoft.com/office/powerpoint/2010/main" val="2429179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sp>
        <p:nvSpPr>
          <p:cNvPr id="3" name="Subtítulo 2">
            <a:extLst>
              <a:ext uri="{FF2B5EF4-FFF2-40B4-BE49-F238E27FC236}">
                <a16:creationId xmlns:a16="http://schemas.microsoft.com/office/drawing/2014/main" id="{0F5754E7-7B31-D9DE-8D27-DD10DF76432E}"/>
              </a:ext>
            </a:extLst>
          </p:cNvPr>
          <p:cNvSpPr>
            <a:spLocks noGrp="1"/>
          </p:cNvSpPr>
          <p:nvPr>
            <p:ph type="subTitle"/>
          </p:nvPr>
        </p:nvSpPr>
        <p:spPr>
          <a:xfrm>
            <a:off x="516347" y="1138853"/>
            <a:ext cx="10972440" cy="3977280"/>
          </a:xfrm>
        </p:spPr>
        <p:txBody>
          <a:bodyPr/>
          <a:lstStyle/>
          <a:p>
            <a:r>
              <a:rPr lang="es-MX" dirty="0"/>
              <a:t>Representación de OID:</a:t>
            </a:r>
          </a:p>
          <a:p>
            <a:endParaRPr lang="es-MX" dirty="0"/>
          </a:p>
          <a:p>
            <a:endParaRPr lang="es-MX" dirty="0"/>
          </a:p>
          <a:p>
            <a:endParaRPr lang="es-MX" dirty="0"/>
          </a:p>
          <a:p>
            <a:endParaRPr lang="es-MX" dirty="0"/>
          </a:p>
          <a:p>
            <a:endParaRPr lang="es-MX" dirty="0"/>
          </a:p>
          <a:p>
            <a:pPr marL="0" indent="0">
              <a:buNone/>
            </a:pPr>
            <a:endParaRPr lang="es-MX" dirty="0"/>
          </a:p>
        </p:txBody>
      </p:sp>
      <p:sp>
        <p:nvSpPr>
          <p:cNvPr id="6" name="CuadroTexto 5">
            <a:extLst>
              <a:ext uri="{FF2B5EF4-FFF2-40B4-BE49-F238E27FC236}">
                <a16:creationId xmlns:a16="http://schemas.microsoft.com/office/drawing/2014/main" id="{9CE08EB8-628F-3D5C-BF19-8838B7998F74}"/>
              </a:ext>
            </a:extLst>
          </p:cNvPr>
          <p:cNvSpPr txBox="1"/>
          <p:nvPr/>
        </p:nvSpPr>
        <p:spPr>
          <a:xfrm>
            <a:off x="423214" y="1960487"/>
            <a:ext cx="10785574" cy="2585323"/>
          </a:xfrm>
          <a:prstGeom prst="rect">
            <a:avLst/>
          </a:prstGeom>
          <a:noFill/>
        </p:spPr>
        <p:txBody>
          <a:bodyPr wrap="square">
            <a:spAutoFit/>
          </a:bodyPr>
          <a:lstStyle/>
          <a:p>
            <a:r>
              <a:rPr lang="es-MX" dirty="0"/>
              <a:t>Los números enteros por encima de </a:t>
            </a:r>
            <a:r>
              <a:rPr lang="es-MX" b="1" dirty="0"/>
              <a:t>127</a:t>
            </a:r>
            <a:r>
              <a:rPr lang="es-MX" dirty="0"/>
              <a:t> son codificados de manera especial en los OID, ya que se necesita más de un byte debido a que el primer bit (el de mayor peso) está reservado.</a:t>
            </a:r>
          </a:p>
          <a:p>
            <a:endParaRPr lang="es-MX" dirty="0">
              <a:solidFill>
                <a:srgbClr val="212529"/>
              </a:solidFill>
              <a:latin typeface="open_sansregular"/>
            </a:endParaRPr>
          </a:p>
          <a:p>
            <a:r>
              <a:rPr lang="es-MX" dirty="0"/>
              <a:t>El primer bit del primer octeto (byte) puesto a </a:t>
            </a:r>
            <a:r>
              <a:rPr lang="es-MX" b="1" dirty="0"/>
              <a:t>1</a:t>
            </a:r>
            <a:r>
              <a:rPr lang="es-MX" dirty="0"/>
              <a:t> indica que es un número grande, y solo se utilizan los 7 bits restantes para formar el número. Empezando a crear octetos con los 7 bits menos significativos, empleando el bit más significativo como ‘FLAG’, indicando, con un ‘1’ si continúan octetos para delimitar el número o con un ‘0’ indicando que son los últimos 7 bits del número que vamos a representar. Supongamos que tenemos dentro de un OID un número grande (mayor de 127) que necesitamos codificar, por ejemplo, el número 1002. Este se codificará de la siguiente manera (0x87 0x6A), </a:t>
            </a:r>
          </a:p>
        </p:txBody>
      </p:sp>
    </p:spTree>
    <p:extLst>
      <p:ext uri="{BB962C8B-B14F-4D97-AF65-F5344CB8AC3E}">
        <p14:creationId xmlns:p14="http://schemas.microsoft.com/office/powerpoint/2010/main" val="1630609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0D12CC-69D8-EECE-A1B7-8147328DAB68}"/>
              </a:ext>
            </a:extLst>
          </p:cNvPr>
          <p:cNvSpPr>
            <a:spLocks noGrp="1"/>
          </p:cNvSpPr>
          <p:nvPr>
            <p:ph type="title"/>
          </p:nvPr>
        </p:nvSpPr>
        <p:spPr/>
        <p:txBody>
          <a:bodyPr/>
          <a:lstStyle/>
          <a:p>
            <a:r>
              <a:rPr lang="es-MX" sz="3200" dirty="0"/>
              <a:t>BER (Reglas de Codificación Básica)</a:t>
            </a:r>
          </a:p>
        </p:txBody>
      </p:sp>
      <p:pic>
        <p:nvPicPr>
          <p:cNvPr id="5" name="Imagen 4" descr="Interfaz de usuario gráfica, Texto&#10;&#10;Descripción generada automáticamente">
            <a:extLst>
              <a:ext uri="{FF2B5EF4-FFF2-40B4-BE49-F238E27FC236}">
                <a16:creationId xmlns:a16="http://schemas.microsoft.com/office/drawing/2014/main" id="{70C82A5D-14D1-9081-33CF-A1091BB53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9944" y="1186423"/>
            <a:ext cx="8915399" cy="5735573"/>
          </a:xfrm>
          <a:prstGeom prst="rect">
            <a:avLst/>
          </a:prstGeom>
        </p:spPr>
      </p:pic>
    </p:spTree>
    <p:extLst>
      <p:ext uri="{BB962C8B-B14F-4D97-AF65-F5344CB8AC3E}">
        <p14:creationId xmlns:p14="http://schemas.microsoft.com/office/powerpoint/2010/main" val="2563968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4400" b="0" strike="noStrike" spc="-1">
                <a:solidFill>
                  <a:srgbClr val="000000"/>
                </a:solidFill>
                <a:uFill>
                  <a:solidFill>
                    <a:srgbClr val="FFFFFF"/>
                  </a:solidFill>
                </a:uFill>
                <a:latin typeface="Calibri Light"/>
              </a:rPr>
              <a:t>Implementaciones de SNMP (linux)</a:t>
            </a:r>
            <a:endParaRPr lang="es-MX" sz="1800" b="0" strike="noStrike" spc="-1">
              <a:solidFill>
                <a:srgbClr val="000000"/>
              </a:solidFill>
              <a:uFill>
                <a:solidFill>
                  <a:srgbClr val="FFFFFF"/>
                </a:solidFill>
              </a:uFill>
              <a:latin typeface="Arial"/>
            </a:endParaRPr>
          </a:p>
        </p:txBody>
      </p:sp>
      <p:sp>
        <p:nvSpPr>
          <p:cNvPr id="137" name="CustomShape 2"/>
          <p:cNvSpPr/>
          <p:nvPr/>
        </p:nvSpPr>
        <p:spPr>
          <a:xfrm>
            <a:off x="838080" y="1825560"/>
            <a:ext cx="10514880" cy="31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1" strike="noStrike" spc="-1" dirty="0" err="1">
                <a:solidFill>
                  <a:srgbClr val="000000"/>
                </a:solidFill>
                <a:uFill>
                  <a:solidFill>
                    <a:srgbClr val="FFFFFF"/>
                  </a:solidFill>
                </a:uFill>
                <a:latin typeface="Calibri"/>
              </a:rPr>
              <a:t>snmpd</a:t>
            </a:r>
            <a:r>
              <a:rPr lang="es-MX" sz="2800" b="0" strike="noStrike" spc="-1" dirty="0">
                <a:solidFill>
                  <a:srgbClr val="000000"/>
                </a:solidFill>
                <a:uFill>
                  <a:solidFill>
                    <a:srgbClr val="FFFFFF"/>
                  </a:solidFill>
                </a:uFill>
                <a:latin typeface="Calibri"/>
              </a:rPr>
              <a:t>: agente </a:t>
            </a:r>
            <a:r>
              <a:rPr lang="es-MX" sz="2800" b="0" strike="noStrike" spc="-1" dirty="0" err="1">
                <a:solidFill>
                  <a:srgbClr val="000000"/>
                </a:solidFill>
                <a:uFill>
                  <a:solidFill>
                    <a:srgbClr val="FFFFFF"/>
                  </a:solidFill>
                </a:uFill>
                <a:latin typeface="Calibri"/>
              </a:rPr>
              <a:t>snmp</a:t>
            </a:r>
            <a:endParaRPr lang="es-MX" sz="1800" b="0" strike="noStrike" spc="-1" dirty="0">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1" strike="noStrike" spc="-1" dirty="0" err="1">
                <a:solidFill>
                  <a:srgbClr val="000000"/>
                </a:solidFill>
                <a:uFill>
                  <a:solidFill>
                    <a:srgbClr val="FFFFFF"/>
                  </a:solidFill>
                </a:uFill>
                <a:latin typeface="Calibri"/>
              </a:rPr>
              <a:t>snmp</a:t>
            </a:r>
            <a:r>
              <a:rPr lang="es-MX" sz="2800" b="0" strike="noStrike" spc="-1" dirty="0">
                <a:solidFill>
                  <a:srgbClr val="000000"/>
                </a:solidFill>
                <a:uFill>
                  <a:solidFill>
                    <a:srgbClr val="FFFFFF"/>
                  </a:solidFill>
                </a:uFill>
                <a:latin typeface="Calibri"/>
              </a:rPr>
              <a:t>: gestor </a:t>
            </a:r>
            <a:r>
              <a:rPr lang="es-MX" sz="2800" b="0" strike="noStrike" spc="-1" dirty="0" err="1">
                <a:solidFill>
                  <a:srgbClr val="000000"/>
                </a:solidFill>
                <a:uFill>
                  <a:solidFill>
                    <a:srgbClr val="FFFFFF"/>
                  </a:solidFill>
                </a:uFill>
                <a:latin typeface="Calibri"/>
              </a:rPr>
              <a:t>snmp</a:t>
            </a:r>
            <a:endParaRPr lang="es-MX" sz="1800" b="0" strike="noStrike" spc="-1" dirty="0">
              <a:solidFill>
                <a:srgbClr val="000000"/>
              </a:solidFill>
              <a:uFill>
                <a:solidFill>
                  <a:srgbClr val="FFFFFF"/>
                </a:solidFill>
              </a:uFill>
              <a:latin typeface="Arial"/>
            </a:endParaRPr>
          </a:p>
          <a:p>
            <a:pPr>
              <a:lnSpc>
                <a:spcPct val="100000"/>
              </a:lnSpc>
            </a:pP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#sudo </a:t>
            </a:r>
            <a:r>
              <a:rPr lang="es-MX" sz="2800" b="0" strike="noStrike" spc="-1" dirty="0" err="1">
                <a:solidFill>
                  <a:srgbClr val="000000"/>
                </a:solidFill>
                <a:uFill>
                  <a:solidFill>
                    <a:srgbClr val="FFFFFF"/>
                  </a:solidFill>
                </a:uFill>
                <a:latin typeface="Calibri"/>
              </a:rPr>
              <a:t>apt-get</a:t>
            </a:r>
            <a:r>
              <a:rPr lang="es-MX" sz="2800" b="0" strike="noStrike" spc="-1" dirty="0">
                <a:solidFill>
                  <a:srgbClr val="000000"/>
                </a:solidFill>
                <a:uFill>
                  <a:solidFill>
                    <a:srgbClr val="FFFFFF"/>
                  </a:solidFill>
                </a:uFill>
                <a:latin typeface="Calibri"/>
              </a:rPr>
              <a:t> </a:t>
            </a:r>
            <a:r>
              <a:rPr lang="es-MX" sz="2800" b="0" strike="noStrike" spc="-1" dirty="0" err="1">
                <a:solidFill>
                  <a:srgbClr val="000000"/>
                </a:solidFill>
                <a:uFill>
                  <a:solidFill>
                    <a:srgbClr val="FFFFFF"/>
                  </a:solidFill>
                </a:uFill>
                <a:latin typeface="Calibri"/>
              </a:rPr>
              <a:t>update</a:t>
            </a: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#sudo </a:t>
            </a:r>
            <a:r>
              <a:rPr lang="es-MX" sz="2800" b="0" strike="noStrike" spc="-1" dirty="0" err="1">
                <a:solidFill>
                  <a:srgbClr val="000000"/>
                </a:solidFill>
                <a:uFill>
                  <a:solidFill>
                    <a:srgbClr val="FFFFFF"/>
                  </a:solidFill>
                </a:uFill>
                <a:latin typeface="Calibri"/>
              </a:rPr>
              <a:t>apt-get</a:t>
            </a:r>
            <a:r>
              <a:rPr lang="es-MX" sz="2800" b="0" strike="noStrike" spc="-1" dirty="0">
                <a:solidFill>
                  <a:srgbClr val="000000"/>
                </a:solidFill>
                <a:uFill>
                  <a:solidFill>
                    <a:srgbClr val="FFFFFF"/>
                  </a:solidFill>
                </a:uFill>
                <a:latin typeface="Calibri"/>
              </a:rPr>
              <a:t> </a:t>
            </a:r>
            <a:r>
              <a:rPr lang="es-MX" sz="2800" b="0" strike="noStrike" spc="-1" dirty="0" err="1">
                <a:solidFill>
                  <a:srgbClr val="000000"/>
                </a:solidFill>
                <a:uFill>
                  <a:solidFill>
                    <a:srgbClr val="FFFFFF"/>
                  </a:solidFill>
                </a:uFill>
                <a:latin typeface="Calibri"/>
              </a:rPr>
              <a:t>install</a:t>
            </a:r>
            <a:r>
              <a:rPr lang="es-MX" sz="2800" b="0" strike="noStrike" spc="-1" dirty="0">
                <a:solidFill>
                  <a:srgbClr val="000000"/>
                </a:solidFill>
                <a:uFill>
                  <a:solidFill>
                    <a:srgbClr val="FFFFFF"/>
                  </a:solidFill>
                </a:uFill>
                <a:latin typeface="Calibri"/>
              </a:rPr>
              <a:t> </a:t>
            </a:r>
            <a:r>
              <a:rPr lang="es-MX" sz="2800" b="0" strike="noStrike" spc="-1" dirty="0" err="1">
                <a:solidFill>
                  <a:srgbClr val="000000"/>
                </a:solidFill>
                <a:uFill>
                  <a:solidFill>
                    <a:srgbClr val="FFFFFF"/>
                  </a:solidFill>
                </a:uFill>
                <a:latin typeface="Calibri"/>
              </a:rPr>
              <a:t>snmp</a:t>
            </a: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#sudo </a:t>
            </a:r>
            <a:r>
              <a:rPr lang="es-MX" sz="2800" b="0" strike="noStrike" spc="-1" dirty="0" err="1">
                <a:solidFill>
                  <a:srgbClr val="000000"/>
                </a:solidFill>
                <a:uFill>
                  <a:solidFill>
                    <a:srgbClr val="FFFFFF"/>
                  </a:solidFill>
                </a:uFill>
                <a:latin typeface="Calibri"/>
              </a:rPr>
              <a:t>apt-get</a:t>
            </a:r>
            <a:r>
              <a:rPr lang="es-MX" sz="2800" b="0" strike="noStrike" spc="-1" dirty="0">
                <a:solidFill>
                  <a:srgbClr val="000000"/>
                </a:solidFill>
                <a:uFill>
                  <a:solidFill>
                    <a:srgbClr val="FFFFFF"/>
                  </a:solidFill>
                </a:uFill>
                <a:latin typeface="Calibri"/>
              </a:rPr>
              <a:t> </a:t>
            </a:r>
            <a:r>
              <a:rPr lang="es-MX" sz="2800" b="0" strike="noStrike" spc="-1" dirty="0" err="1">
                <a:solidFill>
                  <a:srgbClr val="000000"/>
                </a:solidFill>
                <a:uFill>
                  <a:solidFill>
                    <a:srgbClr val="FFFFFF"/>
                  </a:solidFill>
                </a:uFill>
                <a:latin typeface="Calibri"/>
              </a:rPr>
              <a:t>install</a:t>
            </a:r>
            <a:r>
              <a:rPr lang="es-MX" sz="2800" b="0" strike="noStrike" spc="-1" dirty="0">
                <a:solidFill>
                  <a:srgbClr val="000000"/>
                </a:solidFill>
                <a:uFill>
                  <a:solidFill>
                    <a:srgbClr val="FFFFFF"/>
                  </a:solidFill>
                </a:uFill>
                <a:latin typeface="Calibri"/>
              </a:rPr>
              <a:t> </a:t>
            </a:r>
            <a:r>
              <a:rPr lang="es-MX" sz="2800" b="0" strike="noStrike" spc="-1" dirty="0" err="1">
                <a:solidFill>
                  <a:srgbClr val="000000"/>
                </a:solidFill>
                <a:uFill>
                  <a:solidFill>
                    <a:srgbClr val="FFFFFF"/>
                  </a:solidFill>
                </a:uFill>
                <a:latin typeface="Calibri"/>
              </a:rPr>
              <a:t>snmpd</a:t>
            </a:r>
            <a:endParaRPr lang="es-MX" sz="2800" b="0" strike="noStrike" spc="-1" dirty="0">
              <a:solidFill>
                <a:srgbClr val="000000"/>
              </a:solidFill>
              <a:uFill>
                <a:solidFill>
                  <a:srgbClr val="FFFFFF"/>
                </a:solidFill>
              </a:uFill>
              <a:latin typeface="Calibri"/>
            </a:endParaRPr>
          </a:p>
          <a:p>
            <a:pPr>
              <a:lnSpc>
                <a:spcPct val="100000"/>
              </a:lnSpc>
            </a:pPr>
            <a:r>
              <a:rPr lang="es-MX" sz="2800" spc="-1" dirty="0">
                <a:solidFill>
                  <a:srgbClr val="000000"/>
                </a:solidFill>
                <a:uFill>
                  <a:solidFill>
                    <a:srgbClr val="FFFFFF"/>
                  </a:solidFill>
                </a:uFill>
                <a:latin typeface="Calibri"/>
              </a:rPr>
              <a:t>#sudo </a:t>
            </a:r>
            <a:r>
              <a:rPr lang="es-MX" sz="2800" spc="-1" dirty="0" err="1">
                <a:solidFill>
                  <a:srgbClr val="000000"/>
                </a:solidFill>
                <a:uFill>
                  <a:solidFill>
                    <a:srgbClr val="FFFFFF"/>
                  </a:solidFill>
                </a:uFill>
                <a:latin typeface="Calibri"/>
              </a:rPr>
              <a:t>apt-get</a:t>
            </a:r>
            <a:r>
              <a:rPr lang="es-MX" sz="2800" spc="-1" dirty="0">
                <a:solidFill>
                  <a:srgbClr val="000000"/>
                </a:solidFill>
                <a:uFill>
                  <a:solidFill>
                    <a:srgbClr val="FFFFFF"/>
                  </a:solidFill>
                </a:uFill>
                <a:latin typeface="Calibri"/>
              </a:rPr>
              <a:t> </a:t>
            </a:r>
            <a:r>
              <a:rPr lang="es-MX" sz="2800" spc="-1" dirty="0" err="1">
                <a:solidFill>
                  <a:srgbClr val="000000"/>
                </a:solidFill>
                <a:uFill>
                  <a:solidFill>
                    <a:srgbClr val="FFFFFF"/>
                  </a:solidFill>
                </a:uFill>
                <a:latin typeface="Calibri"/>
              </a:rPr>
              <a:t>install</a:t>
            </a:r>
            <a:r>
              <a:rPr lang="es-MX" sz="2800" spc="-1" dirty="0">
                <a:solidFill>
                  <a:srgbClr val="000000"/>
                </a:solidFill>
                <a:uFill>
                  <a:solidFill>
                    <a:srgbClr val="FFFFFF"/>
                  </a:solidFill>
                </a:uFill>
                <a:latin typeface="Calibri"/>
              </a:rPr>
              <a:t> </a:t>
            </a:r>
            <a:r>
              <a:rPr lang="es-MX" sz="2800" spc="-1" dirty="0" err="1">
                <a:solidFill>
                  <a:srgbClr val="000000"/>
                </a:solidFill>
                <a:uFill>
                  <a:solidFill>
                    <a:srgbClr val="FFFFFF"/>
                  </a:solidFill>
                </a:uFill>
                <a:latin typeface="Calibri"/>
              </a:rPr>
              <a:t>snmp-mibs-downloader</a:t>
            </a:r>
            <a:endParaRPr lang="es-MX" sz="1800" b="0" strike="noStrike" spc="-1" dirty="0">
              <a:solidFill>
                <a:srgbClr val="000000"/>
              </a:solidFill>
              <a:uFill>
                <a:solidFill>
                  <a:srgbClr val="FFFFFF"/>
                </a:solidFill>
              </a:uFill>
              <a:latin typeface="Arial"/>
            </a:endParaRPr>
          </a:p>
        </p:txBody>
      </p:sp>
      <p:sp>
        <p:nvSpPr>
          <p:cNvPr id="138" name="CustomShape 3"/>
          <p:cNvSpPr/>
          <p:nvPr/>
        </p:nvSpPr>
        <p:spPr>
          <a:xfrm>
            <a:off x="838080" y="5530320"/>
            <a:ext cx="105148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1800" b="0" strike="noStrike" spc="-1">
                <a:solidFill>
                  <a:srgbClr val="000000"/>
                </a:solidFill>
                <a:uFill>
                  <a:solidFill>
                    <a:srgbClr val="FFFFFF"/>
                  </a:solidFill>
                </a:uFill>
                <a:latin typeface="Calibri"/>
              </a:rPr>
              <a:t>*FUENTE: https://www.digitalocean.com/community/tutorials/how-to-install-and-configure-an-snmp-daemon-and-client-on-ubuntu-14-04</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CustomShape 1"/>
          <p:cNvSpPr/>
          <p:nvPr/>
        </p:nvSpPr>
        <p:spPr>
          <a:xfrm>
            <a:off x="838080" y="365040"/>
            <a:ext cx="10514880" cy="52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200" b="0" strike="noStrike" spc="-1">
                <a:solidFill>
                  <a:srgbClr val="000000"/>
                </a:solidFill>
                <a:uFill>
                  <a:solidFill>
                    <a:srgbClr val="FFFFFF"/>
                  </a:solidFill>
                </a:uFill>
                <a:latin typeface="Calibri Light"/>
              </a:rPr>
              <a:t>Archivo /etc/snmp/snmp.conf</a:t>
            </a:r>
            <a:endParaRPr lang="es-MX" sz="1800" b="0" strike="noStrike" spc="-1">
              <a:solidFill>
                <a:srgbClr val="000000"/>
              </a:solidFill>
              <a:uFill>
                <a:solidFill>
                  <a:srgbClr val="FFFFFF"/>
                </a:solidFill>
              </a:uFill>
              <a:latin typeface="Arial"/>
            </a:endParaRPr>
          </a:p>
        </p:txBody>
      </p:sp>
      <p:sp>
        <p:nvSpPr>
          <p:cNvPr id="140" name="CustomShape 2"/>
          <p:cNvSpPr/>
          <p:nvPr/>
        </p:nvSpPr>
        <p:spPr>
          <a:xfrm>
            <a:off x="2704680" y="2613960"/>
            <a:ext cx="6413040" cy="426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nSpc>
                <a:spcPct val="100000"/>
              </a:lnSpc>
            </a:pPr>
            <a:r>
              <a:rPr lang="es-MX" sz="2800" b="0" strike="noStrike" spc="-1">
                <a:solidFill>
                  <a:srgbClr val="E94849"/>
                </a:solidFill>
                <a:uFill>
                  <a:solidFill>
                    <a:srgbClr val="FFFFFF"/>
                  </a:solidFill>
                </a:uFill>
                <a:latin typeface="Courier New"/>
              </a:rPr>
              <a:t>#</a:t>
            </a:r>
            <a:r>
              <a:rPr lang="es-MX" sz="2800" b="0" strike="noStrike" spc="-1">
                <a:solidFill>
                  <a:srgbClr val="3A3A3A"/>
                </a:solidFill>
                <a:uFill>
                  <a:solidFill>
                    <a:srgbClr val="FFFFFF"/>
                  </a:solidFill>
                </a:uFill>
                <a:latin typeface="Courier New"/>
              </a:rPr>
              <a:t>mibs :</a:t>
            </a:r>
            <a:r>
              <a:rPr lang="es-MX" sz="2800" b="0" strike="noStrike" spc="-1">
                <a:solidFill>
                  <a:srgbClr val="000000"/>
                </a:solidFill>
                <a:uFill>
                  <a:solidFill>
                    <a:srgbClr val="FFFFFF"/>
                  </a:solidFill>
                </a:uFill>
                <a:latin typeface="Calibri"/>
              </a:rPr>
              <a:t> </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838080" y="365040"/>
            <a:ext cx="10514880" cy="52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200" b="0" strike="noStrike" spc="-1">
                <a:solidFill>
                  <a:srgbClr val="000000"/>
                </a:solidFill>
                <a:uFill>
                  <a:solidFill>
                    <a:srgbClr val="FFFFFF"/>
                  </a:solidFill>
                </a:uFill>
                <a:latin typeface="Calibri Light"/>
              </a:rPr>
              <a:t>Archivo /etc/snmp/snmpd.conf</a:t>
            </a:r>
            <a:endParaRPr lang="es-MX" sz="1800" b="0" strike="noStrike" spc="-1">
              <a:solidFill>
                <a:srgbClr val="000000"/>
              </a:solidFill>
              <a:uFill>
                <a:solidFill>
                  <a:srgbClr val="FFFFFF"/>
                </a:solidFill>
              </a:uFill>
              <a:latin typeface="Arial"/>
            </a:endParaRPr>
          </a:p>
        </p:txBody>
      </p:sp>
      <p:sp>
        <p:nvSpPr>
          <p:cNvPr id="142" name="CustomShape 2"/>
          <p:cNvSpPr/>
          <p:nvPr/>
        </p:nvSpPr>
        <p:spPr>
          <a:xfrm>
            <a:off x="618120" y="1582200"/>
            <a:ext cx="10734840" cy="310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1800" b="0" strike="noStrike" spc="-1">
                <a:solidFill>
                  <a:srgbClr val="000000"/>
                </a:solidFill>
                <a:uFill>
                  <a:solidFill>
                    <a:srgbClr val="FFFFFF"/>
                  </a:solidFill>
                </a:uFill>
                <a:latin typeface="Courier New"/>
              </a:rPr>
              <a:t>##############</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ourier New"/>
              </a:rPr>
              <a:t>#</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ourier New"/>
              </a:rPr>
              <a:t>#  AGENT BEHAVIOUR</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ourier New"/>
              </a:rPr>
              <a:t>#</a:t>
            </a: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ourier New"/>
              </a:rPr>
              <a:t>#  Listen for connections from the local system only</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ourier New"/>
              </a:rPr>
              <a:t>agentAddress  udp:127.0.0.1:161</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ourier New"/>
              </a:rPr>
              <a:t>#  Listen for connections on all interfaces (both IPv4 *and* IPv6)</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ourier New"/>
              </a:rPr>
              <a:t>#agentAddress udp:161,udp6:[::1]:161</a:t>
            </a: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CustomShape 1"/>
          <p:cNvSpPr/>
          <p:nvPr/>
        </p:nvSpPr>
        <p:spPr>
          <a:xfrm>
            <a:off x="838080" y="365040"/>
            <a:ext cx="10514880" cy="52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200" b="0" strike="noStrike" spc="-1">
                <a:solidFill>
                  <a:srgbClr val="000000"/>
                </a:solidFill>
                <a:uFill>
                  <a:solidFill>
                    <a:srgbClr val="FFFFFF"/>
                  </a:solidFill>
                </a:uFill>
                <a:latin typeface="Calibri Light"/>
              </a:rPr>
              <a:t>Archivo /etc/snmp/snmpd.conf</a:t>
            </a:r>
            <a:endParaRPr lang="es-MX" sz="1800" b="0" strike="noStrike" spc="-1">
              <a:solidFill>
                <a:srgbClr val="000000"/>
              </a:solidFill>
              <a:uFill>
                <a:solidFill>
                  <a:srgbClr val="FFFFFF"/>
                </a:solidFill>
              </a:uFill>
              <a:latin typeface="Arial"/>
            </a:endParaRPr>
          </a:p>
        </p:txBody>
      </p:sp>
      <p:sp>
        <p:nvSpPr>
          <p:cNvPr id="144" name="CustomShape 2"/>
          <p:cNvSpPr/>
          <p:nvPr/>
        </p:nvSpPr>
        <p:spPr>
          <a:xfrm>
            <a:off x="618120" y="1582200"/>
            <a:ext cx="10734840" cy="392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MX" sz="1800" b="0" strike="noStrike" spc="-1">
                <a:solidFill>
                  <a:srgbClr val="000000"/>
                </a:solidFill>
                <a:uFill>
                  <a:solidFill>
                    <a:srgbClr val="FFFFFF"/>
                  </a:solidFill>
                </a:uFill>
                <a:latin typeface="Calibri"/>
              </a:rPr>
              <a:t>###############################################################################</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alibri"/>
              </a:rPr>
              <a:t>#</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alibri"/>
              </a:rPr>
              <a:t>#  ACCESS CONTROL</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alibri"/>
              </a:rPr>
              <a:t>#</a:t>
            </a: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alibri"/>
              </a:rPr>
              <a:t>                                                 #  system + hrSystem groups only</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alibri"/>
              </a:rPr>
              <a:t>#view   systemonly  included   .1.3.6.1.2.1.1</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alibri"/>
              </a:rPr>
              <a:t>#view   systemonly  included   .1.3.6.1.2.1.25.1</a:t>
            </a: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alibri"/>
              </a:rPr>
              <a:t>                                                 #  Full access from the local host</a:t>
            </a:r>
            <a:endParaRPr lang="es-MX" sz="1800" b="0" strike="noStrike" spc="-1">
              <a:solidFill>
                <a:srgbClr val="000000"/>
              </a:solidFill>
              <a:uFill>
                <a:solidFill>
                  <a:srgbClr val="FFFFFF"/>
                </a:solidFill>
              </a:uFill>
              <a:latin typeface="Arial"/>
            </a:endParaRPr>
          </a:p>
          <a:p>
            <a:pPr>
              <a:lnSpc>
                <a:spcPct val="100000"/>
              </a:lnSpc>
            </a:pPr>
            <a:r>
              <a:rPr lang="es-MX" sz="1800" b="0" strike="noStrike" spc="-1">
                <a:solidFill>
                  <a:srgbClr val="000000"/>
                </a:solidFill>
                <a:uFill>
                  <a:solidFill>
                    <a:srgbClr val="FFFFFF"/>
                  </a:solidFill>
                </a:uFill>
                <a:latin typeface="Calibri"/>
              </a:rPr>
              <a:t> rwcommunity public  localhost</a:t>
            </a: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a:p>
            <a:pPr>
              <a:lnSpc>
                <a:spcPct val="100000"/>
              </a:lnSpc>
            </a:pP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CustomShape 1"/>
          <p:cNvSpPr/>
          <p:nvPr/>
        </p:nvSpPr>
        <p:spPr>
          <a:xfrm>
            <a:off x="838080" y="365040"/>
            <a:ext cx="10514880" cy="49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0" strike="noStrike" spc="-1">
                <a:solidFill>
                  <a:srgbClr val="000000"/>
                </a:solidFill>
                <a:uFill>
                  <a:solidFill>
                    <a:srgbClr val="FFFFFF"/>
                  </a:solidFill>
                </a:uFill>
                <a:latin typeface="Calibri Light"/>
              </a:rPr>
              <a:t>Verificación del servidor</a:t>
            </a:r>
            <a:endParaRPr lang="es-MX" sz="1800" b="0" strike="noStrike" spc="-1">
              <a:solidFill>
                <a:srgbClr val="000000"/>
              </a:solidFill>
              <a:uFill>
                <a:solidFill>
                  <a:srgbClr val="FFFFFF"/>
                </a:solidFill>
              </a:uFill>
              <a:latin typeface="Arial"/>
            </a:endParaRPr>
          </a:p>
        </p:txBody>
      </p:sp>
      <p:sp>
        <p:nvSpPr>
          <p:cNvPr id="146"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sudo service snmpd stop/start/restart</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sudo service snmpd status</a:t>
            </a:r>
            <a:endParaRPr lang="es-MX" sz="1800" b="0" strike="noStrike" spc="-1">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0" strike="noStrike" spc="-1">
                <a:solidFill>
                  <a:srgbClr val="000000"/>
                </a:solidFill>
                <a:uFill>
                  <a:solidFill>
                    <a:srgbClr val="FFFFFF"/>
                  </a:solidFill>
                </a:uFill>
                <a:latin typeface="Calibri"/>
              </a:rPr>
              <a:t>sudo netstat –nao –udp  //n=numeric, a=todo pts abiertos y cerrados</a:t>
            </a:r>
            <a:endParaRPr lang="es-MX" sz="1800" b="0" strike="noStrike" spc="-1">
              <a:solidFill>
                <a:srgbClr val="000000"/>
              </a:solidFill>
              <a:uFill>
                <a:solidFill>
                  <a:srgbClr val="FFFFFF"/>
                </a:solidFill>
              </a:uFill>
              <a:latin typeface="Arial"/>
            </a:endParaRPr>
          </a:p>
          <a:p>
            <a:pPr>
              <a:lnSpc>
                <a:spcPct val="100000"/>
              </a:lnSpc>
            </a:pPr>
            <a:r>
              <a:rPr lang="es-MX" sz="2800" b="0" strike="noStrike" spc="-1">
                <a:solidFill>
                  <a:srgbClr val="000000"/>
                </a:solidFill>
                <a:uFill>
                  <a:solidFill>
                    <a:srgbClr val="FFFFFF"/>
                  </a:solidFill>
                </a:uFill>
                <a:latin typeface="Calibri"/>
              </a:rPr>
              <a:t>				  //o=info relacionada a timers</a:t>
            </a:r>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CustomShape 1"/>
          <p:cNvSpPr/>
          <p:nvPr/>
        </p:nvSpPr>
        <p:spPr>
          <a:xfrm>
            <a:off x="838080" y="365040"/>
            <a:ext cx="10514880" cy="67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0" strike="noStrike" spc="-1">
                <a:solidFill>
                  <a:srgbClr val="000000"/>
                </a:solidFill>
                <a:uFill>
                  <a:solidFill>
                    <a:srgbClr val="FFFFFF"/>
                  </a:solidFill>
                </a:uFill>
                <a:latin typeface="Calibri Light"/>
              </a:rPr>
              <a:t>Aplicaciones</a:t>
            </a:r>
            <a:endParaRPr lang="es-MX" sz="1800" b="0" strike="noStrike" spc="-1">
              <a:solidFill>
                <a:srgbClr val="000000"/>
              </a:solidFill>
              <a:uFill>
                <a:solidFill>
                  <a:srgbClr val="FFFFFF"/>
                </a:solidFill>
              </a:uFill>
              <a:latin typeface="Arial"/>
            </a:endParaRPr>
          </a:p>
        </p:txBody>
      </p:sp>
      <p:sp>
        <p:nvSpPr>
          <p:cNvPr id="148" name="CustomShape 2"/>
          <p:cNvSpPr/>
          <p:nvPr/>
        </p:nvSpPr>
        <p:spPr>
          <a:xfrm>
            <a:off x="838080" y="1155960"/>
            <a:ext cx="10514880" cy="5270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1" strike="noStrike" spc="-1" dirty="0" err="1">
                <a:solidFill>
                  <a:srgbClr val="000000"/>
                </a:solidFill>
                <a:uFill>
                  <a:solidFill>
                    <a:srgbClr val="FFFFFF"/>
                  </a:solidFill>
                </a:uFill>
                <a:latin typeface="Calibri"/>
              </a:rPr>
              <a:t>snmpwalk</a:t>
            </a:r>
            <a:r>
              <a:rPr lang="es-MX" sz="2800" b="0" strike="noStrike" spc="-1" dirty="0" err="1">
                <a:solidFill>
                  <a:srgbClr val="000000"/>
                </a:solidFill>
                <a:uFill>
                  <a:solidFill>
                    <a:srgbClr val="FFFFFF"/>
                  </a:solidFill>
                </a:uFill>
                <a:latin typeface="Calibri"/>
              </a:rPr>
              <a:t>:lee</a:t>
            </a:r>
            <a:r>
              <a:rPr lang="es-MX" sz="2800" b="0" strike="noStrike" spc="-1" dirty="0">
                <a:solidFill>
                  <a:srgbClr val="000000"/>
                </a:solidFill>
                <a:uFill>
                  <a:solidFill>
                    <a:srgbClr val="FFFFFF"/>
                  </a:solidFill>
                </a:uFill>
                <a:latin typeface="Calibri"/>
              </a:rPr>
              <a:t> secuencialmente a través de la MIB</a:t>
            </a: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Ej. </a:t>
            </a:r>
            <a:r>
              <a:rPr lang="es-MX" sz="2800" b="0" strike="noStrike" spc="-1" dirty="0" err="1">
                <a:solidFill>
                  <a:srgbClr val="000000"/>
                </a:solidFill>
                <a:uFill>
                  <a:solidFill>
                    <a:srgbClr val="FFFFFF"/>
                  </a:solidFill>
                </a:uFill>
                <a:latin typeface="Calibri"/>
              </a:rPr>
              <a:t>snmpwalk</a:t>
            </a:r>
            <a:r>
              <a:rPr lang="es-MX" sz="2800" b="0" strike="noStrike" spc="-1" dirty="0">
                <a:solidFill>
                  <a:srgbClr val="000000"/>
                </a:solidFill>
                <a:uFill>
                  <a:solidFill>
                    <a:srgbClr val="FFFFFF"/>
                  </a:solidFill>
                </a:uFill>
                <a:latin typeface="Calibri"/>
              </a:rPr>
              <a:t> -v 1 -c </a:t>
            </a:r>
            <a:r>
              <a:rPr lang="es-MX" sz="2800" b="0" strike="noStrike" spc="-1" dirty="0" err="1">
                <a:solidFill>
                  <a:srgbClr val="000000"/>
                </a:solidFill>
                <a:uFill>
                  <a:solidFill>
                    <a:srgbClr val="FFFFFF"/>
                  </a:solidFill>
                </a:uFill>
                <a:latin typeface="Calibri"/>
              </a:rPr>
              <a:t>public</a:t>
            </a:r>
            <a:r>
              <a:rPr lang="es-MX" sz="2800" b="0" strike="noStrike" spc="-1" dirty="0">
                <a:solidFill>
                  <a:srgbClr val="000000"/>
                </a:solidFill>
                <a:uFill>
                  <a:solidFill>
                    <a:srgbClr val="FFFFFF"/>
                  </a:solidFill>
                </a:uFill>
                <a:latin typeface="Calibri"/>
              </a:rPr>
              <a:t> 127.0.0.1</a:t>
            </a:r>
            <a:endParaRPr lang="es-MX" sz="1800" b="0" strike="noStrike" spc="-1" dirty="0">
              <a:solidFill>
                <a:srgbClr val="000000"/>
              </a:solidFill>
              <a:uFill>
                <a:solidFill>
                  <a:srgbClr val="FFFFFF"/>
                </a:solidFill>
              </a:uFill>
              <a:latin typeface="Arial"/>
            </a:endParaRPr>
          </a:p>
          <a:p>
            <a:pPr>
              <a:lnSpc>
                <a:spcPct val="100000"/>
              </a:lnSpc>
            </a:pPr>
            <a:endParaRPr lang="es-MX" sz="1800" b="0" strike="noStrike" spc="-1" dirty="0">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1" strike="noStrike" spc="-1" dirty="0" err="1">
                <a:solidFill>
                  <a:srgbClr val="000000"/>
                </a:solidFill>
                <a:uFill>
                  <a:solidFill>
                    <a:srgbClr val="FFFFFF"/>
                  </a:solidFill>
                </a:uFill>
                <a:latin typeface="Calibri"/>
              </a:rPr>
              <a:t>snmpget</a:t>
            </a:r>
            <a:r>
              <a:rPr lang="es-MX" sz="2800" b="0" strike="noStrike" spc="-1" dirty="0">
                <a:solidFill>
                  <a:srgbClr val="000000"/>
                </a:solidFill>
                <a:uFill>
                  <a:solidFill>
                    <a:srgbClr val="FFFFFF"/>
                  </a:solidFill>
                </a:uFill>
                <a:latin typeface="Calibri"/>
              </a:rPr>
              <a:t>: obtiene una entrada de la MIB</a:t>
            </a: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Ej. </a:t>
            </a:r>
            <a:r>
              <a:rPr lang="es-MX" sz="2800" b="0" strike="noStrike" spc="-1" dirty="0" err="1">
                <a:solidFill>
                  <a:srgbClr val="000000"/>
                </a:solidFill>
                <a:uFill>
                  <a:solidFill>
                    <a:srgbClr val="FFFFFF"/>
                  </a:solidFill>
                </a:uFill>
                <a:latin typeface="Calibri"/>
              </a:rPr>
              <a:t>snmpget</a:t>
            </a:r>
            <a:r>
              <a:rPr lang="es-MX" sz="2800" b="0" strike="noStrike" spc="-1" dirty="0">
                <a:solidFill>
                  <a:srgbClr val="000000"/>
                </a:solidFill>
                <a:uFill>
                  <a:solidFill>
                    <a:srgbClr val="FFFFFF"/>
                  </a:solidFill>
                </a:uFill>
                <a:latin typeface="Calibri"/>
              </a:rPr>
              <a:t> -v 1 -c </a:t>
            </a:r>
            <a:r>
              <a:rPr lang="es-MX" sz="2800" b="0" strike="noStrike" spc="-1" dirty="0" err="1">
                <a:solidFill>
                  <a:srgbClr val="000000"/>
                </a:solidFill>
                <a:uFill>
                  <a:solidFill>
                    <a:srgbClr val="FFFFFF"/>
                  </a:solidFill>
                </a:uFill>
                <a:latin typeface="Calibri"/>
              </a:rPr>
              <a:t>public</a:t>
            </a:r>
            <a:r>
              <a:rPr lang="es-MX" sz="2800" b="0" strike="noStrike" spc="-1" dirty="0">
                <a:solidFill>
                  <a:srgbClr val="000000"/>
                </a:solidFill>
                <a:uFill>
                  <a:solidFill>
                    <a:srgbClr val="FFFFFF"/>
                  </a:solidFill>
                </a:uFill>
                <a:latin typeface="Calibri"/>
              </a:rPr>
              <a:t> localhost 1.3.6.1.2.1.1.4.0	</a:t>
            </a: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  </a:t>
            </a:r>
            <a:endParaRPr lang="es-MX" sz="1800" b="0" strike="noStrike" spc="-1" dirty="0">
              <a:solidFill>
                <a:srgbClr val="000000"/>
              </a:solidFill>
              <a:uFill>
                <a:solidFill>
                  <a:srgbClr val="FFFFFF"/>
                </a:solidFill>
              </a:uFill>
              <a:latin typeface="Arial"/>
            </a:endParaRPr>
          </a:p>
          <a:p>
            <a:pPr>
              <a:lnSpc>
                <a:spcPct val="100000"/>
              </a:lnSpc>
            </a:pPr>
            <a:endParaRPr lang="es-MX" sz="1800" b="0" strike="noStrike" spc="-1" dirty="0">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800" b="1" strike="noStrike" spc="-1" dirty="0" err="1">
                <a:solidFill>
                  <a:srgbClr val="000000"/>
                </a:solidFill>
                <a:uFill>
                  <a:solidFill>
                    <a:srgbClr val="FFFFFF"/>
                  </a:solidFill>
                </a:uFill>
                <a:latin typeface="Calibri"/>
              </a:rPr>
              <a:t>snmpset</a:t>
            </a:r>
            <a:r>
              <a:rPr lang="es-MX" sz="2800" b="0" strike="noStrike" spc="-1" dirty="0">
                <a:solidFill>
                  <a:srgbClr val="000000"/>
                </a:solidFill>
                <a:uFill>
                  <a:solidFill>
                    <a:srgbClr val="FFFFFF"/>
                  </a:solidFill>
                </a:uFill>
                <a:latin typeface="Calibri"/>
              </a:rPr>
              <a:t>: modifica una entada de la MIB</a:t>
            </a: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Ej. </a:t>
            </a:r>
            <a:r>
              <a:rPr lang="es-MX" sz="2800" b="0" strike="noStrike" spc="-1" dirty="0" err="1">
                <a:solidFill>
                  <a:srgbClr val="000000"/>
                </a:solidFill>
                <a:uFill>
                  <a:solidFill>
                    <a:srgbClr val="FFFFFF"/>
                  </a:solidFill>
                </a:uFill>
                <a:latin typeface="Calibri"/>
              </a:rPr>
              <a:t>snmpset</a:t>
            </a:r>
            <a:r>
              <a:rPr lang="es-MX" sz="2800" b="0" strike="noStrike" spc="-1" dirty="0">
                <a:solidFill>
                  <a:srgbClr val="000000"/>
                </a:solidFill>
                <a:uFill>
                  <a:solidFill>
                    <a:srgbClr val="FFFFFF"/>
                  </a:solidFill>
                </a:uFill>
                <a:latin typeface="Calibri"/>
              </a:rPr>
              <a:t> -v 1 -c </a:t>
            </a:r>
            <a:r>
              <a:rPr lang="es-MX" sz="2800" b="0" strike="noStrike" spc="-1" dirty="0" err="1">
                <a:solidFill>
                  <a:srgbClr val="000000"/>
                </a:solidFill>
                <a:uFill>
                  <a:solidFill>
                    <a:srgbClr val="FFFFFF"/>
                  </a:solidFill>
                </a:uFill>
                <a:latin typeface="Calibri"/>
              </a:rPr>
              <a:t>public</a:t>
            </a:r>
            <a:r>
              <a:rPr lang="es-MX" sz="2800" b="0" strike="noStrike" spc="-1" dirty="0">
                <a:solidFill>
                  <a:srgbClr val="000000"/>
                </a:solidFill>
                <a:uFill>
                  <a:solidFill>
                    <a:srgbClr val="FFFFFF"/>
                  </a:solidFill>
                </a:uFill>
                <a:latin typeface="Calibri"/>
              </a:rPr>
              <a:t> 127.0.0.1  1.3.6.1.2.1.1.4.0 s Escuela</a:t>
            </a:r>
          </a:p>
          <a:p>
            <a:pPr>
              <a:lnSpc>
                <a:spcPct val="100000"/>
              </a:lnSpc>
            </a:pPr>
            <a:endParaRPr lang="es-MX" sz="2800" spc="-1" dirty="0">
              <a:solidFill>
                <a:srgbClr val="000000"/>
              </a:solidFill>
              <a:uFill>
                <a:solidFill>
                  <a:srgbClr val="FFFFFF"/>
                </a:solidFill>
              </a:uFill>
              <a:latin typeface="Calibri"/>
            </a:endParaRPr>
          </a:p>
          <a:p>
            <a:pPr marL="285750" indent="-285750">
              <a:lnSpc>
                <a:spcPct val="100000"/>
              </a:lnSpc>
              <a:buFont typeface="Arial" panose="020B0604020202020204" pitchFamily="34" charset="0"/>
              <a:buChar char="•"/>
            </a:pPr>
            <a:r>
              <a:rPr lang="es-MX" sz="2800" b="1" spc="-1" dirty="0" err="1">
                <a:solidFill>
                  <a:srgbClr val="000000"/>
                </a:solidFill>
                <a:uFill>
                  <a:solidFill>
                    <a:srgbClr val="FFFFFF"/>
                  </a:solidFill>
                </a:uFill>
                <a:latin typeface="Calibri"/>
              </a:rPr>
              <a:t>s</a:t>
            </a:r>
            <a:r>
              <a:rPr lang="es-MX" sz="2800" b="1" strike="noStrike" spc="-1" dirty="0" err="1">
                <a:solidFill>
                  <a:srgbClr val="000000"/>
                </a:solidFill>
                <a:uFill>
                  <a:solidFill>
                    <a:srgbClr val="FFFFFF"/>
                  </a:solidFill>
                </a:uFill>
                <a:latin typeface="Calibri"/>
              </a:rPr>
              <a:t>nmptable</a:t>
            </a:r>
            <a:r>
              <a:rPr lang="es-MX" sz="2800" b="0" strike="noStrike" spc="-1" dirty="0">
                <a:solidFill>
                  <a:srgbClr val="000000"/>
                </a:solidFill>
                <a:uFill>
                  <a:solidFill>
                    <a:srgbClr val="FFFFFF"/>
                  </a:solidFill>
                </a:uFill>
                <a:latin typeface="Calibri"/>
              </a:rPr>
              <a:t>: usa </a:t>
            </a:r>
            <a:r>
              <a:rPr lang="es-MX" sz="2800" b="0" strike="noStrike" spc="-1" dirty="0" err="1">
                <a:solidFill>
                  <a:srgbClr val="000000"/>
                </a:solidFill>
                <a:uFill>
                  <a:solidFill>
                    <a:srgbClr val="FFFFFF"/>
                  </a:solidFill>
                </a:uFill>
                <a:latin typeface="Calibri"/>
              </a:rPr>
              <a:t>snmpgetnext</a:t>
            </a:r>
            <a:r>
              <a:rPr lang="es-MX" sz="2800" b="0" strike="noStrike" spc="-1" dirty="0">
                <a:solidFill>
                  <a:srgbClr val="000000"/>
                </a:solidFill>
                <a:uFill>
                  <a:solidFill>
                    <a:srgbClr val="FFFFFF"/>
                  </a:solidFill>
                </a:uFill>
                <a:latin typeface="Calibri"/>
              </a:rPr>
              <a:t> para consultar información sobre una entidad de red</a:t>
            </a:r>
          </a:p>
          <a:p>
            <a:pPr>
              <a:lnSpc>
                <a:spcPct val="100000"/>
              </a:lnSpc>
            </a:pPr>
            <a:r>
              <a:rPr lang="es-MX" sz="2800" spc="-1" dirty="0">
                <a:solidFill>
                  <a:srgbClr val="000000"/>
                </a:solidFill>
                <a:uFill>
                  <a:solidFill>
                    <a:srgbClr val="FFFFFF"/>
                  </a:solidFill>
                </a:uFill>
                <a:latin typeface="Calibri"/>
              </a:rPr>
              <a:t>Ej. </a:t>
            </a:r>
            <a:r>
              <a:rPr lang="es-MX" sz="2800" spc="-1" dirty="0" err="1">
                <a:solidFill>
                  <a:srgbClr val="000000"/>
                </a:solidFill>
                <a:uFill>
                  <a:solidFill>
                    <a:srgbClr val="FFFFFF"/>
                  </a:solidFill>
                </a:uFill>
                <a:latin typeface="Calibri"/>
              </a:rPr>
              <a:t>snmptable</a:t>
            </a:r>
            <a:r>
              <a:rPr lang="es-MX" sz="2800" spc="-1" dirty="0">
                <a:solidFill>
                  <a:srgbClr val="000000"/>
                </a:solidFill>
                <a:uFill>
                  <a:solidFill>
                    <a:srgbClr val="FFFFFF"/>
                  </a:solidFill>
                </a:uFill>
                <a:latin typeface="Calibri"/>
              </a:rPr>
              <a:t> –v 1 –c </a:t>
            </a:r>
            <a:r>
              <a:rPr lang="es-MX" sz="2800" spc="-1" dirty="0" err="1">
                <a:solidFill>
                  <a:srgbClr val="000000"/>
                </a:solidFill>
                <a:uFill>
                  <a:solidFill>
                    <a:srgbClr val="FFFFFF"/>
                  </a:solidFill>
                </a:uFill>
                <a:latin typeface="Calibri"/>
              </a:rPr>
              <a:t>public</a:t>
            </a:r>
            <a:r>
              <a:rPr lang="es-MX" sz="2800" spc="-1" dirty="0">
                <a:solidFill>
                  <a:srgbClr val="000000"/>
                </a:solidFill>
                <a:uFill>
                  <a:solidFill>
                    <a:srgbClr val="FFFFFF"/>
                  </a:solidFill>
                </a:uFill>
                <a:latin typeface="Calibri"/>
              </a:rPr>
              <a:t> localhost IF-MIB::</a:t>
            </a:r>
            <a:r>
              <a:rPr lang="es-MX" sz="2800" spc="-1" dirty="0" err="1">
                <a:solidFill>
                  <a:srgbClr val="000000"/>
                </a:solidFill>
                <a:uFill>
                  <a:solidFill>
                    <a:srgbClr val="FFFFFF"/>
                  </a:solidFill>
                </a:uFill>
                <a:latin typeface="Calibri"/>
              </a:rPr>
              <a:t>ifTable</a:t>
            </a:r>
            <a:r>
              <a:rPr lang="es-MX" sz="2800" b="0" strike="noStrike" spc="-1" dirty="0">
                <a:solidFill>
                  <a:srgbClr val="000000"/>
                </a:solidFill>
                <a:uFill>
                  <a:solidFill>
                    <a:srgbClr val="FFFFFF"/>
                  </a:solidFill>
                </a:uFill>
                <a:latin typeface="Calibri"/>
              </a:rPr>
              <a:t> </a:t>
            </a:r>
            <a:endParaRPr lang="es-MX" sz="1800" b="0" strike="noStrike"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CustomShape 1"/>
          <p:cNvSpPr/>
          <p:nvPr/>
        </p:nvSpPr>
        <p:spPr>
          <a:xfrm>
            <a:off x="838080" y="365040"/>
            <a:ext cx="10514880" cy="67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0" strike="noStrike" spc="-1">
                <a:solidFill>
                  <a:srgbClr val="000000"/>
                </a:solidFill>
                <a:uFill>
                  <a:solidFill>
                    <a:srgbClr val="FFFFFF"/>
                  </a:solidFill>
                </a:uFill>
                <a:latin typeface="Calibri Light"/>
              </a:rPr>
              <a:t>Aplicaciones</a:t>
            </a:r>
            <a:endParaRPr lang="es-MX" sz="1800" b="0" strike="noStrike" spc="-1">
              <a:solidFill>
                <a:srgbClr val="000000"/>
              </a:solidFill>
              <a:uFill>
                <a:solidFill>
                  <a:srgbClr val="FFFFFF"/>
                </a:solidFill>
              </a:uFill>
              <a:latin typeface="Arial"/>
            </a:endParaRPr>
          </a:p>
        </p:txBody>
      </p:sp>
      <p:sp>
        <p:nvSpPr>
          <p:cNvPr id="148" name="CustomShape 2"/>
          <p:cNvSpPr/>
          <p:nvPr/>
        </p:nvSpPr>
        <p:spPr>
          <a:xfrm>
            <a:off x="466120" y="1042560"/>
            <a:ext cx="10514880" cy="5270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400" b="1" strike="noStrike" spc="-1" dirty="0" err="1">
                <a:solidFill>
                  <a:srgbClr val="000000"/>
                </a:solidFill>
                <a:uFill>
                  <a:solidFill>
                    <a:srgbClr val="FFFFFF"/>
                  </a:solidFill>
                </a:uFill>
                <a:latin typeface="Calibri"/>
              </a:rPr>
              <a:t>snmpwalk</a:t>
            </a:r>
            <a:r>
              <a:rPr lang="es-MX" sz="2400" b="0" strike="noStrike" spc="-1" dirty="0" err="1">
                <a:solidFill>
                  <a:srgbClr val="000000"/>
                </a:solidFill>
                <a:uFill>
                  <a:solidFill>
                    <a:srgbClr val="FFFFFF"/>
                  </a:solidFill>
                </a:uFill>
                <a:latin typeface="Calibri"/>
              </a:rPr>
              <a:t>:lee</a:t>
            </a:r>
            <a:r>
              <a:rPr lang="es-MX" sz="2400" b="0" strike="noStrike" spc="-1" dirty="0">
                <a:solidFill>
                  <a:srgbClr val="000000"/>
                </a:solidFill>
                <a:uFill>
                  <a:solidFill>
                    <a:srgbClr val="FFFFFF"/>
                  </a:solidFill>
                </a:uFill>
                <a:latin typeface="Calibri"/>
              </a:rPr>
              <a:t> secuencialmente a través de la MIB</a:t>
            </a:r>
            <a:endParaRPr lang="es-MX" sz="2400" b="0" strike="noStrike" spc="-1" dirty="0">
              <a:solidFill>
                <a:srgbClr val="000000"/>
              </a:solidFill>
              <a:uFill>
                <a:solidFill>
                  <a:srgbClr val="FFFFFF"/>
                </a:solidFill>
              </a:uFill>
              <a:latin typeface="Arial"/>
            </a:endParaRPr>
          </a:p>
          <a:p>
            <a:pPr>
              <a:lnSpc>
                <a:spcPct val="100000"/>
              </a:lnSpc>
            </a:pPr>
            <a:r>
              <a:rPr lang="es-MX" sz="2400" b="0" strike="noStrike" spc="-1" dirty="0">
                <a:solidFill>
                  <a:srgbClr val="000000"/>
                </a:solidFill>
                <a:uFill>
                  <a:solidFill>
                    <a:srgbClr val="FFFFFF"/>
                  </a:solidFill>
                </a:uFill>
                <a:latin typeface="Calibri"/>
              </a:rPr>
              <a:t>Ej. </a:t>
            </a:r>
            <a:r>
              <a:rPr lang="es-MX" sz="2400" b="0" strike="noStrike" spc="-1" dirty="0" err="1">
                <a:solidFill>
                  <a:srgbClr val="000000"/>
                </a:solidFill>
                <a:uFill>
                  <a:solidFill>
                    <a:srgbClr val="FFFFFF"/>
                  </a:solidFill>
                </a:uFill>
                <a:latin typeface="Calibri"/>
              </a:rPr>
              <a:t>snmpwalk</a:t>
            </a:r>
            <a:r>
              <a:rPr lang="es-MX" sz="2400" b="0" strike="noStrike" spc="-1" dirty="0">
                <a:solidFill>
                  <a:srgbClr val="000000"/>
                </a:solidFill>
                <a:uFill>
                  <a:solidFill>
                    <a:srgbClr val="FFFFFF"/>
                  </a:solidFill>
                </a:uFill>
                <a:latin typeface="Calibri"/>
              </a:rPr>
              <a:t> -v 1 -c </a:t>
            </a:r>
            <a:r>
              <a:rPr lang="es-MX" sz="2400" b="0" strike="noStrike" spc="-1" dirty="0" err="1">
                <a:solidFill>
                  <a:srgbClr val="000000"/>
                </a:solidFill>
                <a:uFill>
                  <a:solidFill>
                    <a:srgbClr val="FFFFFF"/>
                  </a:solidFill>
                </a:uFill>
                <a:latin typeface="Calibri"/>
              </a:rPr>
              <a:t>public</a:t>
            </a:r>
            <a:r>
              <a:rPr lang="es-MX" sz="2400" b="0" strike="noStrike" spc="-1" dirty="0">
                <a:solidFill>
                  <a:srgbClr val="000000"/>
                </a:solidFill>
                <a:uFill>
                  <a:solidFill>
                    <a:srgbClr val="FFFFFF"/>
                  </a:solidFill>
                </a:uFill>
                <a:latin typeface="Calibri"/>
              </a:rPr>
              <a:t> 127.0.0.1 1.3.6.1.2.1.2.2.1.10  (</a:t>
            </a:r>
            <a:r>
              <a:rPr lang="es-MX" sz="2400" spc="-1" dirty="0" err="1">
                <a:solidFill>
                  <a:srgbClr val="000000"/>
                </a:solidFill>
                <a:uFill>
                  <a:solidFill>
                    <a:srgbClr val="FFFFFF"/>
                  </a:solidFill>
                </a:uFill>
                <a:latin typeface="Calibri"/>
              </a:rPr>
              <a:t>i</a:t>
            </a:r>
            <a:r>
              <a:rPr lang="es-MX" sz="2400" b="0" strike="noStrike" spc="-1" dirty="0" err="1">
                <a:solidFill>
                  <a:srgbClr val="000000"/>
                </a:solidFill>
                <a:uFill>
                  <a:solidFill>
                    <a:srgbClr val="FFFFFF"/>
                  </a:solidFill>
                </a:uFill>
                <a:latin typeface="Calibri"/>
              </a:rPr>
              <a:t>fInOctets</a:t>
            </a:r>
            <a:r>
              <a:rPr lang="es-MX" sz="2400" b="0" strike="noStrike" spc="-1" dirty="0">
                <a:solidFill>
                  <a:srgbClr val="000000"/>
                </a:solidFill>
                <a:uFill>
                  <a:solidFill>
                    <a:srgbClr val="FFFFFF"/>
                  </a:solidFill>
                </a:uFill>
                <a:latin typeface="Calibri"/>
              </a:rPr>
              <a:t>)</a:t>
            </a:r>
          </a:p>
          <a:p>
            <a:pPr>
              <a:lnSpc>
                <a:spcPct val="100000"/>
              </a:lnSpc>
            </a:pPr>
            <a:endParaRPr lang="es-MX" sz="2400" spc="-1" dirty="0">
              <a:solidFill>
                <a:srgbClr val="000000"/>
              </a:solidFill>
              <a:uFill>
                <a:solidFill>
                  <a:srgbClr val="FFFFFF"/>
                </a:solidFill>
              </a:uFill>
              <a:latin typeface="Calibri"/>
            </a:endParaRPr>
          </a:p>
          <a:p>
            <a:r>
              <a:rPr lang="es-MX" sz="2400" spc="-1" dirty="0">
                <a:solidFill>
                  <a:srgbClr val="000000"/>
                </a:solidFill>
                <a:uFill>
                  <a:solidFill>
                    <a:srgbClr val="FFFFFF"/>
                  </a:solidFill>
                </a:uFill>
                <a:latin typeface="Calibri"/>
              </a:rPr>
              <a:t>Ej. </a:t>
            </a:r>
            <a:r>
              <a:rPr lang="es-MX" sz="2400" spc="-1" dirty="0" err="1">
                <a:solidFill>
                  <a:srgbClr val="000000"/>
                </a:solidFill>
                <a:uFill>
                  <a:solidFill>
                    <a:srgbClr val="FFFFFF"/>
                  </a:solidFill>
                </a:uFill>
                <a:latin typeface="Calibri"/>
              </a:rPr>
              <a:t>snmpwalk</a:t>
            </a:r>
            <a:r>
              <a:rPr lang="es-MX" sz="2400" spc="-1" dirty="0">
                <a:solidFill>
                  <a:srgbClr val="000000"/>
                </a:solidFill>
                <a:uFill>
                  <a:solidFill>
                    <a:srgbClr val="FFFFFF"/>
                  </a:solidFill>
                </a:uFill>
                <a:latin typeface="Calibri"/>
              </a:rPr>
              <a:t> -v 1 -c </a:t>
            </a:r>
            <a:r>
              <a:rPr lang="es-MX" sz="2400" spc="-1" dirty="0" err="1">
                <a:solidFill>
                  <a:srgbClr val="000000"/>
                </a:solidFill>
                <a:uFill>
                  <a:solidFill>
                    <a:srgbClr val="FFFFFF"/>
                  </a:solidFill>
                </a:uFill>
                <a:latin typeface="Calibri"/>
              </a:rPr>
              <a:t>public</a:t>
            </a:r>
            <a:r>
              <a:rPr lang="es-MX" sz="2400" spc="-1" dirty="0">
                <a:solidFill>
                  <a:srgbClr val="000000"/>
                </a:solidFill>
                <a:uFill>
                  <a:solidFill>
                    <a:srgbClr val="FFFFFF"/>
                  </a:solidFill>
                </a:uFill>
                <a:latin typeface="Calibri"/>
              </a:rPr>
              <a:t> 127.0.0.1 1.3.6.1.2.1.2.2.1.16  (</a:t>
            </a:r>
            <a:r>
              <a:rPr lang="es-MX" sz="2400" spc="-1" dirty="0" err="1">
                <a:solidFill>
                  <a:srgbClr val="000000"/>
                </a:solidFill>
                <a:uFill>
                  <a:solidFill>
                    <a:srgbClr val="FFFFFF"/>
                  </a:solidFill>
                </a:uFill>
                <a:latin typeface="Calibri"/>
              </a:rPr>
              <a:t>ifOutOctets</a:t>
            </a:r>
            <a:r>
              <a:rPr lang="es-MX" sz="2400" spc="-1" dirty="0">
                <a:solidFill>
                  <a:srgbClr val="000000"/>
                </a:solidFill>
                <a:uFill>
                  <a:solidFill>
                    <a:srgbClr val="FFFFFF"/>
                  </a:solidFill>
                </a:uFill>
                <a:latin typeface="Calibri"/>
              </a:rPr>
              <a:t>)</a:t>
            </a:r>
          </a:p>
          <a:p>
            <a:endParaRPr lang="es-MX" sz="2400" spc="-1" dirty="0">
              <a:solidFill>
                <a:srgbClr val="000000"/>
              </a:solidFill>
              <a:uFill>
                <a:solidFill>
                  <a:srgbClr val="FFFFFF"/>
                </a:solidFill>
              </a:uFill>
              <a:latin typeface="Calibri"/>
            </a:endParaRPr>
          </a:p>
          <a:p>
            <a:r>
              <a:rPr lang="es-MX" sz="2400" b="0" strike="noStrike" spc="-1" dirty="0">
                <a:solidFill>
                  <a:srgbClr val="000000"/>
                </a:solidFill>
                <a:uFill>
                  <a:solidFill>
                    <a:srgbClr val="FFFFFF"/>
                  </a:solidFill>
                </a:uFill>
                <a:latin typeface="Calibri"/>
              </a:rPr>
              <a:t>Ej. </a:t>
            </a:r>
            <a:r>
              <a:rPr lang="es-MX" sz="2400" b="0" strike="noStrike" spc="-1" dirty="0" err="1">
                <a:solidFill>
                  <a:srgbClr val="000000"/>
                </a:solidFill>
                <a:uFill>
                  <a:solidFill>
                    <a:srgbClr val="FFFFFF"/>
                  </a:solidFill>
                </a:uFill>
                <a:latin typeface="Calibri"/>
              </a:rPr>
              <a:t>snmpwalk</a:t>
            </a:r>
            <a:r>
              <a:rPr lang="es-MX" sz="2400" b="0" strike="noStrike" spc="-1" dirty="0">
                <a:solidFill>
                  <a:srgbClr val="000000"/>
                </a:solidFill>
                <a:uFill>
                  <a:solidFill>
                    <a:srgbClr val="FFFFFF"/>
                  </a:solidFill>
                </a:uFill>
                <a:latin typeface="Calibri"/>
              </a:rPr>
              <a:t> -v 1 -c </a:t>
            </a:r>
            <a:r>
              <a:rPr lang="es-MX" sz="2400" b="0" strike="noStrike" spc="-1" dirty="0" err="1">
                <a:solidFill>
                  <a:srgbClr val="000000"/>
                </a:solidFill>
                <a:uFill>
                  <a:solidFill>
                    <a:srgbClr val="FFFFFF"/>
                  </a:solidFill>
                </a:uFill>
                <a:latin typeface="Calibri"/>
              </a:rPr>
              <a:t>public</a:t>
            </a:r>
            <a:r>
              <a:rPr lang="es-MX" sz="2400" b="0" strike="noStrike" spc="-1" dirty="0">
                <a:solidFill>
                  <a:srgbClr val="000000"/>
                </a:solidFill>
                <a:uFill>
                  <a:solidFill>
                    <a:srgbClr val="FFFFFF"/>
                  </a:solidFill>
                </a:uFill>
                <a:latin typeface="Calibri"/>
              </a:rPr>
              <a:t> 127.0.0.1 1.3.6.1.2.1.2.2.1.14  (</a:t>
            </a:r>
            <a:r>
              <a:rPr lang="es-MX" sz="2400" spc="-1" dirty="0" err="1">
                <a:solidFill>
                  <a:srgbClr val="000000"/>
                </a:solidFill>
                <a:uFill>
                  <a:solidFill>
                    <a:srgbClr val="FFFFFF"/>
                  </a:solidFill>
                </a:uFill>
                <a:latin typeface="Calibri"/>
              </a:rPr>
              <a:t>i</a:t>
            </a:r>
            <a:r>
              <a:rPr lang="es-MX" sz="2400" b="0" strike="noStrike" spc="-1" dirty="0" err="1">
                <a:solidFill>
                  <a:srgbClr val="000000"/>
                </a:solidFill>
                <a:uFill>
                  <a:solidFill>
                    <a:srgbClr val="FFFFFF"/>
                  </a:solidFill>
                </a:uFill>
                <a:latin typeface="Calibri"/>
              </a:rPr>
              <a:t>fInErrors</a:t>
            </a:r>
            <a:r>
              <a:rPr lang="es-MX" sz="2400" b="0" strike="noStrike" spc="-1" dirty="0">
                <a:solidFill>
                  <a:srgbClr val="000000"/>
                </a:solidFill>
                <a:uFill>
                  <a:solidFill>
                    <a:srgbClr val="FFFFFF"/>
                  </a:solidFill>
                </a:uFill>
                <a:latin typeface="Calibri"/>
              </a:rPr>
              <a:t>)</a:t>
            </a:r>
          </a:p>
          <a:p>
            <a:endParaRPr lang="es-MX" sz="2400" spc="-1" dirty="0">
              <a:solidFill>
                <a:srgbClr val="000000"/>
              </a:solidFill>
              <a:uFill>
                <a:solidFill>
                  <a:srgbClr val="FFFFFF"/>
                </a:solidFill>
              </a:uFill>
              <a:latin typeface="Calibri"/>
            </a:endParaRPr>
          </a:p>
          <a:p>
            <a:r>
              <a:rPr lang="es-MX" sz="2400" spc="-1" dirty="0">
                <a:solidFill>
                  <a:srgbClr val="000000"/>
                </a:solidFill>
                <a:uFill>
                  <a:solidFill>
                    <a:srgbClr val="FFFFFF"/>
                  </a:solidFill>
                </a:uFill>
                <a:latin typeface="Calibri"/>
              </a:rPr>
              <a:t>Ej. </a:t>
            </a:r>
            <a:r>
              <a:rPr lang="es-MX" sz="2400" spc="-1" dirty="0" err="1">
                <a:solidFill>
                  <a:srgbClr val="000000"/>
                </a:solidFill>
                <a:uFill>
                  <a:solidFill>
                    <a:srgbClr val="FFFFFF"/>
                  </a:solidFill>
                </a:uFill>
                <a:latin typeface="Calibri"/>
              </a:rPr>
              <a:t>snmpwalk</a:t>
            </a:r>
            <a:r>
              <a:rPr lang="es-MX" sz="2400" spc="-1" dirty="0">
                <a:solidFill>
                  <a:srgbClr val="000000"/>
                </a:solidFill>
                <a:uFill>
                  <a:solidFill>
                    <a:srgbClr val="FFFFFF"/>
                  </a:solidFill>
                </a:uFill>
                <a:latin typeface="Calibri"/>
              </a:rPr>
              <a:t> -v 1 -c </a:t>
            </a:r>
            <a:r>
              <a:rPr lang="es-MX" sz="2400" spc="-1" dirty="0" err="1">
                <a:solidFill>
                  <a:srgbClr val="000000"/>
                </a:solidFill>
                <a:uFill>
                  <a:solidFill>
                    <a:srgbClr val="FFFFFF"/>
                  </a:solidFill>
                </a:uFill>
                <a:latin typeface="Calibri"/>
              </a:rPr>
              <a:t>public</a:t>
            </a:r>
            <a:r>
              <a:rPr lang="es-MX" sz="2400" spc="-1" dirty="0">
                <a:solidFill>
                  <a:srgbClr val="000000"/>
                </a:solidFill>
                <a:uFill>
                  <a:solidFill>
                    <a:srgbClr val="FFFFFF"/>
                  </a:solidFill>
                </a:uFill>
                <a:latin typeface="Calibri"/>
              </a:rPr>
              <a:t> 127.0.0.1 1.3.6.1.2.1.2.2.1.20  (</a:t>
            </a:r>
            <a:r>
              <a:rPr lang="es-MX" sz="2400" spc="-1" dirty="0" err="1">
                <a:solidFill>
                  <a:srgbClr val="000000"/>
                </a:solidFill>
                <a:uFill>
                  <a:solidFill>
                    <a:srgbClr val="FFFFFF"/>
                  </a:solidFill>
                </a:uFill>
                <a:latin typeface="Calibri"/>
              </a:rPr>
              <a:t>ifOutErrors</a:t>
            </a:r>
            <a:r>
              <a:rPr lang="es-MX" sz="2400" spc="-1" dirty="0">
                <a:solidFill>
                  <a:srgbClr val="000000"/>
                </a:solidFill>
                <a:uFill>
                  <a:solidFill>
                    <a:srgbClr val="FFFFFF"/>
                  </a:solidFill>
                </a:uFill>
                <a:latin typeface="Calibri"/>
              </a:rPr>
              <a:t>)</a:t>
            </a:r>
          </a:p>
          <a:p>
            <a:endParaRPr lang="es-MX" sz="2400" spc="-1" dirty="0">
              <a:solidFill>
                <a:srgbClr val="000000"/>
              </a:solidFill>
              <a:uFill>
                <a:solidFill>
                  <a:srgbClr val="FFFFFF"/>
                </a:solidFill>
              </a:uFill>
              <a:latin typeface="Calibri"/>
            </a:endParaRPr>
          </a:p>
          <a:p>
            <a:r>
              <a:rPr lang="es-MX" sz="2400" spc="-1" dirty="0">
                <a:solidFill>
                  <a:srgbClr val="000000"/>
                </a:solidFill>
                <a:uFill>
                  <a:solidFill>
                    <a:srgbClr val="FFFFFF"/>
                  </a:solidFill>
                </a:uFill>
                <a:latin typeface="Calibri"/>
              </a:rPr>
              <a:t>Ej. </a:t>
            </a:r>
            <a:r>
              <a:rPr lang="es-MX" sz="2400" spc="-1" dirty="0" err="1">
                <a:solidFill>
                  <a:srgbClr val="000000"/>
                </a:solidFill>
                <a:uFill>
                  <a:solidFill>
                    <a:srgbClr val="FFFFFF"/>
                  </a:solidFill>
                </a:uFill>
                <a:latin typeface="Calibri"/>
              </a:rPr>
              <a:t>snmpwalk</a:t>
            </a:r>
            <a:r>
              <a:rPr lang="es-MX" sz="2400" spc="-1" dirty="0">
                <a:solidFill>
                  <a:srgbClr val="000000"/>
                </a:solidFill>
                <a:uFill>
                  <a:solidFill>
                    <a:srgbClr val="FFFFFF"/>
                  </a:solidFill>
                </a:uFill>
                <a:latin typeface="Calibri"/>
              </a:rPr>
              <a:t> -v 1 -c </a:t>
            </a:r>
            <a:r>
              <a:rPr lang="es-MX" sz="2400" spc="-1" dirty="0" err="1">
                <a:solidFill>
                  <a:srgbClr val="000000"/>
                </a:solidFill>
                <a:uFill>
                  <a:solidFill>
                    <a:srgbClr val="FFFFFF"/>
                  </a:solidFill>
                </a:uFill>
                <a:latin typeface="Calibri"/>
              </a:rPr>
              <a:t>public</a:t>
            </a:r>
            <a:r>
              <a:rPr lang="es-MX" sz="2400" spc="-1" dirty="0">
                <a:solidFill>
                  <a:srgbClr val="000000"/>
                </a:solidFill>
                <a:uFill>
                  <a:solidFill>
                    <a:srgbClr val="FFFFFF"/>
                  </a:solidFill>
                </a:uFill>
                <a:latin typeface="Calibri"/>
              </a:rPr>
              <a:t>  127.0.0.1 1.3.6.1.2.1.2.2.1.5 (</a:t>
            </a:r>
            <a:r>
              <a:rPr lang="es-MX" sz="2400" spc="-1" dirty="0" err="1">
                <a:solidFill>
                  <a:srgbClr val="000000"/>
                </a:solidFill>
                <a:uFill>
                  <a:solidFill>
                    <a:srgbClr val="FFFFFF"/>
                  </a:solidFill>
                </a:uFill>
                <a:latin typeface="Calibri"/>
              </a:rPr>
              <a:t>ifSpeed</a:t>
            </a:r>
            <a:r>
              <a:rPr lang="es-MX" sz="2400" spc="-1" dirty="0">
                <a:solidFill>
                  <a:srgbClr val="000000"/>
                </a:solidFill>
                <a:uFill>
                  <a:solidFill>
                    <a:srgbClr val="FFFFFF"/>
                  </a:solidFill>
                </a:uFill>
                <a:latin typeface="Calibri"/>
              </a:rPr>
              <a:t>)</a:t>
            </a:r>
          </a:p>
          <a:p>
            <a:endParaRPr lang="es-MX" sz="2400" b="0" strike="noStrike" spc="-1" dirty="0">
              <a:solidFill>
                <a:srgbClr val="000000"/>
              </a:solidFill>
              <a:uFill>
                <a:solidFill>
                  <a:srgbClr val="FFFFFF"/>
                </a:solidFill>
              </a:uFill>
              <a:latin typeface="Arial"/>
            </a:endParaRPr>
          </a:p>
          <a:p>
            <a:pPr>
              <a:lnSpc>
                <a:spcPct val="100000"/>
              </a:lnSpc>
            </a:pPr>
            <a:endParaRPr lang="es-MX" sz="2400" b="0" strike="noStrike" spc="-1" dirty="0">
              <a:solidFill>
                <a:srgbClr val="000000"/>
              </a:solidFill>
              <a:uFill>
                <a:solidFill>
                  <a:srgbClr val="FFFFFF"/>
                </a:solidFill>
              </a:uFill>
              <a:latin typeface="Arial"/>
            </a:endParaRPr>
          </a:p>
          <a:p>
            <a:pPr marL="216000" indent="-216000">
              <a:lnSpc>
                <a:spcPct val="90000"/>
              </a:lnSpc>
              <a:buClr>
                <a:srgbClr val="000000"/>
              </a:buClr>
              <a:buFont typeface="Arial"/>
              <a:buChar char="•"/>
            </a:pPr>
            <a:r>
              <a:rPr lang="es-MX" sz="2400" b="1" strike="noStrike" spc="-1" dirty="0" err="1">
                <a:solidFill>
                  <a:srgbClr val="000000"/>
                </a:solidFill>
                <a:uFill>
                  <a:solidFill>
                    <a:srgbClr val="FFFFFF"/>
                  </a:solidFill>
                </a:uFill>
                <a:latin typeface="Calibri"/>
              </a:rPr>
              <a:t>snmpget</a:t>
            </a:r>
            <a:r>
              <a:rPr lang="es-MX" sz="2400" b="0" strike="noStrike" spc="-1" dirty="0">
                <a:solidFill>
                  <a:srgbClr val="000000"/>
                </a:solidFill>
                <a:uFill>
                  <a:solidFill>
                    <a:srgbClr val="FFFFFF"/>
                  </a:solidFill>
                </a:uFill>
                <a:latin typeface="Calibri"/>
              </a:rPr>
              <a:t>: obtiene una entrada de la MIB</a:t>
            </a:r>
            <a:endParaRPr lang="es-MX" sz="2400" b="0" strike="noStrike" spc="-1" dirty="0">
              <a:solidFill>
                <a:srgbClr val="000000"/>
              </a:solidFill>
              <a:uFill>
                <a:solidFill>
                  <a:srgbClr val="FFFFFF"/>
                </a:solidFill>
              </a:uFill>
              <a:latin typeface="Arial"/>
            </a:endParaRPr>
          </a:p>
          <a:p>
            <a:pPr>
              <a:lnSpc>
                <a:spcPct val="100000"/>
              </a:lnSpc>
            </a:pPr>
            <a:r>
              <a:rPr lang="es-MX" sz="2400" b="0" strike="noStrike" spc="-1" dirty="0">
                <a:solidFill>
                  <a:srgbClr val="000000"/>
                </a:solidFill>
                <a:uFill>
                  <a:solidFill>
                    <a:srgbClr val="FFFFFF"/>
                  </a:solidFill>
                </a:uFill>
                <a:latin typeface="Calibri"/>
              </a:rPr>
              <a:t>Ej. </a:t>
            </a:r>
            <a:r>
              <a:rPr lang="es-MX" sz="2400" b="0" strike="noStrike" spc="-1" dirty="0" err="1">
                <a:solidFill>
                  <a:srgbClr val="000000"/>
                </a:solidFill>
                <a:uFill>
                  <a:solidFill>
                    <a:srgbClr val="FFFFFF"/>
                  </a:solidFill>
                </a:uFill>
                <a:latin typeface="Calibri"/>
              </a:rPr>
              <a:t>snmpget</a:t>
            </a:r>
            <a:r>
              <a:rPr lang="es-MX" sz="2400" b="0" strike="noStrike" spc="-1" dirty="0">
                <a:solidFill>
                  <a:srgbClr val="000000"/>
                </a:solidFill>
                <a:uFill>
                  <a:solidFill>
                    <a:srgbClr val="FFFFFF"/>
                  </a:solidFill>
                </a:uFill>
                <a:latin typeface="Calibri"/>
              </a:rPr>
              <a:t> -v 1 -c </a:t>
            </a:r>
            <a:r>
              <a:rPr lang="es-MX" sz="2400" b="0" strike="noStrike" spc="-1" dirty="0" err="1">
                <a:solidFill>
                  <a:srgbClr val="000000"/>
                </a:solidFill>
                <a:uFill>
                  <a:solidFill>
                    <a:srgbClr val="FFFFFF"/>
                  </a:solidFill>
                </a:uFill>
                <a:latin typeface="Calibri"/>
              </a:rPr>
              <a:t>public</a:t>
            </a:r>
            <a:r>
              <a:rPr lang="es-MX" sz="2400" b="0" strike="noStrike" spc="-1" dirty="0">
                <a:solidFill>
                  <a:srgbClr val="000000"/>
                </a:solidFill>
                <a:uFill>
                  <a:solidFill>
                    <a:srgbClr val="FFFFFF"/>
                  </a:solidFill>
                </a:uFill>
                <a:latin typeface="Calibri"/>
              </a:rPr>
              <a:t> localhost </a:t>
            </a:r>
            <a:r>
              <a:rPr lang="es-MX" sz="2400" spc="-1" dirty="0">
                <a:solidFill>
                  <a:srgbClr val="000000"/>
                </a:solidFill>
                <a:uFill>
                  <a:solidFill>
                    <a:srgbClr val="FFFFFF"/>
                  </a:solidFill>
                </a:uFill>
                <a:latin typeface="Calibri"/>
              </a:rPr>
              <a:t>127.0.0.1 1.3.6.1.2.1.2.2.1.16.</a:t>
            </a:r>
            <a:r>
              <a:rPr lang="es-MX" sz="2400" spc="-1" dirty="0">
                <a:solidFill>
                  <a:srgbClr val="FF0000"/>
                </a:solidFill>
                <a:uFill>
                  <a:solidFill>
                    <a:srgbClr val="FFFFFF"/>
                  </a:solidFill>
                </a:uFill>
                <a:latin typeface="Calibri"/>
              </a:rPr>
              <a:t>1</a:t>
            </a:r>
            <a:r>
              <a:rPr lang="es-MX" sz="2400" b="0" strike="noStrike" spc="-1" dirty="0">
                <a:solidFill>
                  <a:srgbClr val="000000"/>
                </a:solidFill>
                <a:uFill>
                  <a:solidFill>
                    <a:srgbClr val="FFFFFF"/>
                  </a:solidFill>
                </a:uFill>
                <a:latin typeface="Calibri"/>
              </a:rPr>
              <a:t>	//interfaz 1</a:t>
            </a:r>
            <a:endParaRPr lang="es-MX" sz="24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  </a:t>
            </a:r>
            <a:endParaRPr lang="es-MX" sz="1800" b="0" strike="noStrike" spc="-1" dirty="0">
              <a:solidFill>
                <a:srgbClr val="000000"/>
              </a:solidFill>
              <a:uFill>
                <a:solidFill>
                  <a:srgbClr val="FFFFFF"/>
                </a:solidFill>
              </a:uFill>
              <a:latin typeface="Arial"/>
            </a:endParaRPr>
          </a:p>
          <a:p>
            <a:pPr>
              <a:lnSpc>
                <a:spcPct val="100000"/>
              </a:lnSpc>
            </a:pPr>
            <a:endParaRPr lang="es-MX" sz="1800" b="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272975406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CustomShape 1"/>
          <p:cNvSpPr/>
          <p:nvPr/>
        </p:nvSpPr>
        <p:spPr>
          <a:xfrm>
            <a:off x="838080" y="365040"/>
            <a:ext cx="10514880" cy="67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3600" b="0" strike="noStrike" spc="-1">
                <a:solidFill>
                  <a:srgbClr val="000000"/>
                </a:solidFill>
                <a:uFill>
                  <a:solidFill>
                    <a:srgbClr val="FFFFFF"/>
                  </a:solidFill>
                </a:uFill>
                <a:latin typeface="Calibri Light"/>
              </a:rPr>
              <a:t>Aplicaciones</a:t>
            </a:r>
            <a:endParaRPr lang="es-MX" sz="1800" b="0" strike="noStrike" spc="-1">
              <a:solidFill>
                <a:srgbClr val="000000"/>
              </a:solidFill>
              <a:uFill>
                <a:solidFill>
                  <a:srgbClr val="FFFFFF"/>
                </a:solidFill>
              </a:uFill>
              <a:latin typeface="Arial"/>
            </a:endParaRPr>
          </a:p>
        </p:txBody>
      </p:sp>
      <p:sp>
        <p:nvSpPr>
          <p:cNvPr id="148" name="CustomShape 2"/>
          <p:cNvSpPr/>
          <p:nvPr/>
        </p:nvSpPr>
        <p:spPr>
          <a:xfrm>
            <a:off x="466120" y="1042559"/>
            <a:ext cx="10514880" cy="560621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90000"/>
              </a:lnSpc>
              <a:buClr>
                <a:srgbClr val="000000"/>
              </a:buClr>
              <a:buFont typeface="Arial"/>
              <a:buChar char="•"/>
            </a:pPr>
            <a:r>
              <a:rPr lang="es-MX" sz="2800" b="1" spc="-1" dirty="0" err="1">
                <a:solidFill>
                  <a:srgbClr val="000000"/>
                </a:solidFill>
                <a:uFill>
                  <a:solidFill>
                    <a:srgbClr val="FFFFFF"/>
                  </a:solidFill>
                </a:uFill>
                <a:latin typeface="Calibri"/>
              </a:rPr>
              <a:t>Bandwidth</a:t>
            </a:r>
            <a:endParaRPr lang="es-MX" sz="2800" b="1" spc="-1" dirty="0">
              <a:solidFill>
                <a:srgbClr val="000000"/>
              </a:solidFill>
              <a:uFill>
                <a:solidFill>
                  <a:srgbClr val="FFFFFF"/>
                </a:solidFill>
              </a:uFill>
              <a:latin typeface="Calibri"/>
            </a:endParaRPr>
          </a:p>
          <a:p>
            <a:pPr>
              <a:lnSpc>
                <a:spcPct val="90000"/>
              </a:lnSpc>
              <a:buClr>
                <a:srgbClr val="000000"/>
              </a:buClr>
            </a:pPr>
            <a:endParaRPr lang="es-MX" sz="2800" b="1" spc="-1" dirty="0">
              <a:solidFill>
                <a:srgbClr val="000000"/>
              </a:solidFill>
              <a:uFill>
                <a:solidFill>
                  <a:srgbClr val="FFFFFF"/>
                </a:solidFill>
              </a:uFill>
              <a:latin typeface="Calibri"/>
            </a:endParaRPr>
          </a:p>
          <a:p>
            <a:pPr>
              <a:lnSpc>
                <a:spcPct val="90000"/>
              </a:lnSpc>
              <a:buClr>
                <a:srgbClr val="000000"/>
              </a:buClr>
            </a:pPr>
            <a:endParaRPr lang="es-MX" sz="2800" b="1" spc="-1" dirty="0">
              <a:solidFill>
                <a:srgbClr val="000000"/>
              </a:solidFill>
              <a:uFill>
                <a:solidFill>
                  <a:srgbClr val="FFFFFF"/>
                </a:solidFill>
              </a:uFill>
              <a:latin typeface="Calibri"/>
            </a:endParaRPr>
          </a:p>
          <a:p>
            <a:pPr>
              <a:lnSpc>
                <a:spcPct val="90000"/>
              </a:lnSpc>
              <a:buClr>
                <a:srgbClr val="000000"/>
              </a:buClr>
            </a:pPr>
            <a:endParaRPr lang="es-MX" sz="2800" b="1" spc="-1" dirty="0">
              <a:solidFill>
                <a:srgbClr val="000000"/>
              </a:solidFill>
              <a:uFill>
                <a:solidFill>
                  <a:srgbClr val="FFFFFF"/>
                </a:solidFill>
              </a:uFill>
              <a:latin typeface="Calibri"/>
            </a:endParaRPr>
          </a:p>
          <a:p>
            <a:pPr>
              <a:lnSpc>
                <a:spcPct val="90000"/>
              </a:lnSpc>
              <a:buClr>
                <a:srgbClr val="000000"/>
              </a:buClr>
            </a:pPr>
            <a:endParaRPr lang="es-MX" sz="2800" b="1" spc="-1" dirty="0">
              <a:solidFill>
                <a:srgbClr val="000000"/>
              </a:solidFill>
              <a:uFill>
                <a:solidFill>
                  <a:srgbClr val="FFFFFF"/>
                </a:solidFill>
              </a:uFill>
              <a:latin typeface="Calibri"/>
            </a:endParaRPr>
          </a:p>
          <a:p>
            <a:pPr>
              <a:lnSpc>
                <a:spcPct val="90000"/>
              </a:lnSpc>
              <a:buClr>
                <a:srgbClr val="000000"/>
              </a:buClr>
            </a:pPr>
            <a:endParaRPr lang="es-MX" sz="2800" b="1" spc="-1" dirty="0">
              <a:solidFill>
                <a:srgbClr val="000000"/>
              </a:solidFill>
              <a:uFill>
                <a:solidFill>
                  <a:srgbClr val="FFFFFF"/>
                </a:solidFill>
              </a:uFill>
              <a:latin typeface="Calibri"/>
            </a:endParaRPr>
          </a:p>
          <a:p>
            <a:pPr>
              <a:lnSpc>
                <a:spcPct val="90000"/>
              </a:lnSpc>
              <a:buClr>
                <a:srgbClr val="000000"/>
              </a:buClr>
            </a:pPr>
            <a:endParaRPr lang="es-MX" sz="2800" b="1" spc="-1" dirty="0">
              <a:solidFill>
                <a:srgbClr val="000000"/>
              </a:solidFill>
              <a:uFill>
                <a:solidFill>
                  <a:srgbClr val="FFFFFF"/>
                </a:solidFill>
              </a:uFill>
              <a:latin typeface="Calibri"/>
            </a:endParaRPr>
          </a:p>
          <a:p>
            <a:pPr>
              <a:lnSpc>
                <a:spcPct val="90000"/>
              </a:lnSpc>
              <a:buClr>
                <a:srgbClr val="000000"/>
              </a:buClr>
            </a:pPr>
            <a:r>
              <a:rPr lang="es-MX" sz="2800" spc="-1" dirty="0" err="1">
                <a:solidFill>
                  <a:srgbClr val="000000"/>
                </a:solidFill>
                <a:uFill>
                  <a:solidFill>
                    <a:srgbClr val="FFFFFF"/>
                  </a:solidFill>
                </a:uFill>
                <a:latin typeface="Calibri"/>
              </a:rPr>
              <a:t>snmpwalk</a:t>
            </a:r>
            <a:r>
              <a:rPr lang="es-MX" sz="2800" spc="-1" dirty="0">
                <a:solidFill>
                  <a:srgbClr val="000000"/>
                </a:solidFill>
                <a:uFill>
                  <a:solidFill>
                    <a:srgbClr val="FFFFFF"/>
                  </a:solidFill>
                </a:uFill>
                <a:latin typeface="Calibri"/>
              </a:rPr>
              <a:t> -v 1 -c </a:t>
            </a:r>
            <a:r>
              <a:rPr lang="es-MX" sz="2800" spc="-1" dirty="0" err="1">
                <a:solidFill>
                  <a:srgbClr val="000000"/>
                </a:solidFill>
                <a:uFill>
                  <a:solidFill>
                    <a:srgbClr val="FFFFFF"/>
                  </a:solidFill>
                </a:uFill>
                <a:latin typeface="Calibri"/>
              </a:rPr>
              <a:t>public</a:t>
            </a:r>
            <a:r>
              <a:rPr lang="es-MX" sz="2800" spc="-1" dirty="0">
                <a:solidFill>
                  <a:srgbClr val="000000"/>
                </a:solidFill>
                <a:uFill>
                  <a:solidFill>
                    <a:srgbClr val="FFFFFF"/>
                  </a:solidFill>
                </a:uFill>
                <a:latin typeface="Calibri"/>
              </a:rPr>
              <a:t> 127.0.0.1 1.3.6.1.2.1.2.2.1.16  (</a:t>
            </a:r>
            <a:r>
              <a:rPr lang="es-MX" sz="2800" spc="-1" dirty="0" err="1">
                <a:solidFill>
                  <a:srgbClr val="000000"/>
                </a:solidFill>
                <a:uFill>
                  <a:solidFill>
                    <a:srgbClr val="FFFFFF"/>
                  </a:solidFill>
                </a:uFill>
                <a:latin typeface="Calibri"/>
              </a:rPr>
              <a:t>ifOutOctets</a:t>
            </a:r>
            <a:r>
              <a:rPr lang="es-MX" sz="2800" spc="-1" dirty="0">
                <a:solidFill>
                  <a:srgbClr val="000000"/>
                </a:solidFill>
                <a:uFill>
                  <a:solidFill>
                    <a:srgbClr val="FFFFFF"/>
                  </a:solidFill>
                </a:uFill>
                <a:latin typeface="Calibri"/>
              </a:rPr>
              <a:t>)</a:t>
            </a:r>
          </a:p>
          <a:p>
            <a:pPr>
              <a:lnSpc>
                <a:spcPct val="90000"/>
              </a:lnSpc>
              <a:buClr>
                <a:srgbClr val="000000"/>
              </a:buClr>
            </a:pPr>
            <a:r>
              <a:rPr lang="es-MX" sz="2800" b="0" strike="noStrike" spc="-1" dirty="0" err="1">
                <a:solidFill>
                  <a:srgbClr val="000000"/>
                </a:solidFill>
                <a:uFill>
                  <a:solidFill>
                    <a:srgbClr val="FFFFFF"/>
                  </a:solidFill>
                </a:uFill>
                <a:latin typeface="Calibri"/>
              </a:rPr>
              <a:t>snmpwalk</a:t>
            </a:r>
            <a:r>
              <a:rPr lang="es-MX" sz="2800" b="0" strike="noStrike" spc="-1" dirty="0">
                <a:solidFill>
                  <a:srgbClr val="000000"/>
                </a:solidFill>
                <a:uFill>
                  <a:solidFill>
                    <a:srgbClr val="FFFFFF"/>
                  </a:solidFill>
                </a:uFill>
                <a:latin typeface="Calibri"/>
              </a:rPr>
              <a:t> -v 1 -c </a:t>
            </a:r>
            <a:r>
              <a:rPr lang="es-MX" sz="2800" b="0" strike="noStrike" spc="-1" dirty="0" err="1">
                <a:solidFill>
                  <a:srgbClr val="000000"/>
                </a:solidFill>
                <a:uFill>
                  <a:solidFill>
                    <a:srgbClr val="FFFFFF"/>
                  </a:solidFill>
                </a:uFill>
                <a:latin typeface="Calibri"/>
              </a:rPr>
              <a:t>public</a:t>
            </a:r>
            <a:r>
              <a:rPr lang="es-MX" sz="2800" b="0" strike="noStrike" spc="-1" dirty="0">
                <a:solidFill>
                  <a:srgbClr val="000000"/>
                </a:solidFill>
                <a:uFill>
                  <a:solidFill>
                    <a:srgbClr val="FFFFFF"/>
                  </a:solidFill>
                </a:uFill>
                <a:latin typeface="Calibri"/>
              </a:rPr>
              <a:t> 127.0.0.1 1.3.6.1.2.1.2.2.1.10  (</a:t>
            </a:r>
            <a:r>
              <a:rPr lang="es-MX" sz="2800" spc="-1" dirty="0" err="1">
                <a:solidFill>
                  <a:srgbClr val="000000"/>
                </a:solidFill>
                <a:uFill>
                  <a:solidFill>
                    <a:srgbClr val="FFFFFF"/>
                  </a:solidFill>
                </a:uFill>
                <a:latin typeface="Calibri"/>
              </a:rPr>
              <a:t>i</a:t>
            </a:r>
            <a:r>
              <a:rPr lang="es-MX" sz="2800" b="0" strike="noStrike" spc="-1" dirty="0" err="1">
                <a:solidFill>
                  <a:srgbClr val="000000"/>
                </a:solidFill>
                <a:uFill>
                  <a:solidFill>
                    <a:srgbClr val="FFFFFF"/>
                  </a:solidFill>
                </a:uFill>
                <a:latin typeface="Calibri"/>
              </a:rPr>
              <a:t>fInOctets</a:t>
            </a:r>
            <a:r>
              <a:rPr lang="es-MX" sz="2800" b="0" strike="noStrike" spc="-1" dirty="0">
                <a:solidFill>
                  <a:srgbClr val="000000"/>
                </a:solidFill>
                <a:uFill>
                  <a:solidFill>
                    <a:srgbClr val="FFFFFF"/>
                  </a:solidFill>
                </a:uFill>
                <a:latin typeface="Calibri"/>
              </a:rPr>
              <a:t>)</a:t>
            </a:r>
          </a:p>
          <a:p>
            <a:pPr>
              <a:lnSpc>
                <a:spcPct val="90000"/>
              </a:lnSpc>
              <a:buClr>
                <a:srgbClr val="000000"/>
              </a:buClr>
            </a:pPr>
            <a:r>
              <a:rPr lang="es-MX" sz="2800" spc="-1" dirty="0" err="1">
                <a:solidFill>
                  <a:srgbClr val="000000"/>
                </a:solidFill>
                <a:uFill>
                  <a:solidFill>
                    <a:srgbClr val="FFFFFF"/>
                  </a:solidFill>
                </a:uFill>
                <a:latin typeface="Calibri"/>
              </a:rPr>
              <a:t>snmpwalk</a:t>
            </a:r>
            <a:r>
              <a:rPr lang="es-MX" sz="2800" spc="-1" dirty="0">
                <a:solidFill>
                  <a:srgbClr val="000000"/>
                </a:solidFill>
                <a:uFill>
                  <a:solidFill>
                    <a:srgbClr val="FFFFFF"/>
                  </a:solidFill>
                </a:uFill>
                <a:latin typeface="Calibri"/>
              </a:rPr>
              <a:t> -v 1 -c </a:t>
            </a:r>
            <a:r>
              <a:rPr lang="es-MX" sz="2800" spc="-1" dirty="0" err="1">
                <a:solidFill>
                  <a:srgbClr val="000000"/>
                </a:solidFill>
                <a:uFill>
                  <a:solidFill>
                    <a:srgbClr val="FFFFFF"/>
                  </a:solidFill>
                </a:uFill>
                <a:latin typeface="Calibri"/>
              </a:rPr>
              <a:t>public</a:t>
            </a:r>
            <a:r>
              <a:rPr lang="es-MX" sz="2800" spc="-1" dirty="0">
                <a:solidFill>
                  <a:srgbClr val="000000"/>
                </a:solidFill>
                <a:uFill>
                  <a:solidFill>
                    <a:srgbClr val="FFFFFF"/>
                  </a:solidFill>
                </a:uFill>
                <a:latin typeface="Calibri"/>
              </a:rPr>
              <a:t>  127.0.0.1 1.3.6.1.2.1.2.2.1.5 (</a:t>
            </a:r>
            <a:r>
              <a:rPr lang="es-MX" sz="2800" spc="-1" dirty="0" err="1">
                <a:solidFill>
                  <a:srgbClr val="000000"/>
                </a:solidFill>
                <a:uFill>
                  <a:solidFill>
                    <a:srgbClr val="FFFFFF"/>
                  </a:solidFill>
                </a:uFill>
                <a:latin typeface="Calibri"/>
              </a:rPr>
              <a:t>ifSpeed</a:t>
            </a:r>
            <a:r>
              <a:rPr lang="es-MX" sz="2800" spc="-1" dirty="0">
                <a:solidFill>
                  <a:srgbClr val="000000"/>
                </a:solidFill>
                <a:uFill>
                  <a:solidFill>
                    <a:srgbClr val="FFFFFF"/>
                  </a:solidFill>
                </a:uFill>
                <a:latin typeface="Calibri"/>
              </a:rPr>
              <a:t>)</a:t>
            </a:r>
          </a:p>
          <a:p>
            <a:pPr>
              <a:lnSpc>
                <a:spcPct val="90000"/>
              </a:lnSpc>
              <a:buClr>
                <a:srgbClr val="000000"/>
              </a:buClr>
            </a:pPr>
            <a:r>
              <a:rPr lang="es-MX" sz="2800" spc="-1" dirty="0">
                <a:solidFill>
                  <a:srgbClr val="000000"/>
                </a:solidFill>
                <a:uFill>
                  <a:solidFill>
                    <a:srgbClr val="FFFFFF"/>
                  </a:solidFill>
                </a:uFill>
                <a:latin typeface="Calibri"/>
              </a:rPr>
              <a:t>Δ = 10 </a:t>
            </a:r>
            <a:r>
              <a:rPr lang="es-MX" sz="2800" spc="-1" dirty="0" err="1">
                <a:solidFill>
                  <a:srgbClr val="000000"/>
                </a:solidFill>
                <a:uFill>
                  <a:solidFill>
                    <a:srgbClr val="FFFFFF"/>
                  </a:solidFill>
                </a:uFill>
                <a:latin typeface="Calibri"/>
              </a:rPr>
              <a:t>seg</a:t>
            </a:r>
            <a:r>
              <a:rPr lang="es-MX" sz="2800" spc="-1" dirty="0">
                <a:solidFill>
                  <a:srgbClr val="000000"/>
                </a:solidFill>
                <a:uFill>
                  <a:solidFill>
                    <a:srgbClr val="FFFFFF"/>
                  </a:solidFill>
                </a:uFill>
                <a:latin typeface="Calibri"/>
              </a:rPr>
              <a:t>.</a:t>
            </a:r>
            <a:endParaRPr lang="es-MX" sz="2800" b="0" strike="noStrike" spc="-1" dirty="0">
              <a:solidFill>
                <a:srgbClr val="000000"/>
              </a:solidFill>
              <a:uFill>
                <a:solidFill>
                  <a:srgbClr val="FFFFFF"/>
                </a:solidFill>
              </a:uFill>
              <a:latin typeface="Calibri"/>
            </a:endParaRPr>
          </a:p>
          <a:p>
            <a:pPr>
              <a:lnSpc>
                <a:spcPct val="90000"/>
              </a:lnSpc>
              <a:buClr>
                <a:srgbClr val="000000"/>
              </a:buClr>
            </a:pPr>
            <a:endParaRPr lang="es-MX" sz="2800" b="0" strike="noStrike" spc="-1" dirty="0">
              <a:solidFill>
                <a:srgbClr val="000000"/>
              </a:solidFill>
              <a:uFill>
                <a:solidFill>
                  <a:srgbClr val="FFFFFF"/>
                </a:solidFill>
              </a:uFill>
              <a:latin typeface="Calibri"/>
            </a:endParaRPr>
          </a:p>
          <a:p>
            <a:pPr>
              <a:lnSpc>
                <a:spcPct val="90000"/>
              </a:lnSpc>
              <a:buClr>
                <a:srgbClr val="000000"/>
              </a:buClr>
            </a:pPr>
            <a:r>
              <a:rPr lang="es-MX" sz="2800" spc="-1" dirty="0">
                <a:solidFill>
                  <a:srgbClr val="000000"/>
                </a:solidFill>
                <a:uFill>
                  <a:solidFill>
                    <a:srgbClr val="FFFFFF"/>
                  </a:solidFill>
                </a:uFill>
                <a:latin typeface="Calibri"/>
              </a:rPr>
              <a:t>Δ </a:t>
            </a:r>
            <a:r>
              <a:rPr lang="es-MX" sz="2800" spc="-1" dirty="0" err="1">
                <a:solidFill>
                  <a:srgbClr val="000000"/>
                </a:solidFill>
                <a:uFill>
                  <a:solidFill>
                    <a:srgbClr val="FFFFFF"/>
                  </a:solidFill>
                </a:uFill>
                <a:latin typeface="Calibri"/>
              </a:rPr>
              <a:t>ifInOctets</a:t>
            </a:r>
            <a:r>
              <a:rPr lang="es-MX" sz="2800" spc="-1" dirty="0">
                <a:solidFill>
                  <a:srgbClr val="000000"/>
                </a:solidFill>
                <a:uFill>
                  <a:solidFill>
                    <a:srgbClr val="FFFFFF"/>
                  </a:solidFill>
                </a:uFill>
                <a:latin typeface="Calibri"/>
              </a:rPr>
              <a:t> = ifInOctets</a:t>
            </a:r>
            <a:r>
              <a:rPr lang="es-MX" sz="2800" spc="-1" baseline="-25000" dirty="0">
                <a:solidFill>
                  <a:srgbClr val="000000"/>
                </a:solidFill>
                <a:uFill>
                  <a:solidFill>
                    <a:srgbClr val="FFFFFF"/>
                  </a:solidFill>
                </a:uFill>
                <a:latin typeface="Calibri"/>
              </a:rPr>
              <a:t>2</a:t>
            </a:r>
            <a:r>
              <a:rPr lang="es-MX" sz="2800" spc="-1" dirty="0">
                <a:solidFill>
                  <a:srgbClr val="000000"/>
                </a:solidFill>
                <a:uFill>
                  <a:solidFill>
                    <a:srgbClr val="FFFFFF"/>
                  </a:solidFill>
                </a:uFill>
                <a:latin typeface="Calibri"/>
              </a:rPr>
              <a:t> –ifInOctets</a:t>
            </a:r>
            <a:r>
              <a:rPr lang="es-MX" sz="2800" spc="-1" baseline="-25000" dirty="0">
                <a:solidFill>
                  <a:srgbClr val="000000"/>
                </a:solidFill>
                <a:uFill>
                  <a:solidFill>
                    <a:srgbClr val="FFFFFF"/>
                  </a:solidFill>
                </a:uFill>
                <a:latin typeface="Calibri"/>
              </a:rPr>
              <a:t>1</a:t>
            </a:r>
            <a:endParaRPr lang="es-MX" sz="2800" b="0" strike="noStrike" spc="-1" baseline="-25000" dirty="0">
              <a:solidFill>
                <a:srgbClr val="000000"/>
              </a:solidFill>
              <a:uFill>
                <a:solidFill>
                  <a:srgbClr val="FFFFFF"/>
                </a:solidFill>
              </a:uFill>
              <a:latin typeface="Calibri"/>
            </a:endParaRPr>
          </a:p>
          <a:p>
            <a:pPr>
              <a:lnSpc>
                <a:spcPct val="90000"/>
              </a:lnSpc>
              <a:buClr>
                <a:srgbClr val="000000"/>
              </a:buClr>
            </a:pPr>
            <a:r>
              <a:rPr lang="es-MX" sz="2800" spc="-1" dirty="0">
                <a:solidFill>
                  <a:srgbClr val="000000"/>
                </a:solidFill>
                <a:uFill>
                  <a:solidFill>
                    <a:srgbClr val="FFFFFF"/>
                  </a:solidFill>
                </a:uFill>
                <a:latin typeface="Calibri"/>
              </a:rPr>
              <a:t>Δ </a:t>
            </a:r>
            <a:r>
              <a:rPr lang="es-MX" sz="2800" spc="-1" dirty="0" err="1">
                <a:solidFill>
                  <a:srgbClr val="000000"/>
                </a:solidFill>
                <a:uFill>
                  <a:solidFill>
                    <a:srgbClr val="FFFFFF"/>
                  </a:solidFill>
                </a:uFill>
                <a:latin typeface="Calibri"/>
              </a:rPr>
              <a:t>ifOutOctets</a:t>
            </a:r>
            <a:r>
              <a:rPr lang="es-MX" sz="2800" spc="-1" dirty="0">
                <a:solidFill>
                  <a:srgbClr val="000000"/>
                </a:solidFill>
                <a:uFill>
                  <a:solidFill>
                    <a:srgbClr val="FFFFFF"/>
                  </a:solidFill>
                </a:uFill>
                <a:latin typeface="Calibri"/>
              </a:rPr>
              <a:t> = ifOutOctets</a:t>
            </a:r>
            <a:r>
              <a:rPr lang="es-MX" sz="2800" spc="-1" baseline="-25000" dirty="0">
                <a:solidFill>
                  <a:srgbClr val="000000"/>
                </a:solidFill>
                <a:uFill>
                  <a:solidFill>
                    <a:srgbClr val="FFFFFF"/>
                  </a:solidFill>
                </a:uFill>
                <a:latin typeface="Calibri"/>
              </a:rPr>
              <a:t>2</a:t>
            </a:r>
            <a:r>
              <a:rPr lang="es-MX" sz="2800" spc="-1" dirty="0">
                <a:solidFill>
                  <a:srgbClr val="000000"/>
                </a:solidFill>
                <a:uFill>
                  <a:solidFill>
                    <a:srgbClr val="FFFFFF"/>
                  </a:solidFill>
                </a:uFill>
                <a:latin typeface="Calibri"/>
              </a:rPr>
              <a:t> –ifOutOctets</a:t>
            </a:r>
            <a:r>
              <a:rPr lang="es-MX" sz="2800" spc="-1" baseline="-25000" dirty="0">
                <a:solidFill>
                  <a:srgbClr val="000000"/>
                </a:solidFill>
                <a:uFill>
                  <a:solidFill>
                    <a:srgbClr val="FFFFFF"/>
                  </a:solidFill>
                </a:uFill>
                <a:latin typeface="Calibri"/>
              </a:rPr>
              <a:t>1</a:t>
            </a:r>
            <a:endParaRPr lang="es-MX" sz="2800" b="0" strike="noStrike" spc="-1" baseline="-25000" dirty="0">
              <a:solidFill>
                <a:srgbClr val="000000"/>
              </a:solidFill>
              <a:uFill>
                <a:solidFill>
                  <a:srgbClr val="FFFFFF"/>
                </a:solidFill>
              </a:uFill>
              <a:latin typeface="Calibri"/>
            </a:endParaRPr>
          </a:p>
          <a:p>
            <a:pPr>
              <a:lnSpc>
                <a:spcPct val="90000"/>
              </a:lnSpc>
              <a:buClr>
                <a:srgbClr val="000000"/>
              </a:buClr>
            </a:pPr>
            <a:endParaRPr lang="es-MX" sz="2800" b="0" strike="noStrike" spc="-1" dirty="0">
              <a:solidFill>
                <a:srgbClr val="000000"/>
              </a:solidFill>
              <a:uFill>
                <a:solidFill>
                  <a:srgbClr val="FFFFFF"/>
                </a:solidFill>
              </a:uFill>
              <a:latin typeface="Calibri"/>
            </a:endParaRPr>
          </a:p>
          <a:p>
            <a:pPr>
              <a:lnSpc>
                <a:spcPct val="90000"/>
              </a:lnSpc>
              <a:buClr>
                <a:srgbClr val="000000"/>
              </a:buClr>
            </a:pPr>
            <a:endParaRPr lang="es-MX" sz="2800" spc="-1" dirty="0">
              <a:solidFill>
                <a:srgbClr val="000000"/>
              </a:solidFill>
              <a:uFill>
                <a:solidFill>
                  <a:srgbClr val="FFFFFF"/>
                </a:solidFill>
              </a:uFill>
              <a:latin typeface="Calibri"/>
            </a:endParaRPr>
          </a:p>
          <a:p>
            <a:pPr>
              <a:lnSpc>
                <a:spcPct val="90000"/>
              </a:lnSpc>
              <a:buClr>
                <a:srgbClr val="000000"/>
              </a:buClr>
            </a:pPr>
            <a:endParaRPr lang="es-MX" sz="2800" b="1" spc="-1" dirty="0">
              <a:solidFill>
                <a:srgbClr val="000000"/>
              </a:solidFill>
              <a:uFill>
                <a:solidFill>
                  <a:srgbClr val="FFFFFF"/>
                </a:solidFill>
              </a:uFill>
              <a:latin typeface="Calibri"/>
            </a:endParaRPr>
          </a:p>
          <a:p>
            <a:pPr>
              <a:lnSpc>
                <a:spcPct val="90000"/>
              </a:lnSpc>
              <a:buClr>
                <a:srgbClr val="000000"/>
              </a:buClr>
            </a:pPr>
            <a:r>
              <a:rPr lang="es-MX" sz="2800" b="1" strike="noStrike" spc="-1" dirty="0">
                <a:solidFill>
                  <a:srgbClr val="000000"/>
                </a:solidFill>
                <a:uFill>
                  <a:solidFill>
                    <a:srgbClr val="FFFFFF"/>
                  </a:solidFill>
                </a:uFill>
                <a:latin typeface="Calibri"/>
              </a:rPr>
              <a:t>   </a:t>
            </a:r>
          </a:p>
          <a:p>
            <a:pPr>
              <a:lnSpc>
                <a:spcPct val="90000"/>
              </a:lnSpc>
              <a:buClr>
                <a:srgbClr val="000000"/>
              </a:buClr>
            </a:pPr>
            <a:r>
              <a:rPr lang="es-MX" sz="2800" b="1" spc="-1" dirty="0">
                <a:solidFill>
                  <a:srgbClr val="000000"/>
                </a:solidFill>
                <a:uFill>
                  <a:solidFill>
                    <a:srgbClr val="FFFFFF"/>
                  </a:solidFill>
                </a:uFill>
                <a:latin typeface="Calibri"/>
              </a:rPr>
              <a:t>  </a:t>
            </a:r>
            <a:r>
              <a:rPr lang="es-MX" sz="2800" b="0" strike="noStrike" spc="-1" dirty="0">
                <a:solidFill>
                  <a:srgbClr val="000000"/>
                </a:solidFill>
                <a:uFill>
                  <a:solidFill>
                    <a:srgbClr val="FFFFFF"/>
                  </a:solidFill>
                </a:uFill>
                <a:latin typeface="Calibri"/>
              </a:rPr>
              <a:t>	</a:t>
            </a:r>
            <a:endParaRPr lang="es-MX" sz="1800" b="0" strike="noStrike" spc="-1" dirty="0">
              <a:solidFill>
                <a:srgbClr val="000000"/>
              </a:solidFill>
              <a:uFill>
                <a:solidFill>
                  <a:srgbClr val="FFFFFF"/>
                </a:solidFill>
              </a:uFill>
              <a:latin typeface="Arial"/>
            </a:endParaRPr>
          </a:p>
          <a:p>
            <a:pPr>
              <a:lnSpc>
                <a:spcPct val="100000"/>
              </a:lnSpc>
            </a:pPr>
            <a:r>
              <a:rPr lang="es-MX" sz="2800" b="0" strike="noStrike" spc="-1" dirty="0">
                <a:solidFill>
                  <a:srgbClr val="000000"/>
                </a:solidFill>
                <a:uFill>
                  <a:solidFill>
                    <a:srgbClr val="FFFFFF"/>
                  </a:solidFill>
                </a:uFill>
                <a:latin typeface="Calibri"/>
              </a:rPr>
              <a:t>  </a:t>
            </a:r>
            <a:endParaRPr lang="es-MX" sz="1800" b="0" strike="noStrike" spc="-1" dirty="0">
              <a:solidFill>
                <a:srgbClr val="000000"/>
              </a:solidFill>
              <a:uFill>
                <a:solidFill>
                  <a:srgbClr val="FFFFFF"/>
                </a:solidFill>
              </a:uFill>
              <a:latin typeface="Arial"/>
            </a:endParaRPr>
          </a:p>
          <a:p>
            <a:pPr>
              <a:lnSpc>
                <a:spcPct val="100000"/>
              </a:lnSpc>
            </a:pPr>
            <a:endParaRPr lang="es-MX" sz="1800" b="0" strike="noStrike" spc="-1" dirty="0">
              <a:solidFill>
                <a:srgbClr val="000000"/>
              </a:solidFill>
              <a:uFill>
                <a:solidFill>
                  <a:srgbClr val="FFFFFF"/>
                </a:solidFill>
              </a:uFill>
              <a:latin typeface="Arial"/>
            </a:endParaRPr>
          </a:p>
        </p:txBody>
      </p:sp>
      <p:pic>
        <p:nvPicPr>
          <p:cNvPr id="3" name="Imagen 2">
            <a:extLst>
              <a:ext uri="{FF2B5EF4-FFF2-40B4-BE49-F238E27FC236}">
                <a16:creationId xmlns:a16="http://schemas.microsoft.com/office/drawing/2014/main" id="{1A60BB6B-4E72-9B6B-83E3-F082E62F83FC}"/>
              </a:ext>
            </a:extLst>
          </p:cNvPr>
          <p:cNvPicPr>
            <a:picLocks noChangeAspect="1"/>
          </p:cNvPicPr>
          <p:nvPr/>
        </p:nvPicPr>
        <p:blipFill>
          <a:blip r:embed="rId2"/>
          <a:stretch>
            <a:fillRect/>
          </a:stretch>
        </p:blipFill>
        <p:spPr>
          <a:xfrm>
            <a:off x="2737630" y="1042560"/>
            <a:ext cx="5476875" cy="2038350"/>
          </a:xfrm>
          <a:prstGeom prst="rect">
            <a:avLst/>
          </a:prstGeom>
        </p:spPr>
      </p:pic>
    </p:spTree>
    <p:extLst>
      <p:ext uri="{BB962C8B-B14F-4D97-AF65-F5344CB8AC3E}">
        <p14:creationId xmlns:p14="http://schemas.microsoft.com/office/powerpoint/2010/main" val="30551586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extShape 1"/>
          <p:cNvSpPr txBox="1"/>
          <p:nvPr/>
        </p:nvSpPr>
        <p:spPr>
          <a:xfrm>
            <a:off x="1224000" y="720000"/>
            <a:ext cx="1877040" cy="346320"/>
          </a:xfrm>
          <a:prstGeom prst="rect">
            <a:avLst/>
          </a:prstGeom>
          <a:noFill/>
          <a:ln>
            <a:noFill/>
          </a:ln>
        </p:spPr>
        <p:txBody>
          <a:bodyPr lIns="90000" tIns="45000" rIns="90000" bIns="45000"/>
          <a:lstStyle/>
          <a:p>
            <a:r>
              <a:rPr lang="es-MX" sz="1800" b="0" strike="noStrike" spc="-1">
                <a:solidFill>
                  <a:srgbClr val="000000"/>
                </a:solidFill>
                <a:uFill>
                  <a:solidFill>
                    <a:srgbClr val="FFFFFF"/>
                  </a:solidFill>
                </a:uFill>
                <a:latin typeface="Arial"/>
              </a:rPr>
              <a:t>OID’s de interés:</a:t>
            </a:r>
          </a:p>
        </p:txBody>
      </p:sp>
      <p:sp>
        <p:nvSpPr>
          <p:cNvPr id="150" name="TextShape 2"/>
          <p:cNvSpPr txBox="1"/>
          <p:nvPr/>
        </p:nvSpPr>
        <p:spPr>
          <a:xfrm>
            <a:off x="1224000" y="1728000"/>
            <a:ext cx="6311880" cy="3929760"/>
          </a:xfrm>
          <a:prstGeom prst="rect">
            <a:avLst/>
          </a:prstGeom>
          <a:noFill/>
          <a:ln>
            <a:noFill/>
          </a:ln>
        </p:spPr>
        <p:txBody>
          <a:bodyPr lIns="90000" tIns="45000" rIns="90000" bIns="45000"/>
          <a:lstStyle/>
          <a:p>
            <a:r>
              <a:rPr lang="es-MX" sz="1800" b="0" strike="noStrike" spc="-1">
                <a:solidFill>
                  <a:srgbClr val="000000"/>
                </a:solidFill>
                <a:uFill>
                  <a:solidFill>
                    <a:srgbClr val="FFFFFF"/>
                  </a:solidFill>
                </a:uFill>
                <a:latin typeface="Arial"/>
              </a:rPr>
              <a:t>CPU Statistics</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-Load</a:t>
            </a:r>
          </a:p>
          <a:p>
            <a:r>
              <a:rPr lang="es-MX" sz="1800" b="0" strike="noStrike" spc="-1">
                <a:solidFill>
                  <a:srgbClr val="000000"/>
                </a:solidFill>
                <a:uFill>
                  <a:solidFill>
                    <a:srgbClr val="FFFFFF"/>
                  </a:solidFill>
                </a:uFill>
                <a:latin typeface="Arial"/>
              </a:rPr>
              <a:t>  1 minute Load: .1.3.6.1.4.1.2021.10.1.3.1</a:t>
            </a:r>
          </a:p>
          <a:p>
            <a:r>
              <a:rPr lang="es-MX" sz="1800" b="0" strike="noStrike" spc="-1">
                <a:solidFill>
                  <a:srgbClr val="000000"/>
                </a:solidFill>
                <a:uFill>
                  <a:solidFill>
                    <a:srgbClr val="FFFFFF"/>
                  </a:solidFill>
                </a:uFill>
                <a:latin typeface="Arial"/>
              </a:rPr>
              <a:t>  5 minute Load: .1.3.6.1.4.1.2021.10.1.3.2</a:t>
            </a:r>
          </a:p>
          <a:p>
            <a:r>
              <a:rPr lang="es-MX" sz="1800" b="0" strike="noStrike" spc="-1">
                <a:solidFill>
                  <a:srgbClr val="000000"/>
                </a:solidFill>
                <a:uFill>
                  <a:solidFill>
                    <a:srgbClr val="FFFFFF"/>
                  </a:solidFill>
                </a:uFill>
                <a:latin typeface="Arial"/>
              </a:rPr>
              <a:t>  15 minute Load: .1.3.6.1.4.1.2021.10.1.3.3</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-CPU</a:t>
            </a:r>
          </a:p>
          <a:p>
            <a:r>
              <a:rPr lang="es-MX" sz="1800" b="0" strike="noStrike" spc="-1">
                <a:solidFill>
                  <a:srgbClr val="000000"/>
                </a:solidFill>
                <a:uFill>
                  <a:solidFill>
                    <a:srgbClr val="FFFFFF"/>
                  </a:solidFill>
                </a:uFill>
                <a:latin typeface="Arial"/>
              </a:rPr>
              <a:t>  percentage of user CPU time: .1.3.6.1.4.1.2021.11.9.0</a:t>
            </a:r>
          </a:p>
          <a:p>
            <a:r>
              <a:rPr lang="es-MX" sz="1800" b="0" strike="noStrike" spc="-1">
                <a:solidFill>
                  <a:srgbClr val="000000"/>
                </a:solidFill>
                <a:uFill>
                  <a:solidFill>
                    <a:srgbClr val="FFFFFF"/>
                  </a:solidFill>
                </a:uFill>
                <a:latin typeface="Arial"/>
              </a:rPr>
              <a:t>  raw user cpu time: .1.3.6.1.4.1.2021.11.50.0</a:t>
            </a:r>
          </a:p>
          <a:p>
            <a:r>
              <a:rPr lang="es-MX" sz="1800" b="0" strike="noStrike" spc="-1">
                <a:solidFill>
                  <a:srgbClr val="000000"/>
                </a:solidFill>
                <a:uFill>
                  <a:solidFill>
                    <a:srgbClr val="FFFFFF"/>
                  </a:solidFill>
                </a:uFill>
                <a:latin typeface="Arial"/>
              </a:rPr>
              <a:t>  percentages of system CPU time: .1.3.6.1.4.1.2021.11.10.0</a:t>
            </a:r>
          </a:p>
          <a:p>
            <a:r>
              <a:rPr lang="es-MX" sz="1800" b="0" strike="noStrike" spc="-1">
                <a:solidFill>
                  <a:srgbClr val="000000"/>
                </a:solidFill>
                <a:uFill>
                  <a:solidFill>
                    <a:srgbClr val="FFFFFF"/>
                  </a:solidFill>
                </a:uFill>
                <a:latin typeface="Arial"/>
              </a:rPr>
              <a:t>  raw system cpu time: .1.3.6.1.4.1.2021.11.52.0</a:t>
            </a:r>
          </a:p>
          <a:p>
            <a:r>
              <a:rPr lang="es-MX" sz="1800" b="0" strike="noStrike" spc="-1">
                <a:solidFill>
                  <a:srgbClr val="000000"/>
                </a:solidFill>
                <a:uFill>
                  <a:solidFill>
                    <a:srgbClr val="FFFFFF"/>
                  </a:solidFill>
                </a:uFill>
                <a:latin typeface="Arial"/>
              </a:rPr>
              <a:t>  percentages of idle CPU time: .1.3.6.1.4.1.2021.11.11.0</a:t>
            </a:r>
          </a:p>
          <a:p>
            <a:r>
              <a:rPr lang="es-MX" sz="1800" b="0" strike="noStrike" spc="-1">
                <a:solidFill>
                  <a:srgbClr val="000000"/>
                </a:solidFill>
                <a:uFill>
                  <a:solidFill>
                    <a:srgbClr val="FFFFFF"/>
                  </a:solidFill>
                </a:uFill>
                <a:latin typeface="Arial"/>
              </a:rPr>
              <a:t>  raw idle cpu time: .1.3.6.1.4.1.2021.11.53.0</a:t>
            </a:r>
          </a:p>
          <a:p>
            <a:r>
              <a:rPr lang="es-MX" sz="1800" b="0" strike="noStrike" spc="-1">
                <a:solidFill>
                  <a:srgbClr val="000000"/>
                </a:solidFill>
                <a:uFill>
                  <a:solidFill>
                    <a:srgbClr val="FFFFFF"/>
                  </a:solidFill>
                </a:uFill>
                <a:latin typeface="Arial"/>
              </a:rPr>
              <a:t>  raw nice cpu time: .1.3.6.1.4.1.2021.11.51.0</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extShape 1"/>
          <p:cNvSpPr txBox="1"/>
          <p:nvPr/>
        </p:nvSpPr>
        <p:spPr>
          <a:xfrm>
            <a:off x="1224000" y="720000"/>
            <a:ext cx="1877040" cy="346320"/>
          </a:xfrm>
          <a:prstGeom prst="rect">
            <a:avLst/>
          </a:prstGeom>
          <a:noFill/>
          <a:ln>
            <a:noFill/>
          </a:ln>
        </p:spPr>
        <p:txBody>
          <a:bodyPr lIns="90000" tIns="45000" rIns="90000" bIns="45000"/>
          <a:lstStyle/>
          <a:p>
            <a:r>
              <a:rPr lang="es-MX" sz="1800" b="0" strike="noStrike" spc="-1">
                <a:solidFill>
                  <a:srgbClr val="000000"/>
                </a:solidFill>
                <a:uFill>
                  <a:solidFill>
                    <a:srgbClr val="FFFFFF"/>
                  </a:solidFill>
                </a:uFill>
                <a:latin typeface="Arial"/>
              </a:rPr>
              <a:t>OID’s de interés:</a:t>
            </a:r>
          </a:p>
        </p:txBody>
      </p:sp>
      <p:sp>
        <p:nvSpPr>
          <p:cNvPr id="152" name="TextShape 2"/>
          <p:cNvSpPr txBox="1"/>
          <p:nvPr/>
        </p:nvSpPr>
        <p:spPr>
          <a:xfrm>
            <a:off x="477360" y="1728000"/>
            <a:ext cx="5066640" cy="3673800"/>
          </a:xfrm>
          <a:prstGeom prst="rect">
            <a:avLst/>
          </a:prstGeom>
          <a:noFill/>
          <a:ln>
            <a:noFill/>
          </a:ln>
        </p:spPr>
        <p:txBody>
          <a:bodyPr lIns="90000" tIns="45000" rIns="90000" bIns="45000"/>
          <a:lstStyle/>
          <a:p>
            <a:r>
              <a:rPr lang="es-MX" sz="1800" b="0" strike="noStrike" spc="-1">
                <a:solidFill>
                  <a:srgbClr val="000000"/>
                </a:solidFill>
                <a:uFill>
                  <a:solidFill>
                    <a:srgbClr val="FFFFFF"/>
                  </a:solidFill>
                </a:uFill>
                <a:latin typeface="Arial"/>
              </a:rPr>
              <a:t>-Memory Statistics</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  Total Swap Size: .1.3.6.1.4.1.2021.4.3.0</a:t>
            </a:r>
          </a:p>
          <a:p>
            <a:r>
              <a:rPr lang="es-MX" sz="1800" b="0" strike="noStrike" spc="-1">
                <a:solidFill>
                  <a:srgbClr val="000000"/>
                </a:solidFill>
                <a:uFill>
                  <a:solidFill>
                    <a:srgbClr val="FFFFFF"/>
                  </a:solidFill>
                </a:uFill>
                <a:latin typeface="Arial"/>
              </a:rPr>
              <a:t>  Available Swap Space: .1.3.6.1.4.1.2021.4.4.0</a:t>
            </a:r>
          </a:p>
          <a:p>
            <a:r>
              <a:rPr lang="es-MX" sz="1800" b="0" strike="noStrike" spc="-1">
                <a:solidFill>
                  <a:srgbClr val="000000"/>
                </a:solidFill>
                <a:uFill>
                  <a:solidFill>
                    <a:srgbClr val="FFFFFF"/>
                  </a:solidFill>
                </a:uFill>
                <a:latin typeface="Arial"/>
              </a:rPr>
              <a:t>  Total RAM in machine: .1.3.6.1.4.1.2021.4.5.0</a:t>
            </a:r>
          </a:p>
          <a:p>
            <a:r>
              <a:rPr lang="es-MX" sz="1800" b="0" strike="noStrike" spc="-1">
                <a:solidFill>
                  <a:srgbClr val="000000"/>
                </a:solidFill>
                <a:uFill>
                  <a:solidFill>
                    <a:srgbClr val="FFFFFF"/>
                  </a:solidFill>
                </a:uFill>
                <a:latin typeface="Arial"/>
              </a:rPr>
              <a:t>  Total RAM used: .1.3.6.1.4.1.2021.4.6.0</a:t>
            </a:r>
          </a:p>
          <a:p>
            <a:r>
              <a:rPr lang="es-MX" sz="1800" b="0" strike="noStrike" spc="-1">
                <a:solidFill>
                  <a:srgbClr val="000000"/>
                </a:solidFill>
                <a:uFill>
                  <a:solidFill>
                    <a:srgbClr val="FFFFFF"/>
                  </a:solidFill>
                </a:uFill>
                <a:latin typeface="Arial"/>
              </a:rPr>
              <a:t>  Total RAM Free: .1.3.6.1.4.1.2021.4.11.0</a:t>
            </a:r>
          </a:p>
          <a:p>
            <a:r>
              <a:rPr lang="es-MX" sz="1800" b="0" strike="noStrike" spc="-1">
                <a:solidFill>
                  <a:srgbClr val="000000"/>
                </a:solidFill>
                <a:uFill>
                  <a:solidFill>
                    <a:srgbClr val="FFFFFF"/>
                  </a:solidFill>
                </a:uFill>
                <a:latin typeface="Arial"/>
              </a:rPr>
              <a:t>  Total RAM Shared: .1.3.6.1.4.1.2021.4.13.0</a:t>
            </a:r>
          </a:p>
          <a:p>
            <a:r>
              <a:rPr lang="es-MX" sz="1800" b="0" strike="noStrike" spc="-1">
                <a:solidFill>
                  <a:srgbClr val="000000"/>
                </a:solidFill>
                <a:uFill>
                  <a:solidFill>
                    <a:srgbClr val="FFFFFF"/>
                  </a:solidFill>
                </a:uFill>
                <a:latin typeface="Arial"/>
              </a:rPr>
              <a:t>  Total RAM Buffered: .1.3.6.1.4.1.2021.4.14.0</a:t>
            </a:r>
          </a:p>
          <a:p>
            <a:r>
              <a:rPr lang="es-MX" sz="1800" b="0" strike="noStrike" spc="-1">
                <a:solidFill>
                  <a:srgbClr val="000000"/>
                </a:solidFill>
                <a:uFill>
                  <a:solidFill>
                    <a:srgbClr val="FFFFFF"/>
                  </a:solidFill>
                </a:uFill>
                <a:latin typeface="Arial"/>
              </a:rPr>
              <a:t>  Total Cached Memory: .1.3.6.1.4.1.2021.4.15.0</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-System uptime</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  System Uptime: .1.3.6.1.2.1.1.3.0</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648000" y="360000"/>
            <a:ext cx="1877040" cy="346320"/>
          </a:xfrm>
          <a:prstGeom prst="rect">
            <a:avLst/>
          </a:prstGeom>
          <a:noFill/>
          <a:ln>
            <a:noFill/>
          </a:ln>
        </p:spPr>
        <p:txBody>
          <a:bodyPr lIns="90000" tIns="45000" rIns="90000" bIns="45000"/>
          <a:lstStyle/>
          <a:p>
            <a:r>
              <a:rPr lang="es-MX" sz="1800" b="0" strike="noStrike" spc="-1">
                <a:solidFill>
                  <a:srgbClr val="000000"/>
                </a:solidFill>
                <a:uFill>
                  <a:solidFill>
                    <a:srgbClr val="FFFFFF"/>
                  </a:solidFill>
                </a:uFill>
                <a:latin typeface="Arial"/>
              </a:rPr>
              <a:t>OID’s de interés:</a:t>
            </a:r>
          </a:p>
        </p:txBody>
      </p:sp>
      <p:sp>
        <p:nvSpPr>
          <p:cNvPr id="154" name="TextShape 2"/>
          <p:cNvSpPr txBox="1"/>
          <p:nvPr/>
        </p:nvSpPr>
        <p:spPr>
          <a:xfrm>
            <a:off x="333360" y="814680"/>
            <a:ext cx="10394640" cy="5521680"/>
          </a:xfrm>
          <a:prstGeom prst="rect">
            <a:avLst/>
          </a:prstGeom>
          <a:noFill/>
          <a:ln>
            <a:noFill/>
          </a:ln>
        </p:spPr>
        <p:txBody>
          <a:bodyPr lIns="90000" tIns="45000" rIns="90000" bIns="45000"/>
          <a:lstStyle/>
          <a:p>
            <a:r>
              <a:rPr lang="es-MX" sz="1800" b="0" strike="noStrike" spc="-1">
                <a:solidFill>
                  <a:srgbClr val="000000"/>
                </a:solidFill>
                <a:uFill>
                  <a:solidFill>
                    <a:srgbClr val="FFFFFF"/>
                  </a:solidFill>
                </a:uFill>
                <a:latin typeface="Arial"/>
              </a:rPr>
              <a:t>-Disk Statistics</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The snmpd.conf needs to be edited. Add the following (assuming a machine with a single ‘/' partition):</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disk / 100000 (or)</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includeAllDisks 10% for all partitions and disks</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The OIDs are as follows</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Path where the disk is mounted: .1.3.6.1.4.1.2021.9.1.2.1</a:t>
            </a:r>
          </a:p>
          <a:p>
            <a:r>
              <a:rPr lang="es-MX" sz="1800" b="0" strike="noStrike" spc="-1">
                <a:solidFill>
                  <a:srgbClr val="000000"/>
                </a:solidFill>
                <a:uFill>
                  <a:solidFill>
                    <a:srgbClr val="FFFFFF"/>
                  </a:solidFill>
                </a:uFill>
                <a:latin typeface="Arial"/>
              </a:rPr>
              <a:t>Path of the device for the partition: .1.3.6.1.4.1.2021.9.1.3.1</a:t>
            </a:r>
          </a:p>
          <a:p>
            <a:r>
              <a:rPr lang="es-MX" sz="1800" b="0" strike="noStrike" spc="-1">
                <a:solidFill>
                  <a:srgbClr val="000000"/>
                </a:solidFill>
                <a:uFill>
                  <a:solidFill>
                    <a:srgbClr val="FFFFFF"/>
                  </a:solidFill>
                </a:uFill>
                <a:latin typeface="Arial"/>
              </a:rPr>
              <a:t>Total size of the disk/partion (kBytes): .1.3.6.1.4.1.2021.9.1.6.1</a:t>
            </a:r>
          </a:p>
          <a:p>
            <a:r>
              <a:rPr lang="es-MX" sz="1800" b="0" strike="noStrike" spc="-1">
                <a:solidFill>
                  <a:srgbClr val="000000"/>
                </a:solidFill>
                <a:uFill>
                  <a:solidFill>
                    <a:srgbClr val="FFFFFF"/>
                  </a:solidFill>
                </a:uFill>
                <a:latin typeface="Arial"/>
              </a:rPr>
              <a:t>Available space on the disk: .1.3.6.1.4.1.2021.9.1.7.1</a:t>
            </a:r>
          </a:p>
          <a:p>
            <a:r>
              <a:rPr lang="es-MX" sz="1800" b="0" strike="noStrike" spc="-1">
                <a:solidFill>
                  <a:srgbClr val="000000"/>
                </a:solidFill>
                <a:uFill>
                  <a:solidFill>
                    <a:srgbClr val="FFFFFF"/>
                  </a:solidFill>
                </a:uFill>
                <a:latin typeface="Arial"/>
              </a:rPr>
              <a:t>Used space on the disk: .1.3.6.1.4.1.2021.9.1.8.1</a:t>
            </a:r>
          </a:p>
          <a:p>
            <a:r>
              <a:rPr lang="es-MX" sz="1800" b="0" strike="noStrike" spc="-1">
                <a:solidFill>
                  <a:srgbClr val="000000"/>
                </a:solidFill>
                <a:uFill>
                  <a:solidFill>
                    <a:srgbClr val="FFFFFF"/>
                  </a:solidFill>
                </a:uFill>
                <a:latin typeface="Arial"/>
              </a:rPr>
              <a:t>Percentage of space used on disk: .1.3.6.1.4.1.2021.9.1.9.1</a:t>
            </a:r>
          </a:p>
          <a:p>
            <a:r>
              <a:rPr lang="es-MX" sz="1800" b="0" strike="noStrike" spc="-1">
                <a:solidFill>
                  <a:srgbClr val="000000"/>
                </a:solidFill>
                <a:uFill>
                  <a:solidFill>
                    <a:srgbClr val="FFFFFF"/>
                  </a:solidFill>
                </a:uFill>
                <a:latin typeface="Arial"/>
              </a:rPr>
              <a:t>Percentage of inodes used on disk: .1.3.6.1.4.1.2021.9.1.10.1</a:t>
            </a:r>
          </a:p>
          <a:p>
            <a:endParaRPr lang="es-MX" sz="1800" b="0" strike="noStrike" spc="-1">
              <a:solidFill>
                <a:srgbClr val="000000"/>
              </a:solidFill>
              <a:uFill>
                <a:solidFill>
                  <a:srgbClr val="FFFFFF"/>
                </a:solidFill>
              </a:uFill>
              <a:latin typeface="Arial"/>
            </a:endParaRPr>
          </a:p>
          <a:p>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Shape 1"/>
          <p:cNvSpPr txBox="1"/>
          <p:nvPr/>
        </p:nvSpPr>
        <p:spPr>
          <a:xfrm>
            <a:off x="648000" y="360000"/>
            <a:ext cx="1877040" cy="346320"/>
          </a:xfrm>
          <a:prstGeom prst="rect">
            <a:avLst/>
          </a:prstGeom>
          <a:noFill/>
          <a:ln>
            <a:noFill/>
          </a:ln>
        </p:spPr>
        <p:txBody>
          <a:bodyPr lIns="90000" tIns="45000" rIns="90000" bIns="45000"/>
          <a:lstStyle/>
          <a:p>
            <a:r>
              <a:rPr lang="es-MX" sz="1800" b="0" strike="noStrike" spc="-1">
                <a:solidFill>
                  <a:srgbClr val="000000"/>
                </a:solidFill>
                <a:uFill>
                  <a:solidFill>
                    <a:srgbClr val="FFFFFF"/>
                  </a:solidFill>
                </a:uFill>
                <a:latin typeface="Arial"/>
              </a:rPr>
              <a:t>OID’s de interés:</a:t>
            </a:r>
          </a:p>
        </p:txBody>
      </p:sp>
      <p:sp>
        <p:nvSpPr>
          <p:cNvPr id="156" name="TextShape 2"/>
          <p:cNvSpPr txBox="1"/>
          <p:nvPr/>
        </p:nvSpPr>
        <p:spPr>
          <a:xfrm>
            <a:off x="333360" y="814680"/>
            <a:ext cx="10394640" cy="5521680"/>
          </a:xfrm>
          <a:prstGeom prst="rect">
            <a:avLst/>
          </a:prstGeom>
          <a:noFill/>
          <a:ln>
            <a:noFill/>
          </a:ln>
        </p:spPr>
        <p:txBody>
          <a:bodyPr lIns="90000" tIns="45000" rIns="90000" bIns="45000"/>
          <a:lstStyle/>
          <a:p>
            <a:r>
              <a:rPr lang="es-MX" sz="1800" b="0" strike="noStrike" spc="-1">
                <a:solidFill>
                  <a:srgbClr val="000000"/>
                </a:solidFill>
                <a:uFill>
                  <a:solidFill>
                    <a:srgbClr val="FFFFFF"/>
                  </a:solidFill>
                </a:uFill>
                <a:latin typeface="Arial"/>
              </a:rPr>
              <a:t>-Disk Statistics</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Path where the disk is mounted: .1.3.6.1.4.1.2021.9.1.2.1</a:t>
            </a:r>
          </a:p>
          <a:p>
            <a:r>
              <a:rPr lang="es-MX" sz="1800" b="0" strike="noStrike" spc="-1">
                <a:solidFill>
                  <a:srgbClr val="000000"/>
                </a:solidFill>
                <a:uFill>
                  <a:solidFill>
                    <a:srgbClr val="FFFFFF"/>
                  </a:solidFill>
                </a:uFill>
                <a:latin typeface="Arial"/>
              </a:rPr>
              <a:t>Path of the device for the partition: .1.3.6.1.4.1.2021.9.1.3.1</a:t>
            </a:r>
          </a:p>
          <a:p>
            <a:r>
              <a:rPr lang="es-MX" sz="1800" b="0" strike="noStrike" spc="-1">
                <a:solidFill>
                  <a:srgbClr val="000000"/>
                </a:solidFill>
                <a:uFill>
                  <a:solidFill>
                    <a:srgbClr val="FFFFFF"/>
                  </a:solidFill>
                </a:uFill>
                <a:latin typeface="Arial"/>
              </a:rPr>
              <a:t>Total size of the disk/partion (kBytes): .1.3.6.1.4.1.2021.9.1.6.1</a:t>
            </a:r>
          </a:p>
          <a:p>
            <a:r>
              <a:rPr lang="es-MX" sz="1800" b="0" strike="noStrike" spc="-1">
                <a:solidFill>
                  <a:srgbClr val="000000"/>
                </a:solidFill>
                <a:uFill>
                  <a:solidFill>
                    <a:srgbClr val="FFFFFF"/>
                  </a:solidFill>
                </a:uFill>
                <a:latin typeface="Arial"/>
              </a:rPr>
              <a:t>Available space on the disk: .1.3.6.1.4.1.2021.9.1.7.1</a:t>
            </a:r>
          </a:p>
          <a:p>
            <a:r>
              <a:rPr lang="es-MX" sz="1800" b="0" strike="noStrike" spc="-1">
                <a:solidFill>
                  <a:srgbClr val="000000"/>
                </a:solidFill>
                <a:uFill>
                  <a:solidFill>
                    <a:srgbClr val="FFFFFF"/>
                  </a:solidFill>
                </a:uFill>
                <a:latin typeface="Arial"/>
              </a:rPr>
              <a:t>Used space on the disk: .1.3.6.1.4.1.2021.9.1.8.1</a:t>
            </a:r>
          </a:p>
          <a:p>
            <a:r>
              <a:rPr lang="es-MX" sz="1800" b="0" strike="noStrike" spc="-1">
                <a:solidFill>
                  <a:srgbClr val="000000"/>
                </a:solidFill>
                <a:uFill>
                  <a:solidFill>
                    <a:srgbClr val="FFFFFF"/>
                  </a:solidFill>
                </a:uFill>
                <a:latin typeface="Arial"/>
              </a:rPr>
              <a:t>Percentage of space used on disk: .1.3.6.1.4.1.2021.9.1.9.1</a:t>
            </a:r>
          </a:p>
          <a:p>
            <a:r>
              <a:rPr lang="es-MX" sz="1800" b="0" strike="noStrike" spc="-1">
                <a:solidFill>
                  <a:srgbClr val="000000"/>
                </a:solidFill>
                <a:uFill>
                  <a:solidFill>
                    <a:srgbClr val="FFFFFF"/>
                  </a:solidFill>
                </a:uFill>
                <a:latin typeface="Arial"/>
              </a:rPr>
              <a:t>Percentage of inodes used on disk: .1.3.6.1.4.1.2021.9.1.10.1</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Get available disk space for / on the target host</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#snmpget -v 1 -c "community" target_name_or_ip .1.3.6.1.4.1.2021.9.1.7.1</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this will return available disk space for the first entry in the ‘disk' section of snmpd.conf; replace 1 with n for the nth entry</a:t>
            </a:r>
          </a:p>
          <a:p>
            <a:endParaRPr lang="es-MX" sz="1800" b="0" strike="noStrike" spc="-1">
              <a:solidFill>
                <a:srgbClr val="000000"/>
              </a:solidFill>
              <a:uFill>
                <a:solidFill>
                  <a:srgbClr val="FFFFFF"/>
                </a:solidFill>
              </a:uFill>
              <a:latin typeface="Arial"/>
            </a:endParaRPr>
          </a:p>
          <a:p>
            <a:r>
              <a:rPr lang="es-MX" sz="1800" b="0" strike="noStrike" spc="-1">
                <a:solidFill>
                  <a:srgbClr val="000000"/>
                </a:solidFill>
                <a:uFill>
                  <a:solidFill>
                    <a:srgbClr val="FFFFFF"/>
                  </a:solidFill>
                </a:uFill>
                <a:latin typeface="Arial"/>
              </a:rPr>
              <a:t>Get the 1-minute system load on the target host</a:t>
            </a:r>
          </a:p>
          <a:p>
            <a:endParaRPr lang="es-MX" sz="1800" b="0" strike="noStrike" spc="-1">
              <a:solidFill>
                <a:srgbClr val="000000"/>
              </a:solidFill>
              <a:uFill>
                <a:solidFill>
                  <a:srgbClr val="FFFFFF"/>
                </a:solidFill>
              </a:uFill>
              <a:latin typeface="Arial"/>
            </a:endParaRPr>
          </a:p>
          <a:p>
            <a:endParaRPr lang="es-MX"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s-MX" sz="4400" b="0" strike="noStrike" spc="-1">
                <a:solidFill>
                  <a:srgbClr val="000000"/>
                </a:solidFill>
                <a:uFill>
                  <a:solidFill>
                    <a:srgbClr val="FFFFFF"/>
                  </a:solidFill>
                </a:uFill>
                <a:latin typeface="Calibri Light"/>
              </a:rPr>
              <a:t>API SNMP4J</a:t>
            </a:r>
            <a:endParaRPr lang="es-MX" sz="1800" b="0" strike="noStrike" spc="-1">
              <a:solidFill>
                <a:srgbClr val="000000"/>
              </a:solidFill>
              <a:uFill>
                <a:solidFill>
                  <a:srgbClr val="FFFFFF"/>
                </a:solidFill>
              </a:uFill>
              <a:latin typeface="Arial"/>
            </a:endParaRPr>
          </a:p>
        </p:txBody>
      </p:sp>
      <p:sp>
        <p:nvSpPr>
          <p:cNvPr id="158"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2823</TotalTime>
  <Words>3207</Words>
  <Application>Microsoft Office PowerPoint</Application>
  <PresentationFormat>Panorámica</PresentationFormat>
  <Paragraphs>480</Paragraphs>
  <Slides>49</Slides>
  <Notes>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49</vt:i4>
      </vt:variant>
    </vt:vector>
  </HeadingPairs>
  <TitlesOfParts>
    <vt:vector size="58" baseType="lpstr">
      <vt:lpstr>Arial</vt:lpstr>
      <vt:lpstr>Calibri</vt:lpstr>
      <vt:lpstr>Calibri Light</vt:lpstr>
      <vt:lpstr>Courier New</vt:lpstr>
      <vt:lpstr>open_sansregular</vt:lpstr>
      <vt:lpstr>Symbol</vt:lpstr>
      <vt:lpstr>Wingdings</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Tipos de datos definidos por ASN.1</vt:lpstr>
      <vt:lpstr>Tipos de datos definidos por ASN.1</vt:lpstr>
      <vt:lpstr>Tipos de datos definidos por ASN.1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BER (Reglas de Codificación Básica)</vt:lpstr>
      <vt:lpstr>BER (Reglas de Codificación Básica)</vt:lpstr>
      <vt:lpstr>BER (Reglas de Codificación Básica)</vt:lpstr>
      <vt:lpstr>BER (Reglas de Codificación Básica)</vt:lpstr>
      <vt:lpstr>BER (Reglas de Codificación Básica)</vt:lpstr>
      <vt:lpstr>BER (Reglas de Codificación Básica)</vt:lpstr>
      <vt:lpstr>BER (Reglas de Codificación Básica)</vt:lpstr>
      <vt:lpstr>BER (Reglas de Codificación Básica)</vt:lpstr>
      <vt:lpstr>BER (Reglas de Codificación Básica)</vt:lpstr>
      <vt:lpstr>BER (Reglas de Codificación Básica)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Axel</dc:creator>
  <dc:description/>
  <cp:lastModifiedBy>Axel Moreno</cp:lastModifiedBy>
  <cp:revision>10</cp:revision>
  <dcterms:modified xsi:type="dcterms:W3CDTF">2023-06-20T13:11:33Z</dcterms:modified>
  <dc:language>es-MX</dc:language>
</cp:coreProperties>
</file>