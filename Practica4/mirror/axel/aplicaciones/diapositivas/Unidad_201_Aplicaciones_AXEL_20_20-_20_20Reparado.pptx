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26" r:id="rId6"/>
    <p:sldMasterId id="2147483739" r:id="rId7"/>
  </p:sldMasterIdLst>
  <p:notesMasterIdLst>
    <p:notesMasterId r:id="rId237"/>
  </p:notesMasterIdLst>
  <p:sldIdLst>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4" r:id="rId24"/>
    <p:sldId id="467" r:id="rId25"/>
    <p:sldId id="468" r:id="rId26"/>
    <p:sldId id="469" r:id="rId27"/>
    <p:sldId id="470" r:id="rId28"/>
    <p:sldId id="471" r:id="rId29"/>
    <p:sldId id="472" r:id="rId30"/>
    <p:sldId id="475" r:id="rId31"/>
    <p:sldId id="473" r:id="rId32"/>
    <p:sldId id="474" r:id="rId33"/>
    <p:sldId id="275" r:id="rId34"/>
    <p:sldId id="276" r:id="rId35"/>
    <p:sldId id="277" r:id="rId36"/>
    <p:sldId id="278" r:id="rId37"/>
    <p:sldId id="279" r:id="rId38"/>
    <p:sldId id="280" r:id="rId39"/>
    <p:sldId id="281" r:id="rId40"/>
    <p:sldId id="282" r:id="rId41"/>
    <p:sldId id="283" r:id="rId42"/>
    <p:sldId id="284" r:id="rId43"/>
    <p:sldId id="489"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13" r:id="rId73"/>
    <p:sldId id="314" r:id="rId74"/>
    <p:sldId id="315" r:id="rId75"/>
    <p:sldId id="316" r:id="rId76"/>
    <p:sldId id="317" r:id="rId77"/>
    <p:sldId id="318" r:id="rId78"/>
    <p:sldId id="319" r:id="rId79"/>
    <p:sldId id="320" r:id="rId80"/>
    <p:sldId id="321" r:id="rId81"/>
    <p:sldId id="322" r:id="rId82"/>
    <p:sldId id="323" r:id="rId83"/>
    <p:sldId id="476" r:id="rId84"/>
    <p:sldId id="477" r:id="rId85"/>
    <p:sldId id="478" r:id="rId86"/>
    <p:sldId id="479" r:id="rId87"/>
    <p:sldId id="480" r:id="rId88"/>
    <p:sldId id="273" r:id="rId89"/>
    <p:sldId id="481" r:id="rId90"/>
    <p:sldId id="482" r:id="rId91"/>
    <p:sldId id="483" r:id="rId92"/>
    <p:sldId id="326" r:id="rId93"/>
    <p:sldId id="327" r:id="rId94"/>
    <p:sldId id="328" r:id="rId95"/>
    <p:sldId id="329" r:id="rId96"/>
    <p:sldId id="330" r:id="rId97"/>
    <p:sldId id="331" r:id="rId98"/>
    <p:sldId id="332" r:id="rId99"/>
    <p:sldId id="333" r:id="rId100"/>
    <p:sldId id="334" r:id="rId101"/>
    <p:sldId id="335" r:id="rId102"/>
    <p:sldId id="336" r:id="rId103"/>
    <p:sldId id="337" r:id="rId104"/>
    <p:sldId id="338" r:id="rId105"/>
    <p:sldId id="339" r:id="rId106"/>
    <p:sldId id="340" r:id="rId107"/>
    <p:sldId id="341" r:id="rId108"/>
    <p:sldId id="342" r:id="rId109"/>
    <p:sldId id="343" r:id="rId110"/>
    <p:sldId id="484" r:id="rId111"/>
    <p:sldId id="485" r:id="rId112"/>
    <p:sldId id="486" r:id="rId113"/>
    <p:sldId id="347" r:id="rId114"/>
    <p:sldId id="348" r:id="rId115"/>
    <p:sldId id="349" r:id="rId116"/>
    <p:sldId id="350" r:id="rId117"/>
    <p:sldId id="351" r:id="rId118"/>
    <p:sldId id="352" r:id="rId119"/>
    <p:sldId id="353" r:id="rId120"/>
    <p:sldId id="354" r:id="rId121"/>
    <p:sldId id="355" r:id="rId122"/>
    <p:sldId id="356" r:id="rId123"/>
    <p:sldId id="466" r:id="rId124"/>
    <p:sldId id="357" r:id="rId125"/>
    <p:sldId id="358" r:id="rId126"/>
    <p:sldId id="490" r:id="rId127"/>
    <p:sldId id="359" r:id="rId128"/>
    <p:sldId id="360" r:id="rId129"/>
    <p:sldId id="361" r:id="rId130"/>
    <p:sldId id="362" r:id="rId131"/>
    <p:sldId id="363" r:id="rId132"/>
    <p:sldId id="364" r:id="rId133"/>
    <p:sldId id="365" r:id="rId134"/>
    <p:sldId id="366" r:id="rId135"/>
    <p:sldId id="367" r:id="rId136"/>
    <p:sldId id="368" r:id="rId137"/>
    <p:sldId id="487" r:id="rId138"/>
    <p:sldId id="369" r:id="rId139"/>
    <p:sldId id="370" r:id="rId140"/>
    <p:sldId id="371" r:id="rId141"/>
    <p:sldId id="372" r:id="rId142"/>
    <p:sldId id="373" r:id="rId143"/>
    <p:sldId id="374" r:id="rId144"/>
    <p:sldId id="375" r:id="rId145"/>
    <p:sldId id="376" r:id="rId146"/>
    <p:sldId id="377" r:id="rId147"/>
    <p:sldId id="378" r:id="rId148"/>
    <p:sldId id="379" r:id="rId149"/>
    <p:sldId id="380" r:id="rId150"/>
    <p:sldId id="381" r:id="rId151"/>
    <p:sldId id="382" r:id="rId152"/>
    <p:sldId id="383" r:id="rId153"/>
    <p:sldId id="384" r:id="rId154"/>
    <p:sldId id="385" r:id="rId155"/>
    <p:sldId id="386" r:id="rId156"/>
    <p:sldId id="387" r:id="rId157"/>
    <p:sldId id="388" r:id="rId158"/>
    <p:sldId id="389" r:id="rId159"/>
    <p:sldId id="390" r:id="rId160"/>
    <p:sldId id="391" r:id="rId161"/>
    <p:sldId id="392" r:id="rId162"/>
    <p:sldId id="393" r:id="rId163"/>
    <p:sldId id="394" r:id="rId164"/>
    <p:sldId id="395" r:id="rId165"/>
    <p:sldId id="396" r:id="rId166"/>
    <p:sldId id="397" r:id="rId167"/>
    <p:sldId id="398" r:id="rId168"/>
    <p:sldId id="399" r:id="rId169"/>
    <p:sldId id="400" r:id="rId170"/>
    <p:sldId id="401" r:id="rId171"/>
    <p:sldId id="402" r:id="rId172"/>
    <p:sldId id="403" r:id="rId173"/>
    <p:sldId id="404" r:id="rId174"/>
    <p:sldId id="405" r:id="rId175"/>
    <p:sldId id="406" r:id="rId176"/>
    <p:sldId id="407" r:id="rId177"/>
    <p:sldId id="488" r:id="rId178"/>
    <p:sldId id="408" r:id="rId179"/>
    <p:sldId id="409" r:id="rId180"/>
    <p:sldId id="410" r:id="rId181"/>
    <p:sldId id="411" r:id="rId182"/>
    <p:sldId id="412" r:id="rId183"/>
    <p:sldId id="413" r:id="rId184"/>
    <p:sldId id="414" r:id="rId185"/>
    <p:sldId id="415" r:id="rId186"/>
    <p:sldId id="416" r:id="rId187"/>
    <p:sldId id="417" r:id="rId188"/>
    <p:sldId id="418" r:id="rId189"/>
    <p:sldId id="419" r:id="rId190"/>
    <p:sldId id="420" r:id="rId191"/>
    <p:sldId id="421" r:id="rId192"/>
    <p:sldId id="422" r:id="rId193"/>
    <p:sldId id="423" r:id="rId194"/>
    <p:sldId id="424" r:id="rId195"/>
    <p:sldId id="425" r:id="rId196"/>
    <p:sldId id="426" r:id="rId197"/>
    <p:sldId id="427" r:id="rId198"/>
    <p:sldId id="428" r:id="rId199"/>
    <p:sldId id="429" r:id="rId200"/>
    <p:sldId id="430" r:id="rId201"/>
    <p:sldId id="431" r:id="rId202"/>
    <p:sldId id="432" r:id="rId203"/>
    <p:sldId id="433" r:id="rId204"/>
    <p:sldId id="434" r:id="rId205"/>
    <p:sldId id="435" r:id="rId206"/>
    <p:sldId id="436" r:id="rId207"/>
    <p:sldId id="437" r:id="rId208"/>
    <p:sldId id="438" r:id="rId209"/>
    <p:sldId id="439" r:id="rId210"/>
    <p:sldId id="440" r:id="rId211"/>
    <p:sldId id="441" r:id="rId212"/>
    <p:sldId id="442" r:id="rId213"/>
    <p:sldId id="443" r:id="rId214"/>
    <p:sldId id="444" r:id="rId215"/>
    <p:sldId id="445" r:id="rId216"/>
    <p:sldId id="446" r:id="rId217"/>
    <p:sldId id="447" r:id="rId218"/>
    <p:sldId id="448" r:id="rId219"/>
    <p:sldId id="449" r:id="rId220"/>
    <p:sldId id="450" r:id="rId221"/>
    <p:sldId id="451" r:id="rId222"/>
    <p:sldId id="452" r:id="rId223"/>
    <p:sldId id="453" r:id="rId224"/>
    <p:sldId id="454" r:id="rId225"/>
    <p:sldId id="455" r:id="rId226"/>
    <p:sldId id="456" r:id="rId227"/>
    <p:sldId id="457" r:id="rId228"/>
    <p:sldId id="458" r:id="rId229"/>
    <p:sldId id="459" r:id="rId230"/>
    <p:sldId id="460" r:id="rId231"/>
    <p:sldId id="461" r:id="rId232"/>
    <p:sldId id="462" r:id="rId233"/>
    <p:sldId id="463" r:id="rId234"/>
    <p:sldId id="464" r:id="rId235"/>
    <p:sldId id="465" r:id="rId23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061" autoAdjust="0"/>
  </p:normalViewPr>
  <p:slideViewPr>
    <p:cSldViewPr snapToGrid="0">
      <p:cViewPr varScale="1">
        <p:scale>
          <a:sx n="62" d="100"/>
          <a:sy n="62" d="100"/>
        </p:scale>
        <p:origin x="9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59" Type="http://schemas.openxmlformats.org/officeDocument/2006/relationships/slide" Target="slides/slide152.xml"/><Relationship Id="rId170" Type="http://schemas.openxmlformats.org/officeDocument/2006/relationships/slide" Target="slides/slide163.xml"/><Relationship Id="rId191" Type="http://schemas.openxmlformats.org/officeDocument/2006/relationships/slide" Target="slides/slide184.xml"/><Relationship Id="rId205" Type="http://schemas.openxmlformats.org/officeDocument/2006/relationships/slide" Target="slides/slide198.xml"/><Relationship Id="rId226" Type="http://schemas.openxmlformats.org/officeDocument/2006/relationships/slide" Target="slides/slide219.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slide" Target="slides/slide142.xml"/><Relationship Id="rId5" Type="http://schemas.openxmlformats.org/officeDocument/2006/relationships/slideMaster" Target="slideMasters/slideMaster5.xml"/><Relationship Id="rId95" Type="http://schemas.openxmlformats.org/officeDocument/2006/relationships/slide" Target="slides/slide88.xml"/><Relationship Id="rId160" Type="http://schemas.openxmlformats.org/officeDocument/2006/relationships/slide" Target="slides/slide153.xml"/><Relationship Id="rId181" Type="http://schemas.openxmlformats.org/officeDocument/2006/relationships/slide" Target="slides/slide174.xml"/><Relationship Id="rId216" Type="http://schemas.openxmlformats.org/officeDocument/2006/relationships/slide" Target="slides/slide209.xml"/><Relationship Id="rId237" Type="http://schemas.openxmlformats.org/officeDocument/2006/relationships/notesMaster" Target="notesMasters/notesMaster1.xml"/><Relationship Id="rId22" Type="http://schemas.openxmlformats.org/officeDocument/2006/relationships/slide" Target="slides/slide15.xml"/><Relationship Id="rId43" Type="http://schemas.openxmlformats.org/officeDocument/2006/relationships/slide" Target="slides/slide36.xml"/><Relationship Id="rId64" Type="http://schemas.openxmlformats.org/officeDocument/2006/relationships/slide" Target="slides/slide57.xml"/><Relationship Id="rId118" Type="http://schemas.openxmlformats.org/officeDocument/2006/relationships/slide" Target="slides/slide111.xml"/><Relationship Id="rId139" Type="http://schemas.openxmlformats.org/officeDocument/2006/relationships/slide" Target="slides/slide132.xml"/><Relationship Id="rId85" Type="http://schemas.openxmlformats.org/officeDocument/2006/relationships/slide" Target="slides/slide78.xml"/><Relationship Id="rId150" Type="http://schemas.openxmlformats.org/officeDocument/2006/relationships/slide" Target="slides/slide143.xml"/><Relationship Id="rId171" Type="http://schemas.openxmlformats.org/officeDocument/2006/relationships/slide" Target="slides/slide164.xml"/><Relationship Id="rId192" Type="http://schemas.openxmlformats.org/officeDocument/2006/relationships/slide" Target="slides/slide185.xml"/><Relationship Id="rId206" Type="http://schemas.openxmlformats.org/officeDocument/2006/relationships/slide" Target="slides/slide199.xml"/><Relationship Id="rId227" Type="http://schemas.openxmlformats.org/officeDocument/2006/relationships/slide" Target="slides/slide220.xml"/><Relationship Id="rId12" Type="http://schemas.openxmlformats.org/officeDocument/2006/relationships/slide" Target="slides/slide5.xml"/><Relationship Id="rId33" Type="http://schemas.openxmlformats.org/officeDocument/2006/relationships/slide" Target="slides/slide26.xml"/><Relationship Id="rId108" Type="http://schemas.openxmlformats.org/officeDocument/2006/relationships/slide" Target="slides/slide101.xml"/><Relationship Id="rId129" Type="http://schemas.openxmlformats.org/officeDocument/2006/relationships/slide" Target="slides/slide122.xml"/><Relationship Id="rId54" Type="http://schemas.openxmlformats.org/officeDocument/2006/relationships/slide" Target="slides/slide47.xml"/><Relationship Id="rId75" Type="http://schemas.openxmlformats.org/officeDocument/2006/relationships/slide" Target="slides/slide68.xml"/><Relationship Id="rId96" Type="http://schemas.openxmlformats.org/officeDocument/2006/relationships/slide" Target="slides/slide89.xml"/><Relationship Id="rId140" Type="http://schemas.openxmlformats.org/officeDocument/2006/relationships/slide" Target="slides/slide133.xml"/><Relationship Id="rId161" Type="http://schemas.openxmlformats.org/officeDocument/2006/relationships/slide" Target="slides/slide154.xml"/><Relationship Id="rId182" Type="http://schemas.openxmlformats.org/officeDocument/2006/relationships/slide" Target="slides/slide175.xml"/><Relationship Id="rId217" Type="http://schemas.openxmlformats.org/officeDocument/2006/relationships/slide" Target="slides/slide210.xml"/><Relationship Id="rId6" Type="http://schemas.openxmlformats.org/officeDocument/2006/relationships/slideMaster" Target="slideMasters/slideMaster6.xml"/><Relationship Id="rId238" Type="http://schemas.openxmlformats.org/officeDocument/2006/relationships/presProps" Target="presProps.xml"/><Relationship Id="rId23" Type="http://schemas.openxmlformats.org/officeDocument/2006/relationships/slide" Target="slides/slide16.xml"/><Relationship Id="rId119" Type="http://schemas.openxmlformats.org/officeDocument/2006/relationships/slide" Target="slides/slide112.xml"/><Relationship Id="rId44" Type="http://schemas.openxmlformats.org/officeDocument/2006/relationships/slide" Target="slides/slide37.xml"/><Relationship Id="rId65" Type="http://schemas.openxmlformats.org/officeDocument/2006/relationships/slide" Target="slides/slide58.xml"/><Relationship Id="rId86" Type="http://schemas.openxmlformats.org/officeDocument/2006/relationships/slide" Target="slides/slide79.xml"/><Relationship Id="rId130" Type="http://schemas.openxmlformats.org/officeDocument/2006/relationships/slide" Target="slides/slide123.xml"/><Relationship Id="rId151" Type="http://schemas.openxmlformats.org/officeDocument/2006/relationships/slide" Target="slides/slide144.xml"/><Relationship Id="rId172" Type="http://schemas.openxmlformats.org/officeDocument/2006/relationships/slide" Target="slides/slide165.xml"/><Relationship Id="rId193" Type="http://schemas.openxmlformats.org/officeDocument/2006/relationships/slide" Target="slides/slide186.xml"/><Relationship Id="rId207" Type="http://schemas.openxmlformats.org/officeDocument/2006/relationships/slide" Target="slides/slide200.xml"/><Relationship Id="rId228" Type="http://schemas.openxmlformats.org/officeDocument/2006/relationships/slide" Target="slides/slide221.xml"/><Relationship Id="rId13" Type="http://schemas.openxmlformats.org/officeDocument/2006/relationships/slide" Target="slides/slide6.xml"/><Relationship Id="rId109" Type="http://schemas.openxmlformats.org/officeDocument/2006/relationships/slide" Target="slides/slide102.xml"/><Relationship Id="rId34" Type="http://schemas.openxmlformats.org/officeDocument/2006/relationships/slide" Target="slides/slide27.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20" Type="http://schemas.openxmlformats.org/officeDocument/2006/relationships/slide" Target="slides/slide113.xml"/><Relationship Id="rId141" Type="http://schemas.openxmlformats.org/officeDocument/2006/relationships/slide" Target="slides/slide134.xml"/><Relationship Id="rId7" Type="http://schemas.openxmlformats.org/officeDocument/2006/relationships/slideMaster" Target="slideMasters/slideMaster7.xml"/><Relationship Id="rId162" Type="http://schemas.openxmlformats.org/officeDocument/2006/relationships/slide" Target="slides/slide155.xml"/><Relationship Id="rId183" Type="http://schemas.openxmlformats.org/officeDocument/2006/relationships/slide" Target="slides/slide176.xml"/><Relationship Id="rId218" Type="http://schemas.openxmlformats.org/officeDocument/2006/relationships/slide" Target="slides/slide211.xml"/><Relationship Id="rId239" Type="http://schemas.openxmlformats.org/officeDocument/2006/relationships/viewProps" Target="viewProps.xml"/><Relationship Id="rId24" Type="http://schemas.openxmlformats.org/officeDocument/2006/relationships/slide" Target="slides/slide17.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31" Type="http://schemas.openxmlformats.org/officeDocument/2006/relationships/slide" Target="slides/slide124.xml"/><Relationship Id="rId152" Type="http://schemas.openxmlformats.org/officeDocument/2006/relationships/slide" Target="slides/slide145.xml"/><Relationship Id="rId173" Type="http://schemas.openxmlformats.org/officeDocument/2006/relationships/slide" Target="slides/slide166.xml"/><Relationship Id="rId194" Type="http://schemas.openxmlformats.org/officeDocument/2006/relationships/slide" Target="slides/slide187.xml"/><Relationship Id="rId208" Type="http://schemas.openxmlformats.org/officeDocument/2006/relationships/slide" Target="slides/slide201.xml"/><Relationship Id="rId229" Type="http://schemas.openxmlformats.org/officeDocument/2006/relationships/slide" Target="slides/slide222.xml"/><Relationship Id="rId240" Type="http://schemas.openxmlformats.org/officeDocument/2006/relationships/theme" Target="theme/theme1.xml"/><Relationship Id="rId14" Type="http://schemas.openxmlformats.org/officeDocument/2006/relationships/slide" Target="slides/slide7.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8" Type="http://schemas.openxmlformats.org/officeDocument/2006/relationships/slide" Target="slides/slide1.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163" Type="http://schemas.openxmlformats.org/officeDocument/2006/relationships/slide" Target="slides/slide156.xml"/><Relationship Id="rId184" Type="http://schemas.openxmlformats.org/officeDocument/2006/relationships/slide" Target="slides/slide177.xml"/><Relationship Id="rId219" Type="http://schemas.openxmlformats.org/officeDocument/2006/relationships/slide" Target="slides/slide212.xml"/><Relationship Id="rId230" Type="http://schemas.openxmlformats.org/officeDocument/2006/relationships/slide" Target="slides/slide22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3" Type="http://schemas.openxmlformats.org/officeDocument/2006/relationships/slide" Target="slides/slide146.xml"/><Relationship Id="rId174" Type="http://schemas.openxmlformats.org/officeDocument/2006/relationships/slide" Target="slides/slide167.xml"/><Relationship Id="rId195" Type="http://schemas.openxmlformats.org/officeDocument/2006/relationships/slide" Target="slides/slide188.xml"/><Relationship Id="rId209" Type="http://schemas.openxmlformats.org/officeDocument/2006/relationships/slide" Target="slides/slide202.xml"/><Relationship Id="rId220" Type="http://schemas.openxmlformats.org/officeDocument/2006/relationships/slide" Target="slides/slide213.xml"/><Relationship Id="rId241" Type="http://schemas.openxmlformats.org/officeDocument/2006/relationships/tableStyles" Target="tableStyles.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48" Type="http://schemas.openxmlformats.org/officeDocument/2006/relationships/slide" Target="slides/slide141.xml"/><Relationship Id="rId164" Type="http://schemas.openxmlformats.org/officeDocument/2006/relationships/slide" Target="slides/slide157.xml"/><Relationship Id="rId169" Type="http://schemas.openxmlformats.org/officeDocument/2006/relationships/slide" Target="slides/slide162.xml"/><Relationship Id="rId185" Type="http://schemas.openxmlformats.org/officeDocument/2006/relationships/slide" Target="slides/slide178.xml"/><Relationship Id="rId4" Type="http://schemas.openxmlformats.org/officeDocument/2006/relationships/slideMaster" Target="slideMasters/slideMaster4.xml"/><Relationship Id="rId9" Type="http://schemas.openxmlformats.org/officeDocument/2006/relationships/slide" Target="slides/slide2.xml"/><Relationship Id="rId180" Type="http://schemas.openxmlformats.org/officeDocument/2006/relationships/slide" Target="slides/slide173.xml"/><Relationship Id="rId210" Type="http://schemas.openxmlformats.org/officeDocument/2006/relationships/slide" Target="slides/slide203.xml"/><Relationship Id="rId215" Type="http://schemas.openxmlformats.org/officeDocument/2006/relationships/slide" Target="slides/slide208.xml"/><Relationship Id="rId236" Type="http://schemas.openxmlformats.org/officeDocument/2006/relationships/slide" Target="slides/slide229.xml"/><Relationship Id="rId26" Type="http://schemas.openxmlformats.org/officeDocument/2006/relationships/slide" Target="slides/slide19.xml"/><Relationship Id="rId231" Type="http://schemas.openxmlformats.org/officeDocument/2006/relationships/slide" Target="slides/slide224.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54" Type="http://schemas.openxmlformats.org/officeDocument/2006/relationships/slide" Target="slides/slide147.xml"/><Relationship Id="rId175" Type="http://schemas.openxmlformats.org/officeDocument/2006/relationships/slide" Target="slides/slide168.xml"/><Relationship Id="rId196" Type="http://schemas.openxmlformats.org/officeDocument/2006/relationships/slide" Target="slides/slide189.xml"/><Relationship Id="rId200" Type="http://schemas.openxmlformats.org/officeDocument/2006/relationships/slide" Target="slides/slide193.xml"/><Relationship Id="rId16" Type="http://schemas.openxmlformats.org/officeDocument/2006/relationships/slide" Target="slides/slide9.xml"/><Relationship Id="rId221" Type="http://schemas.openxmlformats.org/officeDocument/2006/relationships/slide" Target="slides/slide214.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slide" Target="slides/slide137.xml"/><Relationship Id="rId90" Type="http://schemas.openxmlformats.org/officeDocument/2006/relationships/slide" Target="slides/slide83.xml"/><Relationship Id="rId165" Type="http://schemas.openxmlformats.org/officeDocument/2006/relationships/slide" Target="slides/slide158.xml"/><Relationship Id="rId186" Type="http://schemas.openxmlformats.org/officeDocument/2006/relationships/slide" Target="slides/slide179.xml"/><Relationship Id="rId211" Type="http://schemas.openxmlformats.org/officeDocument/2006/relationships/slide" Target="slides/slide204.xml"/><Relationship Id="rId232" Type="http://schemas.openxmlformats.org/officeDocument/2006/relationships/slide" Target="slides/slide225.xml"/><Relationship Id="rId27" Type="http://schemas.openxmlformats.org/officeDocument/2006/relationships/slide" Target="slides/slide20.xml"/><Relationship Id="rId48" Type="http://schemas.openxmlformats.org/officeDocument/2006/relationships/slide" Target="slides/slide41.xml"/><Relationship Id="rId69" Type="http://schemas.openxmlformats.org/officeDocument/2006/relationships/slide" Target="slides/slide62.xml"/><Relationship Id="rId113" Type="http://schemas.openxmlformats.org/officeDocument/2006/relationships/slide" Target="slides/slide106.xml"/><Relationship Id="rId134" Type="http://schemas.openxmlformats.org/officeDocument/2006/relationships/slide" Target="slides/slide127.xml"/><Relationship Id="rId80" Type="http://schemas.openxmlformats.org/officeDocument/2006/relationships/slide" Target="slides/slide73.xml"/><Relationship Id="rId155" Type="http://schemas.openxmlformats.org/officeDocument/2006/relationships/slide" Target="slides/slide148.xml"/><Relationship Id="rId176" Type="http://schemas.openxmlformats.org/officeDocument/2006/relationships/slide" Target="slides/slide169.xml"/><Relationship Id="rId197" Type="http://schemas.openxmlformats.org/officeDocument/2006/relationships/slide" Target="slides/slide190.xml"/><Relationship Id="rId201" Type="http://schemas.openxmlformats.org/officeDocument/2006/relationships/slide" Target="slides/slide194.xml"/><Relationship Id="rId222" Type="http://schemas.openxmlformats.org/officeDocument/2006/relationships/slide" Target="slides/slide215.xml"/><Relationship Id="rId17" Type="http://schemas.openxmlformats.org/officeDocument/2006/relationships/slide" Target="slides/slide10.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24" Type="http://schemas.openxmlformats.org/officeDocument/2006/relationships/slide" Target="slides/slide117.xml"/><Relationship Id="rId70" Type="http://schemas.openxmlformats.org/officeDocument/2006/relationships/slide" Target="slides/slide63.xml"/><Relationship Id="rId91" Type="http://schemas.openxmlformats.org/officeDocument/2006/relationships/slide" Target="slides/slide84.xml"/><Relationship Id="rId145" Type="http://schemas.openxmlformats.org/officeDocument/2006/relationships/slide" Target="slides/slide138.xml"/><Relationship Id="rId166" Type="http://schemas.openxmlformats.org/officeDocument/2006/relationships/slide" Target="slides/slide159.xml"/><Relationship Id="rId187" Type="http://schemas.openxmlformats.org/officeDocument/2006/relationships/slide" Target="slides/slide180.xml"/><Relationship Id="rId1" Type="http://schemas.openxmlformats.org/officeDocument/2006/relationships/slideMaster" Target="slideMasters/slideMaster1.xml"/><Relationship Id="rId212" Type="http://schemas.openxmlformats.org/officeDocument/2006/relationships/slide" Target="slides/slide205.xml"/><Relationship Id="rId233" Type="http://schemas.openxmlformats.org/officeDocument/2006/relationships/slide" Target="slides/slide22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60" Type="http://schemas.openxmlformats.org/officeDocument/2006/relationships/slide" Target="slides/slide53.xml"/><Relationship Id="rId81" Type="http://schemas.openxmlformats.org/officeDocument/2006/relationships/slide" Target="slides/slide74.xml"/><Relationship Id="rId135" Type="http://schemas.openxmlformats.org/officeDocument/2006/relationships/slide" Target="slides/slide128.xml"/><Relationship Id="rId156" Type="http://schemas.openxmlformats.org/officeDocument/2006/relationships/slide" Target="slides/slide149.xml"/><Relationship Id="rId177" Type="http://schemas.openxmlformats.org/officeDocument/2006/relationships/slide" Target="slides/slide170.xml"/><Relationship Id="rId198" Type="http://schemas.openxmlformats.org/officeDocument/2006/relationships/slide" Target="slides/slide191.xml"/><Relationship Id="rId202" Type="http://schemas.openxmlformats.org/officeDocument/2006/relationships/slide" Target="slides/slide195.xml"/><Relationship Id="rId223" Type="http://schemas.openxmlformats.org/officeDocument/2006/relationships/slide" Target="slides/slide216.xml"/><Relationship Id="rId18" Type="http://schemas.openxmlformats.org/officeDocument/2006/relationships/slide" Target="slides/slide11.xml"/><Relationship Id="rId39" Type="http://schemas.openxmlformats.org/officeDocument/2006/relationships/slide" Target="slides/slide32.xml"/><Relationship Id="rId50" Type="http://schemas.openxmlformats.org/officeDocument/2006/relationships/slide" Target="slides/slide43.xml"/><Relationship Id="rId104" Type="http://schemas.openxmlformats.org/officeDocument/2006/relationships/slide" Target="slides/slide97.xml"/><Relationship Id="rId125" Type="http://schemas.openxmlformats.org/officeDocument/2006/relationships/slide" Target="slides/slide118.xml"/><Relationship Id="rId146" Type="http://schemas.openxmlformats.org/officeDocument/2006/relationships/slide" Target="slides/slide139.xml"/><Relationship Id="rId167" Type="http://schemas.openxmlformats.org/officeDocument/2006/relationships/slide" Target="slides/slide160.xml"/><Relationship Id="rId188" Type="http://schemas.openxmlformats.org/officeDocument/2006/relationships/slide" Target="slides/slide181.xml"/><Relationship Id="rId71" Type="http://schemas.openxmlformats.org/officeDocument/2006/relationships/slide" Target="slides/slide64.xml"/><Relationship Id="rId92" Type="http://schemas.openxmlformats.org/officeDocument/2006/relationships/slide" Target="slides/slide85.xml"/><Relationship Id="rId213" Type="http://schemas.openxmlformats.org/officeDocument/2006/relationships/slide" Target="slides/slide206.xml"/><Relationship Id="rId234" Type="http://schemas.openxmlformats.org/officeDocument/2006/relationships/slide" Target="slides/slide227.xml"/><Relationship Id="rId2" Type="http://schemas.openxmlformats.org/officeDocument/2006/relationships/slideMaster" Target="slideMasters/slideMaster2.xml"/><Relationship Id="rId29" Type="http://schemas.openxmlformats.org/officeDocument/2006/relationships/slide" Target="slides/slide22.xml"/><Relationship Id="rId40" Type="http://schemas.openxmlformats.org/officeDocument/2006/relationships/slide" Target="slides/slide33.xml"/><Relationship Id="rId115" Type="http://schemas.openxmlformats.org/officeDocument/2006/relationships/slide" Target="slides/slide108.xml"/><Relationship Id="rId136" Type="http://schemas.openxmlformats.org/officeDocument/2006/relationships/slide" Target="slides/slide129.xml"/><Relationship Id="rId157" Type="http://schemas.openxmlformats.org/officeDocument/2006/relationships/slide" Target="slides/slide150.xml"/><Relationship Id="rId178" Type="http://schemas.openxmlformats.org/officeDocument/2006/relationships/slide" Target="slides/slide171.xml"/><Relationship Id="rId61" Type="http://schemas.openxmlformats.org/officeDocument/2006/relationships/slide" Target="slides/slide54.xml"/><Relationship Id="rId82" Type="http://schemas.openxmlformats.org/officeDocument/2006/relationships/slide" Target="slides/slide75.xml"/><Relationship Id="rId199" Type="http://schemas.openxmlformats.org/officeDocument/2006/relationships/slide" Target="slides/slide192.xml"/><Relationship Id="rId203" Type="http://schemas.openxmlformats.org/officeDocument/2006/relationships/slide" Target="slides/slide196.xml"/><Relationship Id="rId19" Type="http://schemas.openxmlformats.org/officeDocument/2006/relationships/slide" Target="slides/slide12.xml"/><Relationship Id="rId224" Type="http://schemas.openxmlformats.org/officeDocument/2006/relationships/slide" Target="slides/slide217.xml"/><Relationship Id="rId30" Type="http://schemas.openxmlformats.org/officeDocument/2006/relationships/slide" Target="slides/slide2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slide" Target="slides/slide140.xml"/><Relationship Id="rId168" Type="http://schemas.openxmlformats.org/officeDocument/2006/relationships/slide" Target="slides/slide16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189" Type="http://schemas.openxmlformats.org/officeDocument/2006/relationships/slide" Target="slides/slide182.xml"/><Relationship Id="rId3" Type="http://schemas.openxmlformats.org/officeDocument/2006/relationships/slideMaster" Target="slideMasters/slideMaster3.xml"/><Relationship Id="rId214" Type="http://schemas.openxmlformats.org/officeDocument/2006/relationships/slide" Target="slides/slide207.xml"/><Relationship Id="rId235" Type="http://schemas.openxmlformats.org/officeDocument/2006/relationships/slide" Target="slides/slide228.xml"/><Relationship Id="rId116" Type="http://schemas.openxmlformats.org/officeDocument/2006/relationships/slide" Target="slides/slide109.xml"/><Relationship Id="rId137" Type="http://schemas.openxmlformats.org/officeDocument/2006/relationships/slide" Target="slides/slide130.xml"/><Relationship Id="rId158" Type="http://schemas.openxmlformats.org/officeDocument/2006/relationships/slide" Target="slides/slide15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179" Type="http://schemas.openxmlformats.org/officeDocument/2006/relationships/slide" Target="slides/slide172.xml"/><Relationship Id="rId190" Type="http://schemas.openxmlformats.org/officeDocument/2006/relationships/slide" Target="slides/slide183.xml"/><Relationship Id="rId204" Type="http://schemas.openxmlformats.org/officeDocument/2006/relationships/slide" Target="slides/slide197.xml"/><Relationship Id="rId225" Type="http://schemas.openxmlformats.org/officeDocument/2006/relationships/slide" Target="slides/slide2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4"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pPr algn="ctr"/>
            <a:r>
              <a:rPr lang="es-MX" sz="4400" b="0" strike="noStrike" spc="-1">
                <a:latin typeface="Arial"/>
              </a:rPr>
              <a:t>Pulse para desplazar la diapositiva</a:t>
            </a:r>
          </a:p>
        </p:txBody>
      </p:sp>
      <p:sp>
        <p:nvSpPr>
          <p:cNvPr id="305" name="PlaceHolder 2"/>
          <p:cNvSpPr>
            <a:spLocks noGrp="1"/>
          </p:cNvSpPr>
          <p:nvPr>
            <p:ph type="body"/>
          </p:nvPr>
        </p:nvSpPr>
        <p:spPr>
          <a:xfrm>
            <a:off x="777240" y="4777560"/>
            <a:ext cx="6217560" cy="4525920"/>
          </a:xfrm>
          <a:prstGeom prst="rect">
            <a:avLst/>
          </a:prstGeom>
        </p:spPr>
        <p:txBody>
          <a:bodyPr lIns="0" tIns="0" rIns="0" bIns="0">
            <a:noAutofit/>
          </a:bodyPr>
          <a:lstStyle/>
          <a:p>
            <a:r>
              <a:rPr lang="es-MX" sz="2000" b="0" strike="noStrike" spc="-1">
                <a:latin typeface="Arial"/>
              </a:rPr>
              <a:t>Pulse para editar el formato de las notas</a:t>
            </a:r>
          </a:p>
        </p:txBody>
      </p:sp>
      <p:sp>
        <p:nvSpPr>
          <p:cNvPr id="306" name="PlaceHolder 3"/>
          <p:cNvSpPr>
            <a:spLocks noGrp="1"/>
          </p:cNvSpPr>
          <p:nvPr>
            <p:ph type="hdr"/>
          </p:nvPr>
        </p:nvSpPr>
        <p:spPr>
          <a:xfrm>
            <a:off x="0" y="0"/>
            <a:ext cx="3372840" cy="502560"/>
          </a:xfrm>
          <a:prstGeom prst="rect">
            <a:avLst/>
          </a:prstGeom>
        </p:spPr>
        <p:txBody>
          <a:bodyPr lIns="0" tIns="0" rIns="0" bIns="0">
            <a:noAutofit/>
          </a:bodyPr>
          <a:lstStyle/>
          <a:p>
            <a:r>
              <a:rPr lang="es-MX" sz="1400" b="0" strike="noStrike" spc="-1">
                <a:latin typeface="Times New Roman"/>
              </a:rPr>
              <a:t>&lt;cabecera&gt;</a:t>
            </a:r>
          </a:p>
        </p:txBody>
      </p:sp>
      <p:sp>
        <p:nvSpPr>
          <p:cNvPr id="307"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s-MX" sz="1400" b="0" strike="noStrike" spc="-1">
                <a:latin typeface="Times New Roman"/>
              </a:rPr>
              <a:t>&lt;fecha/hora&gt;</a:t>
            </a:r>
          </a:p>
        </p:txBody>
      </p:sp>
      <p:sp>
        <p:nvSpPr>
          <p:cNvPr id="308" name="PlaceHolder 5"/>
          <p:cNvSpPr>
            <a:spLocks noGrp="1"/>
          </p:cNvSpPr>
          <p:nvPr>
            <p:ph type="ftr"/>
          </p:nvPr>
        </p:nvSpPr>
        <p:spPr>
          <a:xfrm>
            <a:off x="0" y="9555480"/>
            <a:ext cx="3372840" cy="502560"/>
          </a:xfrm>
          <a:prstGeom prst="rect">
            <a:avLst/>
          </a:prstGeom>
        </p:spPr>
        <p:txBody>
          <a:bodyPr lIns="0" tIns="0" rIns="0" bIns="0" anchor="b">
            <a:noAutofit/>
          </a:bodyPr>
          <a:lstStyle/>
          <a:p>
            <a:r>
              <a:rPr lang="es-MX" sz="1400" b="0" strike="noStrike" spc="-1">
                <a:latin typeface="Times New Roman"/>
              </a:rPr>
              <a:t>&lt;pie de página&gt;</a:t>
            </a:r>
          </a:p>
        </p:txBody>
      </p:sp>
      <p:sp>
        <p:nvSpPr>
          <p:cNvPr id="309"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BC83663E-0E0B-4DAA-BF85-7F041659B1B7}" type="slidenum">
              <a:rPr lang="es-MX" sz="1400" b="0" strike="noStrike" spc="-1">
                <a:latin typeface="Times New Roman"/>
              </a:rPr>
              <a:t>‹Nº›</a:t>
            </a:fld>
            <a:endParaRPr lang="es-MX"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 name="PlaceHolder 1"/>
          <p:cNvSpPr>
            <a:spLocks noGrp="1"/>
          </p:cNvSpPr>
          <p:nvPr>
            <p:ph type="body"/>
          </p:nvPr>
        </p:nvSpPr>
        <p:spPr>
          <a:xfrm>
            <a:off x="685800" y="4400640"/>
            <a:ext cx="5484240" cy="3598200"/>
          </a:xfrm>
          <a:prstGeom prst="rect">
            <a:avLst/>
          </a:prstGeom>
        </p:spPr>
        <p:txBody>
          <a:bodyPr lIns="0" tIns="0" rIns="0" bIns="0">
            <a:noAutofit/>
          </a:bodyPr>
          <a:lstStyle/>
          <a:p>
            <a:pPr marL="216000" indent="-214920">
              <a:lnSpc>
                <a:spcPct val="100000"/>
              </a:lnSpc>
            </a:pPr>
            <a:r>
              <a:rPr lang="en-US" sz="2000" b="0" strike="noStrike" spc="-1">
                <a:solidFill>
                  <a:srgbClr val="000000"/>
                </a:solidFill>
                <a:latin typeface="Arial"/>
              </a:rPr>
              <a:t>Se busca dar un repaso de la arquitectura TCP/IP; danto énfasis en la capa de transporte.</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Acceso a la red</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Incluye la capa de red</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Modelo de referencia IEEE 802</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Control de enlace lógico (LLC)</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Control de acceso al medio (MAC)</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Internet</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IP e IGMP</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Establece rutas entre la fuente y el destino</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Dirige los nodos intermedios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Ensambla paquetes </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Reconoce prioridades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Uso de ruteadores</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Transporte</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Le da confiabilidad a las capas inferiores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Asegura integridad de los mensajes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Control de flujo y control de errores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Multiplexa conexiones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Mapea direcciones a nombres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TCP y UDP</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Aplicación</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Interfaz del usuario</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Residen las aplicaciones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Realiza propiamente la tarea que utiliza las comunicaciones remotas</a:t>
            </a:r>
            <a:endParaRPr lang="es-MX" sz="2000" b="0" strike="noStrike" spc="-1">
              <a:latin typeface="Arial"/>
            </a:endParaRPr>
          </a:p>
          <a:p>
            <a:pPr marL="216000" indent="-214920">
              <a:lnSpc>
                <a:spcPct val="100000"/>
              </a:lnSpc>
            </a:pPr>
            <a:endParaRPr lang="es-MX" sz="2000" b="0" strike="noStrike" spc="-1">
              <a:latin typeface="Arial"/>
            </a:endParaRPr>
          </a:p>
          <a:p>
            <a:pPr marL="216000" indent="-214920">
              <a:lnSpc>
                <a:spcPct val="100000"/>
              </a:lnSpc>
            </a:pPr>
            <a:endParaRPr lang="es-MX" sz="2000" b="0" strike="noStrike" spc="-1">
              <a:latin typeface="Arial"/>
            </a:endParaRPr>
          </a:p>
          <a:p>
            <a:pPr marL="216000" indent="-214920">
              <a:lnSpc>
                <a:spcPct val="100000"/>
              </a:lnSpc>
            </a:pPr>
            <a:endParaRPr lang="es-MX" sz="2000" b="0" strike="noStrike" spc="-1">
              <a:latin typeface="Arial"/>
            </a:endParaRPr>
          </a:p>
        </p:txBody>
      </p:sp>
      <p:sp>
        <p:nvSpPr>
          <p:cNvPr id="903" name="CustomShape 2"/>
          <p:cNvSpPr/>
          <p:nvPr/>
        </p:nvSpPr>
        <p:spPr>
          <a:xfrm>
            <a:off x="3884760" y="8685360"/>
            <a:ext cx="296964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3A7A0240-A018-42F2-8D03-805303AC83BF}" type="slidenum">
              <a:rPr lang="en-US" sz="1200" b="0" strike="noStrike" spc="-1">
                <a:solidFill>
                  <a:srgbClr val="000000"/>
                </a:solidFill>
                <a:latin typeface="+mn-lt"/>
                <a:ea typeface="+mn-ea"/>
              </a:rPr>
              <a:t>2</a:t>
            </a:fld>
            <a:endParaRPr lang="es-MX" sz="12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 name="PlaceHolder 1"/>
          <p:cNvSpPr>
            <a:spLocks noGrp="1"/>
          </p:cNvSpPr>
          <p:nvPr>
            <p:ph type="body"/>
          </p:nvPr>
        </p:nvSpPr>
        <p:spPr>
          <a:xfrm>
            <a:off x="685800" y="4400640"/>
            <a:ext cx="5484240" cy="3598200"/>
          </a:xfrm>
          <a:prstGeom prst="rect">
            <a:avLst/>
          </a:prstGeom>
        </p:spPr>
        <p:txBody>
          <a:bodyPr lIns="0" tIns="0" rIns="0" bIns="0">
            <a:noAutofit/>
          </a:bodyPr>
          <a:lstStyle/>
          <a:p>
            <a:pPr marL="216000" indent="-214920">
              <a:lnSpc>
                <a:spcPct val="100000"/>
              </a:lnSpc>
            </a:pPr>
            <a:r>
              <a:rPr lang="en-US" sz="2000" b="0" strike="noStrike" spc="-1">
                <a:solidFill>
                  <a:srgbClr val="000000"/>
                </a:solidFill>
                <a:latin typeface="Arial"/>
              </a:rPr>
              <a:t>Hablar sobre la ubicación de TCP y UDP </a:t>
            </a:r>
            <a:endParaRPr lang="es-MX" sz="2000" b="0" strike="noStrike" spc="-1">
              <a:latin typeface="Arial"/>
            </a:endParaRPr>
          </a:p>
        </p:txBody>
      </p:sp>
      <p:sp>
        <p:nvSpPr>
          <p:cNvPr id="905" name="CustomShape 2"/>
          <p:cNvSpPr/>
          <p:nvPr/>
        </p:nvSpPr>
        <p:spPr>
          <a:xfrm>
            <a:off x="3884760" y="8685360"/>
            <a:ext cx="296964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9A726503-EB2C-4999-AACF-28CEA1EDA767}" type="slidenum">
              <a:rPr lang="en-US" sz="1200" b="0" strike="noStrike" spc="-1">
                <a:solidFill>
                  <a:srgbClr val="000000"/>
                </a:solidFill>
                <a:latin typeface="+mn-lt"/>
                <a:ea typeface="+mn-ea"/>
              </a:rPr>
              <a:t>3</a:t>
            </a:fld>
            <a:endParaRPr lang="es-MX" sz="1200" b="0" strike="noStrike" spc="-1">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p:nvPr>
        </p:nvSpPr>
        <p:spPr/>
        <p:txBody>
          <a:bodyPr/>
          <a:lstStyle/>
          <a:p>
            <a:pPr algn="r"/>
            <a:fld id="{BC83663E-0E0B-4DAA-BF85-7F041659B1B7}" type="slidenum">
              <a:rPr lang="es-MX" sz="1400" b="0" strike="noStrike" spc="-1" smtClean="0">
                <a:latin typeface="Times New Roman"/>
              </a:rPr>
              <a:t>183</a:t>
            </a:fld>
            <a:endParaRPr lang="es-MX" sz="1400" b="0" strike="noStrike" spc="-1">
              <a:latin typeface="Times New Roman"/>
            </a:endParaRPr>
          </a:p>
        </p:txBody>
      </p:sp>
    </p:spTree>
    <p:extLst>
      <p:ext uri="{BB962C8B-B14F-4D97-AF65-F5344CB8AC3E}">
        <p14:creationId xmlns:p14="http://schemas.microsoft.com/office/powerpoint/2010/main" val="3243475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5931875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17"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1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2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2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4"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2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2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12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3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3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3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13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4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4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4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14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4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14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14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14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15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15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55"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5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5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6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62"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6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6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16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6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6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7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7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7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17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7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8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8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18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8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18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18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18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18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18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0217174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3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3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3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3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3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3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4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24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4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4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4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5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5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25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5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5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5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25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5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6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26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26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26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26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26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6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7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7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28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8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8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8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9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29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9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9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9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29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9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29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30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30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30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30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75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77"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115"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15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5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22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267"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0.xml"/><Relationship Id="rId4" Type="http://schemas.openxmlformats.org/officeDocument/2006/relationships/image" Target="../media/image19.png"/></Relationships>
</file>

<file path=ppt/slides/_rels/slide8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0.xml"/><Relationship Id="rId4" Type="http://schemas.openxmlformats.org/officeDocument/2006/relationships/image" Target="../media/image19.png"/></Relationships>
</file>

<file path=ppt/slides/_rels/slide8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0.xml"/></Relationships>
</file>

<file path=ppt/slides/_rels/slide8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50.xml"/></Relationships>
</file>

<file path=ppt/slides/_rels/slide8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50.xml"/></Relationships>
</file>

<file path=ppt/slides/_rels/slide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6.xml"/></Relationships>
</file>

<file path=ppt/slides/_rels/slide20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Servicios definidos en la capa de transporte</a:t>
            </a:r>
            <a:endParaRPr lang="es-MX" sz="6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Arquitectura TCP/IP (RFC 1180)</a:t>
            </a:r>
            <a:endParaRPr lang="es-MX" sz="4400" b="0" strike="noStrike" spc="-1">
              <a:latin typeface="Arial"/>
            </a:endParaRPr>
          </a:p>
        </p:txBody>
      </p:sp>
      <p:sp>
        <p:nvSpPr>
          <p:cNvPr id="314" name="CustomShape 2"/>
          <p:cNvSpPr/>
          <p:nvPr/>
        </p:nvSpPr>
        <p:spPr>
          <a:xfrm>
            <a:off x="1981080" y="160020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Aplicación</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HTTP, FTP, TFTP, etc.</a:t>
            </a:r>
            <a:endParaRPr lang="es-MX" sz="1600" b="0" strike="noStrike" spc="-1">
              <a:latin typeface="Arial"/>
            </a:endParaRPr>
          </a:p>
        </p:txBody>
      </p:sp>
      <p:sp>
        <p:nvSpPr>
          <p:cNvPr id="315" name="CustomShape 3"/>
          <p:cNvSpPr/>
          <p:nvPr/>
        </p:nvSpPr>
        <p:spPr>
          <a:xfrm>
            <a:off x="2086560" y="1705320"/>
            <a:ext cx="1643760" cy="839520"/>
          </a:xfrm>
          <a:prstGeom prst="roundRect">
            <a:avLst>
              <a:gd name="adj" fmla="val 10000"/>
            </a:avLst>
          </a:prstGeom>
          <a:blipFill rotWithShape="0">
            <a:blip r:embed="rId3"/>
            <a:stretch>
              <a:fillRect/>
            </a:stretch>
          </a:blipFill>
          <a:ln w="25560">
            <a:solidFill>
              <a:srgbClr val="FFFFFF"/>
            </a:solidFill>
            <a:round/>
          </a:ln>
        </p:spPr>
        <p:style>
          <a:lnRef idx="0">
            <a:scrgbClr r="0" g="0" b="0"/>
          </a:lnRef>
          <a:fillRef idx="0">
            <a:scrgbClr r="0" g="0" b="0"/>
          </a:fillRef>
          <a:effectRef idx="0">
            <a:scrgbClr r="0" g="0" b="0"/>
          </a:effectRef>
          <a:fontRef idx="minor"/>
        </p:style>
      </p:sp>
      <p:sp>
        <p:nvSpPr>
          <p:cNvPr id="316" name="CustomShape 4"/>
          <p:cNvSpPr/>
          <p:nvPr/>
        </p:nvSpPr>
        <p:spPr>
          <a:xfrm>
            <a:off x="1981080" y="275724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Transporte</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TCP</a:t>
            </a:r>
            <a:endParaRPr lang="es-MX" sz="16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UDP</a:t>
            </a:r>
            <a:endParaRPr lang="es-MX" sz="1600" b="0" strike="noStrike" spc="-1">
              <a:latin typeface="Arial"/>
            </a:endParaRPr>
          </a:p>
        </p:txBody>
      </p:sp>
      <p:sp>
        <p:nvSpPr>
          <p:cNvPr id="317" name="CustomShape 5"/>
          <p:cNvSpPr/>
          <p:nvPr/>
        </p:nvSpPr>
        <p:spPr>
          <a:xfrm>
            <a:off x="2315160" y="2849400"/>
            <a:ext cx="1186560" cy="865440"/>
          </a:xfrm>
          <a:prstGeom prst="roundRect">
            <a:avLst>
              <a:gd name="adj" fmla="val 10000"/>
            </a:avLst>
          </a:prstGeom>
          <a:blipFill rotWithShape="0">
            <a:blip r:embed="rId4"/>
            <a:stretch>
              <a:fillRect/>
            </a:stretch>
          </a:blipFill>
          <a:ln w="25560">
            <a:solidFill>
              <a:srgbClr val="FFFFFF"/>
            </a:solidFill>
            <a:round/>
          </a:ln>
        </p:spPr>
        <p:style>
          <a:lnRef idx="0">
            <a:scrgbClr r="0" g="0" b="0"/>
          </a:lnRef>
          <a:fillRef idx="0">
            <a:scrgbClr r="0" g="0" b="0"/>
          </a:fillRef>
          <a:effectRef idx="0">
            <a:scrgbClr r="0" g="0" b="0"/>
          </a:effectRef>
          <a:fontRef idx="minor"/>
        </p:style>
      </p:sp>
      <p:sp>
        <p:nvSpPr>
          <p:cNvPr id="318" name="CustomShape 6"/>
          <p:cNvSpPr/>
          <p:nvPr/>
        </p:nvSpPr>
        <p:spPr>
          <a:xfrm>
            <a:off x="1981080" y="391428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Internet</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IP, ICMP, IGMP, ARP, etc.</a:t>
            </a:r>
            <a:endParaRPr lang="es-MX" sz="1600" b="0" strike="noStrike" spc="-1">
              <a:latin typeface="Arial"/>
            </a:endParaRPr>
          </a:p>
        </p:txBody>
      </p:sp>
      <p:sp>
        <p:nvSpPr>
          <p:cNvPr id="319" name="CustomShape 7"/>
          <p:cNvSpPr/>
          <p:nvPr/>
        </p:nvSpPr>
        <p:spPr>
          <a:xfrm>
            <a:off x="2086560" y="4019760"/>
            <a:ext cx="1643760" cy="839520"/>
          </a:xfrm>
          <a:prstGeom prst="roundRect">
            <a:avLst>
              <a:gd name="adj" fmla="val 10000"/>
            </a:avLst>
          </a:prstGeom>
          <a:blipFill rotWithShape="0">
            <a:blip r:embed="rId5"/>
            <a:stretch>
              <a:fillRect/>
            </a:stretch>
          </a:blipFill>
          <a:ln w="25560">
            <a:solidFill>
              <a:srgbClr val="FFFFFF"/>
            </a:solidFill>
            <a:round/>
          </a:ln>
        </p:spPr>
        <p:style>
          <a:lnRef idx="0">
            <a:scrgbClr r="0" g="0" b="0"/>
          </a:lnRef>
          <a:fillRef idx="0">
            <a:scrgbClr r="0" g="0" b="0"/>
          </a:fillRef>
          <a:effectRef idx="0">
            <a:scrgbClr r="0" g="0" b="0"/>
          </a:effectRef>
          <a:fontRef idx="minor"/>
        </p:style>
      </p:sp>
      <p:sp>
        <p:nvSpPr>
          <p:cNvPr id="320" name="CustomShape 8"/>
          <p:cNvSpPr/>
          <p:nvPr/>
        </p:nvSpPr>
        <p:spPr>
          <a:xfrm>
            <a:off x="1981080" y="507168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Acceso a la red</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LLC</a:t>
            </a:r>
            <a:endParaRPr lang="es-MX" sz="16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MAC</a:t>
            </a:r>
            <a:endParaRPr lang="es-MX" sz="1600" b="0" strike="noStrike" spc="-1">
              <a:latin typeface="Arial"/>
            </a:endParaRPr>
          </a:p>
        </p:txBody>
      </p:sp>
      <p:sp>
        <p:nvSpPr>
          <p:cNvPr id="321" name="CustomShape 9"/>
          <p:cNvSpPr/>
          <p:nvPr/>
        </p:nvSpPr>
        <p:spPr>
          <a:xfrm>
            <a:off x="2086560" y="5176800"/>
            <a:ext cx="1643760" cy="839520"/>
          </a:xfrm>
          <a:prstGeom prst="roundRect">
            <a:avLst>
              <a:gd name="adj" fmla="val 10000"/>
            </a:avLst>
          </a:prstGeom>
          <a:blipFill rotWithShape="0">
            <a:blip r:embed="rId6"/>
            <a:stretch>
              <a:fillRect/>
            </a:stretch>
          </a:blipFill>
          <a:ln w="25560">
            <a:solidFill>
              <a:srgbClr val="FFFFFF"/>
            </a:solidFill>
            <a:round/>
          </a:ln>
        </p:spPr>
        <p:style>
          <a:lnRef idx="0">
            <a:scrgbClr r="0" g="0" b="0"/>
          </a:lnRef>
          <a:fillRef idx="0">
            <a:scrgbClr r="0" g="0" b="0"/>
          </a:fillRef>
          <a:effectRef idx="0">
            <a:scrgbClr r="0" g="0" b="0"/>
          </a:effectRef>
          <a:fontRef idx="minor"/>
        </p:style>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TCP y UDP  (RFC 1180)</a:t>
            </a:r>
            <a:endParaRPr lang="es-MX" sz="4400" b="0" strike="noStrike" spc="-1">
              <a:latin typeface="Arial"/>
            </a:endParaRPr>
          </a:p>
        </p:txBody>
      </p:sp>
      <p:sp>
        <p:nvSpPr>
          <p:cNvPr id="323" name="CustomShape 2"/>
          <p:cNvSpPr/>
          <p:nvPr/>
        </p:nvSpPr>
        <p:spPr>
          <a:xfrm>
            <a:off x="365760" y="1820160"/>
            <a:ext cx="61632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FTP</a:t>
            </a:r>
            <a:endParaRPr lang="es-MX" sz="1000" b="0" strike="noStrike" spc="-1">
              <a:latin typeface="Arial"/>
            </a:endParaRPr>
          </a:p>
        </p:txBody>
      </p:sp>
      <p:sp>
        <p:nvSpPr>
          <p:cNvPr id="324" name="CustomShape 3"/>
          <p:cNvSpPr/>
          <p:nvPr/>
        </p:nvSpPr>
        <p:spPr>
          <a:xfrm>
            <a:off x="106668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HTTP</a:t>
            </a:r>
            <a:endParaRPr lang="es-MX" sz="1000" b="0" strike="noStrike" spc="-1">
              <a:latin typeface="Arial"/>
            </a:endParaRPr>
          </a:p>
        </p:txBody>
      </p:sp>
      <p:sp>
        <p:nvSpPr>
          <p:cNvPr id="325" name="CustomShape 4"/>
          <p:cNvSpPr/>
          <p:nvPr/>
        </p:nvSpPr>
        <p:spPr>
          <a:xfrm>
            <a:off x="1833120" y="1820160"/>
            <a:ext cx="7336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SMTP</a:t>
            </a:r>
            <a:endParaRPr lang="es-MX" sz="1000" b="0" strike="noStrike" spc="-1">
              <a:latin typeface="Arial"/>
            </a:endParaRPr>
          </a:p>
        </p:txBody>
      </p:sp>
      <p:sp>
        <p:nvSpPr>
          <p:cNvPr id="326" name="CustomShape 5"/>
          <p:cNvSpPr/>
          <p:nvPr/>
        </p:nvSpPr>
        <p:spPr>
          <a:xfrm>
            <a:off x="268236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TELNET</a:t>
            </a:r>
            <a:endParaRPr lang="es-MX" sz="1000" b="0" strike="noStrike" spc="-1">
              <a:latin typeface="Arial"/>
            </a:endParaRPr>
          </a:p>
        </p:txBody>
      </p:sp>
      <p:sp>
        <p:nvSpPr>
          <p:cNvPr id="327" name="CustomShape 6"/>
          <p:cNvSpPr/>
          <p:nvPr/>
        </p:nvSpPr>
        <p:spPr>
          <a:xfrm>
            <a:off x="347472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RCP</a:t>
            </a:r>
            <a:endParaRPr lang="es-MX" sz="1000" b="0" strike="noStrike" spc="-1">
              <a:latin typeface="Arial"/>
            </a:endParaRPr>
          </a:p>
        </p:txBody>
      </p:sp>
      <p:sp>
        <p:nvSpPr>
          <p:cNvPr id="328" name="CustomShape 7"/>
          <p:cNvSpPr/>
          <p:nvPr/>
        </p:nvSpPr>
        <p:spPr>
          <a:xfrm>
            <a:off x="426276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SNMP</a:t>
            </a:r>
            <a:endParaRPr lang="es-MX" sz="1000" b="0" strike="noStrike" spc="-1">
              <a:latin typeface="Arial"/>
            </a:endParaRPr>
          </a:p>
        </p:txBody>
      </p:sp>
      <p:sp>
        <p:nvSpPr>
          <p:cNvPr id="329" name="CustomShape 8"/>
          <p:cNvSpPr/>
          <p:nvPr/>
        </p:nvSpPr>
        <p:spPr>
          <a:xfrm>
            <a:off x="505080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NFS</a:t>
            </a:r>
            <a:endParaRPr lang="es-MX" sz="1000" b="0" strike="noStrike" spc="-1">
              <a:latin typeface="Arial"/>
            </a:endParaRPr>
          </a:p>
        </p:txBody>
      </p:sp>
      <p:sp>
        <p:nvSpPr>
          <p:cNvPr id="330" name="CustomShape 9"/>
          <p:cNvSpPr/>
          <p:nvPr/>
        </p:nvSpPr>
        <p:spPr>
          <a:xfrm>
            <a:off x="365760" y="2703960"/>
            <a:ext cx="379044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TCP</a:t>
            </a:r>
            <a:endParaRPr lang="es-MX" sz="1000" b="0" strike="noStrike" spc="-1">
              <a:latin typeface="Arial"/>
            </a:endParaRPr>
          </a:p>
        </p:txBody>
      </p:sp>
      <p:sp>
        <p:nvSpPr>
          <p:cNvPr id="331" name="CustomShape 10"/>
          <p:cNvSpPr/>
          <p:nvPr/>
        </p:nvSpPr>
        <p:spPr>
          <a:xfrm>
            <a:off x="4262760" y="2701080"/>
            <a:ext cx="224892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UDP</a:t>
            </a:r>
            <a:endParaRPr lang="es-MX" sz="1000" b="0" strike="noStrike" spc="-1">
              <a:latin typeface="Arial"/>
            </a:endParaRPr>
          </a:p>
        </p:txBody>
      </p:sp>
      <p:sp>
        <p:nvSpPr>
          <p:cNvPr id="332" name="CustomShape 11"/>
          <p:cNvSpPr/>
          <p:nvPr/>
        </p:nvSpPr>
        <p:spPr>
          <a:xfrm>
            <a:off x="365760" y="4023360"/>
            <a:ext cx="903744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IP</a:t>
            </a:r>
            <a:endParaRPr lang="es-MX" sz="1000" b="0" strike="noStrike" spc="-1">
              <a:latin typeface="Arial"/>
            </a:endParaRPr>
          </a:p>
        </p:txBody>
      </p:sp>
      <p:sp>
        <p:nvSpPr>
          <p:cNvPr id="333" name="Line 12"/>
          <p:cNvSpPr/>
          <p:nvPr/>
        </p:nvSpPr>
        <p:spPr>
          <a:xfrm flipH="1">
            <a:off x="670320" y="215100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34" name="Line 13"/>
          <p:cNvSpPr/>
          <p:nvPr/>
        </p:nvSpPr>
        <p:spPr>
          <a:xfrm flipH="1">
            <a:off x="1423800" y="215532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35" name="Line 14"/>
          <p:cNvSpPr/>
          <p:nvPr/>
        </p:nvSpPr>
        <p:spPr>
          <a:xfrm flipH="1">
            <a:off x="2181240" y="2146320"/>
            <a:ext cx="4320" cy="55008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36" name="Line 15"/>
          <p:cNvSpPr/>
          <p:nvPr/>
        </p:nvSpPr>
        <p:spPr>
          <a:xfrm flipH="1">
            <a:off x="3017160" y="2146320"/>
            <a:ext cx="4680" cy="55008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37" name="Line 16"/>
          <p:cNvSpPr/>
          <p:nvPr/>
        </p:nvSpPr>
        <p:spPr>
          <a:xfrm flipH="1">
            <a:off x="3792240" y="2155320"/>
            <a:ext cx="468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38" name="Line 17"/>
          <p:cNvSpPr/>
          <p:nvPr/>
        </p:nvSpPr>
        <p:spPr>
          <a:xfrm flipH="1">
            <a:off x="4619880" y="2146320"/>
            <a:ext cx="4320" cy="55008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39" name="Line 18"/>
          <p:cNvSpPr/>
          <p:nvPr/>
        </p:nvSpPr>
        <p:spPr>
          <a:xfrm flipH="1">
            <a:off x="5368680" y="215532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40" name="CustomShape 19"/>
          <p:cNvSpPr/>
          <p:nvPr/>
        </p:nvSpPr>
        <p:spPr>
          <a:xfrm>
            <a:off x="5830200" y="182448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TFTP</a:t>
            </a:r>
            <a:endParaRPr lang="es-MX" sz="1000" b="0" strike="noStrike" spc="-1">
              <a:latin typeface="Arial"/>
            </a:endParaRPr>
          </a:p>
        </p:txBody>
      </p:sp>
      <p:sp>
        <p:nvSpPr>
          <p:cNvPr id="341" name="Line 20"/>
          <p:cNvSpPr/>
          <p:nvPr/>
        </p:nvSpPr>
        <p:spPr>
          <a:xfrm flipH="1">
            <a:off x="6174360" y="215100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42" name="Line 21"/>
          <p:cNvSpPr/>
          <p:nvPr/>
        </p:nvSpPr>
        <p:spPr>
          <a:xfrm>
            <a:off x="2248920" y="3031560"/>
            <a:ext cx="4320" cy="98100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43" name="Line 22"/>
          <p:cNvSpPr/>
          <p:nvPr/>
        </p:nvSpPr>
        <p:spPr>
          <a:xfrm>
            <a:off x="5275080" y="3038400"/>
            <a:ext cx="4320" cy="98100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44" name="CustomShape 23"/>
          <p:cNvSpPr/>
          <p:nvPr/>
        </p:nvSpPr>
        <p:spPr>
          <a:xfrm>
            <a:off x="5930640" y="319824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ICMP</a:t>
            </a:r>
            <a:endParaRPr lang="es-MX" sz="1000" b="0" strike="noStrike" spc="-1">
              <a:latin typeface="Arial"/>
            </a:endParaRPr>
          </a:p>
        </p:txBody>
      </p:sp>
      <p:sp>
        <p:nvSpPr>
          <p:cNvPr id="345" name="CustomShape 24"/>
          <p:cNvSpPr/>
          <p:nvPr/>
        </p:nvSpPr>
        <p:spPr>
          <a:xfrm>
            <a:off x="6658920" y="319788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OSPF</a:t>
            </a:r>
            <a:endParaRPr lang="es-MX" sz="1000" b="0" strike="noStrike" spc="-1">
              <a:latin typeface="Arial"/>
            </a:endParaRPr>
          </a:p>
        </p:txBody>
      </p:sp>
      <p:sp>
        <p:nvSpPr>
          <p:cNvPr id="346" name="CustomShape 25"/>
          <p:cNvSpPr/>
          <p:nvPr/>
        </p:nvSpPr>
        <p:spPr>
          <a:xfrm>
            <a:off x="7404480" y="319680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RSVP</a:t>
            </a:r>
            <a:endParaRPr lang="es-MX" sz="1000" b="0" strike="noStrike" spc="-1">
              <a:latin typeface="Arial"/>
            </a:endParaRPr>
          </a:p>
        </p:txBody>
      </p:sp>
      <p:sp>
        <p:nvSpPr>
          <p:cNvPr id="347" name="CustomShape 26"/>
          <p:cNvSpPr/>
          <p:nvPr/>
        </p:nvSpPr>
        <p:spPr>
          <a:xfrm>
            <a:off x="8150040" y="319140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IGMP</a:t>
            </a:r>
            <a:endParaRPr lang="es-MX" sz="1000" b="0" strike="noStrike" spc="-1">
              <a:latin typeface="Arial"/>
            </a:endParaRPr>
          </a:p>
        </p:txBody>
      </p:sp>
      <p:sp>
        <p:nvSpPr>
          <p:cNvPr id="348" name="Line 27"/>
          <p:cNvSpPr/>
          <p:nvPr/>
        </p:nvSpPr>
        <p:spPr>
          <a:xfrm>
            <a:off x="6272280" y="3539520"/>
            <a:ext cx="360" cy="48816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49" name="Line 28"/>
          <p:cNvSpPr/>
          <p:nvPr/>
        </p:nvSpPr>
        <p:spPr>
          <a:xfrm>
            <a:off x="6998040" y="3531600"/>
            <a:ext cx="360" cy="48780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50" name="Line 29"/>
          <p:cNvSpPr/>
          <p:nvPr/>
        </p:nvSpPr>
        <p:spPr>
          <a:xfrm>
            <a:off x="7722000" y="3539520"/>
            <a:ext cx="360" cy="488160"/>
          </a:xfrm>
          <a:prstGeom prst="line">
            <a:avLst/>
          </a:prstGeom>
          <a:ln w="19080">
            <a:solidFill>
              <a:srgbClr val="000000"/>
            </a:solidFill>
            <a:round/>
          </a:ln>
        </p:spPr>
        <p:style>
          <a:lnRef idx="0">
            <a:scrgbClr r="0" g="0" b="0"/>
          </a:lnRef>
          <a:fillRef idx="0">
            <a:scrgbClr r="0" g="0" b="0"/>
          </a:fillRef>
          <a:effectRef idx="0">
            <a:scrgbClr r="0" g="0" b="0"/>
          </a:effectRef>
          <a:fontRef idx="minor"/>
        </p:style>
      </p:sp>
      <p:sp>
        <p:nvSpPr>
          <p:cNvPr id="351" name="Line 30"/>
          <p:cNvSpPr/>
          <p:nvPr/>
        </p:nvSpPr>
        <p:spPr>
          <a:xfrm>
            <a:off x="8472240" y="3522240"/>
            <a:ext cx="360" cy="487800"/>
          </a:xfrm>
          <a:prstGeom prst="line">
            <a:avLst/>
          </a:prstGeom>
          <a:ln w="19080">
            <a:solidFill>
              <a:srgbClr val="000000"/>
            </a:solidFill>
            <a:round/>
          </a:ln>
        </p:spPr>
        <p:style>
          <a:lnRef idx="0">
            <a:scrgbClr r="0" g="0" b="0"/>
          </a:lnRef>
          <a:fillRef idx="0">
            <a:scrgbClr r="0" g="0" b="0"/>
          </a:fillRef>
          <a:effectRef idx="0">
            <a:scrgbClr r="0" g="0" b="0"/>
          </a:effectRef>
          <a:fontRef idx="minor"/>
        </p:style>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dirty="0">
                <a:solidFill>
                  <a:srgbClr val="000000"/>
                </a:solidFill>
                <a:latin typeface="Calibri Light"/>
                <a:ea typeface="DejaVu Sans"/>
              </a:rPr>
              <a:t>UDP (</a:t>
            </a:r>
            <a:r>
              <a:rPr lang="en-US" sz="4400" b="0" strike="noStrike" spc="-1" dirty="0" err="1">
                <a:solidFill>
                  <a:srgbClr val="000000"/>
                </a:solidFill>
                <a:latin typeface="Calibri Light"/>
                <a:ea typeface="DejaVu Sans"/>
              </a:rPr>
              <a:t>Protocolo</a:t>
            </a:r>
            <a:r>
              <a:rPr lang="en-US" sz="4400" b="0" strike="noStrike" spc="-1" dirty="0">
                <a:solidFill>
                  <a:srgbClr val="000000"/>
                </a:solidFill>
                <a:latin typeface="Calibri Light"/>
                <a:ea typeface="DejaVu Sans"/>
              </a:rPr>
              <a:t> de </a:t>
            </a:r>
            <a:r>
              <a:rPr lang="en-US" sz="4400" b="0" strike="noStrike" spc="-1" dirty="0" err="1">
                <a:solidFill>
                  <a:srgbClr val="000000"/>
                </a:solidFill>
                <a:latin typeface="Calibri Light"/>
                <a:ea typeface="DejaVu Sans"/>
              </a:rPr>
              <a:t>Datagramas</a:t>
            </a:r>
            <a:r>
              <a:rPr lang="en-US" sz="4400" b="0" strike="noStrike" spc="-1" dirty="0">
                <a:solidFill>
                  <a:srgbClr val="000000"/>
                </a:solidFill>
                <a:latin typeface="Calibri Light"/>
                <a:ea typeface="DejaVu Sans"/>
              </a:rPr>
              <a:t> de </a:t>
            </a:r>
            <a:r>
              <a:rPr lang="en-US" sz="4400" b="0" strike="noStrike" spc="-1" dirty="0" err="1">
                <a:solidFill>
                  <a:srgbClr val="000000"/>
                </a:solidFill>
                <a:latin typeface="Calibri Light"/>
                <a:ea typeface="DejaVu Sans"/>
              </a:rPr>
              <a:t>Usuario</a:t>
            </a:r>
            <a:r>
              <a:rPr lang="en-US" sz="4400" b="0" strike="noStrike" spc="-1" dirty="0">
                <a:solidFill>
                  <a:srgbClr val="000000"/>
                </a:solidFill>
                <a:latin typeface="Calibri Light"/>
                <a:ea typeface="DejaVu Sans"/>
              </a:rPr>
              <a:t>)</a:t>
            </a:r>
            <a:endParaRPr lang="es-MX" sz="4400" b="0" strike="noStrike" spc="-1" dirty="0">
              <a:latin typeface="Arial"/>
            </a:endParaRPr>
          </a:p>
        </p:txBody>
      </p:sp>
      <p:sp>
        <p:nvSpPr>
          <p:cNvPr id="35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i="1" strike="noStrike" spc="-1">
                <a:solidFill>
                  <a:srgbClr val="000000"/>
                </a:solidFill>
                <a:latin typeface="Calibri"/>
                <a:ea typeface="DejaVu Sans"/>
              </a:rPr>
              <a:t>UDP</a:t>
            </a:r>
            <a:r>
              <a:rPr lang="en-US" sz="2800" b="0" strike="noStrike" spc="-1">
                <a:solidFill>
                  <a:srgbClr val="000000"/>
                </a:solidFill>
                <a:latin typeface="Calibri"/>
                <a:ea typeface="DejaVu Sans"/>
              </a:rPr>
              <a:t> (RFC 768)es un protocolo que ofrece servicio de transporte de datagramas no orientado a conexión.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Proporciona un modo de pasar la parte del mensaje de UDP al protocolo de la capa de aplicación (multiplexación).</a:t>
            </a: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UDP (1/2)</a:t>
            </a:r>
            <a:endParaRPr lang="es-MX" sz="4400" b="0" strike="noStrike" spc="-1">
              <a:latin typeface="Arial"/>
            </a:endParaRPr>
          </a:p>
        </p:txBody>
      </p:sp>
      <p:sp>
        <p:nvSpPr>
          <p:cNvPr id="35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 orientados a conexión</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Los mensajes de UDP se envían sin la negociación del establecimiento de conexión de TCP (handshake)</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fiable</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Los mensajes de UDP se envían como datagramas sin secuencia y sin reconocimiento.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El protocolo de aplicación que utiliza los servicios de UDP debe recuperarse de la perdida de mensajes.</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Los protocolos típicos de nivel de aplicación que utilizan los servicios de UDP, proporcionan sus propios servicios de fiabilidad o retransmiten periódicamente los mensajes de UDP o tras un periodo de tiempo preestablecido.</a:t>
            </a:r>
            <a:endParaRPr lang="es-MX" sz="2400" b="0" strike="noStrike" spc="-1">
              <a:latin typeface="Arial"/>
            </a:endParaRPr>
          </a:p>
          <a:p>
            <a:pPr>
              <a:lnSpc>
                <a:spcPct val="90000"/>
              </a:lnSpc>
            </a:pPr>
            <a:endParaRPr lang="es-MX" sz="2400" b="0" strike="noStrike" spc="-1">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UDP (2/2)</a:t>
            </a:r>
            <a:endParaRPr lang="es-MX" sz="4400" b="0" strike="noStrike" spc="-1">
              <a:latin typeface="Arial"/>
            </a:endParaRPr>
          </a:p>
        </p:txBody>
      </p:sp>
      <p:sp>
        <p:nvSpPr>
          <p:cNvPr id="35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Proporciona</a:t>
            </a:r>
            <a:r>
              <a:rPr lang="en-US" sz="2800" b="0" strike="noStrike" spc="-1" dirty="0">
                <a:solidFill>
                  <a:srgbClr val="000000"/>
                </a:solidFill>
                <a:latin typeface="Calibri"/>
                <a:ea typeface="DejaVu Sans"/>
              </a:rPr>
              <a:t> </a:t>
            </a:r>
            <a:r>
              <a:rPr lang="en-US" sz="2800" b="1" strike="noStrike" spc="-1" dirty="0" err="1">
                <a:solidFill>
                  <a:srgbClr val="000000"/>
                </a:solidFill>
                <a:latin typeface="Calibri"/>
                <a:ea typeface="DejaVu Sans"/>
              </a:rPr>
              <a:t>identificación</a:t>
            </a:r>
            <a:r>
              <a:rPr lang="en-US" sz="2800" b="1" strike="noStrike" spc="-1" dirty="0">
                <a:solidFill>
                  <a:srgbClr val="000000"/>
                </a:solidFill>
                <a:latin typeface="Calibri"/>
                <a:ea typeface="DejaVu Sans"/>
              </a:rPr>
              <a:t> de los </a:t>
            </a:r>
            <a:r>
              <a:rPr lang="en-US" sz="2800" b="1" strike="noStrike" spc="-1" dirty="0" err="1">
                <a:solidFill>
                  <a:srgbClr val="000000"/>
                </a:solidFill>
                <a:latin typeface="Calibri"/>
                <a:ea typeface="DejaVu Sans"/>
              </a:rPr>
              <a:t>protocolos</a:t>
            </a:r>
            <a:r>
              <a:rPr lang="en-US" sz="2800" b="1" strike="noStrike" spc="-1" dirty="0">
                <a:solidFill>
                  <a:srgbClr val="000000"/>
                </a:solidFill>
                <a:latin typeface="Calibri"/>
                <a:ea typeface="DejaVu Sans"/>
              </a:rPr>
              <a:t> de </a:t>
            </a:r>
            <a:r>
              <a:rPr lang="en-US" sz="2800" b="1" strike="noStrike" spc="-1" dirty="0" err="1">
                <a:solidFill>
                  <a:srgbClr val="000000"/>
                </a:solidFill>
                <a:latin typeface="Calibri"/>
                <a:ea typeface="DejaVu Sans"/>
              </a:rPr>
              <a:t>nivel</a:t>
            </a:r>
            <a:r>
              <a:rPr lang="en-US" sz="2800" b="1" strike="noStrike" spc="-1" dirty="0">
                <a:solidFill>
                  <a:srgbClr val="000000"/>
                </a:solidFill>
                <a:latin typeface="Calibri"/>
                <a:ea typeface="DejaVu Sans"/>
              </a:rPr>
              <a:t> de </a:t>
            </a:r>
            <a:r>
              <a:rPr lang="en-US" sz="2800" b="1" strike="noStrike" spc="-1" dirty="0" err="1">
                <a:solidFill>
                  <a:srgbClr val="000000"/>
                </a:solidFill>
                <a:latin typeface="Calibri"/>
                <a:ea typeface="DejaVu Sans"/>
              </a:rPr>
              <a:t>aplicación</a:t>
            </a:r>
            <a:endParaRPr lang="es-MX" sz="2800" b="1"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a:t>
            </a:r>
            <a:r>
              <a:rPr lang="en-US" sz="2400" b="0" strike="noStrike" spc="-1" dirty="0" err="1">
                <a:solidFill>
                  <a:srgbClr val="000000"/>
                </a:solidFill>
                <a:latin typeface="Calibri"/>
                <a:ea typeface="DejaVu Sans"/>
              </a:rPr>
              <a:t>proporciona</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mecanismo</a:t>
            </a:r>
            <a:r>
              <a:rPr lang="en-US" sz="2400" b="0" strike="noStrike" spc="-1" dirty="0">
                <a:solidFill>
                  <a:srgbClr val="000000"/>
                </a:solidFill>
                <a:latin typeface="Calibri"/>
                <a:ea typeface="DejaVu Sans"/>
              </a:rPr>
              <a:t> para </a:t>
            </a:r>
            <a:r>
              <a:rPr lang="en-US" sz="2400" b="0" strike="noStrike" spc="-1" dirty="0" err="1">
                <a:solidFill>
                  <a:srgbClr val="000000"/>
                </a:solidFill>
                <a:latin typeface="Calibri"/>
                <a:ea typeface="DejaVu Sans"/>
              </a:rPr>
              <a:t>enviar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a un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o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nivel</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un host de una red.</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encabezado</a:t>
            </a:r>
            <a:r>
              <a:rPr lang="en-US" sz="2400" b="0" strike="noStrike" spc="-1" dirty="0">
                <a:solidFill>
                  <a:srgbClr val="000000"/>
                </a:solidFill>
                <a:latin typeface="Calibri"/>
                <a:ea typeface="DejaVu Sans"/>
              </a:rPr>
              <a:t> UDP </a:t>
            </a:r>
            <a:r>
              <a:rPr lang="en-US" sz="2400" b="0" strike="noStrike" spc="-1" dirty="0" err="1">
                <a:solidFill>
                  <a:srgbClr val="000000"/>
                </a:solidFill>
                <a:latin typeface="Calibri"/>
                <a:ea typeface="DejaVu Sans"/>
              </a:rPr>
              <a:t>proporciona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identificación</a:t>
            </a:r>
            <a:r>
              <a:rPr lang="en-US" sz="2400" b="0" strike="noStrike" spc="-1" dirty="0">
                <a:solidFill>
                  <a:srgbClr val="000000"/>
                </a:solidFill>
                <a:latin typeface="Calibri"/>
                <a:ea typeface="DejaVu Sans"/>
              </a:rPr>
              <a:t> tanto del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origen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como</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destino</a:t>
            </a:r>
            <a:r>
              <a:rPr lang="en-US" sz="2400" b="0" strike="noStrike" spc="-1" dirty="0">
                <a:solidFill>
                  <a:srgbClr val="000000"/>
                </a:solidFill>
                <a:latin typeface="Calibri"/>
                <a:ea typeface="DejaVu Sans"/>
              </a:rPr>
              <a:t> (#puerto)</a:t>
            </a:r>
            <a:endParaRPr lang="es-MX" sz="2400" b="0" strike="noStrike" spc="-1" dirty="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Qué no ofrece UDP (1/2)</a:t>
            </a:r>
            <a:endParaRPr lang="es-MX" sz="4400" b="0" strike="noStrike" spc="-1">
              <a:latin typeface="Arial"/>
            </a:endParaRPr>
          </a:p>
        </p:txBody>
      </p:sp>
      <p:sp>
        <p:nvSpPr>
          <p:cNvPr id="35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Buffer</a:t>
            </a:r>
            <a:endParaRPr lang="es-MX" sz="28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a:t>
            </a:r>
            <a:r>
              <a:rPr lang="en-US" sz="2400" b="1" strike="noStrike" spc="-1" dirty="0">
                <a:solidFill>
                  <a:srgbClr val="000000"/>
                </a:solidFill>
                <a:latin typeface="Calibri"/>
                <a:ea typeface="DejaVu Sans"/>
              </a:rPr>
              <a:t>no </a:t>
            </a:r>
            <a:r>
              <a:rPr lang="en-US" sz="2400" b="1" strike="noStrike" spc="-1" dirty="0" err="1">
                <a:solidFill>
                  <a:srgbClr val="000000"/>
                </a:solidFill>
                <a:latin typeface="Calibri"/>
                <a:ea typeface="DejaVu Sans"/>
              </a:rPr>
              <a:t>proporciona</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ningún</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tipo</a:t>
            </a:r>
            <a:r>
              <a:rPr lang="en-US" sz="2400" b="1" strike="noStrike" spc="-1" dirty="0">
                <a:solidFill>
                  <a:srgbClr val="000000"/>
                </a:solidFill>
                <a:latin typeface="Calibri"/>
                <a:ea typeface="DejaVu Sans"/>
              </a:rPr>
              <a:t> de buffer</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entrada, </a:t>
            </a:r>
            <a:r>
              <a:rPr lang="en-US" sz="2400" b="0" strike="noStrike" spc="-1" dirty="0" err="1">
                <a:solidFill>
                  <a:srgbClr val="000000"/>
                </a:solidFill>
                <a:latin typeface="Calibri"/>
                <a:ea typeface="DejaVu Sans"/>
              </a:rPr>
              <a:t>ni</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Es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nivel</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quien</a:t>
            </a:r>
            <a:r>
              <a:rPr lang="en-US" sz="2400" b="0" strike="noStrike" spc="-1" dirty="0">
                <a:solidFill>
                  <a:srgbClr val="000000"/>
                </a:solidFill>
                <a:latin typeface="Calibri"/>
                <a:ea typeface="DejaVu Sans"/>
              </a:rPr>
              <a:t> debe </a:t>
            </a:r>
            <a:r>
              <a:rPr lang="en-US" sz="2400" b="0" strike="noStrike" spc="-1" dirty="0" err="1">
                <a:solidFill>
                  <a:srgbClr val="000000"/>
                </a:solidFill>
                <a:latin typeface="Calibri"/>
                <a:ea typeface="DejaVu Sans"/>
              </a:rPr>
              <a:t>proveer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todo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mecanismo</a:t>
            </a:r>
            <a:r>
              <a:rPr lang="en-US" sz="2400" b="0" strike="noStrike" spc="-1" dirty="0">
                <a:solidFill>
                  <a:srgbClr val="000000"/>
                </a:solidFill>
                <a:latin typeface="Calibri"/>
                <a:ea typeface="DejaVu Sans"/>
              </a:rPr>
              <a:t> de buffer.</a:t>
            </a:r>
            <a:endParaRPr lang="es-MX" sz="2400" b="0" strike="noStrike" spc="-1" dirty="0">
              <a:latin typeface="Arial"/>
            </a:endParaRPr>
          </a:p>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Segmentación</a:t>
            </a:r>
            <a:endParaRPr lang="es-MX" sz="28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UDP </a:t>
            </a:r>
            <a:r>
              <a:rPr lang="en-US" sz="2400" b="1" strike="noStrike" spc="-1" dirty="0">
                <a:solidFill>
                  <a:srgbClr val="000000"/>
                </a:solidFill>
                <a:latin typeface="Calibri"/>
                <a:ea typeface="DejaVu Sans"/>
              </a:rPr>
              <a:t>no </a:t>
            </a:r>
            <a:r>
              <a:rPr lang="en-US" sz="2400" b="1" strike="noStrike" spc="-1" dirty="0" err="1">
                <a:solidFill>
                  <a:srgbClr val="000000"/>
                </a:solidFill>
                <a:latin typeface="Calibri"/>
                <a:ea typeface="DejaVu Sans"/>
              </a:rPr>
              <a:t>proporciona</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ningún</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tipo</a:t>
            </a:r>
            <a:r>
              <a:rPr lang="en-US" sz="2400" b="1" strike="noStrike" spc="-1" dirty="0">
                <a:solidFill>
                  <a:srgbClr val="000000"/>
                </a:solidFill>
                <a:latin typeface="Calibri"/>
                <a:ea typeface="DejaVu Sans"/>
              </a:rPr>
              <a:t> de </a:t>
            </a:r>
            <a:r>
              <a:rPr lang="en-US" sz="2400" b="1" strike="noStrike" spc="-1" dirty="0" err="1">
                <a:solidFill>
                  <a:srgbClr val="000000"/>
                </a:solidFill>
                <a:latin typeface="Calibri"/>
                <a:ea typeface="DejaVu Sans"/>
              </a:rPr>
              <a:t>segmentación</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grandes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bloques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Por lo tanto la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debe </a:t>
            </a:r>
            <a:r>
              <a:rPr lang="en-US" sz="2400" b="0" strike="noStrike" spc="-1" dirty="0" err="1">
                <a:solidFill>
                  <a:srgbClr val="000000"/>
                </a:solidFill>
                <a:latin typeface="Calibri"/>
                <a:ea typeface="DejaVu Sans"/>
              </a:rPr>
              <a:t>enviar</a:t>
            </a:r>
            <a:r>
              <a:rPr lang="en-US" sz="2400" b="0" strike="noStrike" spc="-1" dirty="0">
                <a:solidFill>
                  <a:srgbClr val="000000"/>
                </a:solidFill>
                <a:latin typeface="Calibri"/>
                <a:ea typeface="DejaVu Sans"/>
              </a:rPr>
              <a:t>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bloques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suficientemente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pequeños</a:t>
            </a:r>
            <a:r>
              <a:rPr lang="en-US" sz="2400" b="0" strike="noStrike" spc="-1" dirty="0">
                <a:solidFill>
                  <a:srgbClr val="000000"/>
                </a:solidFill>
                <a:latin typeface="Calibri"/>
                <a:ea typeface="DejaVu Sans"/>
              </a:rPr>
              <a:t> para que los </a:t>
            </a:r>
            <a:r>
              <a:rPr lang="en-US" sz="2400" b="0" strike="noStrike" spc="-1" dirty="0" err="1">
                <a:solidFill>
                  <a:srgbClr val="000000"/>
                </a:solidFill>
                <a:latin typeface="Calibri"/>
                <a:ea typeface="DejaVu Sans"/>
              </a:rPr>
              <a:t>datagramas</a:t>
            </a:r>
            <a:r>
              <a:rPr lang="en-US" sz="2400" b="0" strike="noStrike" spc="-1" dirty="0">
                <a:solidFill>
                  <a:srgbClr val="000000"/>
                </a:solidFill>
                <a:latin typeface="Calibri"/>
                <a:ea typeface="DejaVu Sans"/>
              </a:rPr>
              <a:t> de IP para los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UDP, no </a:t>
            </a:r>
            <a:r>
              <a:rPr lang="en-US" sz="2400" b="0" strike="noStrike" spc="-1" dirty="0" err="1">
                <a:solidFill>
                  <a:srgbClr val="000000"/>
                </a:solidFill>
                <a:latin typeface="Calibri"/>
                <a:ea typeface="DejaVu Sans"/>
              </a:rPr>
              <a:t>sean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mayores</a:t>
            </a:r>
            <a:r>
              <a:rPr lang="en-US" sz="2400" b="0" strike="noStrike" spc="-1" dirty="0">
                <a:solidFill>
                  <a:srgbClr val="000000"/>
                </a:solidFill>
                <a:latin typeface="Calibri"/>
                <a:ea typeface="DejaVu Sans"/>
              </a:rPr>
              <a:t> que la MTU de la </a:t>
            </a:r>
            <a:r>
              <a:rPr lang="en-US" sz="2400" b="0" strike="noStrike" spc="-1" dirty="0" err="1">
                <a:solidFill>
                  <a:srgbClr val="000000"/>
                </a:solidFill>
                <a:latin typeface="Calibri"/>
                <a:ea typeface="DejaVu Sans"/>
              </a:rPr>
              <a:t>tecnología</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Interfaz</a:t>
            </a:r>
            <a:r>
              <a:rPr lang="en-US" sz="2400" b="0" strike="noStrike" spc="-1" dirty="0">
                <a:solidFill>
                  <a:srgbClr val="000000"/>
                </a:solidFill>
                <a:latin typeface="Calibri"/>
                <a:ea typeface="DejaVu Sans"/>
              </a:rPr>
              <a:t> de Red por la que se </a:t>
            </a:r>
            <a:r>
              <a:rPr lang="en-US" sz="2400" b="0" strike="noStrike" spc="-1" dirty="0" err="1">
                <a:solidFill>
                  <a:srgbClr val="000000"/>
                </a:solidFill>
                <a:latin typeface="Calibri"/>
                <a:ea typeface="DejaVu Sans"/>
              </a:rPr>
              <a:t>envían</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tamaño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máximo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datagrama</a:t>
            </a:r>
            <a:r>
              <a:rPr lang="en-US" sz="2400" b="0" strike="noStrike" spc="-1" dirty="0">
                <a:solidFill>
                  <a:srgbClr val="000000"/>
                </a:solidFill>
                <a:latin typeface="Calibri"/>
                <a:ea typeface="DejaVu Sans"/>
              </a:rPr>
              <a:t> es de 65535 bytes</a:t>
            </a: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Que no ofrece UDP (2/2)</a:t>
            </a:r>
            <a:endParaRPr lang="es-MX" sz="4400" b="0" strike="noStrike" spc="-1">
              <a:latin typeface="Arial"/>
            </a:endParaRPr>
          </a:p>
        </p:txBody>
      </p:sp>
      <p:sp>
        <p:nvSpPr>
          <p:cNvPr id="36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1" strike="noStrike" spc="-1" dirty="0">
                <a:solidFill>
                  <a:srgbClr val="000000"/>
                </a:solidFill>
                <a:latin typeface="Calibri"/>
                <a:ea typeface="DejaVu Sans"/>
              </a:rPr>
              <a:t>Control de </a:t>
            </a:r>
            <a:r>
              <a:rPr lang="en-US" sz="2800" b="1" strike="noStrike" spc="-1" dirty="0" err="1">
                <a:solidFill>
                  <a:srgbClr val="000000"/>
                </a:solidFill>
                <a:latin typeface="Calibri"/>
                <a:ea typeface="DejaVu Sans"/>
              </a:rPr>
              <a:t>flujo</a:t>
            </a:r>
            <a:endParaRPr lang="es-MX" sz="2800" b="1"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no </a:t>
            </a:r>
            <a:r>
              <a:rPr lang="en-US" sz="2400" b="0" strike="noStrike" spc="-1" dirty="0" err="1">
                <a:solidFill>
                  <a:srgbClr val="000000"/>
                </a:solidFill>
                <a:latin typeface="Calibri"/>
                <a:ea typeface="DejaVu Sans"/>
              </a:rPr>
              <a:t>proporciona</a:t>
            </a:r>
            <a:r>
              <a:rPr lang="en-US" sz="2400" b="0" strike="noStrike" spc="-1" dirty="0">
                <a:solidFill>
                  <a:srgbClr val="000000"/>
                </a:solidFill>
                <a:latin typeface="Calibri"/>
                <a:ea typeface="DejaVu Sans"/>
              </a:rPr>
              <a:t> control de </a:t>
            </a:r>
            <a:r>
              <a:rPr lang="en-US" sz="2400" b="0" strike="noStrike" spc="-1" dirty="0" err="1">
                <a:solidFill>
                  <a:srgbClr val="000000"/>
                </a:solidFill>
                <a:latin typeface="Calibri"/>
                <a:ea typeface="DejaVu Sans"/>
              </a:rPr>
              <a:t>flujo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ni</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extremo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emisor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ni</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extremo</a:t>
            </a:r>
            <a:r>
              <a:rPr lang="en-US" sz="2400" b="0" strike="noStrike" spc="-1" dirty="0">
                <a:solidFill>
                  <a:srgbClr val="000000"/>
                </a:solidFill>
                <a:latin typeface="Calibri"/>
                <a:ea typeface="DejaVu Sans"/>
              </a:rPr>
              <a:t> receptor.</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Los </a:t>
            </a:r>
            <a:r>
              <a:rPr lang="en-US" sz="2400" b="0" strike="noStrike" spc="-1" dirty="0" err="1">
                <a:solidFill>
                  <a:srgbClr val="000000"/>
                </a:solidFill>
                <a:latin typeface="Calibri"/>
                <a:ea typeface="DejaVu Sans"/>
              </a:rPr>
              <a:t>emisores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UDP </a:t>
            </a:r>
            <a:r>
              <a:rPr lang="en-US" sz="2400" b="0" strike="noStrike" spc="-1" dirty="0" err="1">
                <a:solidFill>
                  <a:srgbClr val="000000"/>
                </a:solidFill>
                <a:latin typeface="Calibri"/>
                <a:ea typeface="DejaVu Sans"/>
              </a:rPr>
              <a:t>pueden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reaccionar</a:t>
            </a:r>
            <a:r>
              <a:rPr lang="en-US" sz="2400" b="0" strike="noStrike" spc="-1" dirty="0">
                <a:solidFill>
                  <a:srgbClr val="000000"/>
                </a:solidFill>
                <a:latin typeface="Calibri"/>
                <a:ea typeface="DejaVu Sans"/>
              </a:rPr>
              <a:t> a la </a:t>
            </a:r>
            <a:r>
              <a:rPr lang="en-US" sz="2400" b="0" strike="noStrike" spc="-1" dirty="0" err="1">
                <a:solidFill>
                  <a:srgbClr val="000000"/>
                </a:solidFill>
                <a:latin typeface="Calibri"/>
                <a:ea typeface="DejaVu Sans"/>
              </a:rPr>
              <a:t>recepción</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Control de </a:t>
            </a:r>
            <a:r>
              <a:rPr lang="en-US" sz="2400" b="0" strike="noStrike" spc="-1" dirty="0" err="1">
                <a:solidFill>
                  <a:srgbClr val="000000"/>
                </a:solidFill>
                <a:latin typeface="Calibri"/>
                <a:ea typeface="DejaVu Sans"/>
              </a:rPr>
              <a:t>flujo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origen</a:t>
            </a:r>
            <a:r>
              <a:rPr lang="en-US" sz="2400" b="0" strike="noStrike" spc="-1" dirty="0">
                <a:solidFill>
                  <a:srgbClr val="000000"/>
                </a:solidFill>
                <a:latin typeface="Calibri"/>
                <a:ea typeface="DejaVu Sans"/>
              </a:rPr>
              <a:t> de ICMP, </a:t>
            </a:r>
            <a:r>
              <a:rPr lang="en-US" sz="2400" b="0" strike="noStrike" spc="-1" dirty="0" err="1">
                <a:solidFill>
                  <a:srgbClr val="000000"/>
                </a:solidFill>
                <a:latin typeface="Calibri"/>
                <a:ea typeface="DejaVu Sans"/>
              </a:rPr>
              <a:t>pero</a:t>
            </a:r>
            <a:r>
              <a:rPr lang="en-US" sz="2400" b="0" strike="noStrike" spc="-1" dirty="0">
                <a:solidFill>
                  <a:srgbClr val="000000"/>
                </a:solidFill>
                <a:latin typeface="Calibri"/>
                <a:ea typeface="DejaVu Sans"/>
              </a:rPr>
              <a:t> no se </a:t>
            </a:r>
            <a:r>
              <a:rPr lang="en-US" sz="2400" b="0" strike="noStrike" spc="-1" dirty="0" err="1">
                <a:solidFill>
                  <a:srgbClr val="000000"/>
                </a:solidFill>
                <a:latin typeface="Calibri"/>
                <a:ea typeface="DejaVu Sans"/>
              </a:rPr>
              <a:t>requiere</a:t>
            </a:r>
            <a:r>
              <a:rPr lang="en-US" sz="2400" b="0" strike="noStrike" spc="-1" dirty="0">
                <a:solidFill>
                  <a:srgbClr val="000000"/>
                </a:solidFill>
                <a:latin typeface="Calibri"/>
                <a:ea typeface="DejaVu Sans"/>
              </a:rPr>
              <a:t>.</a:t>
            </a:r>
            <a:endParaRPr lang="es-MX" sz="2400" b="0" strike="noStrike" spc="-1" dirty="0">
              <a:latin typeface="Arial"/>
            </a:endParaRPr>
          </a:p>
          <a:p>
            <a:pPr>
              <a:lnSpc>
                <a:spcPct val="90000"/>
              </a:lnSpc>
            </a:pP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Usos de UDP (2/2)</a:t>
            </a:r>
            <a:endParaRPr lang="es-MX" sz="4400" b="0" strike="noStrike" spc="-1">
              <a:latin typeface="Arial"/>
            </a:endParaRPr>
          </a:p>
        </p:txBody>
      </p:sp>
      <p:sp>
        <p:nvSpPr>
          <p:cNvPr id="36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No se </a:t>
            </a:r>
            <a:r>
              <a:rPr lang="en-US" sz="2800" b="0" strike="noStrike" spc="-1" dirty="0" err="1">
                <a:solidFill>
                  <a:srgbClr val="000000"/>
                </a:solidFill>
                <a:latin typeface="Calibri"/>
                <a:ea typeface="DejaVu Sans"/>
              </a:rPr>
              <a:t>requiere</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fiabilidad</a:t>
            </a:r>
            <a:r>
              <a:rPr lang="en-US" sz="2800" b="0" strike="noStrike" spc="-1" dirty="0">
                <a:solidFill>
                  <a:srgbClr val="000000"/>
                </a:solidFill>
                <a:latin typeface="Calibri"/>
                <a:ea typeface="DejaVu Sans"/>
              </a:rPr>
              <a:t> por un </a:t>
            </a:r>
            <a:r>
              <a:rPr lang="en-US" sz="2800" b="1" strike="noStrike" spc="-1" dirty="0" err="1">
                <a:solidFill>
                  <a:srgbClr val="000000"/>
                </a:solidFill>
                <a:latin typeface="Calibri"/>
                <a:ea typeface="DejaVu Sans"/>
              </a:rPr>
              <a:t>proceso</a:t>
            </a:r>
            <a:r>
              <a:rPr lang="en-US" sz="2800" b="1" strike="noStrike" spc="-1" dirty="0">
                <a:solidFill>
                  <a:srgbClr val="000000"/>
                </a:solidFill>
                <a:latin typeface="Calibri"/>
                <a:ea typeface="DejaVu Sans"/>
              </a:rPr>
              <a:t> </a:t>
            </a:r>
            <a:r>
              <a:rPr lang="en-US" sz="2800" b="1" strike="noStrike" spc="-1" dirty="0" err="1">
                <a:solidFill>
                  <a:srgbClr val="000000"/>
                </a:solidFill>
                <a:latin typeface="Calibri"/>
                <a:ea typeface="DejaVu Sans"/>
              </a:rPr>
              <a:t>periódico</a:t>
            </a:r>
            <a:r>
              <a:rPr lang="en-US" sz="2800" b="1" strike="noStrike" spc="-1" dirty="0">
                <a:solidFill>
                  <a:srgbClr val="000000"/>
                </a:solidFill>
                <a:latin typeface="Calibri"/>
                <a:ea typeface="DejaVu Sans"/>
              </a:rPr>
              <a:t> de </a:t>
            </a:r>
            <a:r>
              <a:rPr lang="en-US" sz="2800" b="1" strike="noStrike" spc="-1" dirty="0" err="1">
                <a:solidFill>
                  <a:srgbClr val="000000"/>
                </a:solidFill>
                <a:latin typeface="Calibri"/>
                <a:ea typeface="DejaVu Sans"/>
              </a:rPr>
              <a:t>anuncios</a:t>
            </a:r>
            <a:endParaRPr lang="es-MX" sz="2800" b="1"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Si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publica </a:t>
            </a:r>
            <a:r>
              <a:rPr lang="en-US" sz="2400" b="0" strike="noStrike" spc="-1" dirty="0" err="1">
                <a:solidFill>
                  <a:srgbClr val="000000"/>
                </a:solidFill>
                <a:latin typeface="Calibri"/>
                <a:ea typeface="DejaVu Sans"/>
              </a:rPr>
              <a:t>periódicamente</a:t>
            </a:r>
            <a:r>
              <a:rPr lang="en-US" sz="2400" b="0" strike="noStrike" spc="-1" dirty="0">
                <a:solidFill>
                  <a:srgbClr val="000000"/>
                </a:solidFill>
                <a:latin typeface="Calibri"/>
                <a:ea typeface="DejaVu Sans"/>
              </a:rPr>
              <a:t> la </a:t>
            </a:r>
            <a:r>
              <a:rPr lang="en-US" sz="2400" b="0" strike="noStrike" spc="-1" dirty="0" err="1">
                <a:solidFill>
                  <a:srgbClr val="000000"/>
                </a:solidFill>
                <a:latin typeface="Calibri"/>
                <a:ea typeface="DejaVu Sans"/>
              </a:rPr>
              <a:t>información</a:t>
            </a:r>
            <a:r>
              <a:rPr lang="en-US" sz="2400" b="0" strike="noStrike" spc="-1" dirty="0">
                <a:solidFill>
                  <a:srgbClr val="000000"/>
                </a:solidFill>
                <a:latin typeface="Calibri"/>
                <a:ea typeface="DejaVu Sans"/>
              </a:rPr>
              <a:t>, no se </a:t>
            </a:r>
            <a:r>
              <a:rPr lang="en-US" sz="2400" b="0" strike="noStrike" spc="-1" dirty="0" err="1">
                <a:solidFill>
                  <a:srgbClr val="000000"/>
                </a:solidFill>
                <a:latin typeface="Calibri"/>
                <a:ea typeface="DejaVu Sans"/>
              </a:rPr>
              <a:t>requiere</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envío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fiable</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Si se </a:t>
            </a:r>
            <a:r>
              <a:rPr lang="en-US" sz="2400" b="0" strike="noStrike" spc="-1" dirty="0" err="1">
                <a:solidFill>
                  <a:srgbClr val="000000"/>
                </a:solidFill>
                <a:latin typeface="Calibri"/>
                <a:ea typeface="DejaVu Sans"/>
              </a:rPr>
              <a:t>pierde</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mensaje</a:t>
            </a:r>
            <a:r>
              <a:rPr lang="en-US" sz="2400" b="0" strike="noStrike" spc="-1" dirty="0">
                <a:solidFill>
                  <a:srgbClr val="000000"/>
                </a:solidFill>
                <a:latin typeface="Calibri"/>
                <a:ea typeface="DejaVu Sans"/>
              </a:rPr>
              <a:t>, se </a:t>
            </a:r>
            <a:r>
              <a:rPr lang="en-US" sz="2400" b="0" strike="noStrike" spc="-1" dirty="0" err="1">
                <a:solidFill>
                  <a:srgbClr val="000000"/>
                </a:solidFill>
                <a:latin typeface="Calibri"/>
                <a:ea typeface="DejaVu Sans"/>
              </a:rPr>
              <a:t>vuelve</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anunciar</a:t>
            </a:r>
            <a:r>
              <a:rPr lang="en-US" sz="2400" b="0" strike="noStrike" spc="-1" dirty="0">
                <a:solidFill>
                  <a:srgbClr val="000000"/>
                </a:solidFill>
                <a:latin typeface="Calibri"/>
                <a:ea typeface="DejaVu Sans"/>
              </a:rPr>
              <a:t> de nuevo </a:t>
            </a:r>
            <a:r>
              <a:rPr lang="en-US" sz="2400" b="0" strike="noStrike" spc="-1" dirty="0" err="1">
                <a:solidFill>
                  <a:srgbClr val="000000"/>
                </a:solidFill>
                <a:latin typeface="Calibri"/>
                <a:ea typeface="DejaVu Sans"/>
              </a:rPr>
              <a:t>tras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período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publicación</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Un </a:t>
            </a:r>
            <a:r>
              <a:rPr lang="en-US" sz="2400" b="0" strike="noStrike" spc="-1" dirty="0" err="1">
                <a:solidFill>
                  <a:srgbClr val="000000"/>
                </a:solidFill>
                <a:latin typeface="Calibri"/>
                <a:ea typeface="DejaVu Sans"/>
              </a:rPr>
              <a:t>ejemplo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que </a:t>
            </a:r>
            <a:r>
              <a:rPr lang="en-US" sz="2400" b="0" strike="noStrike" spc="-1" dirty="0" err="1">
                <a:solidFill>
                  <a:srgbClr val="000000"/>
                </a:solidFill>
                <a:latin typeface="Calibri"/>
                <a:ea typeface="DejaVu Sans"/>
              </a:rPr>
              <a:t>usa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anuncios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periódicos</a:t>
            </a:r>
            <a:r>
              <a:rPr lang="en-US" sz="2400" b="0" strike="noStrike" spc="-1" dirty="0">
                <a:solidFill>
                  <a:srgbClr val="000000"/>
                </a:solidFill>
                <a:latin typeface="Calibri"/>
                <a:ea typeface="DejaVu Sans"/>
              </a:rPr>
              <a:t> (30 </a:t>
            </a:r>
            <a:r>
              <a:rPr lang="en-US" sz="2400" b="0" strike="noStrike" spc="-1" dirty="0" err="1">
                <a:solidFill>
                  <a:srgbClr val="000000"/>
                </a:solidFill>
                <a:latin typeface="Calibri"/>
                <a:ea typeface="DejaVu Sans"/>
              </a:rPr>
              <a:t>segundos</a:t>
            </a:r>
            <a:r>
              <a:rPr lang="en-US" sz="2400" b="0" strike="noStrike" spc="-1" dirty="0">
                <a:solidFill>
                  <a:srgbClr val="000000"/>
                </a:solidFill>
                <a:latin typeface="Calibri"/>
                <a:ea typeface="DejaVu Sans"/>
              </a:rPr>
              <a:t>) es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Información</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Enrutamiento</a:t>
            </a:r>
            <a:r>
              <a:rPr lang="en-US" sz="2400" b="0" strike="noStrike" spc="-1" dirty="0">
                <a:solidFill>
                  <a:srgbClr val="000000"/>
                </a:solidFill>
                <a:latin typeface="Calibri"/>
                <a:ea typeface="DejaVu Sans"/>
              </a:rPr>
              <a:t> (RIP – Routing Information Protocol).</a:t>
            </a:r>
            <a:endParaRPr lang="es-MX" sz="2400" b="0" strike="noStrike" spc="-1" dirty="0">
              <a:latin typeface="Arial"/>
            </a:endParaRPr>
          </a:p>
          <a:p>
            <a:pPr marL="216000" indent="-214920">
              <a:lnSpc>
                <a:spcPct val="90000"/>
              </a:lnSpc>
              <a:buClr>
                <a:srgbClr val="000000"/>
              </a:buClr>
              <a:buFont typeface="Arial"/>
              <a:buChar char="•"/>
            </a:pPr>
            <a:r>
              <a:rPr lang="en-US" sz="2800" b="1" strike="noStrike" spc="-1" dirty="0" err="1">
                <a:solidFill>
                  <a:srgbClr val="000000"/>
                </a:solidFill>
                <a:latin typeface="Calibri"/>
                <a:ea typeface="DejaVu Sans"/>
              </a:rPr>
              <a:t>Envío</a:t>
            </a:r>
            <a:r>
              <a:rPr lang="en-US" sz="2800" b="1" strike="noStrike" spc="-1" dirty="0">
                <a:solidFill>
                  <a:srgbClr val="000000"/>
                </a:solidFill>
                <a:latin typeface="Calibri"/>
                <a:ea typeface="DejaVu Sans"/>
              </a:rPr>
              <a:t> de uno a </a:t>
            </a:r>
            <a:r>
              <a:rPr lang="en-US" sz="2800" b="1" strike="noStrike" spc="-1" dirty="0" err="1">
                <a:solidFill>
                  <a:srgbClr val="000000"/>
                </a:solidFill>
                <a:latin typeface="Calibri"/>
                <a:ea typeface="DejaVu Sans"/>
              </a:rPr>
              <a:t>muchos</a:t>
            </a:r>
            <a:endParaRPr lang="es-MX" sz="2800" b="1"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se </a:t>
            </a:r>
            <a:r>
              <a:rPr lang="en-US" sz="2400" b="0" strike="noStrike" spc="-1" dirty="0" err="1">
                <a:solidFill>
                  <a:srgbClr val="000000"/>
                </a:solidFill>
                <a:latin typeface="Calibri"/>
                <a:ea typeface="DejaVu Sans"/>
              </a:rPr>
              <a:t>utiliza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transporte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siempre</a:t>
            </a:r>
            <a:r>
              <a:rPr lang="en-US" sz="2400" b="0" strike="noStrike" spc="-1" dirty="0">
                <a:solidFill>
                  <a:srgbClr val="000000"/>
                </a:solidFill>
                <a:latin typeface="Calibri"/>
                <a:ea typeface="DejaVu Sans"/>
              </a:rPr>
              <a:t> que se debe </a:t>
            </a:r>
            <a:r>
              <a:rPr lang="en-US" sz="2400" b="0" strike="noStrike" spc="-1" dirty="0" err="1">
                <a:solidFill>
                  <a:srgbClr val="000000"/>
                </a:solidFill>
                <a:latin typeface="Calibri"/>
                <a:ea typeface="DejaVu Sans"/>
              </a:rPr>
              <a:t>enviar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múltiples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destinos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mediante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direcciones</a:t>
            </a:r>
            <a:r>
              <a:rPr lang="en-US" sz="2400" b="0" strike="noStrike" spc="-1" dirty="0">
                <a:solidFill>
                  <a:srgbClr val="000000"/>
                </a:solidFill>
                <a:latin typeface="Calibri"/>
                <a:ea typeface="DejaVu Sans"/>
              </a:rPr>
              <a:t> de IP de diffusion (broadcast) o </a:t>
            </a:r>
            <a:r>
              <a:rPr lang="en-US" sz="2400" b="0" strike="noStrike" spc="-1" dirty="0" err="1">
                <a:solidFill>
                  <a:srgbClr val="000000"/>
                </a:solidFill>
                <a:latin typeface="Calibri"/>
                <a:ea typeface="DejaVu Sans"/>
              </a:rPr>
              <a:t>multidifusión</a:t>
            </a:r>
            <a:r>
              <a:rPr lang="en-US" sz="2400" b="0" strike="noStrike" spc="-1" dirty="0">
                <a:solidFill>
                  <a:srgbClr val="000000"/>
                </a:solidFill>
                <a:latin typeface="Calibri"/>
                <a:ea typeface="DejaVu Sans"/>
              </a:rPr>
              <a:t> (multicast).</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 TCP se </a:t>
            </a:r>
            <a:r>
              <a:rPr lang="en-US" sz="2400" b="0" strike="noStrike" spc="-1" dirty="0" err="1">
                <a:solidFill>
                  <a:srgbClr val="000000"/>
                </a:solidFill>
                <a:latin typeface="Calibri"/>
                <a:ea typeface="DejaVu Sans"/>
              </a:rPr>
              <a:t>puede</a:t>
            </a:r>
            <a:r>
              <a:rPr lang="en-US" sz="2400" b="0" strike="noStrike" spc="-1" dirty="0">
                <a:solidFill>
                  <a:srgbClr val="000000"/>
                </a:solidFill>
                <a:latin typeface="Calibri"/>
                <a:ea typeface="DejaVu Sans"/>
              </a:rPr>
              <a:t> usar </a:t>
            </a:r>
            <a:r>
              <a:rPr lang="en-US" sz="2400" b="0" strike="noStrike" spc="-1" dirty="0" err="1">
                <a:solidFill>
                  <a:srgbClr val="000000"/>
                </a:solidFill>
                <a:latin typeface="Calibri"/>
                <a:ea typeface="DejaVu Sans"/>
              </a:rPr>
              <a:t>sólo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envío</a:t>
            </a:r>
            <a:r>
              <a:rPr lang="en-US" sz="2400" b="0" strike="noStrike" spc="-1" dirty="0">
                <a:solidFill>
                  <a:srgbClr val="000000"/>
                </a:solidFill>
                <a:latin typeface="Calibri"/>
                <a:ea typeface="DejaVu Sans"/>
              </a:rPr>
              <a:t> de uno a uno.</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err="1">
                <a:solidFill>
                  <a:srgbClr val="000000"/>
                </a:solidFill>
                <a:latin typeface="Calibri"/>
                <a:ea typeface="DejaVu Sans"/>
              </a:rPr>
              <a:t>Ejemplo</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envío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señal</a:t>
            </a:r>
            <a:r>
              <a:rPr lang="en-US" sz="2400" b="0" strike="noStrike" spc="-1" dirty="0">
                <a:solidFill>
                  <a:srgbClr val="000000"/>
                </a:solidFill>
                <a:latin typeface="Calibri"/>
                <a:ea typeface="DejaVu Sans"/>
              </a:rPr>
              <a:t> de video o </a:t>
            </a:r>
            <a:r>
              <a:rPr lang="en-US" sz="2400" b="0" strike="noStrike" spc="-1" dirty="0" err="1">
                <a:solidFill>
                  <a:srgbClr val="000000"/>
                </a:solidFill>
                <a:latin typeface="Calibri"/>
                <a:ea typeface="DejaVu Sans"/>
              </a:rPr>
              <a:t>voz</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través</a:t>
            </a:r>
            <a:r>
              <a:rPr lang="en-US" sz="2400" b="0" strike="noStrike" spc="-1" dirty="0">
                <a:solidFill>
                  <a:srgbClr val="000000"/>
                </a:solidFill>
                <a:latin typeface="Calibri"/>
                <a:ea typeface="DejaVu Sans"/>
              </a:rPr>
              <a:t> de la red de </a:t>
            </a:r>
            <a:r>
              <a:rPr lang="en-US" sz="2400" b="0" strike="noStrike" spc="-1" dirty="0" err="1">
                <a:solidFill>
                  <a:srgbClr val="000000"/>
                </a:solidFill>
                <a:latin typeface="Calibri"/>
                <a:ea typeface="DejaVu Sans"/>
              </a:rPr>
              <a:t>paquetes</a:t>
            </a:r>
            <a:r>
              <a:rPr lang="en-US" sz="2400" b="0" strike="noStrike" spc="-1" dirty="0">
                <a:solidFill>
                  <a:srgbClr val="000000"/>
                </a:solidFill>
                <a:latin typeface="Calibri"/>
                <a:ea typeface="DejaVu Sans"/>
              </a:rPr>
              <a:t>.</a:t>
            </a:r>
            <a:endParaRPr lang="es-MX" sz="2400" b="0" strike="noStrike" spc="-1" dirty="0">
              <a:latin typeface="Arial"/>
            </a:endParaRPr>
          </a:p>
          <a:p>
            <a:pPr>
              <a:lnSpc>
                <a:spcPct val="90000"/>
              </a:lnSpc>
            </a:pP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Encabezado UDP</a:t>
            </a:r>
            <a:endParaRPr lang="es-MX" sz="4400" b="0" strike="noStrike" spc="-1">
              <a:latin typeface="Arial"/>
            </a:endParaRPr>
          </a:p>
        </p:txBody>
      </p:sp>
      <p:pic>
        <p:nvPicPr>
          <p:cNvPr id="365" name="Imagen 3"/>
          <p:cNvPicPr/>
          <p:nvPr/>
        </p:nvPicPr>
        <p:blipFill>
          <a:blip r:embed="rId2"/>
          <a:stretch/>
        </p:blipFill>
        <p:spPr>
          <a:xfrm>
            <a:off x="2567520" y="1917000"/>
            <a:ext cx="7390800" cy="2243520"/>
          </a:xfrm>
          <a:prstGeom prst="rect">
            <a:avLst/>
          </a:prstGeom>
          <a:ln>
            <a:noFill/>
          </a:ln>
        </p:spPr>
      </p:pic>
      <p:sp>
        <p:nvSpPr>
          <p:cNvPr id="366" name="CustomShape 2"/>
          <p:cNvSpPr/>
          <p:nvPr/>
        </p:nvSpPr>
        <p:spPr>
          <a:xfrm>
            <a:off x="1446840" y="5308920"/>
            <a:ext cx="4694040" cy="363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Tamaño máximo de datagrama: 65535 bytes</a:t>
            </a:r>
            <a:endParaRPr lang="es-MX" sz="18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dirty="0">
                <a:solidFill>
                  <a:srgbClr val="000000"/>
                </a:solidFill>
                <a:latin typeface="Calibri Light"/>
                <a:ea typeface="DejaVu Sans"/>
              </a:rPr>
              <a:t>TCP (</a:t>
            </a:r>
            <a:r>
              <a:rPr lang="en-US" sz="4400" spc="-1" dirty="0" err="1">
                <a:solidFill>
                  <a:srgbClr val="000000"/>
                </a:solidFill>
                <a:latin typeface="Calibri Light"/>
                <a:ea typeface="DejaVu Sans"/>
              </a:rPr>
              <a:t>Protocolo</a:t>
            </a:r>
            <a:r>
              <a:rPr lang="en-US" sz="4400" spc="-1" dirty="0">
                <a:solidFill>
                  <a:srgbClr val="000000"/>
                </a:solidFill>
                <a:latin typeface="Calibri Light"/>
                <a:ea typeface="DejaVu Sans"/>
              </a:rPr>
              <a:t> de Control de </a:t>
            </a:r>
            <a:r>
              <a:rPr lang="en-US" sz="4400" spc="-1" dirty="0" err="1">
                <a:solidFill>
                  <a:srgbClr val="000000"/>
                </a:solidFill>
                <a:latin typeface="Calibri Light"/>
                <a:ea typeface="DejaVu Sans"/>
              </a:rPr>
              <a:t>Transmisión</a:t>
            </a:r>
            <a:r>
              <a:rPr lang="en-US" sz="4400" b="0" strike="noStrike" spc="-1" dirty="0">
                <a:solidFill>
                  <a:srgbClr val="000000"/>
                </a:solidFill>
                <a:latin typeface="Calibri Light"/>
                <a:ea typeface="DejaVu Sans"/>
              </a:rPr>
              <a:t>)</a:t>
            </a:r>
            <a:endParaRPr lang="es-MX" sz="4400" b="0" strike="noStrike" spc="-1" dirty="0">
              <a:latin typeface="Arial"/>
            </a:endParaRPr>
          </a:p>
        </p:txBody>
      </p:sp>
      <p:sp>
        <p:nvSpPr>
          <p:cNvPr id="36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a:t>
            </a:r>
            <a:r>
              <a:rPr lang="en-US" sz="2800" b="0" i="1" strike="noStrike" spc="-1">
                <a:solidFill>
                  <a:srgbClr val="000000"/>
                </a:solidFill>
                <a:latin typeface="Calibri"/>
                <a:ea typeface="DejaVu Sans"/>
              </a:rPr>
              <a:t>Protocolo de Control de Transmisión </a:t>
            </a:r>
            <a:r>
              <a:rPr lang="en-US" sz="2800" b="0" strike="noStrike" spc="-1">
                <a:solidFill>
                  <a:srgbClr val="000000"/>
                </a:solidFill>
                <a:latin typeface="Calibri"/>
                <a:ea typeface="DejaVu Sans"/>
              </a:rPr>
              <a:t>(TCP – Transmission Control Protocol, RFC 793), es el protocolo de la capa de Transporte que proporciona un servicio de entrega confiable de transferencia de datos de extremo a extremo.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Y ofrece un método para pasar datos encapsulados mediante TCP a un protocolo de la capa de aplicación</a:t>
            </a:r>
            <a:endParaRPr lang="es-MX" sz="28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(1/5)</a:t>
            </a:r>
            <a:endParaRPr lang="es-MX" sz="4400" b="0" strike="noStrike" spc="-1">
              <a:latin typeface="Arial"/>
            </a:endParaRPr>
          </a:p>
        </p:txBody>
      </p:sp>
      <p:sp>
        <p:nvSpPr>
          <p:cNvPr id="370" name="CustomShape 2"/>
          <p:cNvSpPr/>
          <p:nvPr/>
        </p:nvSpPr>
        <p:spPr>
          <a:xfrm>
            <a:off x="603850" y="156996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Orientado</a:t>
            </a:r>
            <a:r>
              <a:rPr lang="en-US" sz="2800" b="0" strike="noStrike" spc="-1" dirty="0">
                <a:solidFill>
                  <a:srgbClr val="000000"/>
                </a:solidFill>
                <a:latin typeface="Calibri"/>
                <a:ea typeface="DejaVu Sans"/>
              </a:rPr>
              <a:t> a </a:t>
            </a:r>
            <a:r>
              <a:rPr lang="en-US" sz="2800" b="0" strike="noStrike" spc="-1" dirty="0" err="1">
                <a:solidFill>
                  <a:srgbClr val="000000"/>
                </a:solidFill>
                <a:latin typeface="Calibri"/>
                <a:ea typeface="DejaVu Sans"/>
              </a:rPr>
              <a:t>conexión</a:t>
            </a:r>
            <a:endParaRPr lang="es-MX" sz="28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Antes de </a:t>
            </a:r>
            <a:r>
              <a:rPr lang="en-US" sz="2400" b="0" strike="noStrike" spc="-1" dirty="0" err="1">
                <a:solidFill>
                  <a:srgbClr val="000000"/>
                </a:solidFill>
                <a:latin typeface="Calibri"/>
                <a:ea typeface="DejaVu Sans"/>
              </a:rPr>
              <a:t>poder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transferir</a:t>
            </a:r>
            <a:r>
              <a:rPr lang="en-US" sz="2400" b="0" strike="noStrike" spc="-1" dirty="0">
                <a:solidFill>
                  <a:srgbClr val="000000"/>
                </a:solidFill>
                <a:latin typeface="Calibri"/>
                <a:ea typeface="DejaVu Sans"/>
              </a:rPr>
              <a:t>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dos </a:t>
            </a:r>
            <a:r>
              <a:rPr lang="en-US" sz="2400" b="0" strike="noStrike" spc="-1" dirty="0" err="1">
                <a:solidFill>
                  <a:srgbClr val="000000"/>
                </a:solidFill>
                <a:latin typeface="Calibri"/>
                <a:ea typeface="DejaVu Sans"/>
              </a:rPr>
              <a:t>procesos</a:t>
            </a:r>
            <a:r>
              <a:rPr lang="en-US" sz="2400" b="0" strike="noStrike" spc="-1" dirty="0">
                <a:solidFill>
                  <a:srgbClr val="000000"/>
                </a:solidFill>
                <a:latin typeface="Calibri"/>
                <a:ea typeface="DejaVu Sans"/>
              </a:rPr>
              <a:t> (local y </a:t>
            </a:r>
            <a:r>
              <a:rPr lang="en-US" sz="2400" b="0" strike="noStrike" spc="-1" dirty="0" err="1">
                <a:solidFill>
                  <a:srgbClr val="000000"/>
                </a:solidFill>
                <a:latin typeface="Calibri"/>
                <a:ea typeface="DejaVu Sans"/>
              </a:rPr>
              <a:t>remoto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deben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negociar</a:t>
            </a:r>
            <a:r>
              <a:rPr lang="en-US" sz="2400" b="0" strike="noStrike" spc="-1" dirty="0">
                <a:solidFill>
                  <a:srgbClr val="000000"/>
                </a:solidFill>
                <a:latin typeface="Calibri"/>
                <a:ea typeface="DejaVu Sans"/>
              </a:rPr>
              <a:t> una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TCP </a:t>
            </a:r>
            <a:r>
              <a:rPr lang="en-US" sz="2400" b="0" strike="noStrike" spc="-1" dirty="0" err="1">
                <a:solidFill>
                  <a:srgbClr val="000000"/>
                </a:solidFill>
                <a:latin typeface="Calibri"/>
                <a:ea typeface="DejaVu Sans"/>
              </a:rPr>
              <a:t>mediante</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establecimiento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(handshake).</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Las </a:t>
            </a:r>
            <a:r>
              <a:rPr lang="en-US" sz="2400" b="0" strike="noStrike" spc="-1" dirty="0" err="1">
                <a:solidFill>
                  <a:srgbClr val="000000"/>
                </a:solidFill>
                <a:latin typeface="Calibri"/>
                <a:ea typeface="DejaVu Sans"/>
              </a:rPr>
              <a:t>conexiones</a:t>
            </a:r>
            <a:r>
              <a:rPr lang="en-US" sz="2400" b="0" strike="noStrike" spc="-1" dirty="0">
                <a:solidFill>
                  <a:srgbClr val="000000"/>
                </a:solidFill>
                <a:latin typeface="Calibri"/>
                <a:ea typeface="DejaVu Sans"/>
              </a:rPr>
              <a:t> TCP se </a:t>
            </a:r>
            <a:r>
              <a:rPr lang="en-US" sz="2400" b="0" strike="noStrike" spc="-1" dirty="0" err="1">
                <a:solidFill>
                  <a:srgbClr val="000000"/>
                </a:solidFill>
                <a:latin typeface="Calibri"/>
                <a:ea typeface="DejaVu Sans"/>
              </a:rPr>
              <a:t>cierran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formalmente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mediante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finalización</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TCP.</a:t>
            </a:r>
            <a:endParaRPr lang="es-MX" sz="24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Full Duplex</a:t>
            </a:r>
            <a:endParaRPr lang="es-MX" sz="28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Para </a:t>
            </a:r>
            <a:r>
              <a:rPr lang="en-US" sz="2400" b="0" strike="noStrike" spc="-1" dirty="0" err="1">
                <a:solidFill>
                  <a:srgbClr val="000000"/>
                </a:solidFill>
                <a:latin typeface="Calibri"/>
                <a:ea typeface="DejaVu Sans"/>
              </a:rPr>
              <a:t>cada</a:t>
            </a:r>
            <a:r>
              <a:rPr lang="en-US" sz="2400" b="0" strike="noStrike" spc="-1" dirty="0">
                <a:solidFill>
                  <a:srgbClr val="000000"/>
                </a:solidFill>
                <a:latin typeface="Calibri"/>
                <a:ea typeface="DejaVu Sans"/>
              </a:rPr>
              <a:t> terminal TCP, la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TCP </a:t>
            </a:r>
            <a:r>
              <a:rPr lang="en-US" sz="2400" b="0" strike="noStrike" spc="-1" dirty="0" err="1">
                <a:solidFill>
                  <a:srgbClr val="000000"/>
                </a:solidFill>
                <a:latin typeface="Calibri"/>
                <a:ea typeface="DejaVu Sans"/>
              </a:rPr>
              <a:t>está</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formada</a:t>
            </a:r>
            <a:r>
              <a:rPr lang="en-US" sz="2400" b="0" strike="noStrike" spc="-1" dirty="0">
                <a:solidFill>
                  <a:srgbClr val="000000"/>
                </a:solidFill>
                <a:latin typeface="Calibri"/>
                <a:ea typeface="DejaVu Sans"/>
              </a:rPr>
              <a:t> por dos </a:t>
            </a:r>
            <a:r>
              <a:rPr lang="en-US" sz="2400" b="0" strike="noStrike" spc="-1" dirty="0" err="1">
                <a:solidFill>
                  <a:srgbClr val="000000"/>
                </a:solidFill>
                <a:latin typeface="Calibri"/>
                <a:ea typeface="DejaVu Sans"/>
              </a:rPr>
              <a:t>canales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lógicos</a:t>
            </a:r>
            <a:r>
              <a:rPr lang="en-US" sz="2400" b="0" strike="noStrike" spc="-1" dirty="0">
                <a:solidFill>
                  <a:srgbClr val="000000"/>
                </a:solidFill>
                <a:latin typeface="Calibri"/>
                <a:ea typeface="DejaVu Sans"/>
              </a:rPr>
              <a:t>: un canal para </a:t>
            </a:r>
            <a:r>
              <a:rPr lang="en-US" sz="2400" b="0" strike="noStrike" spc="-1" dirty="0" err="1">
                <a:solidFill>
                  <a:srgbClr val="000000"/>
                </a:solidFill>
                <a:latin typeface="Calibri"/>
                <a:ea typeface="DejaVu Sans"/>
              </a:rPr>
              <a:t>transmitir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 y uno para </a:t>
            </a:r>
            <a:r>
              <a:rPr lang="en-US" sz="2400" b="0" strike="noStrike" spc="-1" dirty="0" err="1">
                <a:solidFill>
                  <a:srgbClr val="000000"/>
                </a:solidFill>
                <a:latin typeface="Calibri"/>
                <a:ea typeface="DejaVu Sans"/>
              </a:rPr>
              <a:t>recibir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(entrada).</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Con la </a:t>
            </a:r>
            <a:r>
              <a:rPr lang="en-US" sz="2400" b="0" strike="noStrike" spc="-1" dirty="0" err="1">
                <a:solidFill>
                  <a:srgbClr val="000000"/>
                </a:solidFill>
                <a:latin typeface="Calibri"/>
                <a:ea typeface="DejaVu Sans"/>
              </a:rPr>
              <a:t>tecnología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adecuada</a:t>
            </a:r>
            <a:r>
              <a:rPr lang="en-US" sz="2400" b="0" strike="noStrike" spc="-1" dirty="0">
                <a:solidFill>
                  <a:srgbClr val="000000"/>
                </a:solidFill>
                <a:latin typeface="Calibri"/>
                <a:ea typeface="DejaVu Sans"/>
              </a:rPr>
              <a:t> de la </a:t>
            </a:r>
            <a:r>
              <a:rPr lang="en-US" sz="2400" b="0" strike="noStrike" spc="-1" dirty="0" err="1">
                <a:solidFill>
                  <a:srgbClr val="000000"/>
                </a:solidFill>
                <a:latin typeface="Calibri"/>
                <a:ea typeface="DejaVu Sans"/>
              </a:rPr>
              <a:t>capa</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Interfaz</a:t>
            </a:r>
            <a:r>
              <a:rPr lang="en-US" sz="2400" b="0" strike="noStrike" spc="-1" dirty="0">
                <a:solidFill>
                  <a:srgbClr val="000000"/>
                </a:solidFill>
                <a:latin typeface="Calibri"/>
                <a:ea typeface="DejaVu Sans"/>
              </a:rPr>
              <a:t> de Red, la terminal </a:t>
            </a:r>
            <a:r>
              <a:rPr lang="en-US" sz="2400" b="0" strike="noStrike" spc="-1" dirty="0" err="1">
                <a:solidFill>
                  <a:srgbClr val="000000"/>
                </a:solidFill>
                <a:latin typeface="Calibri"/>
                <a:ea typeface="DejaVu Sans"/>
              </a:rPr>
              <a:t>podría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transmitir</a:t>
            </a:r>
            <a:r>
              <a:rPr lang="en-US" sz="2400" b="0" strike="noStrike" spc="-1" dirty="0">
                <a:solidFill>
                  <a:srgbClr val="000000"/>
                </a:solidFill>
                <a:latin typeface="Calibri"/>
                <a:ea typeface="DejaVu Sans"/>
              </a:rPr>
              <a:t> y </a:t>
            </a:r>
            <a:r>
              <a:rPr lang="en-US" sz="2400" b="0" strike="noStrike" spc="-1" dirty="0" err="1">
                <a:solidFill>
                  <a:srgbClr val="000000"/>
                </a:solidFill>
                <a:latin typeface="Calibri"/>
                <a:ea typeface="DejaVu Sans"/>
              </a:rPr>
              <a:t>recibir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al </a:t>
            </a:r>
            <a:r>
              <a:rPr lang="en-US" sz="2400" b="0" strike="noStrike" spc="-1" dirty="0" err="1">
                <a:solidFill>
                  <a:srgbClr val="000000"/>
                </a:solidFill>
                <a:latin typeface="Calibri"/>
                <a:ea typeface="DejaVu Sans"/>
              </a:rPr>
              <a:t>mismo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tiempo</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encabezado</a:t>
            </a:r>
            <a:r>
              <a:rPr lang="en-US" sz="2400" b="0" strike="noStrike" spc="-1" dirty="0">
                <a:solidFill>
                  <a:srgbClr val="000000"/>
                </a:solidFill>
                <a:latin typeface="Calibri"/>
                <a:ea typeface="DejaVu Sans"/>
              </a:rPr>
              <a:t> TCP </a:t>
            </a:r>
            <a:r>
              <a:rPr lang="en-US" sz="2400" b="0" strike="noStrike" spc="-1" dirty="0" err="1">
                <a:solidFill>
                  <a:srgbClr val="000000"/>
                </a:solidFill>
                <a:latin typeface="Calibri"/>
                <a:ea typeface="DejaVu Sans"/>
              </a:rPr>
              <a:t>contiene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número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 y un </a:t>
            </a:r>
            <a:r>
              <a:rPr lang="en-US" sz="2400" b="0" strike="noStrike" spc="-1" dirty="0" err="1">
                <a:solidFill>
                  <a:srgbClr val="000000"/>
                </a:solidFill>
                <a:latin typeface="Calibri"/>
                <a:ea typeface="DejaVu Sans"/>
              </a:rPr>
              <a:t>reconocimiento</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entrada.</a:t>
            </a:r>
            <a:endParaRPr lang="es-MX" sz="2400" b="0" strike="noStrike" spc="-1" dirty="0">
              <a:latin typeface="Arial"/>
            </a:endParaRPr>
          </a:p>
          <a:p>
            <a:pPr>
              <a:lnSpc>
                <a:spcPct val="90000"/>
              </a:lnSpc>
            </a:pPr>
            <a:endParaRPr lang="es-MX" sz="2400" b="0" strike="noStrike" spc="-1" dirty="0">
              <a:latin typeface="Arial"/>
            </a:endParaRPr>
          </a:p>
        </p:txBody>
      </p:sp>
      <p:pic>
        <p:nvPicPr>
          <p:cNvPr id="3" name="Imagen 2" descr="Diagrama&#10;&#10;Descripción generada automáticamente">
            <a:extLst>
              <a:ext uri="{FF2B5EF4-FFF2-40B4-BE49-F238E27FC236}">
                <a16:creationId xmlns:a16="http://schemas.microsoft.com/office/drawing/2014/main" id="{976F806E-7078-481A-B8E5-FF5ED3AA1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8085" y="908673"/>
            <a:ext cx="7238488" cy="22053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(2/5)</a:t>
            </a:r>
            <a:endParaRPr lang="es-MX" sz="4400" b="0" strike="noStrike" spc="-1">
              <a:latin typeface="Arial"/>
            </a:endParaRPr>
          </a:p>
        </p:txBody>
      </p:sp>
      <p:sp>
        <p:nvSpPr>
          <p:cNvPr id="372" name="CustomShape 2"/>
          <p:cNvSpPr/>
          <p:nvPr/>
        </p:nvSpPr>
        <p:spPr>
          <a:xfrm>
            <a:off x="1981080" y="160020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Fiable</a:t>
            </a:r>
            <a:endParaRPr lang="es-MX" sz="28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En el transmisor, los datos enviados en una conexión TCP están secuenciados y se espera un reconocimiento afirmativo por parte del receptor.</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Si no se recibe ningún reconocimiento, el segmento se transmite de nuevo.</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En el receptor, los segmentos duplicados se descartan y los segmentos que llegan fuera de secuencia se colocan en la secuencia correcta.</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Siempre se utiliza una suma de comprobación TCP para comprobar la integridad de nivel de bit del segmento TCP.</a:t>
            </a:r>
            <a:endParaRPr lang="es-MX" sz="2400" b="0" strike="noStrike" spc="-1">
              <a:latin typeface="Arial"/>
            </a:endParaRPr>
          </a:p>
          <a:p>
            <a:pPr>
              <a:lnSpc>
                <a:spcPct val="90000"/>
              </a:lnSpc>
            </a:pPr>
            <a:endParaRPr lang="es-MX" sz="24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(3/5)</a:t>
            </a:r>
            <a:endParaRPr lang="es-MX" sz="4400" b="0" strike="noStrike" spc="-1">
              <a:latin typeface="Arial"/>
            </a:endParaRPr>
          </a:p>
        </p:txBody>
      </p:sp>
      <p:sp>
        <p:nvSpPr>
          <p:cNvPr id="374" name="CustomShape 2"/>
          <p:cNvSpPr/>
          <p:nvPr/>
        </p:nvSpPr>
        <p:spPr>
          <a:xfrm>
            <a:off x="1981080" y="160020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Secuencia de bytes</a:t>
            </a:r>
            <a:endParaRPr lang="es-MX" sz="28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TCP reconoce los datos enviados a través de los canales de entrada y salida como una secuencia continua de bytes.</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El número de secuencia y el número de reconocimiento en cada encabezado TCP se define en límites de bytes.</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TCP no reconoce límites de mensajes o registros en la secuencia de bytes.</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El protocolo de la capa de Aplicación debe proporcionar el análisis correspondiente de la secuencia de bytes de entrada</a:t>
            </a:r>
            <a:endParaRPr lang="es-MX" sz="2400" b="0" strike="noStrike" spc="-1">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(4/5)</a:t>
            </a:r>
            <a:endParaRPr lang="es-MX" sz="4400" b="0" strike="noStrike" spc="-1">
              <a:latin typeface="Arial"/>
            </a:endParaRPr>
          </a:p>
        </p:txBody>
      </p:sp>
      <p:sp>
        <p:nvSpPr>
          <p:cNvPr id="376" name="CustomShape 2"/>
          <p:cNvSpPr/>
          <p:nvPr/>
        </p:nvSpPr>
        <p:spPr>
          <a:xfrm>
            <a:off x="1981080" y="160020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Control de flujo del emisor y del receptor.</a:t>
            </a:r>
            <a:endParaRPr lang="es-MX" sz="28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Para evitar el envío de demasiados datos a la vez y la saturación de la red IP.</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TCP implementa control de flujo del emisor que, gradualmente, escala la cantidad de datos a la vez.</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Para evitar que el emisor envíe datos que el receptor no puede almacenar en buffer.</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TCP implementa control de flujo del receptor que indica la cantidad de espacio libre en el buffer del receptor.</a:t>
            </a:r>
            <a:endParaRPr lang="es-MX" sz="2400" b="0" strike="noStrike" spc="-1">
              <a:latin typeface="Arial"/>
            </a:endParaRPr>
          </a:p>
          <a:p>
            <a:pPr>
              <a:lnSpc>
                <a:spcPct val="90000"/>
              </a:lnSpc>
            </a:pPr>
            <a:endParaRPr lang="es-MX" sz="24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(5/5)</a:t>
            </a:r>
            <a:endParaRPr lang="es-MX" sz="4400" b="0" strike="noStrike" spc="-1">
              <a:latin typeface="Arial"/>
            </a:endParaRPr>
          </a:p>
        </p:txBody>
      </p:sp>
      <p:sp>
        <p:nvSpPr>
          <p:cNvPr id="378" name="CustomShape 2"/>
          <p:cNvSpPr/>
          <p:nvPr/>
        </p:nvSpPr>
        <p:spPr>
          <a:xfrm>
            <a:off x="1981080" y="1600200"/>
            <a:ext cx="8289000" cy="225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Entrega de uno a uno</a:t>
            </a:r>
            <a:endParaRPr lang="es-MX" sz="2400" b="0" strike="noStrike" spc="-1">
              <a:latin typeface="Arial"/>
            </a:endParaRPr>
          </a:p>
          <a:p>
            <a:pPr marL="914400" lvl="2" indent="-214920">
              <a:lnSpc>
                <a:spcPct val="90000"/>
              </a:lnSpc>
              <a:buClr>
                <a:srgbClr val="000000"/>
              </a:buClr>
              <a:buFont typeface="Arial"/>
              <a:buChar char="•"/>
            </a:pPr>
            <a:r>
              <a:rPr lang="en-US" sz="2000" b="0" strike="noStrike" spc="-1">
                <a:solidFill>
                  <a:srgbClr val="000000"/>
                </a:solidFill>
                <a:latin typeface="Calibri"/>
                <a:ea typeface="DejaVu Sans"/>
              </a:rPr>
              <a:t>Las conexiones de TCP son un circuito lógico punto a punto entre dos protocolos de la capa de Aplicación.</a:t>
            </a:r>
            <a:endParaRPr lang="es-MX" sz="2000" b="0" strike="noStrike" spc="-1">
              <a:latin typeface="Arial"/>
            </a:endParaRPr>
          </a:p>
          <a:p>
            <a:pPr marL="914400" lvl="2" indent="-214920">
              <a:lnSpc>
                <a:spcPct val="90000"/>
              </a:lnSpc>
              <a:buClr>
                <a:srgbClr val="000000"/>
              </a:buClr>
              <a:buFont typeface="Arial"/>
              <a:buChar char="•"/>
            </a:pPr>
            <a:r>
              <a:rPr lang="en-US" sz="2000" b="0" strike="noStrike" spc="-1">
                <a:solidFill>
                  <a:srgbClr val="000000"/>
                </a:solidFill>
                <a:latin typeface="Calibri"/>
                <a:ea typeface="DejaVu Sans"/>
              </a:rPr>
              <a:t>TCP no proporciona un servicio de uno a varios.</a:t>
            </a:r>
            <a:endParaRPr lang="es-MX" sz="2000" b="0" strike="noStrike" spc="-1">
              <a:latin typeface="Arial"/>
            </a:endParaRPr>
          </a:p>
          <a:p>
            <a:pPr>
              <a:lnSpc>
                <a:spcPct val="100000"/>
              </a:lnSpc>
            </a:pPr>
            <a:endParaRPr lang="es-MX" sz="2000" b="0" strike="noStrike" spc="-1">
              <a:latin typeface="Arial"/>
            </a:endParaRPr>
          </a:p>
        </p:txBody>
      </p:sp>
      <p:sp>
        <p:nvSpPr>
          <p:cNvPr id="379" name="CustomShape 3"/>
          <p:cNvSpPr/>
          <p:nvPr/>
        </p:nvSpPr>
        <p:spPr>
          <a:xfrm>
            <a:off x="2351520" y="4293000"/>
            <a:ext cx="7486560" cy="2190960"/>
          </a:xfrm>
          <a:prstGeom prst="rect">
            <a:avLst/>
          </a:prstGeom>
          <a:noFill/>
          <a:ln>
            <a:solidFill>
              <a:srgbClr val="1F497D"/>
            </a:solid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a:solidFill>
                  <a:srgbClr val="000000"/>
                </a:solidFill>
                <a:latin typeface="Calibri"/>
                <a:ea typeface="DejaVu Sans"/>
              </a:rPr>
              <a:t>Normalmente, TCP se utiliza cuando el protocolo de la capa de aplicación requiere un servicio de transferencia de datos confiable y el protocolo de aplicación no proporciona este tipo de servicio.</a:t>
            </a:r>
            <a:endParaRPr lang="es-MX" sz="2400" b="0" strike="noStrike" spc="-1">
              <a:latin typeface="Arial"/>
            </a:endParaRPr>
          </a:p>
          <a:p>
            <a:pPr>
              <a:lnSpc>
                <a:spcPct val="100000"/>
              </a:lnSpc>
            </a:pPr>
            <a:endParaRPr lang="es-MX" sz="24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CustomShape 1"/>
          <p:cNvSpPr/>
          <p:nvPr/>
        </p:nvSpPr>
        <p:spPr>
          <a:xfrm>
            <a:off x="2246400" y="3821400"/>
            <a:ext cx="7770240" cy="262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dirty="0" err="1">
                <a:solidFill>
                  <a:srgbClr val="8B8B8B"/>
                </a:solidFill>
                <a:latin typeface="Calibri"/>
                <a:ea typeface="DejaVu Sans"/>
              </a:rPr>
              <a:t>Tamaño</a:t>
            </a:r>
            <a:r>
              <a:rPr lang="en-US" sz="2400" b="0" strike="noStrike" spc="-1" dirty="0">
                <a:solidFill>
                  <a:srgbClr val="8B8B8B"/>
                </a:solidFill>
                <a:latin typeface="Calibri"/>
                <a:ea typeface="DejaVu Sans"/>
              </a:rPr>
              <a:t> </a:t>
            </a:r>
            <a:r>
              <a:rPr lang="en-US" sz="2400" b="0" strike="noStrike" spc="-1" dirty="0" err="1">
                <a:solidFill>
                  <a:srgbClr val="8B8B8B"/>
                </a:solidFill>
                <a:latin typeface="Calibri"/>
                <a:ea typeface="DejaVu Sans"/>
              </a:rPr>
              <a:t>promedio</a:t>
            </a:r>
            <a:r>
              <a:rPr lang="en-US" sz="2400" b="0" strike="noStrike" spc="-1" dirty="0">
                <a:solidFill>
                  <a:srgbClr val="8B8B8B"/>
                </a:solidFill>
                <a:latin typeface="Calibri"/>
                <a:ea typeface="DejaVu Sans"/>
              </a:rPr>
              <a:t> de </a:t>
            </a:r>
            <a:r>
              <a:rPr lang="en-US" sz="2400" b="0" strike="noStrike" spc="-1" dirty="0" err="1">
                <a:solidFill>
                  <a:srgbClr val="8B8B8B"/>
                </a:solidFill>
                <a:latin typeface="Calibri"/>
                <a:ea typeface="DejaVu Sans"/>
              </a:rPr>
              <a:t>segmento</a:t>
            </a:r>
            <a:r>
              <a:rPr lang="en-US" sz="2400" b="0" strike="noStrike" spc="-1" dirty="0">
                <a:solidFill>
                  <a:srgbClr val="8B8B8B"/>
                </a:solidFill>
                <a:latin typeface="Calibri"/>
                <a:ea typeface="DejaVu Sans"/>
              </a:rPr>
              <a:t>: 576 bytes (PPP) ó MTU</a:t>
            </a:r>
            <a:endParaRPr lang="es-MX" sz="2400" b="0" strike="noStrike" spc="-1" dirty="0">
              <a:latin typeface="Arial"/>
            </a:endParaRPr>
          </a:p>
        </p:txBody>
      </p:sp>
      <p:pic>
        <p:nvPicPr>
          <p:cNvPr id="384" name="Imagen 3"/>
          <p:cNvPicPr/>
          <p:nvPr/>
        </p:nvPicPr>
        <p:blipFill>
          <a:blip r:embed="rId2"/>
          <a:stretch/>
        </p:blipFill>
        <p:spPr>
          <a:xfrm>
            <a:off x="5057640" y="968400"/>
            <a:ext cx="6110640" cy="2674440"/>
          </a:xfrm>
          <a:prstGeom prst="rect">
            <a:avLst/>
          </a:prstGeom>
          <a:ln>
            <a:noFill/>
          </a:ln>
        </p:spPr>
      </p:pic>
      <p:sp>
        <p:nvSpPr>
          <p:cNvPr id="385" name="CustomShape 2"/>
          <p:cNvSpPr/>
          <p:nvPr/>
        </p:nvSpPr>
        <p:spPr>
          <a:xfrm>
            <a:off x="3953880" y="260640"/>
            <a:ext cx="4355280" cy="698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4000" b="0" strike="noStrike" spc="-1">
                <a:solidFill>
                  <a:srgbClr val="000000"/>
                </a:solidFill>
                <a:latin typeface="Calibri"/>
                <a:ea typeface="DejaVu Sans"/>
              </a:rPr>
              <a:t>Encabezado TCP</a:t>
            </a:r>
            <a:endParaRPr lang="es-MX" sz="4000" b="0" strike="noStrike" spc="-1">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718235"/>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1781754" y="5088835"/>
            <a:ext cx="10014008" cy="1477328"/>
          </a:xfrm>
          <a:prstGeom prst="rect">
            <a:avLst/>
          </a:prstGeom>
          <a:noFill/>
        </p:spPr>
        <p:txBody>
          <a:bodyPr wrap="square" rtlCol="0">
            <a:spAutoFit/>
          </a:bodyPr>
          <a:lstStyle/>
          <a:p>
            <a:pPr marL="285750" indent="-285750">
              <a:buFont typeface="Wingdings" panose="05000000000000000000" pitchFamily="2" charset="2"/>
              <a:buChar char="Ø"/>
            </a:pPr>
            <a:r>
              <a:rPr lang="es-MX" dirty="0"/>
              <a:t>Puerto origen = id de aplicación que generó los datos</a:t>
            </a:r>
          </a:p>
          <a:p>
            <a:pPr marL="285750" indent="-285750">
              <a:buFont typeface="Wingdings" panose="05000000000000000000" pitchFamily="2" charset="2"/>
              <a:buChar char="Ø"/>
            </a:pPr>
            <a:r>
              <a:rPr lang="es-MX" dirty="0"/>
              <a:t>Puerto destino = id de aplicación que recibirá los datos</a:t>
            </a:r>
          </a:p>
          <a:p>
            <a:pPr marL="285750" indent="-285750">
              <a:buFont typeface="Wingdings" panose="05000000000000000000" pitchFamily="2" charset="2"/>
              <a:buChar char="Ø"/>
            </a:pPr>
            <a:r>
              <a:rPr lang="es-MX" dirty="0"/>
              <a:t># Secuencia = #  de byte enviado al inicio del segmento</a:t>
            </a:r>
          </a:p>
          <a:p>
            <a:pPr marL="285750" indent="-285750">
              <a:buFont typeface="Wingdings" panose="05000000000000000000" pitchFamily="2" charset="2"/>
              <a:buChar char="Ø"/>
            </a:pPr>
            <a:r>
              <a:rPr lang="es-MX" dirty="0"/>
              <a:t># Acuse = # de byte que se espera recibir en el siguiente segmento por recibir</a:t>
            </a:r>
          </a:p>
          <a:p>
            <a:pPr marL="285750" indent="-285750">
              <a:buFont typeface="Wingdings" panose="05000000000000000000" pitchFamily="2" charset="2"/>
              <a:buChar char="Ø"/>
            </a:pPr>
            <a:r>
              <a:rPr lang="es-MX" dirty="0"/>
              <a:t>Tamaño de Ventana =  Espacio en el buffer de datos de TCP</a:t>
            </a:r>
          </a:p>
        </p:txBody>
      </p:sp>
    </p:spTree>
    <p:extLst>
      <p:ext uri="{BB962C8B-B14F-4D97-AF65-F5344CB8AC3E}">
        <p14:creationId xmlns:p14="http://schemas.microsoft.com/office/powerpoint/2010/main" val="1987750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417983"/>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993913" y="5070685"/>
            <a:ext cx="10801849" cy="369332"/>
          </a:xfrm>
          <a:prstGeom prst="rect">
            <a:avLst/>
          </a:prstGeom>
          <a:noFill/>
        </p:spPr>
        <p:txBody>
          <a:bodyPr wrap="square" rtlCol="0">
            <a:spAutoFit/>
          </a:bodyPr>
          <a:lstStyle/>
          <a:p>
            <a:pPr marL="285750" indent="-285750">
              <a:buFont typeface="Wingdings" panose="05000000000000000000" pitchFamily="2" charset="2"/>
              <a:buChar char="Ø"/>
            </a:pPr>
            <a:r>
              <a:rPr lang="es-MX" dirty="0" err="1"/>
              <a:t>Checksum</a:t>
            </a:r>
            <a:r>
              <a:rPr lang="es-MX" dirty="0"/>
              <a:t> = Suma de comprobación de todo el PDU de Transporte (encabezado + datos)</a:t>
            </a:r>
          </a:p>
        </p:txBody>
      </p:sp>
    </p:spTree>
    <p:extLst>
      <p:ext uri="{BB962C8B-B14F-4D97-AF65-F5344CB8AC3E}">
        <p14:creationId xmlns:p14="http://schemas.microsoft.com/office/powerpoint/2010/main" val="1969520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417983"/>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145774" y="4633965"/>
            <a:ext cx="5777948" cy="2031325"/>
          </a:xfrm>
          <a:prstGeom prst="rect">
            <a:avLst/>
          </a:prstGeom>
          <a:noFill/>
        </p:spPr>
        <p:txBody>
          <a:bodyPr wrap="square" rtlCol="0">
            <a:spAutoFit/>
          </a:bodyPr>
          <a:lstStyle/>
          <a:p>
            <a:pPr marL="285750" indent="-285750">
              <a:buFont typeface="Wingdings" panose="05000000000000000000" pitchFamily="2" charset="2"/>
              <a:buChar char="Ø"/>
            </a:pPr>
            <a:r>
              <a:rPr lang="es-MX" b="1" dirty="0"/>
              <a:t>Apuntador urgente</a:t>
            </a:r>
            <a:r>
              <a:rPr lang="es-MX" dirty="0"/>
              <a:t> = Especifica donde terminan los datos urgentes contenidos en la carga útil del segmento que deben ser entregados antes que los datos normales al proceso destino (comando durante transferencia en FTP)</a:t>
            </a:r>
          </a:p>
          <a:p>
            <a:r>
              <a:rPr lang="es-MX" dirty="0">
                <a:solidFill>
                  <a:srgbClr val="FF0000"/>
                </a:solidFill>
              </a:rPr>
              <a:t>*solo en el destinatario</a:t>
            </a:r>
          </a:p>
        </p:txBody>
      </p:sp>
      <p:pic>
        <p:nvPicPr>
          <p:cNvPr id="6" name="Imagen 5">
            <a:extLst>
              <a:ext uri="{FF2B5EF4-FFF2-40B4-BE49-F238E27FC236}">
                <a16:creationId xmlns:a16="http://schemas.microsoft.com/office/drawing/2014/main" id="{21887B43-D980-466F-AF45-FD504DCA7190}"/>
              </a:ext>
            </a:extLst>
          </p:cNvPr>
          <p:cNvPicPr>
            <a:picLocks noChangeAspect="1"/>
          </p:cNvPicPr>
          <p:nvPr/>
        </p:nvPicPr>
        <p:blipFill>
          <a:blip r:embed="rId3"/>
          <a:stretch>
            <a:fillRect/>
          </a:stretch>
        </p:blipFill>
        <p:spPr>
          <a:xfrm>
            <a:off x="5923722" y="4680352"/>
            <a:ext cx="4999169" cy="1821615"/>
          </a:xfrm>
          <a:prstGeom prst="rect">
            <a:avLst/>
          </a:prstGeom>
        </p:spPr>
      </p:pic>
    </p:spTree>
    <p:extLst>
      <p:ext uri="{BB962C8B-B14F-4D97-AF65-F5344CB8AC3E}">
        <p14:creationId xmlns:p14="http://schemas.microsoft.com/office/powerpoint/2010/main" val="2785628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595407"/>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63825" y="4629835"/>
            <a:ext cx="11370365" cy="1477328"/>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a:t>SYN = usada para indicar la solicitud de un establecimiento de conexión</a:t>
            </a:r>
          </a:p>
          <a:p>
            <a:pPr marL="742950" lvl="1" indent="-285750">
              <a:buFont typeface="Wingdings" panose="05000000000000000000" pitchFamily="2" charset="2"/>
              <a:buChar char="Ø"/>
            </a:pPr>
            <a:r>
              <a:rPr lang="es-MX" dirty="0"/>
              <a:t>FIN = usada para solicitar la finalización de conexión</a:t>
            </a:r>
          </a:p>
          <a:p>
            <a:pPr marL="742950" lvl="1" indent="-285750">
              <a:buFont typeface="Wingdings" panose="05000000000000000000" pitchFamily="2" charset="2"/>
              <a:buChar char="Ø"/>
            </a:pPr>
            <a:r>
              <a:rPr lang="es-MX" dirty="0"/>
              <a:t>RST = usada para rechazar el intento de conexión</a:t>
            </a:r>
          </a:p>
          <a:p>
            <a:pPr marL="742950" lvl="1" indent="-285750">
              <a:buFont typeface="Wingdings" panose="05000000000000000000" pitchFamily="2" charset="2"/>
              <a:buChar char="Ø"/>
            </a:pPr>
            <a:r>
              <a:rPr lang="es-MX" dirty="0"/>
              <a:t>ACK = usada para indicar al receptor que debe considerar el campo # de acuse</a:t>
            </a:r>
          </a:p>
        </p:txBody>
      </p:sp>
    </p:spTree>
    <p:extLst>
      <p:ext uri="{BB962C8B-B14F-4D97-AF65-F5344CB8AC3E}">
        <p14:creationId xmlns:p14="http://schemas.microsoft.com/office/powerpoint/2010/main" val="4262864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400894" y="1568111"/>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1754326"/>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a:t>PSH = la app emisora informa a TCP que los datos deben enviarse inmediatamente (OOB no espera a que se complete MSS). También informa al receptor que los datos deben ser entregados a la app destino en cuanto lleguen </a:t>
            </a:r>
          </a:p>
          <a:p>
            <a:pPr marL="742950" lvl="1" indent="-285750">
              <a:buFont typeface="Wingdings" panose="05000000000000000000" pitchFamily="2" charset="2"/>
              <a:buChar char="Ø"/>
            </a:pPr>
            <a:endParaRPr lang="es-MX" dirty="0"/>
          </a:p>
          <a:p>
            <a:pPr lvl="1"/>
            <a:r>
              <a:rPr lang="es-MX" dirty="0">
                <a:solidFill>
                  <a:srgbClr val="FF0000"/>
                </a:solidFill>
              </a:rPr>
              <a:t>*Emisor y receptor</a:t>
            </a:r>
          </a:p>
        </p:txBody>
      </p:sp>
    </p:spTree>
    <p:extLst>
      <p:ext uri="{BB962C8B-B14F-4D97-AF65-F5344CB8AC3E}">
        <p14:creationId xmlns:p14="http://schemas.microsoft.com/office/powerpoint/2010/main" val="298490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690940"/>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2031325"/>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err="1"/>
              <a:t>Urg</a:t>
            </a:r>
            <a:r>
              <a:rPr lang="es-MX" dirty="0"/>
              <a:t> = indica al receptor que dentro del segmento hay datos que necesitan ser procesados antes que la información regular</a:t>
            </a:r>
          </a:p>
          <a:p>
            <a:pPr marL="742950" lvl="1" indent="-285750">
              <a:buFont typeface="Wingdings" panose="05000000000000000000" pitchFamily="2" charset="2"/>
              <a:buChar char="Ø"/>
            </a:pPr>
            <a:r>
              <a:rPr lang="es-MX" dirty="0"/>
              <a:t>ECE y CWR = usadas en el establecimiento de conexión para informar si la conexión cuenta con notificación de congestionamiento (notificaciones generadas por el enrutador por banderas encabezado IP (ECN=11)). Quien la recibe enciende bandera ECE en TCP y la envía al host emisor, este reduce la ventana de envío y enciende CWR</a:t>
            </a:r>
          </a:p>
        </p:txBody>
      </p:sp>
    </p:spTree>
    <p:extLst>
      <p:ext uri="{BB962C8B-B14F-4D97-AF65-F5344CB8AC3E}">
        <p14:creationId xmlns:p14="http://schemas.microsoft.com/office/powerpoint/2010/main" val="2749649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D3D762-5B4D-4A9E-99E0-030CAA0AFD65}"/>
              </a:ext>
            </a:extLst>
          </p:cNvPr>
          <p:cNvSpPr>
            <a:spLocks noGrp="1"/>
          </p:cNvSpPr>
          <p:nvPr>
            <p:ph type="title"/>
          </p:nvPr>
        </p:nvSpPr>
        <p:spPr/>
        <p:txBody>
          <a:bodyPr/>
          <a:lstStyle/>
          <a:p>
            <a:r>
              <a:rPr lang="es-MX" dirty="0"/>
              <a:t>Servicios Diferenciados</a:t>
            </a:r>
          </a:p>
        </p:txBody>
      </p:sp>
      <p:pic>
        <p:nvPicPr>
          <p:cNvPr id="5" name="Imagen 4">
            <a:extLst>
              <a:ext uri="{FF2B5EF4-FFF2-40B4-BE49-F238E27FC236}">
                <a16:creationId xmlns:a16="http://schemas.microsoft.com/office/drawing/2014/main" id="{56D2FDAA-8FAE-4204-8495-0B67399EDFAB}"/>
              </a:ext>
            </a:extLst>
          </p:cNvPr>
          <p:cNvPicPr>
            <a:picLocks noChangeAspect="1"/>
          </p:cNvPicPr>
          <p:nvPr/>
        </p:nvPicPr>
        <p:blipFill>
          <a:blip r:embed="rId2"/>
          <a:stretch>
            <a:fillRect/>
          </a:stretch>
        </p:blipFill>
        <p:spPr>
          <a:xfrm>
            <a:off x="1919287" y="1311965"/>
            <a:ext cx="8802039" cy="3221727"/>
          </a:xfrm>
          <a:prstGeom prst="rect">
            <a:avLst/>
          </a:prstGeom>
        </p:spPr>
      </p:pic>
      <p:sp>
        <p:nvSpPr>
          <p:cNvPr id="6" name="CuadroTexto 5">
            <a:extLst>
              <a:ext uri="{FF2B5EF4-FFF2-40B4-BE49-F238E27FC236}">
                <a16:creationId xmlns:a16="http://schemas.microsoft.com/office/drawing/2014/main" id="{FC7012F3-4DAE-428B-95E8-43666A845644}"/>
              </a:ext>
            </a:extLst>
          </p:cNvPr>
          <p:cNvSpPr txBox="1"/>
          <p:nvPr/>
        </p:nvSpPr>
        <p:spPr>
          <a:xfrm>
            <a:off x="2133600" y="5546035"/>
            <a:ext cx="980661" cy="369332"/>
          </a:xfrm>
          <a:prstGeom prst="rect">
            <a:avLst/>
          </a:prstGeom>
          <a:noFill/>
        </p:spPr>
        <p:txBody>
          <a:bodyPr wrap="square" rtlCol="0">
            <a:spAutoFit/>
          </a:bodyPr>
          <a:lstStyle/>
          <a:p>
            <a:r>
              <a:rPr lang="es-MX" dirty="0"/>
              <a:t>ECN = </a:t>
            </a:r>
          </a:p>
        </p:txBody>
      </p:sp>
      <p:sp>
        <p:nvSpPr>
          <p:cNvPr id="7" name="Abrir llave 6">
            <a:extLst>
              <a:ext uri="{FF2B5EF4-FFF2-40B4-BE49-F238E27FC236}">
                <a16:creationId xmlns:a16="http://schemas.microsoft.com/office/drawing/2014/main" id="{2BDAF342-8DF5-49F4-8DA4-0923D472387C}"/>
              </a:ext>
            </a:extLst>
          </p:cNvPr>
          <p:cNvSpPr/>
          <p:nvPr/>
        </p:nvSpPr>
        <p:spPr>
          <a:xfrm>
            <a:off x="2941982" y="5221547"/>
            <a:ext cx="344557" cy="1070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8" name="CuadroTexto 7">
            <a:extLst>
              <a:ext uri="{FF2B5EF4-FFF2-40B4-BE49-F238E27FC236}">
                <a16:creationId xmlns:a16="http://schemas.microsoft.com/office/drawing/2014/main" id="{73824EF6-3F5C-4D4B-AC37-F0F919CBBD1E}"/>
              </a:ext>
            </a:extLst>
          </p:cNvPr>
          <p:cNvSpPr txBox="1"/>
          <p:nvPr/>
        </p:nvSpPr>
        <p:spPr>
          <a:xfrm>
            <a:off x="3114260" y="5315202"/>
            <a:ext cx="7394712" cy="830997"/>
          </a:xfrm>
          <a:prstGeom prst="rect">
            <a:avLst/>
          </a:prstGeom>
          <a:noFill/>
        </p:spPr>
        <p:txBody>
          <a:bodyPr wrap="square" rtlCol="0">
            <a:spAutoFit/>
          </a:bodyPr>
          <a:lstStyle/>
          <a:p>
            <a:r>
              <a:rPr lang="es-MX" sz="1200" dirty="0"/>
              <a:t>00 = Sin capacidad ECN</a:t>
            </a:r>
          </a:p>
          <a:p>
            <a:r>
              <a:rPr lang="es-MX" sz="1200" dirty="0"/>
              <a:t>01 = Capacidad de transporte ECN (0)</a:t>
            </a:r>
          </a:p>
          <a:p>
            <a:r>
              <a:rPr lang="es-MX" sz="1200" dirty="0"/>
              <a:t>10 = Capacidad de transporte ECN (1)</a:t>
            </a:r>
          </a:p>
          <a:p>
            <a:r>
              <a:rPr lang="es-MX" sz="1200" dirty="0"/>
              <a:t>11 = Congestión encontrada</a:t>
            </a:r>
          </a:p>
        </p:txBody>
      </p:sp>
    </p:spTree>
    <p:extLst>
      <p:ext uri="{BB962C8B-B14F-4D97-AF65-F5344CB8AC3E}">
        <p14:creationId xmlns:p14="http://schemas.microsoft.com/office/powerpoint/2010/main" val="3271653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595407"/>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1200329"/>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a:t>C -------</a:t>
            </a:r>
            <a:r>
              <a:rPr lang="es-MX" dirty="0">
                <a:sym typeface="Wingdings" panose="05000000000000000000" pitchFamily="2" charset="2"/>
              </a:rPr>
              <a:t> </a:t>
            </a:r>
            <a:r>
              <a:rPr lang="es-MX" dirty="0"/>
              <a:t>S     SYN=1, ECE=1, CWR=1</a:t>
            </a:r>
          </a:p>
          <a:p>
            <a:pPr marL="742950" lvl="1" indent="-285750">
              <a:buFont typeface="Wingdings" panose="05000000000000000000" pitchFamily="2" charset="2"/>
              <a:buChar char="Ø"/>
            </a:pPr>
            <a:r>
              <a:rPr lang="es-MX" dirty="0"/>
              <a:t>S --------</a:t>
            </a:r>
            <a:r>
              <a:rPr lang="es-MX" dirty="0">
                <a:sym typeface="Wingdings" panose="05000000000000000000" pitchFamily="2" charset="2"/>
              </a:rPr>
              <a:t> C</a:t>
            </a:r>
            <a:r>
              <a:rPr lang="es-MX" dirty="0"/>
              <a:t>   SYN=1, ACK=1, ECE=1, CWR=0</a:t>
            </a:r>
          </a:p>
          <a:p>
            <a:pPr lvl="1"/>
            <a:r>
              <a:rPr lang="es-MX" dirty="0"/>
              <a:t>    </a:t>
            </a:r>
          </a:p>
        </p:txBody>
      </p:sp>
      <p:sp>
        <p:nvSpPr>
          <p:cNvPr id="3" name="Cerrar llave 2">
            <a:extLst>
              <a:ext uri="{FF2B5EF4-FFF2-40B4-BE49-F238E27FC236}">
                <a16:creationId xmlns:a16="http://schemas.microsoft.com/office/drawing/2014/main" id="{7A9C6C60-DD9D-481F-AA91-12E3D554BB43}"/>
              </a:ext>
            </a:extLst>
          </p:cNvPr>
          <p:cNvSpPr/>
          <p:nvPr/>
        </p:nvSpPr>
        <p:spPr>
          <a:xfrm>
            <a:off x="6308035" y="4797287"/>
            <a:ext cx="106017" cy="6427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6" name="CuadroTexto 5">
            <a:extLst>
              <a:ext uri="{FF2B5EF4-FFF2-40B4-BE49-F238E27FC236}">
                <a16:creationId xmlns:a16="http://schemas.microsoft.com/office/drawing/2014/main" id="{E8903B06-6E77-4B34-8FD2-5E8E8336F46F}"/>
              </a:ext>
            </a:extLst>
          </p:cNvPr>
          <p:cNvSpPr txBox="1"/>
          <p:nvPr/>
        </p:nvSpPr>
        <p:spPr>
          <a:xfrm flipH="1">
            <a:off x="6414052" y="4832219"/>
            <a:ext cx="5792527" cy="646331"/>
          </a:xfrm>
          <a:prstGeom prst="rect">
            <a:avLst/>
          </a:prstGeom>
          <a:noFill/>
        </p:spPr>
        <p:txBody>
          <a:bodyPr wrap="square" rtlCol="0">
            <a:spAutoFit/>
          </a:bodyPr>
          <a:lstStyle/>
          <a:p>
            <a:r>
              <a:rPr lang="es-MX" dirty="0"/>
              <a:t>Combinación de banderas que representa capacidad ECN </a:t>
            </a:r>
          </a:p>
        </p:txBody>
      </p:sp>
    </p:spTree>
    <p:extLst>
      <p:ext uri="{BB962C8B-B14F-4D97-AF65-F5344CB8AC3E}">
        <p14:creationId xmlns:p14="http://schemas.microsoft.com/office/powerpoint/2010/main" val="1234708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527167"/>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2308324"/>
          </a:xfrm>
          <a:prstGeom prst="rect">
            <a:avLst/>
          </a:prstGeom>
          <a:noFill/>
        </p:spPr>
        <p:txBody>
          <a:bodyPr wrap="square" rtlCol="0">
            <a:spAutoFit/>
          </a:bodyPr>
          <a:lstStyle/>
          <a:p>
            <a:pPr marL="285750" indent="-285750">
              <a:buFont typeface="Wingdings" panose="05000000000000000000" pitchFamily="2" charset="2"/>
              <a:buChar char="Ø"/>
            </a:pPr>
            <a:r>
              <a:rPr lang="es-MX" dirty="0"/>
              <a:t>Opciones:</a:t>
            </a:r>
          </a:p>
          <a:p>
            <a:pPr marL="742950" lvl="1" indent="-285750">
              <a:buFont typeface="Wingdings" panose="05000000000000000000" pitchFamily="2" charset="2"/>
              <a:buChar char="Ø"/>
            </a:pPr>
            <a:r>
              <a:rPr lang="es-MX" b="1" dirty="0"/>
              <a:t>MSS</a:t>
            </a:r>
            <a:r>
              <a:rPr lang="es-MX" dirty="0"/>
              <a:t>= MTU</a:t>
            </a:r>
          </a:p>
          <a:p>
            <a:pPr marL="742950" lvl="1" indent="-285750">
              <a:buFont typeface="Wingdings" panose="05000000000000000000" pitchFamily="2" charset="2"/>
              <a:buChar char="Ø"/>
            </a:pPr>
            <a:r>
              <a:rPr lang="es-MX" b="1" dirty="0"/>
              <a:t>Escala de ventana</a:t>
            </a:r>
            <a:r>
              <a:rPr lang="es-MX" dirty="0"/>
              <a:t> = se extiende la ventana 14 bits más para un total de 30 bits (enlaces </a:t>
            </a:r>
            <a:r>
              <a:rPr lang="es-MX" dirty="0" err="1"/>
              <a:t>wan</a:t>
            </a:r>
            <a:r>
              <a:rPr lang="es-MX" dirty="0"/>
              <a:t> con gran ancho de banda y alta latencia)</a:t>
            </a:r>
          </a:p>
          <a:p>
            <a:pPr marL="742950" lvl="1" indent="-285750">
              <a:buFont typeface="Wingdings" panose="05000000000000000000" pitchFamily="2" charset="2"/>
              <a:buChar char="Ø"/>
            </a:pPr>
            <a:r>
              <a:rPr lang="es-MX" b="1" dirty="0"/>
              <a:t>Acuses selectivos</a:t>
            </a:r>
            <a:r>
              <a:rPr lang="es-MX" dirty="0"/>
              <a:t> = control de flujo (SREJ, solicitud de segmentos fuera de orden)</a:t>
            </a:r>
          </a:p>
          <a:p>
            <a:pPr marL="742950" lvl="1" indent="-285750">
              <a:buFont typeface="Wingdings" panose="05000000000000000000" pitchFamily="2" charset="2"/>
              <a:buChar char="Ø"/>
            </a:pPr>
            <a:r>
              <a:rPr lang="es-MX" b="1" dirty="0"/>
              <a:t>Marcas de tiempo</a:t>
            </a:r>
            <a:r>
              <a:rPr lang="es-MX" dirty="0"/>
              <a:t> = para calcular el temporizador de reenvío de segmentos basado en RTT</a:t>
            </a:r>
          </a:p>
          <a:p>
            <a:pPr marL="742950" lvl="1" indent="-285750">
              <a:buFont typeface="Wingdings" panose="05000000000000000000" pitchFamily="2" charset="2"/>
              <a:buChar char="Ø"/>
            </a:pPr>
            <a:endParaRPr lang="es-MX" dirty="0"/>
          </a:p>
          <a:p>
            <a:pPr lvl="1"/>
            <a:r>
              <a:rPr lang="es-MX" dirty="0"/>
              <a:t>    </a:t>
            </a:r>
          </a:p>
        </p:txBody>
      </p:sp>
    </p:spTree>
    <p:extLst>
      <p:ext uri="{BB962C8B-B14F-4D97-AF65-F5344CB8AC3E}">
        <p14:creationId xmlns:p14="http://schemas.microsoft.com/office/powerpoint/2010/main" val="3847525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Modelo cliente/servidor</a:t>
            </a:r>
            <a:endParaRPr lang="es-MX" sz="6000" b="0" strike="noStrike" spc="-1">
              <a:latin typeface="Arial"/>
            </a:endParaRPr>
          </a:p>
        </p:txBody>
      </p:sp>
      <p:sp>
        <p:nvSpPr>
          <p:cNvPr id="387"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Modelo cliente-servidor</a:t>
            </a:r>
            <a:endParaRPr lang="es-MX" sz="4400" b="0" strike="noStrike" spc="-1">
              <a:latin typeface="Arial"/>
            </a:endParaRPr>
          </a:p>
        </p:txBody>
      </p:sp>
      <p:sp>
        <p:nvSpPr>
          <p:cNvPr id="38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términos de cliente y servidor se refieren a los roles que realizan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cliente inicia la comunicación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servidor espera pasivamente y responde a la llamada del cliente.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Juntos conforman la aplicación</a:t>
            </a:r>
            <a:endParaRPr lang="es-MX" sz="2800" b="0" strike="noStrike" spc="-1">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Modelo cliente/servidor</a:t>
            </a:r>
            <a:endParaRPr lang="es-MX" sz="4400" b="0" strike="noStrike" spc="-1">
              <a:latin typeface="Arial"/>
            </a:endParaRPr>
          </a:p>
        </p:txBody>
      </p:sp>
      <p:pic>
        <p:nvPicPr>
          <p:cNvPr id="391" name="Picture 3"/>
          <p:cNvPicPr/>
          <p:nvPr/>
        </p:nvPicPr>
        <p:blipFill>
          <a:blip r:embed="rId2"/>
          <a:stretch/>
        </p:blipFill>
        <p:spPr>
          <a:xfrm>
            <a:off x="2135520" y="2709000"/>
            <a:ext cx="7975440" cy="2437920"/>
          </a:xfrm>
          <a:prstGeom prst="rect">
            <a:avLst/>
          </a:prstGeom>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Funcionamiento del cliente</a:t>
            </a:r>
            <a:endParaRPr lang="es-MX" sz="4400" b="0" strike="noStrike" spc="-1">
              <a:latin typeface="Arial"/>
            </a:endParaRPr>
          </a:p>
        </p:txBody>
      </p:sp>
      <p:sp>
        <p:nvSpPr>
          <p:cNvPr id="39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 un socket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Establece la conexión con el servidor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comunica enviando y recibiendo mensajes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Cierra la conexión</a:t>
            </a:r>
            <a:endParaRPr lang="es-MX" sz="2800" b="0" strike="noStrike" spc="-1">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Funcionamiento del servidor</a:t>
            </a:r>
            <a:endParaRPr lang="es-MX" sz="4400" b="0" strike="noStrike" spc="-1">
              <a:latin typeface="Arial"/>
            </a:endParaRPr>
          </a:p>
        </p:txBody>
      </p:sp>
      <p:sp>
        <p:nvSpPr>
          <p:cNvPr id="39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 un socket y lo asocia a un puerto local determinado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Espera hasta que alguien se conecte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Repite de forma ininterrumpida:</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Acepta cada nueva conexión al socket</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comunica enviando y recibiendo mensajes con el cliente</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Cierra la conexión con cada cliente</a:t>
            </a:r>
            <a:endParaRPr lang="es-MX" sz="2400" b="0" strike="noStrike" spc="-1">
              <a:latin typeface="Arial"/>
            </a:endParaRPr>
          </a:p>
          <a:p>
            <a:pPr>
              <a:lnSpc>
                <a:spcPct val="90000"/>
              </a:lnSpc>
            </a:pPr>
            <a:endParaRPr lang="es-MX" sz="2400" b="0" strike="noStrike" spc="-1">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CustomShape 1"/>
          <p:cNvSpPr/>
          <p:nvPr/>
        </p:nvSpPr>
        <p:spPr>
          <a:xfrm>
            <a:off x="1981080" y="274680"/>
            <a:ext cx="3392640" cy="279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Diagrama de flujo</a:t>
            </a:r>
            <a:endParaRPr lang="es-MX" sz="4400" b="0" strike="noStrike" spc="-1">
              <a:latin typeface="Arial"/>
            </a:endParaRPr>
          </a:p>
        </p:txBody>
      </p:sp>
      <p:pic>
        <p:nvPicPr>
          <p:cNvPr id="397" name="Imagen 4"/>
          <p:cNvPicPr/>
          <p:nvPr/>
        </p:nvPicPr>
        <p:blipFill>
          <a:blip r:embed="rId2"/>
          <a:stretch/>
        </p:blipFill>
        <p:spPr>
          <a:xfrm>
            <a:off x="5298480" y="487440"/>
            <a:ext cx="5324400" cy="5982120"/>
          </a:xfrm>
          <a:prstGeom prst="rect">
            <a:avLst/>
          </a:prstGeom>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6000" b="0" strike="noStrike" spc="-1">
                <a:solidFill>
                  <a:srgbClr val="000000"/>
                </a:solidFill>
                <a:latin typeface="Calibri Light"/>
                <a:ea typeface="DejaVu Sans"/>
              </a:rPr>
              <a:t>Conexiones en el dominio de internet</a:t>
            </a:r>
            <a:endParaRPr lang="es-MX" sz="6000" b="0" strike="noStrike" spc="-1">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¿Qué es un socket?</a:t>
            </a:r>
            <a:endParaRPr lang="es-MX" sz="4400" b="0" strike="noStrike" spc="-1">
              <a:latin typeface="Arial"/>
            </a:endParaRPr>
          </a:p>
        </p:txBody>
      </p:sp>
      <p:pic>
        <p:nvPicPr>
          <p:cNvPr id="400" name="Imagen 1"/>
          <p:cNvPicPr/>
          <p:nvPr/>
        </p:nvPicPr>
        <p:blipFill>
          <a:blip r:embed="rId2"/>
          <a:stretch/>
        </p:blipFill>
        <p:spPr>
          <a:xfrm>
            <a:off x="4013280" y="2121480"/>
            <a:ext cx="2810520" cy="2779920"/>
          </a:xfrm>
          <a:prstGeom prst="rect">
            <a:avLst/>
          </a:prstGeom>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4400" b="0" strike="noStrike" spc="-1">
                <a:solidFill>
                  <a:srgbClr val="000000"/>
                </a:solidFill>
                <a:latin typeface="Calibri Light"/>
                <a:ea typeface="DejaVu Sans"/>
              </a:rPr>
              <a:t>Sockets</a:t>
            </a:r>
            <a:endParaRPr lang="es-MX" sz="4400" b="0" strike="noStrike" spc="-1">
              <a:latin typeface="Arial"/>
            </a:endParaRPr>
          </a:p>
          <a:p>
            <a:pPr>
              <a:lnSpc>
                <a:spcPct val="90000"/>
              </a:lnSpc>
            </a:pPr>
            <a:endParaRPr lang="es-MX" sz="4400" b="0" strike="noStrike" spc="-1">
              <a:latin typeface="Arial"/>
            </a:endParaRPr>
          </a:p>
        </p:txBody>
      </p:sp>
      <p:sp>
        <p:nvSpPr>
          <p:cNvPr id="40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a:t>
            </a:r>
            <a:r>
              <a:rPr lang="en-US" sz="2800" b="0" i="1" strike="noStrike" spc="-1">
                <a:solidFill>
                  <a:srgbClr val="000000"/>
                </a:solidFill>
                <a:latin typeface="Calibri"/>
                <a:ea typeface="DejaVu Sans"/>
              </a:rPr>
              <a:t>socket</a:t>
            </a:r>
            <a:r>
              <a:rPr lang="en-US" sz="2800" b="0" strike="noStrike" spc="-1">
                <a:solidFill>
                  <a:srgbClr val="000000"/>
                </a:solidFill>
                <a:latin typeface="Calibri"/>
                <a:ea typeface="DejaVu Sans"/>
              </a:rPr>
              <a:t> es una abstracción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Representa un extremo en una comunicación bidireccional entre dos aplicaciones que se comunican a través de la red.</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Sockets</a:t>
            </a:r>
            <a:endParaRPr lang="es-MX" sz="4400" b="0" strike="noStrike" spc="-1">
              <a:latin typeface="Arial"/>
            </a:endParaRPr>
          </a:p>
        </p:txBody>
      </p:sp>
      <p:sp>
        <p:nvSpPr>
          <p:cNvPr id="40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Diferentes</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tipos</a:t>
            </a:r>
            <a:r>
              <a:rPr lang="en-US" sz="2800" b="0" strike="noStrike" spc="-1" dirty="0">
                <a:solidFill>
                  <a:srgbClr val="000000"/>
                </a:solidFill>
                <a:latin typeface="Calibri"/>
                <a:ea typeface="DejaVu Sans"/>
              </a:rPr>
              <a:t> de sockets </a:t>
            </a:r>
            <a:r>
              <a:rPr lang="en-US" sz="2800" b="0" strike="noStrike" spc="-1" dirty="0" err="1">
                <a:solidFill>
                  <a:srgbClr val="000000"/>
                </a:solidFill>
                <a:latin typeface="Calibri"/>
                <a:ea typeface="DejaVu Sans"/>
              </a:rPr>
              <a:t>corresponden</a:t>
            </a:r>
            <a:r>
              <a:rPr lang="en-US" sz="2800" b="0" strike="noStrike" spc="-1" dirty="0">
                <a:solidFill>
                  <a:srgbClr val="000000"/>
                </a:solidFill>
                <a:latin typeface="Calibri"/>
                <a:ea typeface="DejaVu Sans"/>
              </a:rPr>
              <a:t> a </a:t>
            </a:r>
            <a:r>
              <a:rPr lang="en-US" sz="2800" b="0" strike="noStrike" spc="-1" dirty="0" err="1">
                <a:solidFill>
                  <a:srgbClr val="000000"/>
                </a:solidFill>
                <a:latin typeface="Calibri"/>
                <a:ea typeface="DejaVu Sans"/>
              </a:rPr>
              <a:t>diferentes</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tipos</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protocolos</a:t>
            </a:r>
            <a:r>
              <a:rPr lang="en-US" sz="2800" b="0" strike="noStrike" spc="-1" dirty="0">
                <a:solidFill>
                  <a:srgbClr val="000000"/>
                </a:solidFill>
                <a:latin typeface="Calibri"/>
                <a:ea typeface="DejaVu Sans"/>
              </a:rPr>
              <a:t>.</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Solo </a:t>
            </a:r>
            <a:r>
              <a:rPr lang="en-US" sz="2800" b="0" strike="noStrike" spc="-1" dirty="0" err="1">
                <a:solidFill>
                  <a:srgbClr val="000000"/>
                </a:solidFill>
                <a:latin typeface="Calibri"/>
                <a:ea typeface="DejaVu Sans"/>
              </a:rPr>
              <a:t>trabajaremos</a:t>
            </a:r>
            <a:r>
              <a:rPr lang="en-US" sz="2800" b="0" strike="noStrike" spc="-1" dirty="0">
                <a:solidFill>
                  <a:srgbClr val="000000"/>
                </a:solidFill>
                <a:latin typeface="Calibri"/>
                <a:ea typeface="DejaVu Sans"/>
              </a:rPr>
              <a:t> con sockets de TCP/IP </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Sockets de </a:t>
            </a:r>
            <a:r>
              <a:rPr lang="en-US" sz="2800" b="0" strike="noStrike" spc="-1" dirty="0" err="1">
                <a:solidFill>
                  <a:srgbClr val="000000"/>
                </a:solidFill>
                <a:latin typeface="Calibri"/>
                <a:ea typeface="DejaVu Sans"/>
              </a:rPr>
              <a:t>flujo</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representan</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el</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extremo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una</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conexión</a:t>
            </a:r>
            <a:r>
              <a:rPr lang="en-US" sz="2800" b="0" strike="noStrike" spc="-1" dirty="0">
                <a:solidFill>
                  <a:srgbClr val="000000"/>
                </a:solidFill>
                <a:latin typeface="Calibri"/>
                <a:ea typeface="DejaVu Sans"/>
              </a:rPr>
              <a:t> TCP</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Sockets de </a:t>
            </a:r>
            <a:r>
              <a:rPr lang="en-US" sz="2800" b="0" strike="noStrike" spc="-1" dirty="0" err="1">
                <a:solidFill>
                  <a:srgbClr val="000000"/>
                </a:solidFill>
                <a:latin typeface="Calibri"/>
                <a:ea typeface="DejaVu Sans"/>
              </a:rPr>
              <a:t>datagrama</a:t>
            </a:r>
            <a:r>
              <a:rPr lang="en-US" sz="2800" b="0" strike="noStrike" spc="-1" dirty="0">
                <a:solidFill>
                  <a:srgbClr val="000000"/>
                </a:solidFill>
                <a:latin typeface="Calibri"/>
                <a:ea typeface="DejaVu Sans"/>
              </a:rPr>
              <a:t> son un </a:t>
            </a:r>
            <a:r>
              <a:rPr lang="en-US" sz="2800" b="0" strike="noStrike" spc="-1" dirty="0" err="1">
                <a:solidFill>
                  <a:srgbClr val="000000"/>
                </a:solidFill>
                <a:latin typeface="Calibri"/>
                <a:ea typeface="DejaVu Sans"/>
              </a:rPr>
              <a:t>servicio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mejor</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esfuerzo</a:t>
            </a:r>
            <a:r>
              <a:rPr lang="en-US" sz="2800" b="0" strike="noStrike" spc="-1" dirty="0">
                <a:solidFill>
                  <a:srgbClr val="000000"/>
                </a:solidFill>
                <a:latin typeface="Calibri"/>
                <a:ea typeface="DejaVu Sans"/>
              </a:rPr>
              <a:t> para </a:t>
            </a:r>
            <a:r>
              <a:rPr lang="en-US" sz="2800" b="0" strike="noStrike" spc="-1" dirty="0" err="1">
                <a:solidFill>
                  <a:srgbClr val="000000"/>
                </a:solidFill>
                <a:latin typeface="Calibri"/>
                <a:ea typeface="DejaVu Sans"/>
              </a:rPr>
              <a:t>el</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envío</a:t>
            </a:r>
            <a:r>
              <a:rPr lang="en-US" sz="2800" b="0" strike="noStrike" spc="-1" dirty="0">
                <a:solidFill>
                  <a:srgbClr val="000000"/>
                </a:solidFill>
                <a:latin typeface="Calibri"/>
                <a:ea typeface="DejaVu Sans"/>
              </a:rPr>
              <a:t> individual de </a:t>
            </a:r>
            <a:r>
              <a:rPr lang="en-US" sz="2800" b="0" strike="noStrike" spc="-1" dirty="0" err="1">
                <a:solidFill>
                  <a:srgbClr val="000000"/>
                </a:solidFill>
                <a:latin typeface="Calibri"/>
                <a:ea typeface="DejaVu Sans"/>
              </a:rPr>
              <a:t>datos</a:t>
            </a:r>
            <a:r>
              <a:rPr lang="en-US" sz="2800" b="0" strike="noStrike" spc="-1" dirty="0">
                <a:solidFill>
                  <a:srgbClr val="000000"/>
                </a:solidFill>
                <a:latin typeface="Calibri"/>
                <a:ea typeface="DejaVu Sans"/>
              </a:rPr>
              <a:t>.</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Un socket TCP/IP se </a:t>
            </a:r>
            <a:r>
              <a:rPr lang="en-US" sz="2800" b="0" strike="noStrike" spc="-1" dirty="0" err="1">
                <a:solidFill>
                  <a:srgbClr val="000000"/>
                </a:solidFill>
                <a:latin typeface="Calibri"/>
                <a:ea typeface="DejaVu Sans"/>
              </a:rPr>
              <a:t>identifica</a:t>
            </a:r>
            <a:r>
              <a:rPr lang="en-US" sz="2800" b="0" strike="noStrike" spc="-1" dirty="0">
                <a:solidFill>
                  <a:srgbClr val="000000"/>
                </a:solidFill>
                <a:latin typeface="Calibri"/>
                <a:ea typeface="DejaVu Sans"/>
              </a:rPr>
              <a:t> con un </a:t>
            </a:r>
            <a:r>
              <a:rPr lang="en-US" sz="2800" b="0" strike="noStrike" spc="-1" dirty="0" err="1">
                <a:solidFill>
                  <a:srgbClr val="000000"/>
                </a:solidFill>
                <a:latin typeface="Calibri"/>
                <a:ea typeface="DejaVu Sans"/>
              </a:rPr>
              <a:t>número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puerto</a:t>
            </a:r>
            <a:r>
              <a:rPr lang="en-US" sz="2800" b="0" strike="noStrike" spc="-1" dirty="0">
                <a:solidFill>
                  <a:srgbClr val="000000"/>
                </a:solidFill>
                <a:latin typeface="Calibri"/>
                <a:ea typeface="DejaVu Sans"/>
              </a:rPr>
              <a:t> y </a:t>
            </a:r>
            <a:r>
              <a:rPr lang="en-US" sz="2800" b="0" strike="noStrike" spc="-1" dirty="0" err="1">
                <a:solidFill>
                  <a:srgbClr val="000000"/>
                </a:solidFill>
                <a:latin typeface="Calibri"/>
                <a:ea typeface="DejaVu Sans"/>
              </a:rPr>
              <a:t>una</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dirección</a:t>
            </a:r>
            <a:r>
              <a:rPr lang="en-US" sz="2800" b="0" strike="noStrike" spc="-1" dirty="0">
                <a:solidFill>
                  <a:srgbClr val="000000"/>
                </a:solidFill>
                <a:latin typeface="Calibri"/>
                <a:ea typeface="DejaVu Sans"/>
              </a:rPr>
              <a:t> IP</a:t>
            </a:r>
            <a:endParaRPr lang="es-MX" sz="2800" b="0" strike="noStrike" spc="-1" dirty="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FA050B-BEDA-DEB2-67EB-DAB14E1CEB62}"/>
              </a:ext>
            </a:extLst>
          </p:cNvPr>
          <p:cNvSpPr>
            <a:spLocks noGrp="1"/>
          </p:cNvSpPr>
          <p:nvPr>
            <p:ph type="title"/>
          </p:nvPr>
        </p:nvSpPr>
        <p:spPr/>
        <p:txBody>
          <a:bodyPr/>
          <a:lstStyle/>
          <a:p>
            <a:r>
              <a:rPr lang="es-MX" dirty="0"/>
              <a:t>Arquitecturas de red</a:t>
            </a:r>
          </a:p>
        </p:txBody>
      </p:sp>
      <p:sp>
        <p:nvSpPr>
          <p:cNvPr id="3" name="Subtítulo 2">
            <a:extLst>
              <a:ext uri="{FF2B5EF4-FFF2-40B4-BE49-F238E27FC236}">
                <a16:creationId xmlns:a16="http://schemas.microsoft.com/office/drawing/2014/main" id="{24B4A070-2CF3-989B-EAE8-448E3FE39A06}"/>
              </a:ext>
            </a:extLst>
          </p:cNvPr>
          <p:cNvSpPr>
            <a:spLocks noGrp="1"/>
          </p:cNvSpPr>
          <p:nvPr>
            <p:ph type="subTitle"/>
          </p:nvPr>
        </p:nvSpPr>
        <p:spPr>
          <a:xfrm>
            <a:off x="609480" y="1302303"/>
            <a:ext cx="10972440" cy="5555697"/>
          </a:xfrm>
        </p:spPr>
        <p:txBody>
          <a:bodyPr/>
          <a:lstStyle/>
          <a:p>
            <a:r>
              <a:rPr lang="es-MX" sz="2000" b="1" dirty="0"/>
              <a:t>Arquitectura de red</a:t>
            </a:r>
            <a:r>
              <a:rPr lang="es-MX" sz="2000" dirty="0"/>
              <a:t>: conjunto de reglas que gobierna la interconexión e interacción de los componentes de una red (incluye formato de datos, protocolos y estructuras lógicas para las funciones que proporcionan)</a:t>
            </a:r>
          </a:p>
          <a:p>
            <a:r>
              <a:rPr lang="es-MX" sz="2000" b="1" dirty="0">
                <a:solidFill>
                  <a:srgbClr val="FF0000"/>
                </a:solidFill>
              </a:rPr>
              <a:t>DARPA (Agencia de Proyectos de Investigación Avanzados de Defensa) TCP/IP</a:t>
            </a:r>
          </a:p>
          <a:p>
            <a:r>
              <a:rPr lang="es-MX" sz="2000" b="1" dirty="0"/>
              <a:t>IBM SNA </a:t>
            </a:r>
            <a:r>
              <a:rPr lang="es-MX" sz="2000" dirty="0"/>
              <a:t>(jerárquica, un sistema maestro está a cargo de toda la red y realiza funciones de gestión y control)</a:t>
            </a:r>
          </a:p>
          <a:p>
            <a:r>
              <a:rPr lang="es-MX" sz="2000" b="1" dirty="0"/>
              <a:t>DEC DNA </a:t>
            </a:r>
            <a:r>
              <a:rPr lang="es-MX" sz="2000" dirty="0"/>
              <a:t>(distribuida, asigna a cada sistema de comunicaciones las mismas funciones, se comparten las funciones de gestión de red)</a:t>
            </a:r>
          </a:p>
          <a:p>
            <a:r>
              <a:rPr lang="es-MX" sz="2000" b="1" dirty="0"/>
              <a:t>Xerox XNS</a:t>
            </a:r>
          </a:p>
          <a:p>
            <a:r>
              <a:rPr lang="es-MX" sz="2000" b="1" dirty="0"/>
              <a:t>Honeywell DSA</a:t>
            </a:r>
          </a:p>
          <a:p>
            <a:r>
              <a:rPr lang="es-MX" sz="2000" b="1" dirty="0"/>
              <a:t>Hewlett-Packard </a:t>
            </a:r>
            <a:r>
              <a:rPr lang="es-MX" sz="2000" b="1" dirty="0" err="1"/>
              <a:t>Advancednet</a:t>
            </a:r>
            <a:endParaRPr lang="es-MX" sz="2000" b="1" dirty="0"/>
          </a:p>
          <a:p>
            <a:r>
              <a:rPr lang="es-MX" sz="2000" b="1" dirty="0"/>
              <a:t>Burroughs BNA</a:t>
            </a:r>
          </a:p>
          <a:p>
            <a:r>
              <a:rPr lang="es-MX" sz="2000" b="1" dirty="0"/>
              <a:t>Data General </a:t>
            </a:r>
            <a:r>
              <a:rPr lang="es-MX" sz="2000" b="1" dirty="0" err="1"/>
              <a:t>Xodiac</a:t>
            </a:r>
            <a:endParaRPr lang="es-MX" sz="2000" b="1" dirty="0"/>
          </a:p>
          <a:p>
            <a:r>
              <a:rPr lang="es-MX" sz="2000" b="1" dirty="0"/>
              <a:t>Wang WSN</a:t>
            </a:r>
          </a:p>
        </p:txBody>
      </p:sp>
    </p:spTree>
    <p:extLst>
      <p:ext uri="{BB962C8B-B14F-4D97-AF65-F5344CB8AC3E}">
        <p14:creationId xmlns:p14="http://schemas.microsoft.com/office/powerpoint/2010/main" val="1443288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Sockets bloqueantes y no bloqueantes</a:t>
            </a:r>
            <a:endParaRPr lang="es-MX" sz="4400" b="0" strike="noStrike" spc="-1">
              <a:latin typeface="Arial"/>
            </a:endParaRPr>
          </a:p>
        </p:txBody>
      </p:sp>
      <p:sp>
        <p:nvSpPr>
          <p:cNvPr id="40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 se trata de sockets diferentes realmente, son solo opciones para las formas en las que trabajan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sockets bloqueantes son aquellos que se quedan esperando hasta que existe información para establecer una conexión, leer o escribir un mensaje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sockets no bloqueantes interrogan si hay datos para procesar y en caso de que no se así, continúan con el código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socket no bloqueante se definen modificando sus opciones</a:t>
            </a:r>
            <a:endParaRPr lang="es-MX" sz="2800" b="0" strike="noStrike" spc="-1">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API de sockets</a:t>
            </a:r>
            <a:endParaRPr lang="es-MX" sz="4400" b="0" strike="noStrike" spc="-1">
              <a:latin typeface="Arial"/>
            </a:endParaRPr>
          </a:p>
        </p:txBody>
      </p:sp>
      <p:sp>
        <p:nvSpPr>
          <p:cNvPr id="40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Interfaz de programación de aplicaciones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Conjunto de subrutinas, funciones y procedimientos (o métodos) que ofrece cierta biblioteca para ser utilizado por otro software.</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Sockets API</a:t>
            </a:r>
            <a:endParaRPr lang="es-MX" sz="4400" b="0" strike="noStrike" spc="-1">
              <a:latin typeface="Arial"/>
            </a:endParaRPr>
          </a:p>
        </p:txBody>
      </p:sp>
      <p:sp>
        <p:nvSpPr>
          <p:cNvPr id="410" name="CustomShape 2"/>
          <p:cNvSpPr/>
          <p:nvPr/>
        </p:nvSpPr>
        <p:spPr>
          <a:xfrm>
            <a:off x="1847520" y="524412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Enlace de Red</a:t>
            </a:r>
            <a:endParaRPr lang="es-MX" sz="1200" b="0" strike="noStrike" spc="-1">
              <a:latin typeface="Arial"/>
            </a:endParaRPr>
          </a:p>
        </p:txBody>
      </p:sp>
      <p:sp>
        <p:nvSpPr>
          <p:cNvPr id="411" name="CustomShape 3"/>
          <p:cNvSpPr/>
          <p:nvPr/>
        </p:nvSpPr>
        <p:spPr>
          <a:xfrm>
            <a:off x="1847520" y="46936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Internet</a:t>
            </a:r>
            <a:endParaRPr lang="es-MX" sz="1200" b="0" strike="noStrike" spc="-1">
              <a:latin typeface="Arial"/>
            </a:endParaRPr>
          </a:p>
        </p:txBody>
      </p:sp>
      <p:sp>
        <p:nvSpPr>
          <p:cNvPr id="412" name="CustomShape 4"/>
          <p:cNvSpPr/>
          <p:nvPr/>
        </p:nvSpPr>
        <p:spPr>
          <a:xfrm>
            <a:off x="1847520" y="414324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Transporte</a:t>
            </a:r>
            <a:endParaRPr lang="es-MX" sz="1200" b="0" strike="noStrike" spc="-1">
              <a:latin typeface="Arial"/>
            </a:endParaRPr>
          </a:p>
        </p:txBody>
      </p:sp>
      <p:sp>
        <p:nvSpPr>
          <p:cNvPr id="413" name="CustomShape 5"/>
          <p:cNvSpPr/>
          <p:nvPr/>
        </p:nvSpPr>
        <p:spPr>
          <a:xfrm>
            <a:off x="5695920" y="524412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Enlace de Red</a:t>
            </a:r>
            <a:endParaRPr lang="es-MX" sz="1200" b="0" strike="noStrike" spc="-1">
              <a:latin typeface="Arial"/>
            </a:endParaRPr>
          </a:p>
        </p:txBody>
      </p:sp>
      <p:sp>
        <p:nvSpPr>
          <p:cNvPr id="414" name="CustomShape 6"/>
          <p:cNvSpPr/>
          <p:nvPr/>
        </p:nvSpPr>
        <p:spPr>
          <a:xfrm>
            <a:off x="5695920" y="46936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Internet</a:t>
            </a:r>
            <a:endParaRPr lang="es-MX" sz="1200" b="0" strike="noStrike" spc="-1">
              <a:latin typeface="Arial"/>
            </a:endParaRPr>
          </a:p>
        </p:txBody>
      </p:sp>
      <p:sp>
        <p:nvSpPr>
          <p:cNvPr id="415" name="CustomShape 7"/>
          <p:cNvSpPr/>
          <p:nvPr/>
        </p:nvSpPr>
        <p:spPr>
          <a:xfrm>
            <a:off x="5695920" y="414324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Transporte</a:t>
            </a:r>
            <a:endParaRPr lang="es-MX" sz="1200" b="0" strike="noStrike" spc="-1">
              <a:latin typeface="Arial"/>
            </a:endParaRPr>
          </a:p>
        </p:txBody>
      </p:sp>
      <p:sp>
        <p:nvSpPr>
          <p:cNvPr id="416" name="CustomShape 8"/>
          <p:cNvSpPr/>
          <p:nvPr/>
        </p:nvSpPr>
        <p:spPr>
          <a:xfrm>
            <a:off x="1839600" y="24562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Aplicación Servidor</a:t>
            </a:r>
            <a:endParaRPr lang="es-MX" sz="1200" b="0" strike="noStrike" spc="-1">
              <a:latin typeface="Arial"/>
            </a:endParaRPr>
          </a:p>
        </p:txBody>
      </p:sp>
      <p:sp>
        <p:nvSpPr>
          <p:cNvPr id="417" name="CustomShape 9"/>
          <p:cNvSpPr/>
          <p:nvPr/>
        </p:nvSpPr>
        <p:spPr>
          <a:xfrm>
            <a:off x="5691960" y="24562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Aplicación Cliente</a:t>
            </a:r>
            <a:endParaRPr lang="es-MX" sz="1200" b="0" strike="noStrike" spc="-1">
              <a:latin typeface="Arial"/>
            </a:endParaRPr>
          </a:p>
        </p:txBody>
      </p:sp>
      <p:sp>
        <p:nvSpPr>
          <p:cNvPr id="418" name="CustomShape 10"/>
          <p:cNvSpPr/>
          <p:nvPr/>
        </p:nvSpPr>
        <p:spPr>
          <a:xfrm>
            <a:off x="2599200" y="3006720"/>
            <a:ext cx="306000" cy="1134360"/>
          </a:xfrm>
          <a:prstGeom prst="upDownArrow">
            <a:avLst>
              <a:gd name="adj1" fmla="val 50000"/>
              <a:gd name="adj2" fmla="val 50000"/>
            </a:avLst>
          </a:prstGeom>
          <a:noFill/>
          <a:ln w="25560">
            <a:solidFill>
              <a:srgbClr val="000000"/>
            </a:solidFill>
            <a:round/>
          </a:ln>
        </p:spPr>
        <p:style>
          <a:lnRef idx="0">
            <a:scrgbClr r="0" g="0" b="0"/>
          </a:lnRef>
          <a:fillRef idx="0">
            <a:scrgbClr r="0" g="0" b="0"/>
          </a:fillRef>
          <a:effectRef idx="0">
            <a:scrgbClr r="0" g="0" b="0"/>
          </a:effectRef>
          <a:fontRef idx="minor"/>
        </p:style>
      </p:sp>
      <p:sp>
        <p:nvSpPr>
          <p:cNvPr id="419" name="CustomShape 11"/>
          <p:cNvSpPr/>
          <p:nvPr/>
        </p:nvSpPr>
        <p:spPr>
          <a:xfrm>
            <a:off x="6486480" y="2988720"/>
            <a:ext cx="306000" cy="1134360"/>
          </a:xfrm>
          <a:prstGeom prst="upDownArrow">
            <a:avLst>
              <a:gd name="adj1" fmla="val 50000"/>
              <a:gd name="adj2" fmla="val 50000"/>
            </a:avLst>
          </a:prstGeom>
          <a:noFill/>
          <a:ln w="25560">
            <a:solidFill>
              <a:srgbClr val="000000"/>
            </a:solidFill>
            <a:round/>
          </a:ln>
        </p:spPr>
        <p:style>
          <a:lnRef idx="0">
            <a:scrgbClr r="0" g="0" b="0"/>
          </a:lnRef>
          <a:fillRef idx="0">
            <a:scrgbClr r="0" g="0" b="0"/>
          </a:fillRef>
          <a:effectRef idx="0">
            <a:scrgbClr r="0" g="0" b="0"/>
          </a:effectRef>
          <a:fontRef idx="minor"/>
        </p:style>
      </p:sp>
      <p:sp>
        <p:nvSpPr>
          <p:cNvPr id="420" name="CustomShape 12"/>
          <p:cNvSpPr/>
          <p:nvPr/>
        </p:nvSpPr>
        <p:spPr>
          <a:xfrm>
            <a:off x="6936480" y="3300480"/>
            <a:ext cx="1361880" cy="2710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200" b="1" strike="noStrike" spc="-1">
                <a:solidFill>
                  <a:srgbClr val="000000"/>
                </a:solidFill>
                <a:latin typeface="Calibri"/>
                <a:ea typeface="DejaVu Sans"/>
              </a:rPr>
              <a:t>API de Socket</a:t>
            </a:r>
            <a:endParaRPr lang="es-MX" sz="1200" b="0" strike="noStrike" spc="-1">
              <a:latin typeface="Arial"/>
            </a:endParaRPr>
          </a:p>
        </p:txBody>
      </p:sp>
      <p:sp>
        <p:nvSpPr>
          <p:cNvPr id="421" name="CustomShape 13"/>
          <p:cNvSpPr/>
          <p:nvPr/>
        </p:nvSpPr>
        <p:spPr>
          <a:xfrm>
            <a:off x="2976840" y="3300480"/>
            <a:ext cx="1361880" cy="2710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200" b="1" strike="noStrike" spc="-1">
                <a:solidFill>
                  <a:srgbClr val="000000"/>
                </a:solidFill>
                <a:latin typeface="Calibri"/>
                <a:ea typeface="DejaVu Sans"/>
              </a:rPr>
              <a:t>API de Socket</a:t>
            </a:r>
            <a:endParaRPr lang="es-MX" sz="1200" b="0" strike="noStrike" spc="-1">
              <a:latin typeface="Arial"/>
            </a:endParaRPr>
          </a:p>
        </p:txBody>
      </p:sp>
      <p:sp>
        <p:nvSpPr>
          <p:cNvPr id="422" name="CustomShape 14"/>
          <p:cNvSpPr/>
          <p:nvPr/>
        </p:nvSpPr>
        <p:spPr>
          <a:xfrm flipH="1" flipV="1">
            <a:off x="3903120" y="4707000"/>
            <a:ext cx="1575000" cy="360"/>
          </a:xfrm>
          <a:prstGeom prst="rect">
            <a:avLst/>
          </a:prstGeom>
          <a:noFill/>
          <a:ln w="19080">
            <a:solidFill>
              <a:srgbClr val="000000"/>
            </a:solidFill>
            <a:round/>
            <a:tailEnd type="triangle" w="med" len="med"/>
          </a:ln>
        </p:spPr>
        <p:style>
          <a:lnRef idx="0">
            <a:scrgbClr r="0" g="0" b="0"/>
          </a:lnRef>
          <a:fillRef idx="0">
            <a:scrgbClr r="0" g="0" b="0"/>
          </a:fillRef>
          <a:effectRef idx="0">
            <a:scrgbClr r="0" g="0" b="0"/>
          </a:effectRef>
          <a:fontRef idx="minor"/>
        </p:style>
      </p:sp>
      <p:sp>
        <p:nvSpPr>
          <p:cNvPr id="423" name="CustomShape 15"/>
          <p:cNvSpPr/>
          <p:nvPr/>
        </p:nvSpPr>
        <p:spPr>
          <a:xfrm rot="10800000" flipH="1" flipV="1">
            <a:off x="3903120" y="5162986"/>
            <a:ext cx="1575000" cy="360"/>
          </a:xfrm>
          <a:prstGeom prst="rect">
            <a:avLst/>
          </a:prstGeom>
          <a:noFill/>
          <a:ln w="19080">
            <a:solidFill>
              <a:srgbClr val="000000"/>
            </a:solidFill>
            <a:round/>
            <a:tailEnd type="triangle" w="med" len="med"/>
          </a:ln>
        </p:spPr>
        <p:style>
          <a:lnRef idx="0">
            <a:scrgbClr r="0" g="0" b="0"/>
          </a:lnRef>
          <a:fillRef idx="0">
            <a:scrgbClr r="0" g="0" b="0"/>
          </a:fillRef>
          <a:effectRef idx="0">
            <a:scrgbClr r="0" g="0" b="0"/>
          </a:effectRef>
          <a:fontRef idx="minor"/>
        </p:style>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6000" b="0" strike="noStrike" spc="-1">
                <a:solidFill>
                  <a:srgbClr val="000000"/>
                </a:solidFill>
                <a:latin typeface="Calibri Light"/>
                <a:ea typeface="DejaVu Sans"/>
              </a:rPr>
              <a:t>Sockets orientados a conexión bloqueantes</a:t>
            </a:r>
            <a:endParaRPr lang="es-MX" sz="6000" b="0" strike="noStrike" spc="-1">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de flujo bloqueantes</a:t>
            </a:r>
            <a:endParaRPr lang="es-MX" sz="4400" b="0" strike="noStrike" spc="-1">
              <a:latin typeface="Arial"/>
            </a:endParaRPr>
          </a:p>
        </p:txBody>
      </p:sp>
      <p:sp>
        <p:nvSpPr>
          <p:cNvPr id="42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 el tipo de socket que utiliza el protocolo TCP y por tanto tiene todas las características relacionadas</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API java</a:t>
            </a:r>
            <a:endParaRPr lang="es-MX" sz="4400" b="0" strike="noStrike" spc="-1">
              <a:latin typeface="Arial"/>
            </a:endParaRPr>
          </a:p>
        </p:txBody>
      </p:sp>
      <p:sp>
        <p:nvSpPr>
          <p:cNvPr id="428" name="CustomShape 2"/>
          <p:cNvSpPr/>
          <p:nvPr/>
        </p:nvSpPr>
        <p:spPr>
          <a:xfrm>
            <a:off x="1981080" y="2637000"/>
            <a:ext cx="8227440" cy="348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i="1" strike="noStrike" spc="-1">
                <a:solidFill>
                  <a:srgbClr val="000000"/>
                </a:solidFill>
                <a:latin typeface="Calibri"/>
                <a:ea typeface="DejaVu Sans"/>
              </a:rPr>
              <a:t>https://docs.oracle.com/javase/8/docs/api</a:t>
            </a: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Socket</a:t>
            </a:r>
            <a:endParaRPr lang="es-MX" sz="4400" b="0" strike="noStrike" spc="-1">
              <a:latin typeface="Arial"/>
            </a:endParaRPr>
          </a:p>
        </p:txBody>
      </p:sp>
      <p:sp>
        <p:nvSpPr>
          <p:cNvPr id="43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Implementa un socket de flujo del lado del cliente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le llama simplemente socket</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encuentra en el paquete </a:t>
            </a:r>
            <a:r>
              <a:rPr lang="en-US" sz="4200" b="0" strike="noStrike" spc="-1">
                <a:solidFill>
                  <a:srgbClr val="000000"/>
                </a:solidFill>
                <a:latin typeface="MoolBoran"/>
                <a:ea typeface="DejaVu Sans"/>
              </a:rPr>
              <a:t>java.net</a:t>
            </a:r>
            <a:endParaRPr lang="es-MX" sz="4200" b="0" strike="noStrike" spc="-1">
              <a:latin typeface="Arial"/>
            </a:endParaRPr>
          </a:p>
          <a:p>
            <a:pPr>
              <a:lnSpc>
                <a:spcPct val="90000"/>
              </a:lnSpc>
            </a:pPr>
            <a:endParaRPr lang="es-MX" sz="4200" b="0" strike="noStrike" spc="-1">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Constructores principales de Socket</a:t>
            </a:r>
            <a:endParaRPr lang="es-MX" sz="4400" b="0" strike="noStrike" spc="-1">
              <a:latin typeface="Arial"/>
            </a:endParaRPr>
          </a:p>
        </p:txBody>
      </p:sp>
      <p:sp>
        <p:nvSpPr>
          <p:cNvPr id="43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Socket();</a:t>
            </a:r>
            <a:r>
              <a:rPr lang="en-US" sz="2800" b="0" strike="noStrike" spc="-1">
                <a:solidFill>
                  <a:srgbClr val="000000"/>
                </a:solidFill>
                <a:latin typeface="Calibri"/>
                <a:ea typeface="DejaVu Sans"/>
              </a:rPr>
              <a:t> crea un socket de flujo desconectado</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Socket(InetAddress address, int port); </a:t>
            </a:r>
            <a:r>
              <a:rPr lang="en-US" sz="2800" b="0" strike="noStrike" spc="-1">
                <a:solidFill>
                  <a:srgbClr val="000000"/>
                </a:solidFill>
                <a:latin typeface="Calibri"/>
                <a:ea typeface="DejaVu Sans"/>
              </a:rPr>
              <a:t>Crea un socket de flujo y lo conecta a un número de puerto en una IP definida</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Socket(InetAddress address, int port, InetAddress localAddress, int localPort); </a:t>
            </a:r>
            <a:r>
              <a:rPr lang="en-US" sz="2800" b="0" strike="noStrike" spc="-1">
                <a:solidFill>
                  <a:srgbClr val="000000"/>
                </a:solidFill>
                <a:latin typeface="Calibri"/>
                <a:ea typeface="DejaVu Sans"/>
              </a:rPr>
              <a:t>Crea un socket de flujo, ligado a una dirección y puerto local y lo conecta a un número de puerto en una IP definida remota</a:t>
            </a:r>
            <a:endParaRPr lang="es-MX" sz="2800" b="0" strike="noStrike" spc="-1">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34" name="CustomShape 2"/>
          <p:cNvSpPr/>
          <p:nvPr/>
        </p:nvSpPr>
        <p:spPr>
          <a:xfrm>
            <a:off x="838080" y="1825560"/>
            <a:ext cx="10513440" cy="477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bind(SocketAddress bindport)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close()</a:t>
            </a:r>
            <a:endParaRPr lang="es-MX" sz="4000" b="0" strike="noStrike" spc="-1">
              <a:latin typeface="Arial"/>
            </a:endParaRPr>
          </a:p>
          <a:p>
            <a:pPr marL="216000" indent="-214920">
              <a:lnSpc>
                <a:spcPct val="90000"/>
              </a:lnSpc>
              <a:buClr>
                <a:srgbClr val="000000"/>
              </a:buClr>
              <a:buFont typeface="Arial"/>
              <a:buChar char="•"/>
            </a:pPr>
            <a:r>
              <a:rPr lang="en-US" sz="4400" b="0" strike="noStrike" spc="-1">
                <a:solidFill>
                  <a:srgbClr val="000000"/>
                </a:solidFill>
                <a:latin typeface="MoolBoran"/>
                <a:ea typeface="DejaVu Sans"/>
              </a:rPr>
              <a:t>void </a:t>
            </a:r>
            <a:r>
              <a:rPr lang="en-US" sz="4300" b="0" strike="noStrike" spc="-1">
                <a:solidFill>
                  <a:srgbClr val="000000"/>
                </a:solidFill>
                <a:latin typeface="MoolBoran"/>
                <a:ea typeface="DejaVu Sans"/>
              </a:rPr>
              <a:t>connect(SocketAddress dst)</a:t>
            </a:r>
            <a:endParaRPr lang="es-MX" sz="4300" b="0" strike="noStrike" spc="-1">
              <a:latin typeface="Arial"/>
            </a:endParaRPr>
          </a:p>
          <a:p>
            <a:pPr marL="216000" indent="-214920">
              <a:lnSpc>
                <a:spcPct val="90000"/>
              </a:lnSpc>
              <a:buClr>
                <a:srgbClr val="000000"/>
              </a:buClr>
              <a:buFont typeface="Arial"/>
              <a:buChar char="•"/>
            </a:pPr>
            <a:r>
              <a:rPr lang="en-US" sz="4400" b="0" strike="noStrike" spc="-1">
                <a:solidFill>
                  <a:srgbClr val="000000"/>
                </a:solidFill>
                <a:latin typeface="MoolBoran"/>
                <a:ea typeface="DejaVu Sans"/>
              </a:rPr>
              <a:t>void </a:t>
            </a:r>
            <a:r>
              <a:rPr lang="en-US" sz="4300" b="0" strike="noStrike" spc="-1">
                <a:solidFill>
                  <a:srgbClr val="000000"/>
                </a:solidFill>
                <a:latin typeface="MoolBoran"/>
                <a:ea typeface="DejaVu Sans"/>
              </a:rPr>
              <a:t>connect(SocketAddress dst, int t) </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SochetChannel getChannel()</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InetAddress getInetAddress()</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InputStream getInputStream()</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OutputStream getOutputStream()</a:t>
            </a:r>
            <a:endParaRPr lang="es-MX" sz="4300" b="0" strike="noStrike" spc="-1">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3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getKeepAlive()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InetAddress getLocalAddress()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getLocalPort()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getOOBInLine()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getPort()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getReceiveBufferSize()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boolen getReuseAddress()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getSendBufferSize()</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3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getSoLinger()</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getSoTimeout()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getTcpNoDelay()</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isClosed()</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isConnected()</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isInputShutdown()</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isOutputShutdown()</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setKeepAlive(boolean b)</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4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setOOBInline(boolean b)</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setReuseAddress(boolean b)</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setSoLinger(boolean b, int 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setSoTimeout(int 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setTcpNoDelay(boolean b)</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shutdownInput()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shutdownOutput()</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ServerSocket</a:t>
            </a:r>
            <a:endParaRPr lang="es-MX" sz="4400" b="0" strike="noStrike" spc="-1">
              <a:latin typeface="Arial"/>
            </a:endParaRPr>
          </a:p>
        </p:txBody>
      </p:sp>
      <p:sp>
        <p:nvSpPr>
          <p:cNvPr id="44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Implementa un socket de servidor de flujo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instancia de esta clase espera por solicitudes de conexión en la red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encuentra en el paquete </a:t>
            </a:r>
            <a:r>
              <a:rPr lang="en-US" sz="4000" b="0" strike="noStrike" spc="-1">
                <a:solidFill>
                  <a:srgbClr val="000000"/>
                </a:solidFill>
                <a:latin typeface="MoolBoran"/>
                <a:ea typeface="DejaVu Sans"/>
              </a:rPr>
              <a:t>java.net</a:t>
            </a: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Constructores  principales de ServerSocket()</a:t>
            </a:r>
            <a:endParaRPr lang="es-MX" sz="4400" b="0" strike="noStrike" spc="-1">
              <a:latin typeface="Arial"/>
            </a:endParaRPr>
          </a:p>
        </p:txBody>
      </p:sp>
      <p:sp>
        <p:nvSpPr>
          <p:cNvPr id="44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ServerSocket(); </a:t>
            </a:r>
            <a:r>
              <a:rPr lang="en-US" sz="3500" b="0" strike="noStrike" spc="-1">
                <a:solidFill>
                  <a:srgbClr val="000000"/>
                </a:solidFill>
                <a:latin typeface="Calibri"/>
                <a:ea typeface="DejaVu Sans"/>
              </a:rPr>
              <a:t>crea un socket de servidor.</a:t>
            </a:r>
            <a:endParaRPr lang="es-MX" sz="35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ServerSocket(int pto); </a:t>
            </a:r>
            <a:r>
              <a:rPr lang="en-US" sz="3500" b="0" strike="noStrike" spc="-1">
                <a:solidFill>
                  <a:srgbClr val="000000"/>
                </a:solidFill>
                <a:latin typeface="Calibri"/>
                <a:ea typeface="DejaVu Sans"/>
              </a:rPr>
              <a:t>crea un socket  de servidor asociado a un puerto.</a:t>
            </a:r>
            <a:endParaRPr lang="es-MX" sz="35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ServerSocket(int pto, int backlog); </a:t>
            </a:r>
            <a:r>
              <a:rPr lang="en-US" sz="3500" b="0" strike="noStrike" spc="-1">
                <a:solidFill>
                  <a:srgbClr val="000000"/>
                </a:solidFill>
                <a:latin typeface="Calibri"/>
                <a:ea typeface="DejaVu Sans"/>
              </a:rPr>
              <a:t>crea un socket  de servidor ligado a un puerto con una cola de conexiones específica.</a:t>
            </a:r>
            <a:endParaRPr lang="es-MX" sz="3500" b="0" strike="noStrike" spc="-1">
              <a:latin typeface="Arial"/>
            </a:endParaRPr>
          </a:p>
          <a:p>
            <a:pPr marL="216000" indent="-214920">
              <a:lnSpc>
                <a:spcPct val="90000"/>
              </a:lnSpc>
              <a:buClr>
                <a:srgbClr val="000000"/>
              </a:buClr>
              <a:buFont typeface="Arial"/>
              <a:buChar char="•"/>
            </a:pPr>
            <a:r>
              <a:rPr lang="en-US" sz="4700" b="0" strike="noStrike" spc="-1">
                <a:solidFill>
                  <a:srgbClr val="000000"/>
                </a:solidFill>
                <a:latin typeface="MoolBoran"/>
                <a:ea typeface="DejaVu Sans"/>
              </a:rPr>
              <a:t>ServerSocket(int pto, int backlog, InetAddress dir_local); </a:t>
            </a:r>
            <a:r>
              <a:rPr lang="en-US" sz="3500" b="0" strike="noStrike" spc="-1">
                <a:solidFill>
                  <a:srgbClr val="000000"/>
                </a:solidFill>
                <a:latin typeface="Calibri"/>
                <a:ea typeface="DejaVu Sans"/>
              </a:rPr>
              <a:t>crea un socket de servidor ligado a un puerto con una cola de conexiones específica y una dirección IP local.</a:t>
            </a:r>
            <a:endParaRPr lang="es-MX" sz="3500" b="0" strike="noStrike" spc="-1">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ServerSocket</a:t>
            </a:r>
            <a:endParaRPr lang="es-MX" sz="4400" b="0" strike="noStrike" spc="-1">
              <a:latin typeface="Arial"/>
            </a:endParaRPr>
          </a:p>
        </p:txBody>
      </p:sp>
      <p:sp>
        <p:nvSpPr>
          <p:cNvPr id="44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Socket accept()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bind(SocketAddress local)</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close()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InetAddress getInetAddress()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getReceiveBufferSize()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getReuseAddress()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getSoTimeout()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setReuseAddress(boolean b)</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ServerSocket</a:t>
            </a:r>
            <a:endParaRPr lang="es-MX" sz="4400" b="0" strike="noStrike" spc="-1">
              <a:latin typeface="Arial"/>
            </a:endParaRPr>
          </a:p>
        </p:txBody>
      </p:sp>
      <p:sp>
        <p:nvSpPr>
          <p:cNvPr id="44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setSoTimeout(int t)</a:t>
            </a: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 y Bind()</a:t>
            </a:r>
            <a:endParaRPr lang="es-MX" sz="4400" b="0" strike="noStrike" spc="-1">
              <a:latin typeface="Arial"/>
            </a:endParaRPr>
          </a:p>
        </p:txBody>
      </p:sp>
      <p:sp>
        <p:nvSpPr>
          <p:cNvPr id="45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4000" b="0" strike="noStrike" spc="-1">
                <a:solidFill>
                  <a:srgbClr val="000000"/>
                </a:solidFill>
                <a:latin typeface="MoolBoran"/>
                <a:ea typeface="DejaVu Sans"/>
              </a:rPr>
              <a:t>ServerSocket s = new ServerSocket();</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InetSocketAddress dir = new InetSocketAddres(1234);</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s.bind(dir);</a:t>
            </a:r>
            <a:endParaRPr lang="es-MX" sz="4000" b="0" strike="noStrike" spc="-1">
              <a:latin typeface="Arial"/>
            </a:endParaRPr>
          </a:p>
          <a:p>
            <a:pPr>
              <a:lnSpc>
                <a:spcPct val="100000"/>
              </a:lnSpc>
            </a:pPr>
            <a:r>
              <a:rPr lang="en-US" sz="4000" b="0" strike="noStrike" spc="-1">
                <a:solidFill>
                  <a:srgbClr val="000000"/>
                </a:solidFill>
                <a:latin typeface="Calibri"/>
                <a:ea typeface="DejaVu Sans"/>
              </a:rPr>
              <a:t>ó</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ServerSocket s = new ServerSocket(1234);</a:t>
            </a:r>
            <a:endParaRPr lang="es-MX" sz="4000" b="0" strike="noStrike" spc="-1">
              <a:latin typeface="Arial"/>
            </a:endParaRPr>
          </a:p>
          <a:p>
            <a:pPr>
              <a:lnSpc>
                <a:spcPct val="100000"/>
              </a:lnSpc>
            </a:pPr>
            <a:endParaRPr lang="es-MX" sz="4000" b="0" strike="noStrike" spc="-1">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Flujos en java</a:t>
            </a:r>
            <a:endParaRPr lang="es-MX" sz="4400" b="0" strike="noStrike" spc="-1">
              <a:latin typeface="Arial"/>
            </a:endParaRPr>
          </a:p>
        </p:txBody>
      </p:sp>
      <p:sp>
        <p:nvSpPr>
          <p:cNvPr id="45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Paquete </a:t>
            </a:r>
            <a:r>
              <a:rPr lang="en-US" sz="4000" b="0" strike="noStrike" spc="-1">
                <a:solidFill>
                  <a:srgbClr val="000000"/>
                </a:solidFill>
                <a:latin typeface="MoolBoran"/>
                <a:ea typeface="DejaVu Sans"/>
              </a:rPr>
              <a:t>java.io</a:t>
            </a: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Flujos orientados a byte / orientados a carácter</a:t>
            </a:r>
            <a:endParaRPr lang="es-MX" sz="2800" b="0" strike="noStrike" spc="-1">
              <a:latin typeface="Arial"/>
            </a:endParaRPr>
          </a:p>
        </p:txBody>
      </p:sp>
      <p:pic>
        <p:nvPicPr>
          <p:cNvPr id="453" name="Imagen 3"/>
          <p:cNvPicPr/>
          <p:nvPr/>
        </p:nvPicPr>
        <p:blipFill>
          <a:blip r:embed="rId2"/>
          <a:stretch/>
        </p:blipFill>
        <p:spPr>
          <a:xfrm>
            <a:off x="2090880" y="2377080"/>
            <a:ext cx="6179400" cy="740880"/>
          </a:xfrm>
          <a:prstGeom prst="rect">
            <a:avLst/>
          </a:prstGeom>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Flujos orientados a byte</a:t>
            </a:r>
            <a:endParaRPr lang="es-MX" sz="4400" b="0" strike="noStrike" spc="-1">
              <a:latin typeface="Arial"/>
            </a:endParaRPr>
          </a:p>
        </p:txBody>
      </p:sp>
      <p:sp>
        <p:nvSpPr>
          <p:cNvPr id="45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Byte (8bits)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Más primitivos y portables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demás flujos lo usan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Flujo de bajo nivel</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InputStream</a:t>
            </a:r>
            <a:r>
              <a:rPr lang="en-US" sz="2800" b="0" strike="noStrike" spc="-1">
                <a:solidFill>
                  <a:srgbClr val="000000"/>
                </a:solidFill>
                <a:latin typeface="Calibri"/>
                <a:ea typeface="DejaVu Sans"/>
              </a:rPr>
              <a:t> y </a:t>
            </a:r>
            <a:r>
              <a:rPr lang="en-US" sz="4000" b="0" strike="noStrike" spc="-1">
                <a:solidFill>
                  <a:srgbClr val="000000"/>
                </a:solidFill>
                <a:latin typeface="MoolBoran"/>
                <a:ea typeface="DejaVu Sans"/>
              </a:rPr>
              <a:t>OutputStream</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Flujos orientados a carácter</a:t>
            </a:r>
            <a:endParaRPr lang="es-MX" sz="4400" b="0" strike="noStrike" spc="-1">
              <a:latin typeface="Arial"/>
            </a:endParaRPr>
          </a:p>
        </p:txBody>
      </p:sp>
      <p:sp>
        <p:nvSpPr>
          <p:cNvPr id="45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char (16 bits)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Codificación unicode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Ideal para texto plano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Reader y Writer</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8" name="Picture 2"/>
          <p:cNvPicPr/>
          <p:nvPr/>
        </p:nvPicPr>
        <p:blipFill>
          <a:blip r:embed="rId2"/>
          <a:stretch/>
        </p:blipFill>
        <p:spPr>
          <a:xfrm>
            <a:off x="4007880" y="176400"/>
            <a:ext cx="6262560" cy="6460560"/>
          </a:xfrm>
          <a:prstGeom prst="rect">
            <a:avLst/>
          </a:prstGeom>
          <a:ln>
            <a:noFill/>
          </a:ln>
        </p:spPr>
      </p:pic>
      <p:sp>
        <p:nvSpPr>
          <p:cNvPr id="459" name="CustomShape 1"/>
          <p:cNvSpPr/>
          <p:nvPr/>
        </p:nvSpPr>
        <p:spPr>
          <a:xfrm>
            <a:off x="1523880" y="1917000"/>
            <a:ext cx="3968640" cy="264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Diagrama de clases principales</a:t>
            </a:r>
            <a:endParaRPr lang="es-MX" sz="4400" b="0" strike="noStrike" spc="-1">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Lectura y escritura</a:t>
            </a:r>
            <a:endParaRPr lang="es-MX" sz="4400" b="0" strike="noStrike" spc="-1">
              <a:latin typeface="Arial"/>
            </a:endParaRPr>
          </a:p>
        </p:txBody>
      </p:sp>
      <p:sp>
        <p:nvSpPr>
          <p:cNvPr id="46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Abrir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Leer o escribir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Cerrar</a:t>
            </a:r>
            <a:endParaRPr lang="es-MX" sz="2800" b="0" strike="noStrike" spc="-1">
              <a:latin typeface="Arial"/>
            </a:endParaRPr>
          </a:p>
          <a:p>
            <a:pPr>
              <a:lnSpc>
                <a:spcPct val="100000"/>
              </a:lnSpc>
            </a:pPr>
            <a:endParaRPr lang="es-MX" sz="2800" b="0" strike="noStrike" spc="-1">
              <a:latin typeface="Arial"/>
            </a:endParaRPr>
          </a:p>
          <a:p>
            <a:pPr>
              <a:lnSpc>
                <a:spcPct val="100000"/>
              </a:lnSpc>
            </a:pP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Lectura, InputStream</a:t>
            </a:r>
            <a:endParaRPr lang="es-MX" sz="4400" b="0" strike="noStrike" spc="-1">
              <a:latin typeface="Arial"/>
            </a:endParaRPr>
          </a:p>
        </p:txBody>
      </p:sp>
      <p:sp>
        <p:nvSpPr>
          <p:cNvPr id="46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read();</a:t>
            </a:r>
            <a:r>
              <a:rPr lang="en-US" sz="2800" b="0" strike="noStrike" spc="-1">
                <a:solidFill>
                  <a:srgbClr val="000000"/>
                </a:solidFill>
                <a:latin typeface="Calibri"/>
                <a:ea typeface="DejaVu Sans"/>
              </a:rPr>
              <a:t> Lee el próximo byte del flujo representado en un entero. Devuelve -1 si no quedan más datos que leer.  </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read(byte[] b); </a:t>
            </a:r>
            <a:r>
              <a:rPr lang="en-US" sz="2800" b="0" strike="noStrike" spc="-1">
                <a:solidFill>
                  <a:srgbClr val="000000"/>
                </a:solidFill>
                <a:latin typeface="Calibri"/>
                <a:ea typeface="DejaVu Sans"/>
              </a:rPr>
              <a:t>Lee un arreglo de bytes del flujo.  </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read(byte[] b, int off, int tam)</a:t>
            </a:r>
            <a:r>
              <a:rPr lang="en-US" sz="2800" b="0" strike="noStrike" spc="-1">
                <a:solidFill>
                  <a:srgbClr val="000000"/>
                </a:solidFill>
                <a:latin typeface="Calibri"/>
                <a:ea typeface="DejaVu Sans"/>
              </a:rPr>
              <a:t>; Lee un arreglo de bytes del flujo, desde y hasta la posición indicada</a:t>
            </a:r>
            <a:endParaRPr lang="es-MX" sz="2800" b="0" strike="noStrike" spc="-1">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Lectura, Reader</a:t>
            </a:r>
            <a:endParaRPr lang="es-MX" sz="4400" b="0" strike="noStrike" spc="-1">
              <a:latin typeface="Arial"/>
            </a:endParaRPr>
          </a:p>
        </p:txBody>
      </p:sp>
      <p:sp>
        <p:nvSpPr>
          <p:cNvPr id="46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a:t>
            </a:r>
            <a:r>
              <a:rPr lang="en-US" sz="2800" b="1" strike="noStrike" spc="-1">
                <a:solidFill>
                  <a:srgbClr val="000000"/>
                </a:solidFill>
                <a:latin typeface="Calibri"/>
                <a:ea typeface="DejaVu Sans"/>
              </a:rPr>
              <a:t> read() – </a:t>
            </a:r>
            <a:r>
              <a:rPr lang="en-US" sz="2800" b="0" strike="noStrike" spc="-1">
                <a:solidFill>
                  <a:srgbClr val="000000"/>
                </a:solidFill>
                <a:latin typeface="Calibri"/>
                <a:ea typeface="DejaVu Sans"/>
              </a:rPr>
              <a:t>Lee el próximo carácter del flujo representado en un entero. Devuelve -1 si no quedan ms datos que leer.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a:t>
            </a:r>
            <a:r>
              <a:rPr lang="en-US" sz="2800" b="1" strike="noStrike" spc="-1">
                <a:solidFill>
                  <a:srgbClr val="000000"/>
                </a:solidFill>
                <a:latin typeface="Calibri"/>
                <a:ea typeface="DejaVu Sans"/>
              </a:rPr>
              <a:t> read(</a:t>
            </a:r>
            <a:r>
              <a:rPr lang="en-US" sz="2800" b="0" i="1" strike="noStrike" spc="-1">
                <a:solidFill>
                  <a:srgbClr val="000000"/>
                </a:solidFill>
                <a:latin typeface="Calibri"/>
                <a:ea typeface="DejaVu Sans"/>
              </a:rPr>
              <a:t>char[] cbuf</a:t>
            </a:r>
            <a:r>
              <a:rPr lang="en-US" sz="2800" b="1" strike="noStrike" spc="-1">
                <a:solidFill>
                  <a:srgbClr val="000000"/>
                </a:solidFill>
                <a:latin typeface="Calibri"/>
                <a:ea typeface="DejaVu Sans"/>
              </a:rPr>
              <a:t>) – </a:t>
            </a:r>
            <a:r>
              <a:rPr lang="en-US" sz="2800" b="0" strike="noStrike" spc="-1">
                <a:solidFill>
                  <a:srgbClr val="000000"/>
                </a:solidFill>
                <a:latin typeface="Calibri"/>
                <a:ea typeface="DejaVu Sans"/>
              </a:rPr>
              <a:t>Lee un arreglo de caracteres del flujo.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 </a:t>
            </a:r>
            <a:r>
              <a:rPr lang="en-US" sz="2800" b="1" strike="noStrike" spc="-1">
                <a:solidFill>
                  <a:srgbClr val="000000"/>
                </a:solidFill>
                <a:latin typeface="Calibri"/>
                <a:ea typeface="DejaVu Sans"/>
              </a:rPr>
              <a:t>read(</a:t>
            </a:r>
            <a:r>
              <a:rPr lang="en-US" sz="2800" b="0" i="1" strike="noStrike" spc="-1">
                <a:solidFill>
                  <a:srgbClr val="000000"/>
                </a:solidFill>
                <a:latin typeface="Calibri"/>
                <a:ea typeface="DejaVu Sans"/>
              </a:rPr>
              <a:t>char[] cbuf, int off, int len</a:t>
            </a:r>
            <a:r>
              <a:rPr lang="en-US" sz="2800" b="1" strike="noStrike" spc="-1">
                <a:solidFill>
                  <a:srgbClr val="000000"/>
                </a:solidFill>
                <a:latin typeface="Calibri"/>
                <a:ea typeface="DejaVu Sans"/>
              </a:rPr>
              <a:t>) – </a:t>
            </a:r>
            <a:r>
              <a:rPr lang="en-US" sz="2800" b="0" strike="noStrike" spc="-1">
                <a:solidFill>
                  <a:srgbClr val="000000"/>
                </a:solidFill>
                <a:latin typeface="Calibri"/>
                <a:ea typeface="DejaVu Sans"/>
              </a:rPr>
              <a:t>Lee un arreglo de caracteres del flujo, desde y hasta la posición indicada.</a:t>
            </a:r>
            <a:endParaRPr lang="es-MX" sz="2800" b="0" strike="noStrike" spc="-1">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Escritura, OutputStream</a:t>
            </a:r>
            <a:endParaRPr lang="es-MX" sz="4400" b="0" strike="noStrike" spc="-1">
              <a:latin typeface="Arial"/>
            </a:endParaRPr>
          </a:p>
        </p:txBody>
      </p:sp>
      <p:sp>
        <p:nvSpPr>
          <p:cNvPr id="46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write(int b);</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solo byte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write(byte[] b);</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arreglo de bytes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write(byte[] b, int off, int len);</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una porción de un arreglo de bytes en el flujo.</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Escritura, Writer</a:t>
            </a:r>
            <a:endParaRPr lang="es-MX" sz="4400" b="0" strike="noStrike" spc="-1">
              <a:latin typeface="Arial"/>
            </a:endParaRPr>
          </a:p>
        </p:txBody>
      </p:sp>
      <p:sp>
        <p:nvSpPr>
          <p:cNvPr id="46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write(int c);</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solo carácter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write(char[] cbuf);</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arreglo de caracteres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write(char[] cbuf, int off, int len);</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una porción de un arreglo de caracteres en el flujo</a:t>
            </a: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Entrada y salida estándar</a:t>
            </a:r>
            <a:endParaRPr lang="es-MX" sz="4400" b="0" strike="noStrike" spc="-1">
              <a:latin typeface="Arial"/>
            </a:endParaRPr>
          </a:p>
        </p:txBody>
      </p:sp>
      <p:sp>
        <p:nvSpPr>
          <p:cNvPr id="47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Clase </a:t>
            </a:r>
            <a:r>
              <a:rPr lang="en-US" sz="4300" b="0" strike="noStrike" spc="-1">
                <a:solidFill>
                  <a:srgbClr val="000000"/>
                </a:solidFill>
                <a:latin typeface="MoolBoran"/>
                <a:ea typeface="DejaVu Sans"/>
              </a:rPr>
              <a:t>System</a:t>
            </a:r>
            <a:r>
              <a:rPr lang="en-US" sz="2800" b="0" strike="noStrike" spc="-1">
                <a:solidFill>
                  <a:srgbClr val="000000"/>
                </a:solidFill>
                <a:latin typeface="Calibri"/>
                <a:ea typeface="DejaVu Sans"/>
              </a:rPr>
              <a:t> dentro de </a:t>
            </a:r>
            <a:r>
              <a:rPr lang="en-US" sz="4300" b="0" strike="noStrike" spc="-1">
                <a:solidFill>
                  <a:srgbClr val="000000"/>
                </a:solidFill>
                <a:latin typeface="MoolBoran"/>
                <a:ea typeface="DejaVu Sans"/>
              </a:rPr>
              <a:t>java.lang</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InputStream in (InputStream); </a:t>
            </a:r>
            <a:r>
              <a:rPr lang="en-US" sz="2800" b="0" strike="noStrike" spc="-1">
                <a:solidFill>
                  <a:srgbClr val="000000"/>
                </a:solidFill>
                <a:latin typeface="Calibri"/>
                <a:ea typeface="DejaVu Sans"/>
              </a:rPr>
              <a:t>Flujo de entrada estándar. Típicamente corresponde al teclado.</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PrintStream out (OutputStream);</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Flujo de salida estándar. Típicamente corresponde a la pantalla.</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PrintStream err (OutputStream); </a:t>
            </a:r>
            <a:r>
              <a:rPr lang="en-US" sz="2800" b="0" strike="noStrike" spc="-1">
                <a:solidFill>
                  <a:srgbClr val="000000"/>
                </a:solidFill>
                <a:latin typeface="Calibri"/>
                <a:ea typeface="DejaVu Sans"/>
              </a:rPr>
              <a:t>Flujo de salida estándar de errores. Típicamente corresponde a la pantalla.</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Pueden ser redirigidos</a:t>
            </a:r>
            <a:endParaRPr lang="es-MX" sz="2800" b="0" strike="noStrike" spc="-1">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47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Realizar una aplicación con una arquitectura cliente/servidor en java con sockets bloqueantes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cliente se conecta con el servidor y recibe un mensaje</a:t>
            </a:r>
            <a:endParaRPr lang="es-MX" sz="2800" b="0" strike="noStrike" spc="-1">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CustomShape 1"/>
          <p:cNvSpPr/>
          <p:nvPr/>
        </p:nvSpPr>
        <p:spPr>
          <a:xfrm>
            <a:off x="8398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Programa de eco</a:t>
            </a:r>
            <a:endParaRPr lang="es-MX" sz="4400" b="0" strike="noStrike" spc="-1">
              <a:latin typeface="Arial"/>
            </a:endParaRPr>
          </a:p>
        </p:txBody>
      </p:sp>
      <p:sp>
        <p:nvSpPr>
          <p:cNvPr id="475" name="CustomShape 2"/>
          <p:cNvSpPr/>
          <p:nvPr/>
        </p:nvSpPr>
        <p:spPr>
          <a:xfrm>
            <a:off x="839880" y="1681200"/>
            <a:ext cx="515556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2400" b="1" strike="noStrike" spc="-1">
                <a:solidFill>
                  <a:srgbClr val="000000"/>
                </a:solidFill>
                <a:latin typeface="Calibri"/>
                <a:ea typeface="DejaVu Sans"/>
              </a:rPr>
              <a:t>Cliente</a:t>
            </a:r>
            <a:endParaRPr lang="es-MX" sz="2400" b="0" strike="noStrike" spc="-1">
              <a:latin typeface="Arial"/>
            </a:endParaRPr>
          </a:p>
        </p:txBody>
      </p:sp>
      <p:sp>
        <p:nvSpPr>
          <p:cNvPr id="476" name="CustomShape 3"/>
          <p:cNvSpPr/>
          <p:nvPr/>
        </p:nvSpPr>
        <p:spPr>
          <a:xfrm>
            <a:off x="6172200" y="1681200"/>
            <a:ext cx="518112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2400" b="1" strike="noStrike" spc="-1">
                <a:solidFill>
                  <a:srgbClr val="000000"/>
                </a:solidFill>
                <a:latin typeface="Calibri"/>
                <a:ea typeface="DejaVu Sans"/>
              </a:rPr>
              <a:t>Servidor</a:t>
            </a:r>
            <a:endParaRPr lang="es-MX" sz="2400" b="0" strike="noStrike" spc="-1">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2: envío de archivos</a:t>
            </a:r>
            <a:endParaRPr lang="es-MX" sz="4400" b="0" strike="noStrike" spc="-1">
              <a:latin typeface="Arial"/>
            </a:endParaRPr>
          </a:p>
        </p:txBody>
      </p:sp>
      <p:sp>
        <p:nvSpPr>
          <p:cNvPr id="47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Crear una aplicación para el envío de un archivo desde el cliente al servidor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usará un socket orientado a conexión bloqueante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archivos podrán ser de texto o binarios</a:t>
            </a:r>
            <a:endParaRPr lang="es-MX" sz="2800" b="0" strike="noStrike" spc="-1">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Tarea</a:t>
            </a:r>
            <a:endParaRPr lang="es-MX" sz="4400" b="0" strike="noStrike" spc="-1">
              <a:latin typeface="Arial"/>
            </a:endParaRPr>
          </a:p>
        </p:txBody>
      </p:sp>
      <p:sp>
        <p:nvSpPr>
          <p:cNvPr id="48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Modificar el archivo anterior para que permita el envío de múltiples archivos</a:t>
            </a:r>
            <a:endParaRPr lang="es-MX" sz="2800" b="0" strike="noStrike" spc="-1">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Sockets de Datagrama</a:t>
            </a:r>
            <a:endParaRPr lang="es-MX" sz="4400" b="0" strike="noStrike" spc="-1">
              <a:latin typeface="Arial"/>
            </a:endParaRPr>
          </a:p>
        </p:txBody>
      </p:sp>
      <p:sp>
        <p:nvSpPr>
          <p:cNvPr id="482" name="CustomShape 2"/>
          <p:cNvSpPr/>
          <p:nvPr/>
        </p:nvSpPr>
        <p:spPr>
          <a:xfrm>
            <a:off x="609480" y="2202480"/>
            <a:ext cx="10971000" cy="2896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java.net.DatagramPacket</a:t>
            </a:r>
            <a:endParaRPr lang="es-MX" sz="2800" b="0" strike="noStrike" spc="-1">
              <a:latin typeface="Arial"/>
            </a:endParaRPr>
          </a:p>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java.net.DatagramSocket</a:t>
            </a:r>
            <a:endParaRPr lang="es-MX" sz="2800" b="0" strike="noStrike" spc="-1">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java.net.DatagramPacket</a:t>
            </a:r>
            <a:endParaRPr lang="es-MX" sz="4400" b="0" strike="noStrike" spc="-1">
              <a:latin typeface="Arial"/>
            </a:endParaRPr>
          </a:p>
        </p:txBody>
      </p:sp>
      <p:sp>
        <p:nvSpPr>
          <p:cNvPr id="484"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Constructores:</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DatagramPacket(byte[ ] buf, int length)</a:t>
            </a:r>
            <a:endParaRPr lang="es-MX" sz="2400" b="0" strike="noStrike" spc="-1">
              <a:latin typeface="Arial"/>
            </a:endParaRPr>
          </a:p>
          <a:p>
            <a:pPr marL="228600" indent="-22716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DatagramPacket(byte[ ] buf, int length, InetAddress address, int port)</a:t>
            </a:r>
            <a:endParaRPr lang="es-MX" sz="2400" b="0" strike="noStrike" spc="-1">
              <a:latin typeface="Arial"/>
            </a:endParaRPr>
          </a:p>
          <a:p>
            <a:pPr marL="228600" indent="-22716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DatagramPacket(byte[ ] buf, int length, SocketAddress address)</a:t>
            </a: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java.net.DatagramPacket</a:t>
            </a:r>
            <a:endParaRPr lang="es-MX" sz="4400" b="0" strike="noStrike" spc="-1">
              <a:latin typeface="Arial"/>
            </a:endParaRPr>
          </a:p>
        </p:txBody>
      </p:sp>
      <p:sp>
        <p:nvSpPr>
          <p:cNvPr id="486" name="CustomShape 2"/>
          <p:cNvSpPr/>
          <p:nvPr/>
        </p:nvSpPr>
        <p:spPr>
          <a:xfrm>
            <a:off x="609480" y="16902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dirty="0" err="1">
                <a:solidFill>
                  <a:srgbClr val="000000"/>
                </a:solidFill>
                <a:latin typeface="Arial"/>
                <a:ea typeface="DejaVu Sans"/>
              </a:rPr>
              <a:t>Métodos</a:t>
            </a:r>
            <a:r>
              <a:rPr lang="en-US" sz="2800" b="0" strike="noStrike" spc="-1" dirty="0">
                <a:solidFill>
                  <a:srgbClr val="000000"/>
                </a:solidFill>
                <a:latin typeface="Arial"/>
                <a:ea typeface="DejaVu Sans"/>
              </a:rPr>
              <a:t>:</a:t>
            </a:r>
            <a:endParaRPr lang="es-MX" sz="28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InetAddress</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getAddress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byte[ ]	</a:t>
            </a:r>
            <a:r>
              <a:rPr lang="en-US" sz="2400" b="0" strike="noStrike" spc="-1" dirty="0" err="1">
                <a:solidFill>
                  <a:srgbClr val="000000"/>
                </a:solidFill>
                <a:latin typeface="Arial"/>
                <a:ea typeface="DejaVu Sans"/>
              </a:rPr>
              <a:t>getData</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getLength</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getPort</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SocketAddress</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getSocketAddress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setAddress</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InetAddress</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iaddr</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setData</a:t>
            </a:r>
            <a:r>
              <a:rPr lang="en-US" sz="2400" b="0" strike="noStrike" spc="-1" dirty="0">
                <a:solidFill>
                  <a:srgbClr val="000000"/>
                </a:solidFill>
                <a:latin typeface="Arial"/>
                <a:ea typeface="DejaVu Sans"/>
              </a:rPr>
              <a:t>(byte[ ] </a:t>
            </a:r>
            <a:r>
              <a:rPr lang="en-US" sz="2400" b="0" strike="noStrike" spc="-1" dirty="0" err="1">
                <a:solidFill>
                  <a:srgbClr val="000000"/>
                </a:solidFill>
                <a:latin typeface="Arial"/>
                <a:ea typeface="DejaVu Sans"/>
              </a:rPr>
              <a:t>buf</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setLength</a:t>
            </a:r>
            <a:r>
              <a:rPr lang="en-US" sz="2400" b="0" strike="noStrike" spc="-1" dirty="0">
                <a:solidFill>
                  <a:srgbClr val="000000"/>
                </a:solidFill>
                <a:latin typeface="Arial"/>
                <a:ea typeface="DejaVu Sans"/>
              </a:rPr>
              <a:t>(int length)</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setPort</a:t>
            </a: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iport</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setSocketAddress</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SocketAddress</a:t>
            </a:r>
            <a:r>
              <a:rPr lang="en-US" sz="2400" b="0" strike="noStrike" spc="-1" dirty="0">
                <a:solidFill>
                  <a:srgbClr val="000000"/>
                </a:solidFill>
                <a:latin typeface="Arial"/>
                <a:ea typeface="DejaVu Sans"/>
              </a:rPr>
              <a:t> address)</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88"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Constructores:</a:t>
            </a:r>
            <a:endParaRPr lang="es-MX" sz="28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DatagramSocket(int 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DatagramSocket(int port, InetAddress laddr)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DatagramSocket(SocketAddress bindaddr)</a:t>
            </a:r>
            <a:endParaRPr lang="es-MX" sz="2400" b="0" strike="noStrike" spc="-1">
              <a:latin typeface="Arial"/>
            </a:endParaRPr>
          </a:p>
          <a:p>
            <a:pPr>
              <a:lnSpc>
                <a:spcPct val="90000"/>
              </a:lnSpc>
              <a:spcBef>
                <a:spcPts val="1001"/>
              </a:spcBef>
            </a:pPr>
            <a:endParaRPr lang="es-MX" sz="2400" b="0" strike="noStrike" spc="-1">
              <a:latin typeface="Arial"/>
            </a:endParaRPr>
          </a:p>
          <a:p>
            <a:pPr>
              <a:lnSpc>
                <a:spcPct val="90000"/>
              </a:lnSpc>
              <a:spcBef>
                <a:spcPts val="1001"/>
              </a:spcBef>
            </a:pP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90"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Métodos:</a:t>
            </a:r>
            <a:endParaRPr lang="es-MX" sz="28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bind(SocketAddress 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close()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connect(InetAddress address, int 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disconnect()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boolean	getBroadcast()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DatagramChannel	getChannel()</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InetAddress	getInetAddress()</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InetAddress	getLocalAddress()</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getLocalPort()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getReceiveBufferSize()</a:t>
            </a:r>
            <a:endParaRPr lang="es-MX" sz="2400" b="0" strike="noStrike" spc="-1">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92" name="CustomShape 2"/>
          <p:cNvSpPr/>
          <p:nvPr/>
        </p:nvSpPr>
        <p:spPr>
          <a:xfrm>
            <a:off x="609480" y="1597925"/>
            <a:ext cx="61758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dirty="0" err="1">
                <a:solidFill>
                  <a:srgbClr val="000000"/>
                </a:solidFill>
                <a:latin typeface="Arial"/>
                <a:ea typeface="DejaVu Sans"/>
              </a:rPr>
              <a:t>Métodos</a:t>
            </a:r>
            <a:r>
              <a:rPr lang="en-US" sz="2800" b="0" strike="noStrike" spc="-1" dirty="0">
                <a:solidFill>
                  <a:srgbClr val="000000"/>
                </a:solidFill>
                <a:latin typeface="Arial"/>
                <a:ea typeface="DejaVu Sans"/>
              </a:rPr>
              <a:t>:</a:t>
            </a:r>
            <a:endParaRPr lang="es-MX" sz="28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getReuseAddress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getSendBufferSize</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getSoTimeout</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getTrafficClass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isBound</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isClosed</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isConnected</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receive(</a:t>
            </a:r>
            <a:r>
              <a:rPr lang="en-US" sz="2400" b="0" strike="noStrike" spc="-1" dirty="0" err="1">
                <a:solidFill>
                  <a:srgbClr val="000000"/>
                </a:solidFill>
                <a:latin typeface="Arial"/>
                <a:ea typeface="DejaVu Sans"/>
              </a:rPr>
              <a:t>DatagramPacket</a:t>
            </a:r>
            <a:r>
              <a:rPr lang="en-US" sz="2400" b="0" strike="noStrike" spc="-1" dirty="0">
                <a:solidFill>
                  <a:srgbClr val="000000"/>
                </a:solidFill>
                <a:latin typeface="Arial"/>
                <a:ea typeface="DejaVu Sans"/>
              </a:rPr>
              <a:t> p)</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send(</a:t>
            </a:r>
            <a:r>
              <a:rPr lang="en-US" sz="2400" b="0" strike="noStrike" spc="-1" dirty="0" err="1">
                <a:solidFill>
                  <a:srgbClr val="000000"/>
                </a:solidFill>
                <a:latin typeface="Arial"/>
                <a:ea typeface="DejaVu Sans"/>
              </a:rPr>
              <a:t>DatagramPacket</a:t>
            </a:r>
            <a:r>
              <a:rPr lang="en-US" sz="2400" b="0" strike="noStrike" spc="-1" dirty="0">
                <a:solidFill>
                  <a:srgbClr val="000000"/>
                </a:solidFill>
                <a:latin typeface="Arial"/>
                <a:ea typeface="DejaVu Sans"/>
              </a:rPr>
              <a:t> p)</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setBroadcast</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on)</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setReceiveBufferSize</a:t>
            </a:r>
            <a:r>
              <a:rPr lang="en-US" sz="2400" b="0" strike="noStrike" spc="-1" dirty="0">
                <a:solidFill>
                  <a:srgbClr val="000000"/>
                </a:solidFill>
                <a:latin typeface="Arial"/>
                <a:ea typeface="DejaVu Sans"/>
              </a:rPr>
              <a:t>(int size)</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
        <p:nvSpPr>
          <p:cNvPr id="493" name="CustomShape 3"/>
          <p:cNvSpPr/>
          <p:nvPr/>
        </p:nvSpPr>
        <p:spPr>
          <a:xfrm>
            <a:off x="5489640" y="2693160"/>
            <a:ext cx="3307320" cy="1186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IPTOS_LOWCOST (0x02)</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IPTOS_RELIABILITY (0x04)</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IPTOS_THROUGHPUT (0x08)</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IPTOS_LOWDELAY (0x10)</a:t>
            </a:r>
            <a:endParaRPr lang="es-MX" sz="1800" b="0" strike="noStrike" spc="-1">
              <a:latin typeface="Arial"/>
            </a:endParaRPr>
          </a:p>
        </p:txBody>
      </p:sp>
      <p:sp>
        <p:nvSpPr>
          <p:cNvPr id="494" name="CustomShape 4"/>
          <p:cNvSpPr/>
          <p:nvPr/>
        </p:nvSpPr>
        <p:spPr>
          <a:xfrm>
            <a:off x="5024160" y="2638080"/>
            <a:ext cx="446400" cy="1484640"/>
          </a:xfrm>
          <a:prstGeom prst="leftBrace">
            <a:avLst>
              <a:gd name="adj1" fmla="val 8333"/>
              <a:gd name="adj2" fmla="val 50000"/>
            </a:avLst>
          </a:prstGeom>
          <a:noFill/>
          <a:ln>
            <a:solidFill>
              <a:srgbClr val="4A7EBB"/>
            </a:solidFill>
            <a:round/>
          </a:ln>
        </p:spPr>
        <p:style>
          <a:lnRef idx="1">
            <a:schemeClr val="accent1"/>
          </a:lnRef>
          <a:fillRef idx="0">
            <a:schemeClr val="accent1"/>
          </a:fillRef>
          <a:effectRef idx="0">
            <a:schemeClr val="accent1"/>
          </a:effectRef>
          <a:fontRef idx="minor"/>
        </p:style>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96"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dirty="0" err="1">
                <a:solidFill>
                  <a:srgbClr val="000000"/>
                </a:solidFill>
                <a:latin typeface="Arial"/>
                <a:ea typeface="DejaVu Sans"/>
              </a:rPr>
              <a:t>Métodos</a:t>
            </a:r>
            <a:r>
              <a:rPr lang="en-US" sz="2800" b="0" strike="noStrike" spc="-1" dirty="0">
                <a:solidFill>
                  <a:srgbClr val="000000"/>
                </a:solidFill>
                <a:latin typeface="Arial"/>
                <a:ea typeface="DejaVu Sans"/>
              </a:rPr>
              <a:t>:</a:t>
            </a:r>
            <a:endParaRPr lang="es-MX" sz="2800" b="0" strike="noStrike" spc="-1" dirty="0">
              <a:latin typeface="Arial"/>
            </a:endParaRPr>
          </a:p>
          <a:p>
            <a:pPr>
              <a:lnSpc>
                <a:spcPct val="90000"/>
              </a:lnSpc>
              <a:spcBef>
                <a:spcPts val="1001"/>
              </a:spcBef>
            </a:pPr>
            <a:endParaRPr lang="es-MX" sz="28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setReuseAddress</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on)</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setSendBufferSize</a:t>
            </a:r>
            <a:r>
              <a:rPr lang="en-US" sz="2400" b="0" strike="noStrike" spc="-1" dirty="0">
                <a:solidFill>
                  <a:srgbClr val="000000"/>
                </a:solidFill>
                <a:latin typeface="Arial"/>
                <a:ea typeface="DejaVu Sans"/>
              </a:rPr>
              <a:t>(int size)</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setSoTimeout</a:t>
            </a:r>
            <a:r>
              <a:rPr lang="en-US" sz="2400" b="0" strike="noStrike" spc="-1" dirty="0">
                <a:solidFill>
                  <a:srgbClr val="000000"/>
                </a:solidFill>
                <a:latin typeface="Arial"/>
                <a:ea typeface="DejaVu Sans"/>
              </a:rPr>
              <a:t>(int timeout)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setTrafficClass</a:t>
            </a: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tc</a:t>
            </a:r>
            <a:r>
              <a:rPr lang="en-US" sz="2400" b="0" strike="noStrike" spc="-1" dirty="0">
                <a:solidFill>
                  <a:srgbClr val="000000"/>
                </a:solidFill>
                <a:latin typeface="Arial"/>
                <a:ea typeface="DejaVu Sans"/>
              </a:rPr>
              <a:t>)</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
        <p:nvSpPr>
          <p:cNvPr id="497" name="CustomShape 3"/>
          <p:cNvSpPr/>
          <p:nvPr/>
        </p:nvSpPr>
        <p:spPr>
          <a:xfrm>
            <a:off x="6461280" y="3493080"/>
            <a:ext cx="3307320" cy="1186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IPTOS_LOWCOST (0x02)</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IPTOS_RELIABILITY (0x04)</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IPTOS_THROUGHPUT (0x08)</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IPTOS_LOWDELAY (0x10)</a:t>
            </a:r>
            <a:endParaRPr lang="es-MX" sz="1800" b="0" strike="noStrike" spc="-1">
              <a:latin typeface="Arial"/>
            </a:endParaRPr>
          </a:p>
        </p:txBody>
      </p:sp>
      <p:sp>
        <p:nvSpPr>
          <p:cNvPr id="498" name="CustomShape 4"/>
          <p:cNvSpPr/>
          <p:nvPr/>
        </p:nvSpPr>
        <p:spPr>
          <a:xfrm>
            <a:off x="5995800" y="3438360"/>
            <a:ext cx="446400" cy="1484640"/>
          </a:xfrm>
          <a:prstGeom prst="leftBrace">
            <a:avLst>
              <a:gd name="adj1" fmla="val 8333"/>
              <a:gd name="adj2" fmla="val 50000"/>
            </a:avLst>
          </a:prstGeom>
          <a:noFill/>
          <a:ln>
            <a:solidFill>
              <a:srgbClr val="4A7EBB"/>
            </a:solidFill>
            <a:round/>
          </a:ln>
        </p:spPr>
        <p:style>
          <a:lnRef idx="1">
            <a:schemeClr val="accent1"/>
          </a:lnRef>
          <a:fillRef idx="0">
            <a:schemeClr val="accent1"/>
          </a:fillRef>
          <a:effectRef idx="0">
            <a:schemeClr val="accent1"/>
          </a:effectRef>
          <a:fontRef idx="minor"/>
        </p:style>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Ejemplo</a:t>
            </a:r>
            <a:endParaRPr lang="es-MX" sz="4400" b="0" strike="noStrike" spc="-1">
              <a:latin typeface="Arial"/>
            </a:endParaRPr>
          </a:p>
        </p:txBody>
      </p:sp>
      <p:sp>
        <p:nvSpPr>
          <p:cNvPr id="500" name="CustomShape 2"/>
          <p:cNvSpPr/>
          <p:nvPr/>
        </p:nvSpPr>
        <p:spPr>
          <a:xfrm>
            <a:off x="609480" y="1888200"/>
            <a:ext cx="10971000" cy="2896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Eco Datagrama</a:t>
            </a:r>
            <a:endParaRPr lang="es-MX" sz="2800" b="0" strike="noStrike" spc="-1">
              <a:latin typeface="Arial"/>
            </a:endParaRPr>
          </a:p>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Tarea: Envío de archivos en datagrama</a:t>
            </a:r>
            <a:endParaRPr lang="es-MX" sz="2800" b="0" strike="noStrike" spc="-1">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3279775" y="623888"/>
            <a:ext cx="8912225" cy="1281112"/>
          </a:xfrm>
        </p:spPr>
        <p:txBody>
          <a:bodyPr>
            <a:normAutofit/>
          </a:bodyPr>
          <a:lstStyle/>
          <a:p>
            <a:r>
              <a:rPr lang="es-ES" sz="2800" b="1" dirty="0"/>
              <a:t>IGMP (Protocolo de Gestión de Grupos de Internet, </a:t>
            </a:r>
            <a:r>
              <a:rPr lang="es-ES" sz="2800" b="1" i="1" dirty="0"/>
              <a:t>Internet </a:t>
            </a:r>
            <a:r>
              <a:rPr lang="es-ES" sz="2800" b="1" i="1" dirty="0" err="1"/>
              <a:t>Group</a:t>
            </a:r>
            <a:r>
              <a:rPr lang="es-ES" sz="2800" b="1" i="1" dirty="0"/>
              <a:t> Management </a:t>
            </a:r>
            <a:r>
              <a:rPr lang="es-ES" sz="2800" b="1" i="1" dirty="0" err="1"/>
              <a:t>Protocol</a:t>
            </a:r>
            <a:r>
              <a:rPr lang="es-ES" sz="2800" b="1" dirty="0"/>
              <a:t>)</a:t>
            </a:r>
            <a:endParaRPr lang="es-MX" sz="2800" b="1" i="1" dirty="0"/>
          </a:p>
        </p:txBody>
      </p:sp>
      <p:sp>
        <p:nvSpPr>
          <p:cNvPr id="3" name="Marcador de contenido 2"/>
          <p:cNvSpPr>
            <a:spLocks noGrp="1"/>
          </p:cNvSpPr>
          <p:nvPr>
            <p:ph idx="4294967295"/>
          </p:nvPr>
        </p:nvSpPr>
        <p:spPr>
          <a:xfrm>
            <a:off x="2946400" y="1905000"/>
            <a:ext cx="9245600" cy="3778250"/>
          </a:xfrm>
        </p:spPr>
        <p:txBody>
          <a:bodyPr>
            <a:normAutofit/>
          </a:bodyPr>
          <a:lstStyle/>
          <a:p>
            <a:pPr marL="363538" indent="-363538"/>
            <a:r>
              <a:rPr lang="es-ES" sz="2000" dirty="0"/>
              <a:t>Protocolo IGMP es utilizado para gestionar la pertenencia a grupos de multidifusión en redes LAN</a:t>
            </a:r>
          </a:p>
          <a:p>
            <a:pPr marL="363538" indent="-363538"/>
            <a:r>
              <a:rPr lang="es-ES" sz="2000" dirty="0"/>
              <a:t>Tiene su especificación en RFC 1112(IGMPv1), 2236(IGMPv2), 3376(IGMPv3)</a:t>
            </a:r>
            <a:endParaRPr lang="es-ES" sz="2000" b="1" dirty="0"/>
          </a:p>
          <a:p>
            <a:pPr marL="363538" indent="-363538"/>
            <a:r>
              <a:rPr lang="es-ES" sz="2000" dirty="0"/>
              <a:t>Este protocolo forma parte de la pila TCP/IP y opera en la capa de red encapsulado dentro de un paquete IP (</a:t>
            </a:r>
            <a:r>
              <a:rPr lang="es-ES" sz="2000" b="1" dirty="0"/>
              <a:t>protocolo=2</a:t>
            </a:r>
            <a:r>
              <a:rPr lang="es-ES" sz="2000" dirty="0"/>
              <a:t>)</a:t>
            </a:r>
            <a:endParaRPr lang="es-MX" sz="2000" dirty="0"/>
          </a:p>
        </p:txBody>
      </p:sp>
      <p:sp>
        <p:nvSpPr>
          <p:cNvPr id="22" name="CuadroTexto 21"/>
          <p:cNvSpPr txBox="1"/>
          <p:nvPr/>
        </p:nvSpPr>
        <p:spPr>
          <a:xfrm>
            <a:off x="6257365" y="4361331"/>
            <a:ext cx="258404" cy="246221"/>
          </a:xfrm>
          <a:prstGeom prst="rect">
            <a:avLst/>
          </a:prstGeom>
          <a:noFill/>
        </p:spPr>
        <p:txBody>
          <a:bodyPr wrap="none" rtlCol="0">
            <a:spAutoFit/>
          </a:bodyPr>
          <a:lstStyle/>
          <a:p>
            <a:r>
              <a:rPr lang="es-ES" sz="1000" b="1" dirty="0">
                <a:solidFill>
                  <a:schemeClr val="bg1"/>
                </a:solidFill>
              </a:rPr>
              <a:t>B</a:t>
            </a:r>
            <a:endParaRPr lang="es-MX" sz="1000" b="1" dirty="0">
              <a:solidFill>
                <a:schemeClr val="bg1"/>
              </a:solidFill>
            </a:endParaRPr>
          </a:p>
        </p:txBody>
      </p:sp>
      <p:pic>
        <p:nvPicPr>
          <p:cNvPr id="3074" name="Picture 2">
            <a:extLst>
              <a:ext uri="{FF2B5EF4-FFF2-40B4-BE49-F238E27FC236}">
                <a16:creationId xmlns:a16="http://schemas.microsoft.com/office/drawing/2014/main" id="{CC67746D-F753-4BF2-A093-7373ACA99D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356" y="3953022"/>
            <a:ext cx="6396018" cy="2646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0869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3279775" y="623888"/>
            <a:ext cx="8912225" cy="655637"/>
          </a:xfrm>
        </p:spPr>
        <p:txBody>
          <a:bodyPr>
            <a:normAutofit/>
          </a:bodyPr>
          <a:lstStyle/>
          <a:p>
            <a:r>
              <a:rPr lang="es-ES" dirty="0"/>
              <a:t>Versiones de IGMP</a:t>
            </a:r>
            <a:endParaRPr lang="es-MX" i="1" dirty="0"/>
          </a:p>
        </p:txBody>
      </p:sp>
      <p:sp>
        <p:nvSpPr>
          <p:cNvPr id="3" name="Marcador de contenido 2"/>
          <p:cNvSpPr>
            <a:spLocks noGrp="1"/>
          </p:cNvSpPr>
          <p:nvPr>
            <p:ph idx="4294967295"/>
          </p:nvPr>
        </p:nvSpPr>
        <p:spPr>
          <a:xfrm>
            <a:off x="2946400" y="1905000"/>
            <a:ext cx="9245600" cy="4538663"/>
          </a:xfrm>
        </p:spPr>
        <p:txBody>
          <a:bodyPr>
            <a:normAutofit fontScale="77500" lnSpcReduction="20000"/>
          </a:bodyPr>
          <a:lstStyle/>
          <a:p>
            <a:pPr marL="363538" indent="-363538"/>
            <a:r>
              <a:rPr lang="es-ES" b="1" dirty="0"/>
              <a:t>IGMPv1 (RFC 1112)</a:t>
            </a:r>
            <a:r>
              <a:rPr lang="es-ES" dirty="0"/>
              <a:t>: </a:t>
            </a:r>
            <a:r>
              <a:rPr lang="es-MX" dirty="0"/>
              <a:t>Los Host pueden unirse a grupos de </a:t>
            </a:r>
            <a:r>
              <a:rPr lang="es-MX" dirty="0" err="1"/>
              <a:t>Multicast</a:t>
            </a:r>
            <a:r>
              <a:rPr lang="es-MX" dirty="0"/>
              <a:t>. </a:t>
            </a:r>
            <a:r>
              <a:rPr lang="es-MX" b="1" dirty="0"/>
              <a:t>No hay mensajes de abandono</a:t>
            </a:r>
            <a:r>
              <a:rPr lang="es-MX" dirty="0"/>
              <a:t> del grupo. Los enrutadores procesan las bajas del grupo usando el mecanismo </a:t>
            </a:r>
            <a:r>
              <a:rPr lang="es-MX" b="1" dirty="0"/>
              <a:t>Time-</a:t>
            </a:r>
            <a:r>
              <a:rPr lang="es-MX" b="1" dirty="0" err="1"/>
              <a:t>out</a:t>
            </a:r>
            <a:r>
              <a:rPr lang="es-MX" dirty="0"/>
              <a:t> (260 </a:t>
            </a:r>
            <a:r>
              <a:rPr lang="es-MX" dirty="0" err="1"/>
              <a:t>seg</a:t>
            </a:r>
            <a:r>
              <a:rPr lang="es-MX" dirty="0"/>
              <a:t>.)para descubrir los host que ya no están interesados en ser miembros.</a:t>
            </a:r>
          </a:p>
          <a:p>
            <a:pPr marL="0" indent="0">
              <a:buNone/>
            </a:pPr>
            <a:endParaRPr lang="es-ES" dirty="0"/>
          </a:p>
          <a:p>
            <a:pPr marL="363538" indent="-363538"/>
            <a:r>
              <a:rPr lang="es-ES" b="1" dirty="0"/>
              <a:t>IGMPv2 (RFC2236)</a:t>
            </a:r>
            <a:r>
              <a:rPr lang="es-ES" dirty="0"/>
              <a:t>: </a:t>
            </a:r>
            <a:r>
              <a:rPr lang="es-MX" dirty="0"/>
              <a:t>Añade la </a:t>
            </a:r>
            <a:r>
              <a:rPr lang="es-MX" b="1" dirty="0"/>
              <a:t>capacidad de abandonar un grupo</a:t>
            </a:r>
            <a:r>
              <a:rPr lang="es-MX" dirty="0"/>
              <a:t> al protocolo, permitiendo a los miembros del grupo abandonar activamente un grupo </a:t>
            </a:r>
            <a:r>
              <a:rPr lang="es-MX" dirty="0" err="1"/>
              <a:t>Multicast</a:t>
            </a:r>
            <a:r>
              <a:rPr lang="es-MX" dirty="0"/>
              <a:t>. </a:t>
            </a:r>
          </a:p>
          <a:p>
            <a:pPr marL="0" indent="0">
              <a:buNone/>
            </a:pPr>
            <a:endParaRPr lang="es-ES" dirty="0"/>
          </a:p>
          <a:p>
            <a:pPr marL="363538" indent="-363538"/>
            <a:r>
              <a:rPr lang="es-ES" b="1" dirty="0"/>
              <a:t>IGMPv3 (RFC 3376)</a:t>
            </a:r>
            <a:r>
              <a:rPr lang="es-ES" dirty="0"/>
              <a:t>: </a:t>
            </a:r>
            <a:r>
              <a:rPr lang="es-MX" dirty="0"/>
              <a:t> introduce la </a:t>
            </a:r>
            <a:r>
              <a:rPr lang="es-MX" b="1" dirty="0"/>
              <a:t>seguridad gracias a las fuentes de multidifusión seleccionables</a:t>
            </a:r>
            <a:r>
              <a:rPr lang="es-MX" dirty="0"/>
              <a:t>. Una revisión mayor del protocolo, que permite a los host especificar el origen deseado de tráfico </a:t>
            </a:r>
            <a:r>
              <a:rPr lang="es-MX" dirty="0" err="1"/>
              <a:t>Multicast</a:t>
            </a:r>
            <a:r>
              <a:rPr lang="es-MX" dirty="0"/>
              <a:t>. El tráfico que viene de otros host es bloqueado. Esto permite a los host bloquear paquetes que vienen desde fuentes que envían tráfico indeseado.</a:t>
            </a:r>
            <a:endParaRPr lang="es-ES" b="1" dirty="0"/>
          </a:p>
        </p:txBody>
      </p:sp>
      <p:sp>
        <p:nvSpPr>
          <p:cNvPr id="22" name="CuadroTexto 21"/>
          <p:cNvSpPr txBox="1"/>
          <p:nvPr/>
        </p:nvSpPr>
        <p:spPr>
          <a:xfrm>
            <a:off x="6257365" y="4361331"/>
            <a:ext cx="258404" cy="246221"/>
          </a:xfrm>
          <a:prstGeom prst="rect">
            <a:avLst/>
          </a:prstGeom>
          <a:noFill/>
        </p:spPr>
        <p:txBody>
          <a:bodyPr wrap="none" rtlCol="0">
            <a:spAutoFit/>
          </a:bodyPr>
          <a:lstStyle/>
          <a:p>
            <a:r>
              <a:rPr lang="es-ES" sz="1000" b="1" dirty="0">
                <a:solidFill>
                  <a:schemeClr val="bg1"/>
                </a:solidFill>
              </a:rPr>
              <a:t>B</a:t>
            </a:r>
            <a:endParaRPr lang="es-MX" sz="1000" b="1" dirty="0">
              <a:solidFill>
                <a:schemeClr val="bg1"/>
              </a:solidFill>
            </a:endParaRPr>
          </a:p>
        </p:txBody>
      </p:sp>
    </p:spTree>
    <p:extLst>
      <p:ext uri="{BB962C8B-B14F-4D97-AF65-F5344CB8AC3E}">
        <p14:creationId xmlns:p14="http://schemas.microsoft.com/office/powerpoint/2010/main" val="29072238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447C4-1523-44B9-822E-3F1B8A6BC713}"/>
              </a:ext>
            </a:extLst>
          </p:cNvPr>
          <p:cNvSpPr>
            <a:spLocks noGrp="1"/>
          </p:cNvSpPr>
          <p:nvPr>
            <p:ph type="title" idx="4294967295"/>
          </p:nvPr>
        </p:nvSpPr>
        <p:spPr>
          <a:xfrm>
            <a:off x="3279775" y="623888"/>
            <a:ext cx="8912225" cy="1281112"/>
          </a:xfrm>
        </p:spPr>
        <p:txBody>
          <a:bodyPr/>
          <a:lstStyle/>
          <a:p>
            <a:r>
              <a:rPr lang="es-MX" dirty="0"/>
              <a:t>Funcionamiento IGMP</a:t>
            </a:r>
          </a:p>
        </p:txBody>
      </p:sp>
      <p:sp>
        <p:nvSpPr>
          <p:cNvPr id="3" name="Marcador de contenido 2">
            <a:extLst>
              <a:ext uri="{FF2B5EF4-FFF2-40B4-BE49-F238E27FC236}">
                <a16:creationId xmlns:a16="http://schemas.microsoft.com/office/drawing/2014/main" id="{92B6A2E6-FFC7-40C9-9E40-0E6AFAD1430A}"/>
              </a:ext>
            </a:extLst>
          </p:cNvPr>
          <p:cNvSpPr>
            <a:spLocks noGrp="1"/>
          </p:cNvSpPr>
          <p:nvPr>
            <p:ph idx="4294967295"/>
          </p:nvPr>
        </p:nvSpPr>
        <p:spPr>
          <a:xfrm>
            <a:off x="3276600" y="2133600"/>
            <a:ext cx="8915400" cy="3778250"/>
          </a:xfrm>
        </p:spPr>
        <p:txBody>
          <a:bodyPr>
            <a:normAutofit/>
          </a:bodyPr>
          <a:lstStyle/>
          <a:p>
            <a:r>
              <a:rPr lang="es-MX" sz="2000" dirty="0"/>
              <a:t>Cuando una aplicación de la capa de aplicación decide transmitir vía </a:t>
            </a:r>
            <a:r>
              <a:rPr lang="es-MX" sz="2000" dirty="0" err="1"/>
              <a:t>multicast</a:t>
            </a:r>
            <a:r>
              <a:rPr lang="es-MX" sz="2000" dirty="0"/>
              <a:t> (UDP, direcciones clase D):</a:t>
            </a:r>
          </a:p>
          <a:p>
            <a:pPr lvl="1"/>
            <a:r>
              <a:rPr lang="es-MX" sz="2000" dirty="0"/>
              <a:t>La dirección IP </a:t>
            </a:r>
            <a:r>
              <a:rPr lang="es-MX" sz="2000" dirty="0" err="1"/>
              <a:t>multicast</a:t>
            </a:r>
            <a:r>
              <a:rPr lang="es-MX" sz="2000" dirty="0"/>
              <a:t> se mapea en una dirección MAC </a:t>
            </a:r>
            <a:r>
              <a:rPr lang="es-MX" sz="2000" dirty="0" err="1"/>
              <a:t>multicast</a:t>
            </a:r>
            <a:r>
              <a:rPr lang="es-MX" sz="2000" dirty="0"/>
              <a:t> y la interfaz de red comienza a escuchar dicha dirección además de su propia dirección MAC</a:t>
            </a:r>
          </a:p>
          <a:p>
            <a:pPr marL="457200" lvl="1" indent="0">
              <a:buNone/>
            </a:pPr>
            <a:r>
              <a:rPr lang="es-MX" sz="2000" dirty="0"/>
              <a:t> </a:t>
            </a:r>
          </a:p>
          <a:p>
            <a:pPr marL="457200" lvl="1" indent="0">
              <a:buNone/>
            </a:pPr>
            <a:r>
              <a:rPr lang="es-MX" sz="2000" dirty="0"/>
              <a:t>Ej. ( 224.1.1.1) →(01:00:5e:01:01:01)</a:t>
            </a:r>
          </a:p>
          <a:p>
            <a:pPr marL="457200" lvl="1" indent="0">
              <a:buNone/>
            </a:pPr>
            <a:endParaRPr lang="es-MX" sz="2000" dirty="0"/>
          </a:p>
          <a:p>
            <a:pPr marL="457200" lvl="1" indent="0">
              <a:buNone/>
            </a:pPr>
            <a:r>
              <a:rPr lang="es-MX" sz="2000" dirty="0"/>
              <a:t>*Distintas direcciones IP </a:t>
            </a:r>
            <a:r>
              <a:rPr lang="es-MX" sz="2000" dirty="0" err="1"/>
              <a:t>multicast</a:t>
            </a:r>
            <a:r>
              <a:rPr lang="es-MX" sz="2000" dirty="0"/>
              <a:t> pueden producir la misma dirección MAC </a:t>
            </a:r>
            <a:r>
              <a:rPr lang="es-MX" sz="2000" dirty="0" err="1"/>
              <a:t>multicast</a:t>
            </a:r>
            <a:endParaRPr lang="es-MX" sz="2000" dirty="0"/>
          </a:p>
          <a:p>
            <a:pPr marL="457200" lvl="1" indent="0">
              <a:buNone/>
            </a:pPr>
            <a:r>
              <a:rPr lang="es-MX" sz="2000" dirty="0"/>
              <a:t>Ej. (230.129.10.10) →(01:00:5e:01:0A:0A)</a:t>
            </a:r>
          </a:p>
          <a:p>
            <a:pPr marL="457200" lvl="1" indent="0">
              <a:buNone/>
            </a:pPr>
            <a:r>
              <a:rPr lang="es-MX" sz="2000" dirty="0"/>
              <a:t>     (225.1.10.10) →(01:00:5e:01:0A:0A)</a:t>
            </a:r>
          </a:p>
        </p:txBody>
      </p:sp>
    </p:spTree>
    <p:extLst>
      <p:ext uri="{BB962C8B-B14F-4D97-AF65-F5344CB8AC3E}">
        <p14:creationId xmlns:p14="http://schemas.microsoft.com/office/powerpoint/2010/main" val="18700592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447C4-1523-44B9-822E-3F1B8A6BC713}"/>
              </a:ext>
            </a:extLst>
          </p:cNvPr>
          <p:cNvSpPr>
            <a:spLocks noGrp="1"/>
          </p:cNvSpPr>
          <p:nvPr>
            <p:ph type="title" idx="4294967295"/>
          </p:nvPr>
        </p:nvSpPr>
        <p:spPr>
          <a:xfrm>
            <a:off x="3279775" y="312738"/>
            <a:ext cx="8912225" cy="1281112"/>
          </a:xfrm>
        </p:spPr>
        <p:txBody>
          <a:bodyPr/>
          <a:lstStyle/>
          <a:p>
            <a:r>
              <a:rPr lang="es-MX" dirty="0"/>
              <a:t>Funcionamiento IGMP</a:t>
            </a:r>
          </a:p>
        </p:txBody>
      </p:sp>
      <p:sp>
        <p:nvSpPr>
          <p:cNvPr id="3" name="Marcador de contenido 2">
            <a:extLst>
              <a:ext uri="{FF2B5EF4-FFF2-40B4-BE49-F238E27FC236}">
                <a16:creationId xmlns:a16="http://schemas.microsoft.com/office/drawing/2014/main" id="{92B6A2E6-FFC7-40C9-9E40-0E6AFAD1430A}"/>
              </a:ext>
            </a:extLst>
          </p:cNvPr>
          <p:cNvSpPr>
            <a:spLocks noGrp="1"/>
          </p:cNvSpPr>
          <p:nvPr>
            <p:ph idx="4294967295"/>
          </p:nvPr>
        </p:nvSpPr>
        <p:spPr>
          <a:xfrm>
            <a:off x="3276600" y="2128838"/>
            <a:ext cx="8915400" cy="3776662"/>
          </a:xfrm>
        </p:spPr>
        <p:txBody>
          <a:bodyPr>
            <a:normAutofit/>
          </a:bodyPr>
          <a:lstStyle/>
          <a:p>
            <a:r>
              <a:rPr lang="es-MX" sz="2400" dirty="0"/>
              <a:t>El host transmite un mensaje de reporte a los enrutadores IGMP cercanos avisando que escuchará la dirección de grupo</a:t>
            </a:r>
          </a:p>
        </p:txBody>
      </p:sp>
      <p:pic>
        <p:nvPicPr>
          <p:cNvPr id="4" name="Picture 11" descr="C:\Users\ecoffey\AppData\Local\Temp\Rar$DRa0.608\30080_Device_switch_default_64.png">
            <a:extLst>
              <a:ext uri="{FF2B5EF4-FFF2-40B4-BE49-F238E27FC236}">
                <a16:creationId xmlns:a16="http://schemas.microsoft.com/office/drawing/2014/main" id="{0C91AE40-9C15-47FA-8815-816658AFF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3388" y="4317064"/>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1" descr="C:\Users\ecoffey\AppData\Local\Temp\Rar$DRa0.608\30080_Device_switch_default_64.png">
            <a:extLst>
              <a:ext uri="{FF2B5EF4-FFF2-40B4-BE49-F238E27FC236}">
                <a16:creationId xmlns:a16="http://schemas.microsoft.com/office/drawing/2014/main" id="{0233494B-B8D6-4856-81D2-F59319E53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0008" y="527968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1" descr="C:\Users\ecoffey\AppData\Local\Temp\Rar$DRa0.608\30080_Device_switch_default_64.png">
            <a:extLst>
              <a:ext uri="{FF2B5EF4-FFF2-40B4-BE49-F238E27FC236}">
                <a16:creationId xmlns:a16="http://schemas.microsoft.com/office/drawing/2014/main" id="{DD72665F-656E-4B89-B077-80A2F4281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2789" y="4286477"/>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1" descr="C:\Users\ecoffey\AppData\Local\Temp\Rar$DRa0.386\30067_Device_router_default_64.png">
            <a:extLst>
              <a:ext uri="{FF2B5EF4-FFF2-40B4-BE49-F238E27FC236}">
                <a16:creationId xmlns:a16="http://schemas.microsoft.com/office/drawing/2014/main" id="{5973E239-814B-4BB6-B67C-F53DBC288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166" y="4135222"/>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cto 8">
            <a:extLst>
              <a:ext uri="{FF2B5EF4-FFF2-40B4-BE49-F238E27FC236}">
                <a16:creationId xmlns:a16="http://schemas.microsoft.com/office/drawing/2014/main" id="{CE6BDE1F-03C3-4A41-A270-622F51D8A927}"/>
              </a:ext>
            </a:extLst>
          </p:cNvPr>
          <p:cNvCxnSpPr>
            <a:stCxn id="4" idx="3"/>
            <a:endCxn id="7" idx="1"/>
          </p:cNvCxnSpPr>
          <p:nvPr/>
        </p:nvCxnSpPr>
        <p:spPr>
          <a:xfrm>
            <a:off x="4571068" y="4560904"/>
            <a:ext cx="101709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C3D40564-760E-41DB-889A-5E4568D32032}"/>
              </a:ext>
            </a:extLst>
          </p:cNvPr>
          <p:cNvCxnSpPr>
            <a:cxnSpLocks/>
            <a:endCxn id="6" idx="1"/>
          </p:cNvCxnSpPr>
          <p:nvPr/>
        </p:nvCxnSpPr>
        <p:spPr>
          <a:xfrm flipV="1">
            <a:off x="6439531" y="4530317"/>
            <a:ext cx="773258" cy="30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A3D7BCCD-2528-4D93-9BFA-A177D60E6BD3}"/>
              </a:ext>
            </a:extLst>
          </p:cNvPr>
          <p:cNvCxnSpPr>
            <a:stCxn id="7" idx="2"/>
            <a:endCxn id="5" idx="0"/>
          </p:cNvCxnSpPr>
          <p:nvPr/>
        </p:nvCxnSpPr>
        <p:spPr>
          <a:xfrm flipH="1">
            <a:off x="6013848" y="4986587"/>
            <a:ext cx="1" cy="293095"/>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1" descr="C:\Users\ecoffey\AppData\Local\Temp\Rar$DRa0.175\30088_Device_terminal_default_64.png">
            <a:extLst>
              <a:ext uri="{FF2B5EF4-FFF2-40B4-BE49-F238E27FC236}">
                <a16:creationId xmlns:a16="http://schemas.microsoft.com/office/drawing/2014/main" id="{D450F530-13DE-4E2E-BD01-44EBA6623E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321312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1" descr="C:\Users\ecoffey\AppData\Local\Temp\Rar$DRa0.175\30088_Device_terminal_default_64.png">
            <a:extLst>
              <a:ext uri="{FF2B5EF4-FFF2-40B4-BE49-F238E27FC236}">
                <a16:creationId xmlns:a16="http://schemas.microsoft.com/office/drawing/2014/main" id="{15D7C041-3214-46FF-BBF0-8015991CAA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4786216"/>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1" descr="C:\Users\ecoffey\AppData\Local\Temp\Rar$DRa0.175\30088_Device_terminal_default_64.png">
            <a:extLst>
              <a:ext uri="{FF2B5EF4-FFF2-40B4-BE49-F238E27FC236}">
                <a16:creationId xmlns:a16="http://schemas.microsoft.com/office/drawing/2014/main" id="{6E9C5263-BD0D-4500-8A4B-81C72C4AC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16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1" descr="C:\Users\ecoffey\AppData\Local\Temp\Rar$DRa0.175\30088_Device_terminal_default_64.png">
            <a:extLst>
              <a:ext uri="{FF2B5EF4-FFF2-40B4-BE49-F238E27FC236}">
                <a16:creationId xmlns:a16="http://schemas.microsoft.com/office/drawing/2014/main" id="{C7EEF728-AA0C-4FAC-97DD-8342D72BC0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768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1" descr="C:\Users\ecoffey\AppData\Local\Temp\Rar$DRa0.386\30067_Device_router_default_64.png">
            <a:extLst>
              <a:ext uri="{FF2B5EF4-FFF2-40B4-BE49-F238E27FC236}">
                <a16:creationId xmlns:a16="http://schemas.microsoft.com/office/drawing/2014/main" id="{26DB026A-BC5D-4422-9EEE-817F31EC0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3292" y="4135221"/>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Conector recto 23">
            <a:extLst>
              <a:ext uri="{FF2B5EF4-FFF2-40B4-BE49-F238E27FC236}">
                <a16:creationId xmlns:a16="http://schemas.microsoft.com/office/drawing/2014/main" id="{89CA4F2A-8EFE-43B6-A7C4-5D46E558E868}"/>
              </a:ext>
            </a:extLst>
          </p:cNvPr>
          <p:cNvCxnSpPr>
            <a:stCxn id="6" idx="3"/>
            <a:endCxn id="22" idx="1"/>
          </p:cNvCxnSpPr>
          <p:nvPr/>
        </p:nvCxnSpPr>
        <p:spPr>
          <a:xfrm>
            <a:off x="7700469" y="4530317"/>
            <a:ext cx="1132823" cy="30587"/>
          </a:xfrm>
          <a:prstGeom prst="line">
            <a:avLst/>
          </a:prstGeom>
        </p:spPr>
        <p:style>
          <a:lnRef idx="1">
            <a:schemeClr val="accent1"/>
          </a:lnRef>
          <a:fillRef idx="0">
            <a:schemeClr val="accent1"/>
          </a:fillRef>
          <a:effectRef idx="0">
            <a:schemeClr val="accent1"/>
          </a:effectRef>
          <a:fontRef idx="minor">
            <a:schemeClr val="tx1"/>
          </a:fontRef>
        </p:style>
      </p:cxnSp>
      <p:pic>
        <p:nvPicPr>
          <p:cNvPr id="26" name="Picture 11" descr="C:\Users\ecoffey\AppData\Local\Temp\Rar$DRa0.608\30080_Device_switch_default_64.png">
            <a:extLst>
              <a:ext uri="{FF2B5EF4-FFF2-40B4-BE49-F238E27FC236}">
                <a16:creationId xmlns:a16="http://schemas.microsoft.com/office/drawing/2014/main" id="{F81F2581-CD9A-4B30-BE56-3167C221C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5134" y="5394746"/>
            <a:ext cx="487680" cy="48768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Conector recto 27">
            <a:extLst>
              <a:ext uri="{FF2B5EF4-FFF2-40B4-BE49-F238E27FC236}">
                <a16:creationId xmlns:a16="http://schemas.microsoft.com/office/drawing/2014/main" id="{9DD7E8B9-4872-4C21-B489-3B585C24D407}"/>
              </a:ext>
            </a:extLst>
          </p:cNvPr>
          <p:cNvCxnSpPr>
            <a:stCxn id="22" idx="2"/>
            <a:endCxn id="26" idx="0"/>
          </p:cNvCxnSpPr>
          <p:nvPr/>
        </p:nvCxnSpPr>
        <p:spPr>
          <a:xfrm flipH="1">
            <a:off x="9258974" y="4986586"/>
            <a:ext cx="1" cy="408160"/>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11" descr="C:\Users\ecoffey\AppData\Local\Temp\Rar$DRa0.175\30088_Device_terminal_default_64.png">
            <a:extLst>
              <a:ext uri="{FF2B5EF4-FFF2-40B4-BE49-F238E27FC236}">
                <a16:creationId xmlns:a16="http://schemas.microsoft.com/office/drawing/2014/main" id="{568131BB-265B-480A-B481-68AB13DFFF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709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1" descr="C:\Users\ecoffey\AppData\Local\Temp\Rar$DRa0.175\30088_Device_terminal_default_64.png">
            <a:extLst>
              <a:ext uri="{FF2B5EF4-FFF2-40B4-BE49-F238E27FC236}">
                <a16:creationId xmlns:a16="http://schemas.microsoft.com/office/drawing/2014/main" id="{5D97B572-CD65-40AB-8072-DDC75CF79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061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A1453053-8C4F-45DE-B135-F6205ADDDC6F}"/>
              </a:ext>
            </a:extLst>
          </p:cNvPr>
          <p:cNvSpPr txBox="1"/>
          <p:nvPr/>
        </p:nvSpPr>
        <p:spPr>
          <a:xfrm>
            <a:off x="2876141" y="3671003"/>
            <a:ext cx="601447" cy="230832"/>
          </a:xfrm>
          <a:prstGeom prst="rect">
            <a:avLst/>
          </a:prstGeom>
          <a:noFill/>
        </p:spPr>
        <p:txBody>
          <a:bodyPr wrap="none" rtlCol="0">
            <a:spAutoFit/>
          </a:bodyPr>
          <a:lstStyle/>
          <a:p>
            <a:r>
              <a:rPr lang="es-MX" sz="900" dirty="0"/>
              <a:t>10.0.0.1</a:t>
            </a:r>
          </a:p>
        </p:txBody>
      </p:sp>
      <p:cxnSp>
        <p:nvCxnSpPr>
          <p:cNvPr id="33" name="Conector recto 32">
            <a:extLst>
              <a:ext uri="{FF2B5EF4-FFF2-40B4-BE49-F238E27FC236}">
                <a16:creationId xmlns:a16="http://schemas.microsoft.com/office/drawing/2014/main" id="{9B491D88-61AD-4BCE-9A39-FB530B7EEF42}"/>
              </a:ext>
            </a:extLst>
          </p:cNvPr>
          <p:cNvCxnSpPr>
            <a:stCxn id="15" idx="3"/>
            <a:endCxn id="4" idx="1"/>
          </p:cNvCxnSpPr>
          <p:nvPr/>
        </p:nvCxnSpPr>
        <p:spPr>
          <a:xfrm>
            <a:off x="3420705" y="3456962"/>
            <a:ext cx="662683" cy="1103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F164D951-4ADE-40EC-8A49-280035BD7C0F}"/>
              </a:ext>
            </a:extLst>
          </p:cNvPr>
          <p:cNvCxnSpPr>
            <a:cxnSpLocks/>
          </p:cNvCxnSpPr>
          <p:nvPr/>
        </p:nvCxnSpPr>
        <p:spPr>
          <a:xfrm flipV="1">
            <a:off x="3420705" y="4560903"/>
            <a:ext cx="662683" cy="469152"/>
          </a:xfrm>
          <a:prstGeom prst="line">
            <a:avLst/>
          </a:prstGeom>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EDFCF7B4-92AE-4162-BE9F-5A316627DA65}"/>
              </a:ext>
            </a:extLst>
          </p:cNvPr>
          <p:cNvSpPr txBox="1"/>
          <p:nvPr/>
        </p:nvSpPr>
        <p:spPr>
          <a:xfrm>
            <a:off x="2922924" y="5241120"/>
            <a:ext cx="601447" cy="230832"/>
          </a:xfrm>
          <a:prstGeom prst="rect">
            <a:avLst/>
          </a:prstGeom>
          <a:noFill/>
        </p:spPr>
        <p:txBody>
          <a:bodyPr wrap="none" rtlCol="0">
            <a:spAutoFit/>
          </a:bodyPr>
          <a:lstStyle/>
          <a:p>
            <a:r>
              <a:rPr lang="es-MX" sz="900" dirty="0"/>
              <a:t>10.0.0.2</a:t>
            </a:r>
          </a:p>
        </p:txBody>
      </p:sp>
      <p:cxnSp>
        <p:nvCxnSpPr>
          <p:cNvPr id="38" name="Conector recto 37">
            <a:extLst>
              <a:ext uri="{FF2B5EF4-FFF2-40B4-BE49-F238E27FC236}">
                <a16:creationId xmlns:a16="http://schemas.microsoft.com/office/drawing/2014/main" id="{FE8042CC-E054-412B-BC28-95BCD217176A}"/>
              </a:ext>
            </a:extLst>
          </p:cNvPr>
          <p:cNvCxnSpPr>
            <a:stCxn id="17" idx="0"/>
            <a:endCxn id="5" idx="2"/>
          </p:cNvCxnSpPr>
          <p:nvPr/>
        </p:nvCxnSpPr>
        <p:spPr>
          <a:xfrm flipV="1">
            <a:off x="5408008" y="5767362"/>
            <a:ext cx="60584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932E9B3B-78FF-48F2-B6EF-4DD19B5759D6}"/>
              </a:ext>
            </a:extLst>
          </p:cNvPr>
          <p:cNvCxnSpPr>
            <a:stCxn id="18" idx="0"/>
            <a:endCxn id="5" idx="2"/>
          </p:cNvCxnSpPr>
          <p:nvPr/>
        </p:nvCxnSpPr>
        <p:spPr>
          <a:xfrm flipH="1" flipV="1">
            <a:off x="6013848" y="5767362"/>
            <a:ext cx="48768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FAACA834-BFDB-40AF-954B-E3DC9EBDCBF9}"/>
              </a:ext>
            </a:extLst>
          </p:cNvPr>
          <p:cNvCxnSpPr>
            <a:stCxn id="29" idx="0"/>
            <a:endCxn id="26" idx="2"/>
          </p:cNvCxnSpPr>
          <p:nvPr/>
        </p:nvCxnSpPr>
        <p:spPr>
          <a:xfrm flipV="1">
            <a:off x="8740932" y="5882426"/>
            <a:ext cx="518042" cy="127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CBC798BB-EC49-4EE6-9C0C-1DDC673B78D3}"/>
              </a:ext>
            </a:extLst>
          </p:cNvPr>
          <p:cNvCxnSpPr>
            <a:stCxn id="30" idx="0"/>
            <a:endCxn id="26" idx="2"/>
          </p:cNvCxnSpPr>
          <p:nvPr/>
        </p:nvCxnSpPr>
        <p:spPr>
          <a:xfrm flipH="1" flipV="1">
            <a:off x="9258974" y="5882426"/>
            <a:ext cx="575478" cy="127504"/>
          </a:xfrm>
          <a:prstGeom prst="line">
            <a:avLst/>
          </a:prstGeom>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0A4C93D3-1A65-4120-AC1C-A2E96064861D}"/>
              </a:ext>
            </a:extLst>
          </p:cNvPr>
          <p:cNvSpPr txBox="1"/>
          <p:nvPr/>
        </p:nvSpPr>
        <p:spPr>
          <a:xfrm>
            <a:off x="5079617" y="6446302"/>
            <a:ext cx="601447" cy="230832"/>
          </a:xfrm>
          <a:prstGeom prst="rect">
            <a:avLst/>
          </a:prstGeom>
          <a:noFill/>
        </p:spPr>
        <p:txBody>
          <a:bodyPr wrap="none" rtlCol="0">
            <a:spAutoFit/>
          </a:bodyPr>
          <a:lstStyle/>
          <a:p>
            <a:r>
              <a:rPr lang="es-MX" sz="900" dirty="0"/>
              <a:t>20.0.0.1</a:t>
            </a:r>
          </a:p>
        </p:txBody>
      </p:sp>
      <p:sp>
        <p:nvSpPr>
          <p:cNvPr id="46" name="CuadroTexto 45">
            <a:extLst>
              <a:ext uri="{FF2B5EF4-FFF2-40B4-BE49-F238E27FC236}">
                <a16:creationId xmlns:a16="http://schemas.microsoft.com/office/drawing/2014/main" id="{4D956DD4-0EB7-41E0-8ED6-12B7437C6EC5}"/>
              </a:ext>
            </a:extLst>
          </p:cNvPr>
          <p:cNvSpPr txBox="1"/>
          <p:nvPr/>
        </p:nvSpPr>
        <p:spPr>
          <a:xfrm>
            <a:off x="6186200" y="6446302"/>
            <a:ext cx="601447" cy="230832"/>
          </a:xfrm>
          <a:prstGeom prst="rect">
            <a:avLst/>
          </a:prstGeom>
          <a:noFill/>
        </p:spPr>
        <p:txBody>
          <a:bodyPr wrap="none" rtlCol="0">
            <a:spAutoFit/>
          </a:bodyPr>
          <a:lstStyle/>
          <a:p>
            <a:r>
              <a:rPr lang="es-MX" sz="900" dirty="0"/>
              <a:t>20.0.0.2</a:t>
            </a:r>
          </a:p>
        </p:txBody>
      </p:sp>
      <p:sp>
        <p:nvSpPr>
          <p:cNvPr id="47" name="CuadroTexto 46">
            <a:extLst>
              <a:ext uri="{FF2B5EF4-FFF2-40B4-BE49-F238E27FC236}">
                <a16:creationId xmlns:a16="http://schemas.microsoft.com/office/drawing/2014/main" id="{789AD15B-C291-493D-81AC-9EC3675AB97D}"/>
              </a:ext>
            </a:extLst>
          </p:cNvPr>
          <p:cNvSpPr txBox="1"/>
          <p:nvPr/>
        </p:nvSpPr>
        <p:spPr>
          <a:xfrm>
            <a:off x="8440208" y="6446302"/>
            <a:ext cx="601447" cy="230832"/>
          </a:xfrm>
          <a:prstGeom prst="rect">
            <a:avLst/>
          </a:prstGeom>
          <a:noFill/>
        </p:spPr>
        <p:txBody>
          <a:bodyPr wrap="none" rtlCol="0">
            <a:spAutoFit/>
          </a:bodyPr>
          <a:lstStyle/>
          <a:p>
            <a:r>
              <a:rPr lang="es-MX" sz="900" dirty="0"/>
              <a:t>30.0.0.1</a:t>
            </a:r>
          </a:p>
        </p:txBody>
      </p:sp>
      <p:sp>
        <p:nvSpPr>
          <p:cNvPr id="48" name="CuadroTexto 47">
            <a:extLst>
              <a:ext uri="{FF2B5EF4-FFF2-40B4-BE49-F238E27FC236}">
                <a16:creationId xmlns:a16="http://schemas.microsoft.com/office/drawing/2014/main" id="{6A215542-8577-469A-8D33-DAC785BB138F}"/>
              </a:ext>
            </a:extLst>
          </p:cNvPr>
          <p:cNvSpPr txBox="1"/>
          <p:nvPr/>
        </p:nvSpPr>
        <p:spPr>
          <a:xfrm>
            <a:off x="9533728" y="6458904"/>
            <a:ext cx="601447" cy="230832"/>
          </a:xfrm>
          <a:prstGeom prst="rect">
            <a:avLst/>
          </a:prstGeom>
          <a:noFill/>
        </p:spPr>
        <p:txBody>
          <a:bodyPr wrap="none" rtlCol="0">
            <a:spAutoFit/>
          </a:bodyPr>
          <a:lstStyle/>
          <a:p>
            <a:r>
              <a:rPr lang="es-MX" sz="900" dirty="0"/>
              <a:t>30.0.0.2</a:t>
            </a:r>
          </a:p>
        </p:txBody>
      </p:sp>
      <p:sp>
        <p:nvSpPr>
          <p:cNvPr id="49" name="CuadroTexto 48">
            <a:extLst>
              <a:ext uri="{FF2B5EF4-FFF2-40B4-BE49-F238E27FC236}">
                <a16:creationId xmlns:a16="http://schemas.microsoft.com/office/drawing/2014/main" id="{54503197-522C-45CC-ACC9-A53480DB1087}"/>
              </a:ext>
            </a:extLst>
          </p:cNvPr>
          <p:cNvSpPr txBox="1"/>
          <p:nvPr/>
        </p:nvSpPr>
        <p:spPr>
          <a:xfrm>
            <a:off x="3025789" y="2929116"/>
            <a:ext cx="292517" cy="307777"/>
          </a:xfrm>
          <a:prstGeom prst="rect">
            <a:avLst/>
          </a:prstGeom>
          <a:noFill/>
        </p:spPr>
        <p:txBody>
          <a:bodyPr wrap="square" rtlCol="0">
            <a:spAutoFit/>
          </a:bodyPr>
          <a:lstStyle/>
          <a:p>
            <a:r>
              <a:rPr lang="es-MX" sz="1400" dirty="0"/>
              <a:t>S</a:t>
            </a:r>
          </a:p>
        </p:txBody>
      </p:sp>
      <p:sp>
        <p:nvSpPr>
          <p:cNvPr id="50" name="CuadroTexto 49">
            <a:extLst>
              <a:ext uri="{FF2B5EF4-FFF2-40B4-BE49-F238E27FC236}">
                <a16:creationId xmlns:a16="http://schemas.microsoft.com/office/drawing/2014/main" id="{B5601B46-B7E6-485D-93D1-17B268D001A6}"/>
              </a:ext>
            </a:extLst>
          </p:cNvPr>
          <p:cNvSpPr txBox="1"/>
          <p:nvPr/>
        </p:nvSpPr>
        <p:spPr>
          <a:xfrm>
            <a:off x="3032417" y="4486242"/>
            <a:ext cx="292517" cy="307777"/>
          </a:xfrm>
          <a:prstGeom prst="rect">
            <a:avLst/>
          </a:prstGeom>
          <a:noFill/>
        </p:spPr>
        <p:txBody>
          <a:bodyPr wrap="square" rtlCol="0">
            <a:spAutoFit/>
          </a:bodyPr>
          <a:lstStyle/>
          <a:p>
            <a:r>
              <a:rPr lang="es-MX" sz="1400" dirty="0"/>
              <a:t>C</a:t>
            </a:r>
          </a:p>
        </p:txBody>
      </p:sp>
      <p:sp>
        <p:nvSpPr>
          <p:cNvPr id="51" name="CuadroTexto 50">
            <a:extLst>
              <a:ext uri="{FF2B5EF4-FFF2-40B4-BE49-F238E27FC236}">
                <a16:creationId xmlns:a16="http://schemas.microsoft.com/office/drawing/2014/main" id="{E565A115-A7DA-4DAD-A0CD-CB26BB0DC5B6}"/>
              </a:ext>
            </a:extLst>
          </p:cNvPr>
          <p:cNvSpPr txBox="1"/>
          <p:nvPr/>
        </p:nvSpPr>
        <p:spPr>
          <a:xfrm>
            <a:off x="9785775" y="5767362"/>
            <a:ext cx="292517" cy="307777"/>
          </a:xfrm>
          <a:prstGeom prst="rect">
            <a:avLst/>
          </a:prstGeom>
          <a:noFill/>
        </p:spPr>
        <p:txBody>
          <a:bodyPr wrap="square" rtlCol="0">
            <a:spAutoFit/>
          </a:bodyPr>
          <a:lstStyle/>
          <a:p>
            <a:r>
              <a:rPr lang="es-MX" sz="1400" dirty="0"/>
              <a:t>C</a:t>
            </a:r>
          </a:p>
        </p:txBody>
      </p:sp>
      <p:cxnSp>
        <p:nvCxnSpPr>
          <p:cNvPr id="53" name="Conector recto de flecha 52">
            <a:extLst>
              <a:ext uri="{FF2B5EF4-FFF2-40B4-BE49-F238E27FC236}">
                <a16:creationId xmlns:a16="http://schemas.microsoft.com/office/drawing/2014/main" id="{92C89C3B-8AF7-4C25-8561-C382810CFD1F}"/>
              </a:ext>
            </a:extLst>
          </p:cNvPr>
          <p:cNvCxnSpPr/>
          <p:nvPr/>
        </p:nvCxnSpPr>
        <p:spPr>
          <a:xfrm>
            <a:off x="3752046" y="3429000"/>
            <a:ext cx="1628294" cy="58825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4" name="CuadroTexto 53">
            <a:extLst>
              <a:ext uri="{FF2B5EF4-FFF2-40B4-BE49-F238E27FC236}">
                <a16:creationId xmlns:a16="http://schemas.microsoft.com/office/drawing/2014/main" id="{3CCF1747-A95A-4469-8097-BF7AD605A770}"/>
              </a:ext>
            </a:extLst>
          </p:cNvPr>
          <p:cNvSpPr txBox="1"/>
          <p:nvPr/>
        </p:nvSpPr>
        <p:spPr>
          <a:xfrm rot="1414283">
            <a:off x="4083003" y="3370831"/>
            <a:ext cx="1051173" cy="369332"/>
          </a:xfrm>
          <a:prstGeom prst="rect">
            <a:avLst/>
          </a:prstGeom>
          <a:noFill/>
        </p:spPr>
        <p:txBody>
          <a:bodyPr wrap="square" rtlCol="0">
            <a:spAutoFit/>
          </a:bodyPr>
          <a:lstStyle/>
          <a:p>
            <a:r>
              <a:rPr lang="es-MX" dirty="0"/>
              <a:t>reporte</a:t>
            </a:r>
          </a:p>
        </p:txBody>
      </p:sp>
      <p:cxnSp>
        <p:nvCxnSpPr>
          <p:cNvPr id="55" name="Conector recto de flecha 54">
            <a:extLst>
              <a:ext uri="{FF2B5EF4-FFF2-40B4-BE49-F238E27FC236}">
                <a16:creationId xmlns:a16="http://schemas.microsoft.com/office/drawing/2014/main" id="{5E5F24C4-DCC4-48FF-A4CC-FD37C2D432F3}"/>
              </a:ext>
            </a:extLst>
          </p:cNvPr>
          <p:cNvCxnSpPr>
            <a:cxnSpLocks/>
          </p:cNvCxnSpPr>
          <p:nvPr/>
        </p:nvCxnSpPr>
        <p:spPr>
          <a:xfrm flipH="1" flipV="1">
            <a:off x="9627964" y="5029324"/>
            <a:ext cx="639961" cy="68543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8" name="CuadroTexto 57">
            <a:extLst>
              <a:ext uri="{FF2B5EF4-FFF2-40B4-BE49-F238E27FC236}">
                <a16:creationId xmlns:a16="http://schemas.microsoft.com/office/drawing/2014/main" id="{310ACC18-DBF7-4A19-8AD5-C42AA94697E6}"/>
              </a:ext>
            </a:extLst>
          </p:cNvPr>
          <p:cNvSpPr txBox="1"/>
          <p:nvPr/>
        </p:nvSpPr>
        <p:spPr>
          <a:xfrm rot="2784166">
            <a:off x="9655241" y="5128053"/>
            <a:ext cx="1051173" cy="369332"/>
          </a:xfrm>
          <a:prstGeom prst="rect">
            <a:avLst/>
          </a:prstGeom>
          <a:noFill/>
        </p:spPr>
        <p:txBody>
          <a:bodyPr wrap="square" rtlCol="0">
            <a:spAutoFit/>
          </a:bodyPr>
          <a:lstStyle/>
          <a:p>
            <a:r>
              <a:rPr lang="es-MX" dirty="0"/>
              <a:t>reporte</a:t>
            </a:r>
          </a:p>
        </p:txBody>
      </p:sp>
      <p:sp>
        <p:nvSpPr>
          <p:cNvPr id="59" name="CuadroTexto 58">
            <a:extLst>
              <a:ext uri="{FF2B5EF4-FFF2-40B4-BE49-F238E27FC236}">
                <a16:creationId xmlns:a16="http://schemas.microsoft.com/office/drawing/2014/main" id="{A11754C8-4020-4434-8AE6-54367F30DE6A}"/>
              </a:ext>
            </a:extLst>
          </p:cNvPr>
          <p:cNvSpPr txBox="1"/>
          <p:nvPr/>
        </p:nvSpPr>
        <p:spPr>
          <a:xfrm flipH="1">
            <a:off x="8343816" y="4333836"/>
            <a:ext cx="662683" cy="253916"/>
          </a:xfrm>
          <a:prstGeom prst="rect">
            <a:avLst/>
          </a:prstGeom>
          <a:noFill/>
        </p:spPr>
        <p:txBody>
          <a:bodyPr wrap="square" rtlCol="0">
            <a:spAutoFit/>
          </a:bodyPr>
          <a:lstStyle/>
          <a:p>
            <a:r>
              <a:rPr lang="es-MX" sz="1050" dirty="0"/>
              <a:t>Fa0/0</a:t>
            </a:r>
          </a:p>
        </p:txBody>
      </p:sp>
      <p:sp>
        <p:nvSpPr>
          <p:cNvPr id="60" name="CuadroTexto 59">
            <a:extLst>
              <a:ext uri="{FF2B5EF4-FFF2-40B4-BE49-F238E27FC236}">
                <a16:creationId xmlns:a16="http://schemas.microsoft.com/office/drawing/2014/main" id="{561C28C2-C51B-461F-B07C-87E9B81E2B27}"/>
              </a:ext>
            </a:extLst>
          </p:cNvPr>
          <p:cNvSpPr txBox="1"/>
          <p:nvPr/>
        </p:nvSpPr>
        <p:spPr>
          <a:xfrm flipH="1">
            <a:off x="5074847" y="4346545"/>
            <a:ext cx="662683" cy="253916"/>
          </a:xfrm>
          <a:prstGeom prst="rect">
            <a:avLst/>
          </a:prstGeom>
          <a:noFill/>
        </p:spPr>
        <p:txBody>
          <a:bodyPr wrap="square" rtlCol="0">
            <a:spAutoFit/>
          </a:bodyPr>
          <a:lstStyle/>
          <a:p>
            <a:r>
              <a:rPr lang="es-MX" sz="1050" dirty="0"/>
              <a:t>Fa0/0</a:t>
            </a:r>
          </a:p>
        </p:txBody>
      </p:sp>
      <p:sp>
        <p:nvSpPr>
          <p:cNvPr id="61" name="CuadroTexto 60">
            <a:extLst>
              <a:ext uri="{FF2B5EF4-FFF2-40B4-BE49-F238E27FC236}">
                <a16:creationId xmlns:a16="http://schemas.microsoft.com/office/drawing/2014/main" id="{50EF7B11-DE1A-47D3-81B4-3BEB774A6453}"/>
              </a:ext>
            </a:extLst>
          </p:cNvPr>
          <p:cNvSpPr txBox="1"/>
          <p:nvPr/>
        </p:nvSpPr>
        <p:spPr>
          <a:xfrm flipH="1">
            <a:off x="6404302" y="4317064"/>
            <a:ext cx="662683" cy="253916"/>
          </a:xfrm>
          <a:prstGeom prst="rect">
            <a:avLst/>
          </a:prstGeom>
          <a:noFill/>
        </p:spPr>
        <p:txBody>
          <a:bodyPr wrap="square" rtlCol="0">
            <a:spAutoFit/>
          </a:bodyPr>
          <a:lstStyle/>
          <a:p>
            <a:r>
              <a:rPr lang="es-MX" sz="1050" dirty="0"/>
              <a:t>Fa0/1</a:t>
            </a:r>
          </a:p>
        </p:txBody>
      </p:sp>
      <p:sp>
        <p:nvSpPr>
          <p:cNvPr id="62" name="CuadroTexto 61">
            <a:extLst>
              <a:ext uri="{FF2B5EF4-FFF2-40B4-BE49-F238E27FC236}">
                <a16:creationId xmlns:a16="http://schemas.microsoft.com/office/drawing/2014/main" id="{93F24AB4-9184-4EFF-9BCA-E00C6E340325}"/>
              </a:ext>
            </a:extLst>
          </p:cNvPr>
          <p:cNvSpPr txBox="1"/>
          <p:nvPr/>
        </p:nvSpPr>
        <p:spPr>
          <a:xfrm flipH="1">
            <a:off x="5981385" y="4864075"/>
            <a:ext cx="662683" cy="253916"/>
          </a:xfrm>
          <a:prstGeom prst="rect">
            <a:avLst/>
          </a:prstGeom>
          <a:noFill/>
        </p:spPr>
        <p:txBody>
          <a:bodyPr wrap="square" rtlCol="0">
            <a:spAutoFit/>
          </a:bodyPr>
          <a:lstStyle/>
          <a:p>
            <a:r>
              <a:rPr lang="es-MX" sz="1050" dirty="0"/>
              <a:t>Fa0/2</a:t>
            </a:r>
          </a:p>
        </p:txBody>
      </p:sp>
      <p:sp>
        <p:nvSpPr>
          <p:cNvPr id="63" name="CuadroTexto 62">
            <a:extLst>
              <a:ext uri="{FF2B5EF4-FFF2-40B4-BE49-F238E27FC236}">
                <a16:creationId xmlns:a16="http://schemas.microsoft.com/office/drawing/2014/main" id="{A2F41C90-DC10-4E77-BF45-D430A1BC14F3}"/>
              </a:ext>
            </a:extLst>
          </p:cNvPr>
          <p:cNvSpPr txBox="1"/>
          <p:nvPr/>
        </p:nvSpPr>
        <p:spPr>
          <a:xfrm flipH="1">
            <a:off x="9178170" y="4787952"/>
            <a:ext cx="662683" cy="253916"/>
          </a:xfrm>
          <a:prstGeom prst="rect">
            <a:avLst/>
          </a:prstGeom>
          <a:noFill/>
        </p:spPr>
        <p:txBody>
          <a:bodyPr wrap="square" rtlCol="0">
            <a:spAutoFit/>
          </a:bodyPr>
          <a:lstStyle/>
          <a:p>
            <a:r>
              <a:rPr lang="es-MX" sz="1050" dirty="0"/>
              <a:t>Fa0/1</a:t>
            </a:r>
          </a:p>
        </p:txBody>
      </p:sp>
      <p:sp>
        <p:nvSpPr>
          <p:cNvPr id="52" name="CuadroTexto 51">
            <a:extLst>
              <a:ext uri="{FF2B5EF4-FFF2-40B4-BE49-F238E27FC236}">
                <a16:creationId xmlns:a16="http://schemas.microsoft.com/office/drawing/2014/main" id="{D4460020-4F94-402D-B7D4-FA849FB84132}"/>
              </a:ext>
            </a:extLst>
          </p:cNvPr>
          <p:cNvSpPr txBox="1"/>
          <p:nvPr/>
        </p:nvSpPr>
        <p:spPr>
          <a:xfrm>
            <a:off x="2409046" y="3838353"/>
            <a:ext cx="1125629" cy="230832"/>
          </a:xfrm>
          <a:prstGeom prst="rect">
            <a:avLst/>
          </a:prstGeom>
          <a:noFill/>
        </p:spPr>
        <p:txBody>
          <a:bodyPr wrap="none" rtlCol="0">
            <a:spAutoFit/>
          </a:bodyPr>
          <a:lstStyle/>
          <a:p>
            <a:r>
              <a:rPr lang="es-MX" sz="900" dirty="0"/>
              <a:t>01:00:5e:00:00:01</a:t>
            </a:r>
          </a:p>
        </p:txBody>
      </p:sp>
      <p:sp>
        <p:nvSpPr>
          <p:cNvPr id="56" name="CuadroTexto 55">
            <a:extLst>
              <a:ext uri="{FF2B5EF4-FFF2-40B4-BE49-F238E27FC236}">
                <a16:creationId xmlns:a16="http://schemas.microsoft.com/office/drawing/2014/main" id="{6136CF3B-DAE0-43C0-8214-3AD9C9F82738}"/>
              </a:ext>
            </a:extLst>
          </p:cNvPr>
          <p:cNvSpPr txBox="1"/>
          <p:nvPr/>
        </p:nvSpPr>
        <p:spPr>
          <a:xfrm>
            <a:off x="2459002" y="5395824"/>
            <a:ext cx="1125629" cy="230832"/>
          </a:xfrm>
          <a:prstGeom prst="rect">
            <a:avLst/>
          </a:prstGeom>
          <a:noFill/>
        </p:spPr>
        <p:txBody>
          <a:bodyPr wrap="none" rtlCol="0">
            <a:spAutoFit/>
          </a:bodyPr>
          <a:lstStyle/>
          <a:p>
            <a:r>
              <a:rPr lang="es-MX" sz="900" dirty="0"/>
              <a:t>01:00:5e:00:00:01</a:t>
            </a:r>
          </a:p>
        </p:txBody>
      </p:sp>
      <p:pic>
        <p:nvPicPr>
          <p:cNvPr id="57" name="Picture 11" descr="C:\Users\ecoffey\AppData\Local\Temp\Rar$DRa0.175\30088_Device_terminal_default_64.png">
            <a:extLst>
              <a:ext uri="{FF2B5EF4-FFF2-40B4-BE49-F238E27FC236}">
                <a16:creationId xmlns:a16="http://schemas.microsoft.com/office/drawing/2014/main" id="{E104E511-95D9-4735-B2A7-86DCD8D5CB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2924" y="5810133"/>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64" name="CuadroTexto 63">
            <a:extLst>
              <a:ext uri="{FF2B5EF4-FFF2-40B4-BE49-F238E27FC236}">
                <a16:creationId xmlns:a16="http://schemas.microsoft.com/office/drawing/2014/main" id="{2C95311B-224A-4C74-9FE1-269CF0BF9309}"/>
              </a:ext>
            </a:extLst>
          </p:cNvPr>
          <p:cNvSpPr txBox="1"/>
          <p:nvPr/>
        </p:nvSpPr>
        <p:spPr>
          <a:xfrm>
            <a:off x="2889795" y="6254910"/>
            <a:ext cx="601447" cy="230832"/>
          </a:xfrm>
          <a:prstGeom prst="rect">
            <a:avLst/>
          </a:prstGeom>
          <a:noFill/>
        </p:spPr>
        <p:txBody>
          <a:bodyPr wrap="none" rtlCol="0">
            <a:spAutoFit/>
          </a:bodyPr>
          <a:lstStyle/>
          <a:p>
            <a:r>
              <a:rPr lang="es-MX" sz="900" dirty="0"/>
              <a:t>10.0.0.3</a:t>
            </a:r>
          </a:p>
        </p:txBody>
      </p:sp>
      <p:cxnSp>
        <p:nvCxnSpPr>
          <p:cNvPr id="65" name="Conector recto 64">
            <a:extLst>
              <a:ext uri="{FF2B5EF4-FFF2-40B4-BE49-F238E27FC236}">
                <a16:creationId xmlns:a16="http://schemas.microsoft.com/office/drawing/2014/main" id="{B5C54039-4A1E-4154-AC00-8924FE7338D9}"/>
              </a:ext>
            </a:extLst>
          </p:cNvPr>
          <p:cNvCxnSpPr>
            <a:cxnSpLocks/>
            <a:endCxn id="4" idx="1"/>
          </p:cNvCxnSpPr>
          <p:nvPr/>
        </p:nvCxnSpPr>
        <p:spPr>
          <a:xfrm flipV="1">
            <a:off x="3362223" y="4560904"/>
            <a:ext cx="721165" cy="1443800"/>
          </a:xfrm>
          <a:prstGeom prst="line">
            <a:avLst/>
          </a:prstGeom>
        </p:spPr>
        <p:style>
          <a:lnRef idx="1">
            <a:schemeClr val="accent1"/>
          </a:lnRef>
          <a:fillRef idx="0">
            <a:schemeClr val="accent1"/>
          </a:fillRef>
          <a:effectRef idx="0">
            <a:schemeClr val="accent1"/>
          </a:effectRef>
          <a:fontRef idx="minor">
            <a:schemeClr val="tx1"/>
          </a:fontRef>
        </p:style>
      </p:cxnSp>
      <p:pic>
        <p:nvPicPr>
          <p:cNvPr id="66" name="Picture 11" descr="C:\Users\ecoffey\AppData\Local\Temp\Rar$DRa0.175\30088_Device_terminal_default_64.png">
            <a:extLst>
              <a:ext uri="{FF2B5EF4-FFF2-40B4-BE49-F238E27FC236}">
                <a16:creationId xmlns:a16="http://schemas.microsoft.com/office/drawing/2014/main" id="{47061315-26DE-45F5-B218-802021BE7C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2846" y="5810131"/>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67" name="CuadroTexto 66">
            <a:extLst>
              <a:ext uri="{FF2B5EF4-FFF2-40B4-BE49-F238E27FC236}">
                <a16:creationId xmlns:a16="http://schemas.microsoft.com/office/drawing/2014/main" id="{A3F0CE0C-312A-4019-ADC3-C478C10A0481}"/>
              </a:ext>
            </a:extLst>
          </p:cNvPr>
          <p:cNvSpPr txBox="1"/>
          <p:nvPr/>
        </p:nvSpPr>
        <p:spPr>
          <a:xfrm>
            <a:off x="2889717" y="6254908"/>
            <a:ext cx="601447" cy="230832"/>
          </a:xfrm>
          <a:prstGeom prst="rect">
            <a:avLst/>
          </a:prstGeom>
          <a:noFill/>
        </p:spPr>
        <p:txBody>
          <a:bodyPr wrap="none" rtlCol="0">
            <a:spAutoFit/>
          </a:bodyPr>
          <a:lstStyle/>
          <a:p>
            <a:r>
              <a:rPr lang="es-MX" sz="900" dirty="0"/>
              <a:t>10.0.0.3</a:t>
            </a:r>
          </a:p>
        </p:txBody>
      </p:sp>
      <p:cxnSp>
        <p:nvCxnSpPr>
          <p:cNvPr id="68" name="Conector recto 67">
            <a:extLst>
              <a:ext uri="{FF2B5EF4-FFF2-40B4-BE49-F238E27FC236}">
                <a16:creationId xmlns:a16="http://schemas.microsoft.com/office/drawing/2014/main" id="{7AA67988-1474-4BE7-B7AB-8649EADA9C18}"/>
              </a:ext>
            </a:extLst>
          </p:cNvPr>
          <p:cNvCxnSpPr>
            <a:cxnSpLocks/>
          </p:cNvCxnSpPr>
          <p:nvPr/>
        </p:nvCxnSpPr>
        <p:spPr>
          <a:xfrm flipV="1">
            <a:off x="3362145" y="4560902"/>
            <a:ext cx="721165" cy="1443800"/>
          </a:xfrm>
          <a:prstGeom prst="line">
            <a:avLst/>
          </a:prstGeom>
        </p:spPr>
        <p:style>
          <a:lnRef idx="1">
            <a:schemeClr val="accent1"/>
          </a:lnRef>
          <a:fillRef idx="0">
            <a:schemeClr val="accent1"/>
          </a:fillRef>
          <a:effectRef idx="0">
            <a:schemeClr val="accent1"/>
          </a:effectRef>
          <a:fontRef idx="minor">
            <a:schemeClr val="tx1"/>
          </a:fontRef>
        </p:style>
      </p:cxnSp>
      <p:sp>
        <p:nvSpPr>
          <p:cNvPr id="69" name="CuadroTexto 68">
            <a:extLst>
              <a:ext uri="{FF2B5EF4-FFF2-40B4-BE49-F238E27FC236}">
                <a16:creationId xmlns:a16="http://schemas.microsoft.com/office/drawing/2014/main" id="{A32C1D52-6AF9-4A30-A5BF-85BD80FB4D14}"/>
              </a:ext>
            </a:extLst>
          </p:cNvPr>
          <p:cNvSpPr txBox="1"/>
          <p:nvPr/>
        </p:nvSpPr>
        <p:spPr>
          <a:xfrm>
            <a:off x="2409754" y="3838353"/>
            <a:ext cx="1125629" cy="230832"/>
          </a:xfrm>
          <a:prstGeom prst="rect">
            <a:avLst/>
          </a:prstGeom>
          <a:noFill/>
        </p:spPr>
        <p:txBody>
          <a:bodyPr wrap="none" rtlCol="0">
            <a:spAutoFit/>
          </a:bodyPr>
          <a:lstStyle/>
          <a:p>
            <a:r>
              <a:rPr lang="es-MX" sz="900" dirty="0"/>
              <a:t>01:00:5e:00:00:01</a:t>
            </a:r>
          </a:p>
        </p:txBody>
      </p:sp>
      <p:sp>
        <p:nvSpPr>
          <p:cNvPr id="70" name="CuadroTexto 69">
            <a:extLst>
              <a:ext uri="{FF2B5EF4-FFF2-40B4-BE49-F238E27FC236}">
                <a16:creationId xmlns:a16="http://schemas.microsoft.com/office/drawing/2014/main" id="{1E77F11B-D243-4CBB-88EC-919A9B0766BD}"/>
              </a:ext>
            </a:extLst>
          </p:cNvPr>
          <p:cNvSpPr txBox="1"/>
          <p:nvPr/>
        </p:nvSpPr>
        <p:spPr>
          <a:xfrm>
            <a:off x="2459710" y="5395824"/>
            <a:ext cx="1125629" cy="230832"/>
          </a:xfrm>
          <a:prstGeom prst="rect">
            <a:avLst/>
          </a:prstGeom>
          <a:noFill/>
        </p:spPr>
        <p:txBody>
          <a:bodyPr wrap="none" rtlCol="0">
            <a:spAutoFit/>
          </a:bodyPr>
          <a:lstStyle/>
          <a:p>
            <a:r>
              <a:rPr lang="es-MX" sz="900" dirty="0"/>
              <a:t>01:00:5e:00:00:01</a:t>
            </a:r>
          </a:p>
        </p:txBody>
      </p:sp>
      <p:pic>
        <p:nvPicPr>
          <p:cNvPr id="71" name="Picture 11" descr="C:\Users\ecoffey\AppData\Local\Temp\Rar$DRa0.175\30088_Device_terminal_default_64.png">
            <a:extLst>
              <a:ext uri="{FF2B5EF4-FFF2-40B4-BE49-F238E27FC236}">
                <a16:creationId xmlns:a16="http://schemas.microsoft.com/office/drawing/2014/main" id="{10EAC0C6-E09A-4B69-B08B-BDF341DF7E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3554" y="5810131"/>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72" name="CuadroTexto 71">
            <a:extLst>
              <a:ext uri="{FF2B5EF4-FFF2-40B4-BE49-F238E27FC236}">
                <a16:creationId xmlns:a16="http://schemas.microsoft.com/office/drawing/2014/main" id="{037A44B3-3DE0-47E1-81AD-43DA973A941B}"/>
              </a:ext>
            </a:extLst>
          </p:cNvPr>
          <p:cNvSpPr txBox="1"/>
          <p:nvPr/>
        </p:nvSpPr>
        <p:spPr>
          <a:xfrm>
            <a:off x="2890425" y="6254908"/>
            <a:ext cx="601447" cy="230832"/>
          </a:xfrm>
          <a:prstGeom prst="rect">
            <a:avLst/>
          </a:prstGeom>
          <a:noFill/>
        </p:spPr>
        <p:txBody>
          <a:bodyPr wrap="none" rtlCol="0">
            <a:spAutoFit/>
          </a:bodyPr>
          <a:lstStyle/>
          <a:p>
            <a:r>
              <a:rPr lang="es-MX" sz="900" dirty="0"/>
              <a:t>10.0.0.3</a:t>
            </a:r>
          </a:p>
        </p:txBody>
      </p:sp>
      <p:cxnSp>
        <p:nvCxnSpPr>
          <p:cNvPr id="73" name="Conector recto 72">
            <a:extLst>
              <a:ext uri="{FF2B5EF4-FFF2-40B4-BE49-F238E27FC236}">
                <a16:creationId xmlns:a16="http://schemas.microsoft.com/office/drawing/2014/main" id="{C6645ED6-8A49-4BA6-B806-68EEF53025F2}"/>
              </a:ext>
            </a:extLst>
          </p:cNvPr>
          <p:cNvCxnSpPr>
            <a:cxnSpLocks/>
          </p:cNvCxnSpPr>
          <p:nvPr/>
        </p:nvCxnSpPr>
        <p:spPr>
          <a:xfrm flipV="1">
            <a:off x="3362853" y="4560902"/>
            <a:ext cx="721165" cy="14438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69913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447C4-1523-44B9-822E-3F1B8A6BC713}"/>
              </a:ext>
            </a:extLst>
          </p:cNvPr>
          <p:cNvSpPr>
            <a:spLocks noGrp="1"/>
          </p:cNvSpPr>
          <p:nvPr>
            <p:ph type="title" idx="4294967295"/>
          </p:nvPr>
        </p:nvSpPr>
        <p:spPr>
          <a:xfrm>
            <a:off x="3281363" y="242888"/>
            <a:ext cx="8910637" cy="1281112"/>
          </a:xfrm>
        </p:spPr>
        <p:txBody>
          <a:bodyPr/>
          <a:lstStyle/>
          <a:p>
            <a:r>
              <a:rPr lang="es-MX" dirty="0"/>
              <a:t>Funcionamiento IGMP</a:t>
            </a:r>
          </a:p>
        </p:txBody>
      </p:sp>
      <p:sp>
        <p:nvSpPr>
          <p:cNvPr id="3" name="Marcador de contenido 2">
            <a:extLst>
              <a:ext uri="{FF2B5EF4-FFF2-40B4-BE49-F238E27FC236}">
                <a16:creationId xmlns:a16="http://schemas.microsoft.com/office/drawing/2014/main" id="{92B6A2E6-FFC7-40C9-9E40-0E6AFAD1430A}"/>
              </a:ext>
            </a:extLst>
          </p:cNvPr>
          <p:cNvSpPr>
            <a:spLocks noGrp="1"/>
          </p:cNvSpPr>
          <p:nvPr>
            <p:ph idx="4294967295"/>
          </p:nvPr>
        </p:nvSpPr>
        <p:spPr>
          <a:xfrm>
            <a:off x="1419372" y="1398588"/>
            <a:ext cx="8915400" cy="3778250"/>
          </a:xfrm>
        </p:spPr>
        <p:txBody>
          <a:bodyPr>
            <a:normAutofit/>
          </a:bodyPr>
          <a:lstStyle/>
          <a:p>
            <a:r>
              <a:rPr lang="es-MX" sz="2400" dirty="0"/>
              <a:t>El enrutador recibe el reporte y actualiza su tabla IGMP agregando ya sea una nueva entrada con la dirección de grupo y la interfaz por donde se recibió el reporte, o solo añadiendo la nueva interfaz por donde hay que transmitir copias de dicho grupo</a:t>
            </a:r>
          </a:p>
        </p:txBody>
      </p:sp>
      <p:pic>
        <p:nvPicPr>
          <p:cNvPr id="4" name="Picture 11" descr="C:\Users\ecoffey\AppData\Local\Temp\Rar$DRa0.608\30080_Device_switch_default_64.png">
            <a:extLst>
              <a:ext uri="{FF2B5EF4-FFF2-40B4-BE49-F238E27FC236}">
                <a16:creationId xmlns:a16="http://schemas.microsoft.com/office/drawing/2014/main" id="{0C91AE40-9C15-47FA-8815-816658AFF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3388" y="4317064"/>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1" descr="C:\Users\ecoffey\AppData\Local\Temp\Rar$DRa0.608\30080_Device_switch_default_64.png">
            <a:extLst>
              <a:ext uri="{FF2B5EF4-FFF2-40B4-BE49-F238E27FC236}">
                <a16:creationId xmlns:a16="http://schemas.microsoft.com/office/drawing/2014/main" id="{0233494B-B8D6-4856-81D2-F59319E53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0008" y="527968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1" descr="C:\Users\ecoffey\AppData\Local\Temp\Rar$DRa0.608\30080_Device_switch_default_64.png">
            <a:extLst>
              <a:ext uri="{FF2B5EF4-FFF2-40B4-BE49-F238E27FC236}">
                <a16:creationId xmlns:a16="http://schemas.microsoft.com/office/drawing/2014/main" id="{DD72665F-656E-4B89-B077-80A2F4281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2789" y="4286477"/>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1" descr="C:\Users\ecoffey\AppData\Local\Temp\Rar$DRa0.386\30067_Device_router_default_64.png">
            <a:extLst>
              <a:ext uri="{FF2B5EF4-FFF2-40B4-BE49-F238E27FC236}">
                <a16:creationId xmlns:a16="http://schemas.microsoft.com/office/drawing/2014/main" id="{5973E239-814B-4BB6-B67C-F53DBC288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166" y="4135222"/>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cto 8">
            <a:extLst>
              <a:ext uri="{FF2B5EF4-FFF2-40B4-BE49-F238E27FC236}">
                <a16:creationId xmlns:a16="http://schemas.microsoft.com/office/drawing/2014/main" id="{CE6BDE1F-03C3-4A41-A270-622F51D8A927}"/>
              </a:ext>
            </a:extLst>
          </p:cNvPr>
          <p:cNvCxnSpPr>
            <a:stCxn id="4" idx="3"/>
            <a:endCxn id="7" idx="1"/>
          </p:cNvCxnSpPr>
          <p:nvPr/>
        </p:nvCxnSpPr>
        <p:spPr>
          <a:xfrm>
            <a:off x="4571068" y="4560904"/>
            <a:ext cx="101709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C3D40564-760E-41DB-889A-5E4568D32032}"/>
              </a:ext>
            </a:extLst>
          </p:cNvPr>
          <p:cNvCxnSpPr>
            <a:cxnSpLocks/>
            <a:endCxn id="6" idx="1"/>
          </p:cNvCxnSpPr>
          <p:nvPr/>
        </p:nvCxnSpPr>
        <p:spPr>
          <a:xfrm flipV="1">
            <a:off x="6439531" y="4530317"/>
            <a:ext cx="773258" cy="30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A3D7BCCD-2528-4D93-9BFA-A177D60E6BD3}"/>
              </a:ext>
            </a:extLst>
          </p:cNvPr>
          <p:cNvCxnSpPr>
            <a:stCxn id="7" idx="2"/>
            <a:endCxn id="5" idx="0"/>
          </p:cNvCxnSpPr>
          <p:nvPr/>
        </p:nvCxnSpPr>
        <p:spPr>
          <a:xfrm flipH="1">
            <a:off x="6013848" y="4986587"/>
            <a:ext cx="1" cy="293095"/>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1" descr="C:\Users\ecoffey\AppData\Local\Temp\Rar$DRa0.175\30088_Device_terminal_default_64.png">
            <a:extLst>
              <a:ext uri="{FF2B5EF4-FFF2-40B4-BE49-F238E27FC236}">
                <a16:creationId xmlns:a16="http://schemas.microsoft.com/office/drawing/2014/main" id="{D450F530-13DE-4E2E-BD01-44EBA6623E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321312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1" descr="C:\Users\ecoffey\AppData\Local\Temp\Rar$DRa0.175\30088_Device_terminal_default_64.png">
            <a:extLst>
              <a:ext uri="{FF2B5EF4-FFF2-40B4-BE49-F238E27FC236}">
                <a16:creationId xmlns:a16="http://schemas.microsoft.com/office/drawing/2014/main" id="{15D7C041-3214-46FF-BBF0-8015991CAA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4785483"/>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1" descr="C:\Users\ecoffey\AppData\Local\Temp\Rar$DRa0.175\30088_Device_terminal_default_64.png">
            <a:extLst>
              <a:ext uri="{FF2B5EF4-FFF2-40B4-BE49-F238E27FC236}">
                <a16:creationId xmlns:a16="http://schemas.microsoft.com/office/drawing/2014/main" id="{6E9C5263-BD0D-4500-8A4B-81C72C4AC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16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1" descr="C:\Users\ecoffey\AppData\Local\Temp\Rar$DRa0.175\30088_Device_terminal_default_64.png">
            <a:extLst>
              <a:ext uri="{FF2B5EF4-FFF2-40B4-BE49-F238E27FC236}">
                <a16:creationId xmlns:a16="http://schemas.microsoft.com/office/drawing/2014/main" id="{C7EEF728-AA0C-4FAC-97DD-8342D72BC0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768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1" descr="C:\Users\ecoffey\AppData\Local\Temp\Rar$DRa0.386\30067_Device_router_default_64.png">
            <a:extLst>
              <a:ext uri="{FF2B5EF4-FFF2-40B4-BE49-F238E27FC236}">
                <a16:creationId xmlns:a16="http://schemas.microsoft.com/office/drawing/2014/main" id="{26DB026A-BC5D-4422-9EEE-817F31EC0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3292" y="4135221"/>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Conector recto 23">
            <a:extLst>
              <a:ext uri="{FF2B5EF4-FFF2-40B4-BE49-F238E27FC236}">
                <a16:creationId xmlns:a16="http://schemas.microsoft.com/office/drawing/2014/main" id="{89CA4F2A-8EFE-43B6-A7C4-5D46E558E868}"/>
              </a:ext>
            </a:extLst>
          </p:cNvPr>
          <p:cNvCxnSpPr>
            <a:stCxn id="6" idx="3"/>
            <a:endCxn id="22" idx="1"/>
          </p:cNvCxnSpPr>
          <p:nvPr/>
        </p:nvCxnSpPr>
        <p:spPr>
          <a:xfrm>
            <a:off x="7700469" y="4530317"/>
            <a:ext cx="1132823" cy="30587"/>
          </a:xfrm>
          <a:prstGeom prst="line">
            <a:avLst/>
          </a:prstGeom>
        </p:spPr>
        <p:style>
          <a:lnRef idx="1">
            <a:schemeClr val="accent1"/>
          </a:lnRef>
          <a:fillRef idx="0">
            <a:schemeClr val="accent1"/>
          </a:fillRef>
          <a:effectRef idx="0">
            <a:schemeClr val="accent1"/>
          </a:effectRef>
          <a:fontRef idx="minor">
            <a:schemeClr val="tx1"/>
          </a:fontRef>
        </p:style>
      </p:cxnSp>
      <p:pic>
        <p:nvPicPr>
          <p:cNvPr id="26" name="Picture 11" descr="C:\Users\ecoffey\AppData\Local\Temp\Rar$DRa0.608\30080_Device_switch_default_64.png">
            <a:extLst>
              <a:ext uri="{FF2B5EF4-FFF2-40B4-BE49-F238E27FC236}">
                <a16:creationId xmlns:a16="http://schemas.microsoft.com/office/drawing/2014/main" id="{F81F2581-CD9A-4B30-BE56-3167C221C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5134" y="5394746"/>
            <a:ext cx="487680" cy="48768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Conector recto 27">
            <a:extLst>
              <a:ext uri="{FF2B5EF4-FFF2-40B4-BE49-F238E27FC236}">
                <a16:creationId xmlns:a16="http://schemas.microsoft.com/office/drawing/2014/main" id="{9DD7E8B9-4872-4C21-B489-3B585C24D407}"/>
              </a:ext>
            </a:extLst>
          </p:cNvPr>
          <p:cNvCxnSpPr>
            <a:stCxn id="22" idx="2"/>
            <a:endCxn id="26" idx="0"/>
          </p:cNvCxnSpPr>
          <p:nvPr/>
        </p:nvCxnSpPr>
        <p:spPr>
          <a:xfrm flipH="1">
            <a:off x="9258974" y="4986586"/>
            <a:ext cx="1" cy="408160"/>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11" descr="C:\Users\ecoffey\AppData\Local\Temp\Rar$DRa0.175\30088_Device_terminal_default_64.png">
            <a:extLst>
              <a:ext uri="{FF2B5EF4-FFF2-40B4-BE49-F238E27FC236}">
                <a16:creationId xmlns:a16="http://schemas.microsoft.com/office/drawing/2014/main" id="{568131BB-265B-480A-B481-68AB13DFFF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709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1" descr="C:\Users\ecoffey\AppData\Local\Temp\Rar$DRa0.175\30088_Device_terminal_default_64.png">
            <a:extLst>
              <a:ext uri="{FF2B5EF4-FFF2-40B4-BE49-F238E27FC236}">
                <a16:creationId xmlns:a16="http://schemas.microsoft.com/office/drawing/2014/main" id="{5D97B572-CD65-40AB-8072-DDC75CF79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061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A1453053-8C4F-45DE-B135-F6205ADDDC6F}"/>
              </a:ext>
            </a:extLst>
          </p:cNvPr>
          <p:cNvSpPr txBox="1"/>
          <p:nvPr/>
        </p:nvSpPr>
        <p:spPr>
          <a:xfrm>
            <a:off x="2876141" y="3671003"/>
            <a:ext cx="601447" cy="230832"/>
          </a:xfrm>
          <a:prstGeom prst="rect">
            <a:avLst/>
          </a:prstGeom>
          <a:noFill/>
        </p:spPr>
        <p:txBody>
          <a:bodyPr wrap="none" rtlCol="0">
            <a:spAutoFit/>
          </a:bodyPr>
          <a:lstStyle/>
          <a:p>
            <a:r>
              <a:rPr lang="es-MX" sz="900" dirty="0"/>
              <a:t>10.0.0.1</a:t>
            </a:r>
          </a:p>
        </p:txBody>
      </p:sp>
      <p:cxnSp>
        <p:nvCxnSpPr>
          <p:cNvPr id="33" name="Conector recto 32">
            <a:extLst>
              <a:ext uri="{FF2B5EF4-FFF2-40B4-BE49-F238E27FC236}">
                <a16:creationId xmlns:a16="http://schemas.microsoft.com/office/drawing/2014/main" id="{9B491D88-61AD-4BCE-9A39-FB530B7EEF42}"/>
              </a:ext>
            </a:extLst>
          </p:cNvPr>
          <p:cNvCxnSpPr>
            <a:stCxn id="15" idx="3"/>
            <a:endCxn id="4" idx="1"/>
          </p:cNvCxnSpPr>
          <p:nvPr/>
        </p:nvCxnSpPr>
        <p:spPr>
          <a:xfrm>
            <a:off x="3420705" y="3456962"/>
            <a:ext cx="662683" cy="1103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F164D951-4ADE-40EC-8A49-280035BD7C0F}"/>
              </a:ext>
            </a:extLst>
          </p:cNvPr>
          <p:cNvCxnSpPr>
            <a:stCxn id="16" idx="3"/>
            <a:endCxn id="4" idx="1"/>
          </p:cNvCxnSpPr>
          <p:nvPr/>
        </p:nvCxnSpPr>
        <p:spPr>
          <a:xfrm flipV="1">
            <a:off x="3420705" y="4560904"/>
            <a:ext cx="662683" cy="468419"/>
          </a:xfrm>
          <a:prstGeom prst="line">
            <a:avLst/>
          </a:prstGeom>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EDFCF7B4-92AE-4162-BE9F-5A316627DA65}"/>
              </a:ext>
            </a:extLst>
          </p:cNvPr>
          <p:cNvSpPr txBox="1"/>
          <p:nvPr/>
        </p:nvSpPr>
        <p:spPr>
          <a:xfrm>
            <a:off x="2922924" y="5241120"/>
            <a:ext cx="601447" cy="230832"/>
          </a:xfrm>
          <a:prstGeom prst="rect">
            <a:avLst/>
          </a:prstGeom>
          <a:noFill/>
        </p:spPr>
        <p:txBody>
          <a:bodyPr wrap="none" rtlCol="0">
            <a:spAutoFit/>
          </a:bodyPr>
          <a:lstStyle/>
          <a:p>
            <a:r>
              <a:rPr lang="es-MX" sz="900" dirty="0"/>
              <a:t>10.0.0.2</a:t>
            </a:r>
          </a:p>
        </p:txBody>
      </p:sp>
      <p:cxnSp>
        <p:nvCxnSpPr>
          <p:cNvPr id="38" name="Conector recto 37">
            <a:extLst>
              <a:ext uri="{FF2B5EF4-FFF2-40B4-BE49-F238E27FC236}">
                <a16:creationId xmlns:a16="http://schemas.microsoft.com/office/drawing/2014/main" id="{FE8042CC-E054-412B-BC28-95BCD217176A}"/>
              </a:ext>
            </a:extLst>
          </p:cNvPr>
          <p:cNvCxnSpPr>
            <a:stCxn id="17" idx="0"/>
            <a:endCxn id="5" idx="2"/>
          </p:cNvCxnSpPr>
          <p:nvPr/>
        </p:nvCxnSpPr>
        <p:spPr>
          <a:xfrm flipV="1">
            <a:off x="5408008" y="5767362"/>
            <a:ext cx="60584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932E9B3B-78FF-48F2-B6EF-4DD19B5759D6}"/>
              </a:ext>
            </a:extLst>
          </p:cNvPr>
          <p:cNvCxnSpPr>
            <a:stCxn id="18" idx="0"/>
            <a:endCxn id="5" idx="2"/>
          </p:cNvCxnSpPr>
          <p:nvPr/>
        </p:nvCxnSpPr>
        <p:spPr>
          <a:xfrm flipH="1" flipV="1">
            <a:off x="6013848" y="5767362"/>
            <a:ext cx="48768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FAACA834-BFDB-40AF-954B-E3DC9EBDCBF9}"/>
              </a:ext>
            </a:extLst>
          </p:cNvPr>
          <p:cNvCxnSpPr>
            <a:stCxn id="29" idx="0"/>
            <a:endCxn id="26" idx="2"/>
          </p:cNvCxnSpPr>
          <p:nvPr/>
        </p:nvCxnSpPr>
        <p:spPr>
          <a:xfrm flipV="1">
            <a:off x="8740932" y="5882426"/>
            <a:ext cx="518042" cy="127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CBC798BB-EC49-4EE6-9C0C-1DDC673B78D3}"/>
              </a:ext>
            </a:extLst>
          </p:cNvPr>
          <p:cNvCxnSpPr>
            <a:stCxn id="30" idx="0"/>
            <a:endCxn id="26" idx="2"/>
          </p:cNvCxnSpPr>
          <p:nvPr/>
        </p:nvCxnSpPr>
        <p:spPr>
          <a:xfrm flipH="1" flipV="1">
            <a:off x="9258974" y="5882426"/>
            <a:ext cx="575478" cy="127504"/>
          </a:xfrm>
          <a:prstGeom prst="line">
            <a:avLst/>
          </a:prstGeom>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0A4C93D3-1A65-4120-AC1C-A2E96064861D}"/>
              </a:ext>
            </a:extLst>
          </p:cNvPr>
          <p:cNvSpPr txBox="1"/>
          <p:nvPr/>
        </p:nvSpPr>
        <p:spPr>
          <a:xfrm>
            <a:off x="5079617" y="6446302"/>
            <a:ext cx="601447" cy="230832"/>
          </a:xfrm>
          <a:prstGeom prst="rect">
            <a:avLst/>
          </a:prstGeom>
          <a:noFill/>
        </p:spPr>
        <p:txBody>
          <a:bodyPr wrap="none" rtlCol="0">
            <a:spAutoFit/>
          </a:bodyPr>
          <a:lstStyle/>
          <a:p>
            <a:r>
              <a:rPr lang="es-MX" sz="900" dirty="0"/>
              <a:t>20.0.0.1</a:t>
            </a:r>
          </a:p>
        </p:txBody>
      </p:sp>
      <p:sp>
        <p:nvSpPr>
          <p:cNvPr id="46" name="CuadroTexto 45">
            <a:extLst>
              <a:ext uri="{FF2B5EF4-FFF2-40B4-BE49-F238E27FC236}">
                <a16:creationId xmlns:a16="http://schemas.microsoft.com/office/drawing/2014/main" id="{4D956DD4-0EB7-41E0-8ED6-12B7437C6EC5}"/>
              </a:ext>
            </a:extLst>
          </p:cNvPr>
          <p:cNvSpPr txBox="1"/>
          <p:nvPr/>
        </p:nvSpPr>
        <p:spPr>
          <a:xfrm>
            <a:off x="6186200" y="6446302"/>
            <a:ext cx="601447" cy="230832"/>
          </a:xfrm>
          <a:prstGeom prst="rect">
            <a:avLst/>
          </a:prstGeom>
          <a:noFill/>
        </p:spPr>
        <p:txBody>
          <a:bodyPr wrap="none" rtlCol="0">
            <a:spAutoFit/>
          </a:bodyPr>
          <a:lstStyle/>
          <a:p>
            <a:r>
              <a:rPr lang="es-MX" sz="900" dirty="0"/>
              <a:t>20.0.0.2</a:t>
            </a:r>
          </a:p>
        </p:txBody>
      </p:sp>
      <p:sp>
        <p:nvSpPr>
          <p:cNvPr id="47" name="CuadroTexto 46">
            <a:extLst>
              <a:ext uri="{FF2B5EF4-FFF2-40B4-BE49-F238E27FC236}">
                <a16:creationId xmlns:a16="http://schemas.microsoft.com/office/drawing/2014/main" id="{789AD15B-C291-493D-81AC-9EC3675AB97D}"/>
              </a:ext>
            </a:extLst>
          </p:cNvPr>
          <p:cNvSpPr txBox="1"/>
          <p:nvPr/>
        </p:nvSpPr>
        <p:spPr>
          <a:xfrm>
            <a:off x="8440208" y="6446302"/>
            <a:ext cx="601447" cy="230832"/>
          </a:xfrm>
          <a:prstGeom prst="rect">
            <a:avLst/>
          </a:prstGeom>
          <a:noFill/>
        </p:spPr>
        <p:txBody>
          <a:bodyPr wrap="none" rtlCol="0">
            <a:spAutoFit/>
          </a:bodyPr>
          <a:lstStyle/>
          <a:p>
            <a:r>
              <a:rPr lang="es-MX" sz="900" dirty="0"/>
              <a:t>40.0.0.1</a:t>
            </a:r>
          </a:p>
        </p:txBody>
      </p:sp>
      <p:sp>
        <p:nvSpPr>
          <p:cNvPr id="48" name="CuadroTexto 47">
            <a:extLst>
              <a:ext uri="{FF2B5EF4-FFF2-40B4-BE49-F238E27FC236}">
                <a16:creationId xmlns:a16="http://schemas.microsoft.com/office/drawing/2014/main" id="{6A215542-8577-469A-8D33-DAC785BB138F}"/>
              </a:ext>
            </a:extLst>
          </p:cNvPr>
          <p:cNvSpPr txBox="1"/>
          <p:nvPr/>
        </p:nvSpPr>
        <p:spPr>
          <a:xfrm>
            <a:off x="9533728" y="6458904"/>
            <a:ext cx="601447" cy="230832"/>
          </a:xfrm>
          <a:prstGeom prst="rect">
            <a:avLst/>
          </a:prstGeom>
          <a:noFill/>
        </p:spPr>
        <p:txBody>
          <a:bodyPr wrap="none" rtlCol="0">
            <a:spAutoFit/>
          </a:bodyPr>
          <a:lstStyle/>
          <a:p>
            <a:r>
              <a:rPr lang="es-MX" sz="900" dirty="0"/>
              <a:t>40.0.0.2</a:t>
            </a:r>
          </a:p>
        </p:txBody>
      </p:sp>
      <p:sp>
        <p:nvSpPr>
          <p:cNvPr id="49" name="CuadroTexto 48">
            <a:extLst>
              <a:ext uri="{FF2B5EF4-FFF2-40B4-BE49-F238E27FC236}">
                <a16:creationId xmlns:a16="http://schemas.microsoft.com/office/drawing/2014/main" id="{54503197-522C-45CC-ACC9-A53480DB1087}"/>
              </a:ext>
            </a:extLst>
          </p:cNvPr>
          <p:cNvSpPr txBox="1"/>
          <p:nvPr/>
        </p:nvSpPr>
        <p:spPr>
          <a:xfrm>
            <a:off x="3025789" y="2929116"/>
            <a:ext cx="292517" cy="307777"/>
          </a:xfrm>
          <a:prstGeom prst="rect">
            <a:avLst/>
          </a:prstGeom>
          <a:noFill/>
        </p:spPr>
        <p:txBody>
          <a:bodyPr wrap="square" rtlCol="0">
            <a:spAutoFit/>
          </a:bodyPr>
          <a:lstStyle/>
          <a:p>
            <a:r>
              <a:rPr lang="es-MX" sz="1400" dirty="0"/>
              <a:t>S</a:t>
            </a:r>
          </a:p>
        </p:txBody>
      </p:sp>
      <p:sp>
        <p:nvSpPr>
          <p:cNvPr id="50" name="CuadroTexto 49">
            <a:extLst>
              <a:ext uri="{FF2B5EF4-FFF2-40B4-BE49-F238E27FC236}">
                <a16:creationId xmlns:a16="http://schemas.microsoft.com/office/drawing/2014/main" id="{B5601B46-B7E6-485D-93D1-17B268D001A6}"/>
              </a:ext>
            </a:extLst>
          </p:cNvPr>
          <p:cNvSpPr txBox="1"/>
          <p:nvPr/>
        </p:nvSpPr>
        <p:spPr>
          <a:xfrm>
            <a:off x="3032417" y="4486242"/>
            <a:ext cx="292517" cy="307777"/>
          </a:xfrm>
          <a:prstGeom prst="rect">
            <a:avLst/>
          </a:prstGeom>
          <a:noFill/>
        </p:spPr>
        <p:txBody>
          <a:bodyPr wrap="square" rtlCol="0">
            <a:spAutoFit/>
          </a:bodyPr>
          <a:lstStyle/>
          <a:p>
            <a:r>
              <a:rPr lang="es-MX" sz="1400" dirty="0"/>
              <a:t>C</a:t>
            </a:r>
          </a:p>
        </p:txBody>
      </p:sp>
      <p:sp>
        <p:nvSpPr>
          <p:cNvPr id="51" name="CuadroTexto 50">
            <a:extLst>
              <a:ext uri="{FF2B5EF4-FFF2-40B4-BE49-F238E27FC236}">
                <a16:creationId xmlns:a16="http://schemas.microsoft.com/office/drawing/2014/main" id="{E565A115-A7DA-4DAD-A0CD-CB26BB0DC5B6}"/>
              </a:ext>
            </a:extLst>
          </p:cNvPr>
          <p:cNvSpPr txBox="1"/>
          <p:nvPr/>
        </p:nvSpPr>
        <p:spPr>
          <a:xfrm>
            <a:off x="9785775" y="5767362"/>
            <a:ext cx="292517" cy="307777"/>
          </a:xfrm>
          <a:prstGeom prst="rect">
            <a:avLst/>
          </a:prstGeom>
          <a:noFill/>
        </p:spPr>
        <p:txBody>
          <a:bodyPr wrap="square" rtlCol="0">
            <a:spAutoFit/>
          </a:bodyPr>
          <a:lstStyle/>
          <a:p>
            <a:r>
              <a:rPr lang="es-MX" sz="1400" dirty="0"/>
              <a:t>C</a:t>
            </a:r>
          </a:p>
        </p:txBody>
      </p:sp>
      <p:cxnSp>
        <p:nvCxnSpPr>
          <p:cNvPr id="53" name="Conector recto de flecha 52">
            <a:extLst>
              <a:ext uri="{FF2B5EF4-FFF2-40B4-BE49-F238E27FC236}">
                <a16:creationId xmlns:a16="http://schemas.microsoft.com/office/drawing/2014/main" id="{92C89C3B-8AF7-4C25-8561-C382810CFD1F}"/>
              </a:ext>
            </a:extLst>
          </p:cNvPr>
          <p:cNvCxnSpPr/>
          <p:nvPr/>
        </p:nvCxnSpPr>
        <p:spPr>
          <a:xfrm>
            <a:off x="3752046" y="3429000"/>
            <a:ext cx="1628294" cy="58825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4" name="CuadroTexto 53">
            <a:extLst>
              <a:ext uri="{FF2B5EF4-FFF2-40B4-BE49-F238E27FC236}">
                <a16:creationId xmlns:a16="http://schemas.microsoft.com/office/drawing/2014/main" id="{3CCF1747-A95A-4469-8097-BF7AD605A770}"/>
              </a:ext>
            </a:extLst>
          </p:cNvPr>
          <p:cNvSpPr txBox="1"/>
          <p:nvPr/>
        </p:nvSpPr>
        <p:spPr>
          <a:xfrm rot="1414283">
            <a:off x="4083003" y="3370831"/>
            <a:ext cx="1051173" cy="369332"/>
          </a:xfrm>
          <a:prstGeom prst="rect">
            <a:avLst/>
          </a:prstGeom>
          <a:noFill/>
        </p:spPr>
        <p:txBody>
          <a:bodyPr wrap="square" rtlCol="0">
            <a:spAutoFit/>
          </a:bodyPr>
          <a:lstStyle/>
          <a:p>
            <a:r>
              <a:rPr lang="es-MX" dirty="0"/>
              <a:t>reporte</a:t>
            </a:r>
          </a:p>
        </p:txBody>
      </p:sp>
      <p:cxnSp>
        <p:nvCxnSpPr>
          <p:cNvPr id="55" name="Conector recto de flecha 54">
            <a:extLst>
              <a:ext uri="{FF2B5EF4-FFF2-40B4-BE49-F238E27FC236}">
                <a16:creationId xmlns:a16="http://schemas.microsoft.com/office/drawing/2014/main" id="{5E5F24C4-DCC4-48FF-A4CC-FD37C2D432F3}"/>
              </a:ext>
            </a:extLst>
          </p:cNvPr>
          <p:cNvCxnSpPr>
            <a:cxnSpLocks/>
          </p:cNvCxnSpPr>
          <p:nvPr/>
        </p:nvCxnSpPr>
        <p:spPr>
          <a:xfrm flipH="1" flipV="1">
            <a:off x="9627964" y="5029324"/>
            <a:ext cx="639961" cy="68543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8" name="CuadroTexto 57">
            <a:extLst>
              <a:ext uri="{FF2B5EF4-FFF2-40B4-BE49-F238E27FC236}">
                <a16:creationId xmlns:a16="http://schemas.microsoft.com/office/drawing/2014/main" id="{310ACC18-DBF7-4A19-8AD5-C42AA94697E6}"/>
              </a:ext>
            </a:extLst>
          </p:cNvPr>
          <p:cNvSpPr txBox="1"/>
          <p:nvPr/>
        </p:nvSpPr>
        <p:spPr>
          <a:xfrm rot="2784166">
            <a:off x="9655242" y="5128053"/>
            <a:ext cx="1051173" cy="369332"/>
          </a:xfrm>
          <a:prstGeom prst="rect">
            <a:avLst/>
          </a:prstGeom>
          <a:noFill/>
        </p:spPr>
        <p:txBody>
          <a:bodyPr wrap="square" rtlCol="0">
            <a:spAutoFit/>
          </a:bodyPr>
          <a:lstStyle/>
          <a:p>
            <a:r>
              <a:rPr lang="es-MX" dirty="0"/>
              <a:t>reporte</a:t>
            </a:r>
          </a:p>
        </p:txBody>
      </p:sp>
      <p:sp>
        <p:nvSpPr>
          <p:cNvPr id="59" name="CuadroTexto 58">
            <a:extLst>
              <a:ext uri="{FF2B5EF4-FFF2-40B4-BE49-F238E27FC236}">
                <a16:creationId xmlns:a16="http://schemas.microsoft.com/office/drawing/2014/main" id="{A11754C8-4020-4434-8AE6-54367F30DE6A}"/>
              </a:ext>
            </a:extLst>
          </p:cNvPr>
          <p:cNvSpPr txBox="1"/>
          <p:nvPr/>
        </p:nvSpPr>
        <p:spPr>
          <a:xfrm flipH="1">
            <a:off x="8343816" y="4333836"/>
            <a:ext cx="662683" cy="253916"/>
          </a:xfrm>
          <a:prstGeom prst="rect">
            <a:avLst/>
          </a:prstGeom>
          <a:noFill/>
        </p:spPr>
        <p:txBody>
          <a:bodyPr wrap="square" rtlCol="0">
            <a:spAutoFit/>
          </a:bodyPr>
          <a:lstStyle/>
          <a:p>
            <a:r>
              <a:rPr lang="es-MX" sz="1050" dirty="0"/>
              <a:t>Fa0/0</a:t>
            </a:r>
          </a:p>
        </p:txBody>
      </p:sp>
      <p:sp>
        <p:nvSpPr>
          <p:cNvPr id="60" name="CuadroTexto 59">
            <a:extLst>
              <a:ext uri="{FF2B5EF4-FFF2-40B4-BE49-F238E27FC236}">
                <a16:creationId xmlns:a16="http://schemas.microsoft.com/office/drawing/2014/main" id="{561C28C2-C51B-461F-B07C-87E9B81E2B27}"/>
              </a:ext>
            </a:extLst>
          </p:cNvPr>
          <p:cNvSpPr txBox="1"/>
          <p:nvPr/>
        </p:nvSpPr>
        <p:spPr>
          <a:xfrm flipH="1">
            <a:off x="5074847" y="4346545"/>
            <a:ext cx="662683" cy="253916"/>
          </a:xfrm>
          <a:prstGeom prst="rect">
            <a:avLst/>
          </a:prstGeom>
          <a:noFill/>
        </p:spPr>
        <p:txBody>
          <a:bodyPr wrap="square" rtlCol="0">
            <a:spAutoFit/>
          </a:bodyPr>
          <a:lstStyle/>
          <a:p>
            <a:r>
              <a:rPr lang="es-MX" sz="1050" dirty="0"/>
              <a:t>Fa0/0</a:t>
            </a:r>
          </a:p>
        </p:txBody>
      </p:sp>
      <p:sp>
        <p:nvSpPr>
          <p:cNvPr id="61" name="CuadroTexto 60">
            <a:extLst>
              <a:ext uri="{FF2B5EF4-FFF2-40B4-BE49-F238E27FC236}">
                <a16:creationId xmlns:a16="http://schemas.microsoft.com/office/drawing/2014/main" id="{50EF7B11-DE1A-47D3-81B4-3BEB774A6453}"/>
              </a:ext>
            </a:extLst>
          </p:cNvPr>
          <p:cNvSpPr txBox="1"/>
          <p:nvPr/>
        </p:nvSpPr>
        <p:spPr>
          <a:xfrm flipH="1">
            <a:off x="6404302" y="4317064"/>
            <a:ext cx="662683" cy="253916"/>
          </a:xfrm>
          <a:prstGeom prst="rect">
            <a:avLst/>
          </a:prstGeom>
          <a:noFill/>
        </p:spPr>
        <p:txBody>
          <a:bodyPr wrap="square" rtlCol="0">
            <a:spAutoFit/>
          </a:bodyPr>
          <a:lstStyle/>
          <a:p>
            <a:r>
              <a:rPr lang="es-MX" sz="1050" dirty="0"/>
              <a:t>Fa0/1</a:t>
            </a:r>
          </a:p>
        </p:txBody>
      </p:sp>
      <p:sp>
        <p:nvSpPr>
          <p:cNvPr id="62" name="CuadroTexto 61">
            <a:extLst>
              <a:ext uri="{FF2B5EF4-FFF2-40B4-BE49-F238E27FC236}">
                <a16:creationId xmlns:a16="http://schemas.microsoft.com/office/drawing/2014/main" id="{93F24AB4-9184-4EFF-9BCA-E00C6E340325}"/>
              </a:ext>
            </a:extLst>
          </p:cNvPr>
          <p:cNvSpPr txBox="1"/>
          <p:nvPr/>
        </p:nvSpPr>
        <p:spPr>
          <a:xfrm flipH="1">
            <a:off x="5981385" y="4864075"/>
            <a:ext cx="662683" cy="253916"/>
          </a:xfrm>
          <a:prstGeom prst="rect">
            <a:avLst/>
          </a:prstGeom>
          <a:noFill/>
        </p:spPr>
        <p:txBody>
          <a:bodyPr wrap="square" rtlCol="0">
            <a:spAutoFit/>
          </a:bodyPr>
          <a:lstStyle/>
          <a:p>
            <a:r>
              <a:rPr lang="es-MX" sz="1050" dirty="0"/>
              <a:t>Fa0/2</a:t>
            </a:r>
          </a:p>
        </p:txBody>
      </p:sp>
      <p:sp>
        <p:nvSpPr>
          <p:cNvPr id="63" name="CuadroTexto 62">
            <a:extLst>
              <a:ext uri="{FF2B5EF4-FFF2-40B4-BE49-F238E27FC236}">
                <a16:creationId xmlns:a16="http://schemas.microsoft.com/office/drawing/2014/main" id="{A2F41C90-DC10-4E77-BF45-D430A1BC14F3}"/>
              </a:ext>
            </a:extLst>
          </p:cNvPr>
          <p:cNvSpPr txBox="1"/>
          <p:nvPr/>
        </p:nvSpPr>
        <p:spPr>
          <a:xfrm flipH="1">
            <a:off x="9178170" y="4787952"/>
            <a:ext cx="662683" cy="253916"/>
          </a:xfrm>
          <a:prstGeom prst="rect">
            <a:avLst/>
          </a:prstGeom>
          <a:noFill/>
        </p:spPr>
        <p:txBody>
          <a:bodyPr wrap="square" rtlCol="0">
            <a:spAutoFit/>
          </a:bodyPr>
          <a:lstStyle/>
          <a:p>
            <a:r>
              <a:rPr lang="es-MX" sz="1050" dirty="0"/>
              <a:t>Fa0/1</a:t>
            </a:r>
          </a:p>
        </p:txBody>
      </p:sp>
      <p:graphicFrame>
        <p:nvGraphicFramePr>
          <p:cNvPr id="8" name="Tabla 9">
            <a:extLst>
              <a:ext uri="{FF2B5EF4-FFF2-40B4-BE49-F238E27FC236}">
                <a16:creationId xmlns:a16="http://schemas.microsoft.com/office/drawing/2014/main" id="{BABAF77F-26FA-4A1E-A57C-6ECACD0D164F}"/>
              </a:ext>
            </a:extLst>
          </p:cNvPr>
          <p:cNvGraphicFramePr>
            <a:graphicFrameLocks noGrp="1"/>
          </p:cNvGraphicFramePr>
          <p:nvPr/>
        </p:nvGraphicFramePr>
        <p:xfrm>
          <a:off x="5602845" y="2931781"/>
          <a:ext cx="2406584" cy="1112520"/>
        </p:xfrm>
        <a:graphic>
          <a:graphicData uri="http://schemas.openxmlformats.org/drawingml/2006/table">
            <a:tbl>
              <a:tblPr firstRow="1" bandRow="1">
                <a:tableStyleId>{5C22544A-7EE6-4342-B048-85BDC9FD1C3A}</a:tableStyleId>
              </a:tblPr>
              <a:tblGrid>
                <a:gridCol w="1203292">
                  <a:extLst>
                    <a:ext uri="{9D8B030D-6E8A-4147-A177-3AD203B41FA5}">
                      <a16:colId xmlns:a16="http://schemas.microsoft.com/office/drawing/2014/main" val="3473552212"/>
                    </a:ext>
                  </a:extLst>
                </a:gridCol>
                <a:gridCol w="1203292">
                  <a:extLst>
                    <a:ext uri="{9D8B030D-6E8A-4147-A177-3AD203B41FA5}">
                      <a16:colId xmlns:a16="http://schemas.microsoft.com/office/drawing/2014/main" val="1395392113"/>
                    </a:ext>
                  </a:extLst>
                </a:gridCol>
              </a:tblGrid>
              <a:tr h="370840">
                <a:tc>
                  <a:txBody>
                    <a:bodyPr/>
                    <a:lstStyle/>
                    <a:p>
                      <a:pPr algn="ctr"/>
                      <a:r>
                        <a:rPr lang="es-MX" sz="1050" dirty="0"/>
                        <a:t>Interfaz</a:t>
                      </a:r>
                    </a:p>
                  </a:txBody>
                  <a:tcPr/>
                </a:tc>
                <a:tc>
                  <a:txBody>
                    <a:bodyPr/>
                    <a:lstStyle/>
                    <a:p>
                      <a:pPr algn="ctr"/>
                      <a:r>
                        <a:rPr lang="es-MX" sz="1050" dirty="0"/>
                        <a:t>Grupo</a:t>
                      </a:r>
                    </a:p>
                  </a:txBody>
                  <a:tcPr/>
                </a:tc>
                <a:extLst>
                  <a:ext uri="{0D108BD9-81ED-4DB2-BD59-A6C34878D82A}">
                    <a16:rowId xmlns:a16="http://schemas.microsoft.com/office/drawing/2014/main" val="420031564"/>
                  </a:ext>
                </a:extLst>
              </a:tr>
              <a:tr h="370840">
                <a:tc>
                  <a:txBody>
                    <a:bodyPr/>
                    <a:lstStyle/>
                    <a:p>
                      <a:pPr algn="ctr"/>
                      <a:r>
                        <a:rPr lang="es-MX" sz="1050" dirty="0"/>
                        <a:t>Fa0/0, Fa0/1</a:t>
                      </a:r>
                    </a:p>
                  </a:txBody>
                  <a:tcPr/>
                </a:tc>
                <a:tc>
                  <a:txBody>
                    <a:bodyPr/>
                    <a:lstStyle/>
                    <a:p>
                      <a:pPr algn="ctr"/>
                      <a:r>
                        <a:rPr lang="es-MX" sz="1050" dirty="0"/>
                        <a:t>225.0.0.1</a:t>
                      </a:r>
                    </a:p>
                  </a:txBody>
                  <a:tcPr/>
                </a:tc>
                <a:extLst>
                  <a:ext uri="{0D108BD9-81ED-4DB2-BD59-A6C34878D82A}">
                    <a16:rowId xmlns:a16="http://schemas.microsoft.com/office/drawing/2014/main" val="3787144813"/>
                  </a:ext>
                </a:extLst>
              </a:tr>
              <a:tr h="370840">
                <a:tc>
                  <a:txBody>
                    <a:bodyPr/>
                    <a:lstStyle/>
                    <a:p>
                      <a:pPr algn="ctr"/>
                      <a:endParaRPr lang="es-MX" sz="1050"/>
                    </a:p>
                  </a:txBody>
                  <a:tcPr/>
                </a:tc>
                <a:tc>
                  <a:txBody>
                    <a:bodyPr/>
                    <a:lstStyle/>
                    <a:p>
                      <a:pPr algn="ctr"/>
                      <a:endParaRPr lang="es-MX" sz="1050" dirty="0"/>
                    </a:p>
                  </a:txBody>
                  <a:tcPr/>
                </a:tc>
                <a:extLst>
                  <a:ext uri="{0D108BD9-81ED-4DB2-BD59-A6C34878D82A}">
                    <a16:rowId xmlns:a16="http://schemas.microsoft.com/office/drawing/2014/main" val="2610985136"/>
                  </a:ext>
                </a:extLst>
              </a:tr>
            </a:tbl>
          </a:graphicData>
        </a:graphic>
      </p:graphicFrame>
      <p:pic>
        <p:nvPicPr>
          <p:cNvPr id="52" name="Picture 11" descr="C:\Users\ecoffey\AppData\Local\Temp\Rar$DRa0.175\30088_Device_terminal_default_64.png">
            <a:extLst>
              <a:ext uri="{FF2B5EF4-FFF2-40B4-BE49-F238E27FC236}">
                <a16:creationId xmlns:a16="http://schemas.microsoft.com/office/drawing/2014/main" id="{E7C321CF-94A8-4A77-80F3-C7C2F903A9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8474" y="5016015"/>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56" name="CuadroTexto 55">
            <a:extLst>
              <a:ext uri="{FF2B5EF4-FFF2-40B4-BE49-F238E27FC236}">
                <a16:creationId xmlns:a16="http://schemas.microsoft.com/office/drawing/2014/main" id="{7A620A57-F737-4AF5-BBD1-5ECE264CC042}"/>
              </a:ext>
            </a:extLst>
          </p:cNvPr>
          <p:cNvSpPr txBox="1"/>
          <p:nvPr/>
        </p:nvSpPr>
        <p:spPr>
          <a:xfrm>
            <a:off x="7146986" y="5472267"/>
            <a:ext cx="601447" cy="230832"/>
          </a:xfrm>
          <a:prstGeom prst="rect">
            <a:avLst/>
          </a:prstGeom>
          <a:noFill/>
        </p:spPr>
        <p:txBody>
          <a:bodyPr wrap="none" rtlCol="0">
            <a:spAutoFit/>
          </a:bodyPr>
          <a:lstStyle/>
          <a:p>
            <a:r>
              <a:rPr lang="es-MX" sz="900" dirty="0"/>
              <a:t>30.0.0.1</a:t>
            </a:r>
          </a:p>
        </p:txBody>
      </p:sp>
      <p:cxnSp>
        <p:nvCxnSpPr>
          <p:cNvPr id="13" name="Conector recto 12">
            <a:extLst>
              <a:ext uri="{FF2B5EF4-FFF2-40B4-BE49-F238E27FC236}">
                <a16:creationId xmlns:a16="http://schemas.microsoft.com/office/drawing/2014/main" id="{A718A658-5255-442D-9F16-0261EF7A4C32}"/>
              </a:ext>
            </a:extLst>
          </p:cNvPr>
          <p:cNvCxnSpPr>
            <a:stCxn id="52" idx="0"/>
            <a:endCxn id="6" idx="2"/>
          </p:cNvCxnSpPr>
          <p:nvPr/>
        </p:nvCxnSpPr>
        <p:spPr>
          <a:xfrm flipH="1" flipV="1">
            <a:off x="7456629" y="4774157"/>
            <a:ext cx="5685" cy="2418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ector recto de flecha 56">
            <a:extLst>
              <a:ext uri="{FF2B5EF4-FFF2-40B4-BE49-F238E27FC236}">
                <a16:creationId xmlns:a16="http://schemas.microsoft.com/office/drawing/2014/main" id="{8B2FAC6C-9CF0-4C35-A968-6D303F47FF7F}"/>
              </a:ext>
            </a:extLst>
          </p:cNvPr>
          <p:cNvCxnSpPr>
            <a:cxnSpLocks/>
          </p:cNvCxnSpPr>
          <p:nvPr/>
        </p:nvCxnSpPr>
        <p:spPr>
          <a:xfrm>
            <a:off x="7748433" y="4800001"/>
            <a:ext cx="75006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4" name="Conector recto de flecha 63">
            <a:extLst>
              <a:ext uri="{FF2B5EF4-FFF2-40B4-BE49-F238E27FC236}">
                <a16:creationId xmlns:a16="http://schemas.microsoft.com/office/drawing/2014/main" id="{EB1A8FF9-8F1E-457D-894A-3B4F6887B2CB}"/>
              </a:ext>
            </a:extLst>
          </p:cNvPr>
          <p:cNvCxnSpPr>
            <a:cxnSpLocks/>
          </p:cNvCxnSpPr>
          <p:nvPr/>
        </p:nvCxnSpPr>
        <p:spPr>
          <a:xfrm flipH="1">
            <a:off x="6533209" y="4777685"/>
            <a:ext cx="747334" cy="1398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65" name="CuadroTexto 64">
            <a:extLst>
              <a:ext uri="{FF2B5EF4-FFF2-40B4-BE49-F238E27FC236}">
                <a16:creationId xmlns:a16="http://schemas.microsoft.com/office/drawing/2014/main" id="{16810BBF-C535-4CE1-A1FF-BA73B6E0E2F3}"/>
              </a:ext>
            </a:extLst>
          </p:cNvPr>
          <p:cNvSpPr txBox="1"/>
          <p:nvPr/>
        </p:nvSpPr>
        <p:spPr>
          <a:xfrm>
            <a:off x="7433517" y="4780076"/>
            <a:ext cx="292517" cy="307777"/>
          </a:xfrm>
          <a:prstGeom prst="rect">
            <a:avLst/>
          </a:prstGeom>
          <a:noFill/>
        </p:spPr>
        <p:txBody>
          <a:bodyPr wrap="square" rtlCol="0">
            <a:spAutoFit/>
          </a:bodyPr>
          <a:lstStyle/>
          <a:p>
            <a:r>
              <a:rPr lang="es-MX" sz="1400" dirty="0"/>
              <a:t>C</a:t>
            </a:r>
          </a:p>
        </p:txBody>
      </p:sp>
      <p:sp>
        <p:nvSpPr>
          <p:cNvPr id="66" name="CuadroTexto 65">
            <a:extLst>
              <a:ext uri="{FF2B5EF4-FFF2-40B4-BE49-F238E27FC236}">
                <a16:creationId xmlns:a16="http://schemas.microsoft.com/office/drawing/2014/main" id="{71B43BF6-4FFC-4D81-A529-36E1C2F8FBC0}"/>
              </a:ext>
            </a:extLst>
          </p:cNvPr>
          <p:cNvSpPr txBox="1"/>
          <p:nvPr/>
        </p:nvSpPr>
        <p:spPr>
          <a:xfrm>
            <a:off x="7808575" y="4588734"/>
            <a:ext cx="791402" cy="246221"/>
          </a:xfrm>
          <a:prstGeom prst="rect">
            <a:avLst/>
          </a:prstGeom>
          <a:noFill/>
        </p:spPr>
        <p:txBody>
          <a:bodyPr wrap="square" rtlCol="0">
            <a:spAutoFit/>
          </a:bodyPr>
          <a:lstStyle/>
          <a:p>
            <a:r>
              <a:rPr lang="es-MX" sz="1000" dirty="0"/>
              <a:t>reporte</a:t>
            </a:r>
          </a:p>
        </p:txBody>
      </p:sp>
      <p:sp>
        <p:nvSpPr>
          <p:cNvPr id="68" name="CuadroTexto 67">
            <a:extLst>
              <a:ext uri="{FF2B5EF4-FFF2-40B4-BE49-F238E27FC236}">
                <a16:creationId xmlns:a16="http://schemas.microsoft.com/office/drawing/2014/main" id="{08A8FD4C-D643-4BFA-BC14-D204D5ADD8BC}"/>
              </a:ext>
            </a:extLst>
          </p:cNvPr>
          <p:cNvSpPr txBox="1"/>
          <p:nvPr/>
        </p:nvSpPr>
        <p:spPr>
          <a:xfrm>
            <a:off x="6582748" y="4582108"/>
            <a:ext cx="791402" cy="246221"/>
          </a:xfrm>
          <a:prstGeom prst="rect">
            <a:avLst/>
          </a:prstGeom>
          <a:noFill/>
        </p:spPr>
        <p:txBody>
          <a:bodyPr wrap="square" rtlCol="0">
            <a:spAutoFit/>
          </a:bodyPr>
          <a:lstStyle/>
          <a:p>
            <a:r>
              <a:rPr lang="es-MX" sz="1000" dirty="0"/>
              <a:t>reporte</a:t>
            </a:r>
          </a:p>
        </p:txBody>
      </p:sp>
      <p:sp>
        <p:nvSpPr>
          <p:cNvPr id="67" name="CuadroTexto 66">
            <a:extLst>
              <a:ext uri="{FF2B5EF4-FFF2-40B4-BE49-F238E27FC236}">
                <a16:creationId xmlns:a16="http://schemas.microsoft.com/office/drawing/2014/main" id="{70CF3FDA-2A93-49C0-8CD4-273C52CB45A4}"/>
              </a:ext>
            </a:extLst>
          </p:cNvPr>
          <p:cNvSpPr txBox="1"/>
          <p:nvPr/>
        </p:nvSpPr>
        <p:spPr>
          <a:xfrm>
            <a:off x="2409754" y="3838353"/>
            <a:ext cx="1125629" cy="230832"/>
          </a:xfrm>
          <a:prstGeom prst="rect">
            <a:avLst/>
          </a:prstGeom>
          <a:noFill/>
        </p:spPr>
        <p:txBody>
          <a:bodyPr wrap="none" rtlCol="0">
            <a:spAutoFit/>
          </a:bodyPr>
          <a:lstStyle/>
          <a:p>
            <a:r>
              <a:rPr lang="es-MX" sz="900" dirty="0"/>
              <a:t>01:00:5e:00:00:01</a:t>
            </a:r>
          </a:p>
        </p:txBody>
      </p:sp>
      <p:sp>
        <p:nvSpPr>
          <p:cNvPr id="69" name="CuadroTexto 68">
            <a:extLst>
              <a:ext uri="{FF2B5EF4-FFF2-40B4-BE49-F238E27FC236}">
                <a16:creationId xmlns:a16="http://schemas.microsoft.com/office/drawing/2014/main" id="{8D2F73E5-C778-4A6E-B054-E8CEDB2CB354}"/>
              </a:ext>
            </a:extLst>
          </p:cNvPr>
          <p:cNvSpPr txBox="1"/>
          <p:nvPr/>
        </p:nvSpPr>
        <p:spPr>
          <a:xfrm>
            <a:off x="2459710" y="5395824"/>
            <a:ext cx="1125629" cy="230832"/>
          </a:xfrm>
          <a:prstGeom prst="rect">
            <a:avLst/>
          </a:prstGeom>
          <a:noFill/>
        </p:spPr>
        <p:txBody>
          <a:bodyPr wrap="none" rtlCol="0">
            <a:spAutoFit/>
          </a:bodyPr>
          <a:lstStyle/>
          <a:p>
            <a:r>
              <a:rPr lang="es-MX" sz="900" dirty="0"/>
              <a:t>01:00:5e:00:00:01</a:t>
            </a:r>
          </a:p>
        </p:txBody>
      </p:sp>
      <p:pic>
        <p:nvPicPr>
          <p:cNvPr id="70" name="Picture 11" descr="C:\Users\ecoffey\AppData\Local\Temp\Rar$DRa0.175\30088_Device_terminal_default_64.png">
            <a:extLst>
              <a:ext uri="{FF2B5EF4-FFF2-40B4-BE49-F238E27FC236}">
                <a16:creationId xmlns:a16="http://schemas.microsoft.com/office/drawing/2014/main" id="{B247CF1D-092A-451F-B759-5C61CDD341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3554" y="5810131"/>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71" name="CuadroTexto 70">
            <a:extLst>
              <a:ext uri="{FF2B5EF4-FFF2-40B4-BE49-F238E27FC236}">
                <a16:creationId xmlns:a16="http://schemas.microsoft.com/office/drawing/2014/main" id="{F9DCCA1C-864C-4B6B-86B4-FC83A273885A}"/>
              </a:ext>
            </a:extLst>
          </p:cNvPr>
          <p:cNvSpPr txBox="1"/>
          <p:nvPr/>
        </p:nvSpPr>
        <p:spPr>
          <a:xfrm>
            <a:off x="2890425" y="6254908"/>
            <a:ext cx="601447" cy="230832"/>
          </a:xfrm>
          <a:prstGeom prst="rect">
            <a:avLst/>
          </a:prstGeom>
          <a:noFill/>
        </p:spPr>
        <p:txBody>
          <a:bodyPr wrap="none" rtlCol="0">
            <a:spAutoFit/>
          </a:bodyPr>
          <a:lstStyle/>
          <a:p>
            <a:r>
              <a:rPr lang="es-MX" sz="900" dirty="0"/>
              <a:t>10.0.0.3</a:t>
            </a:r>
          </a:p>
        </p:txBody>
      </p:sp>
      <p:cxnSp>
        <p:nvCxnSpPr>
          <p:cNvPr id="72" name="Conector recto 71">
            <a:extLst>
              <a:ext uri="{FF2B5EF4-FFF2-40B4-BE49-F238E27FC236}">
                <a16:creationId xmlns:a16="http://schemas.microsoft.com/office/drawing/2014/main" id="{FA2E16EE-594C-4B4C-90D1-EABA8A51B3B2}"/>
              </a:ext>
            </a:extLst>
          </p:cNvPr>
          <p:cNvCxnSpPr>
            <a:cxnSpLocks/>
          </p:cNvCxnSpPr>
          <p:nvPr/>
        </p:nvCxnSpPr>
        <p:spPr>
          <a:xfrm flipV="1">
            <a:off x="3362853" y="4560902"/>
            <a:ext cx="721165" cy="1443800"/>
          </a:xfrm>
          <a:prstGeom prst="line">
            <a:avLst/>
          </a:prstGeom>
        </p:spPr>
        <p:style>
          <a:lnRef idx="1">
            <a:schemeClr val="accent1"/>
          </a:lnRef>
          <a:fillRef idx="0">
            <a:schemeClr val="accent1"/>
          </a:fillRef>
          <a:effectRef idx="0">
            <a:schemeClr val="accent1"/>
          </a:effectRef>
          <a:fontRef idx="minor">
            <a:schemeClr val="tx1"/>
          </a:fontRef>
        </p:style>
      </p:cxnSp>
      <p:sp>
        <p:nvSpPr>
          <p:cNvPr id="73" name="CuadroTexto 72">
            <a:extLst>
              <a:ext uri="{FF2B5EF4-FFF2-40B4-BE49-F238E27FC236}">
                <a16:creationId xmlns:a16="http://schemas.microsoft.com/office/drawing/2014/main" id="{042332FA-A9DD-4620-BA22-003B6CE1FD61}"/>
              </a:ext>
            </a:extLst>
          </p:cNvPr>
          <p:cNvSpPr txBox="1"/>
          <p:nvPr/>
        </p:nvSpPr>
        <p:spPr>
          <a:xfrm>
            <a:off x="6745368" y="5580599"/>
            <a:ext cx="1125629" cy="230832"/>
          </a:xfrm>
          <a:prstGeom prst="rect">
            <a:avLst/>
          </a:prstGeom>
          <a:noFill/>
        </p:spPr>
        <p:txBody>
          <a:bodyPr wrap="none" rtlCol="0">
            <a:spAutoFit/>
          </a:bodyPr>
          <a:lstStyle/>
          <a:p>
            <a:r>
              <a:rPr lang="es-MX" sz="900" dirty="0"/>
              <a:t>01:00:5e:00:00:01</a:t>
            </a:r>
          </a:p>
        </p:txBody>
      </p:sp>
      <p:sp>
        <p:nvSpPr>
          <p:cNvPr id="74" name="CuadroTexto 73">
            <a:extLst>
              <a:ext uri="{FF2B5EF4-FFF2-40B4-BE49-F238E27FC236}">
                <a16:creationId xmlns:a16="http://schemas.microsoft.com/office/drawing/2014/main" id="{4D8EF282-E8D8-44FC-99C1-2721164E7E79}"/>
              </a:ext>
            </a:extLst>
          </p:cNvPr>
          <p:cNvSpPr txBox="1"/>
          <p:nvPr/>
        </p:nvSpPr>
        <p:spPr>
          <a:xfrm>
            <a:off x="9177922" y="6625114"/>
            <a:ext cx="1125629" cy="230832"/>
          </a:xfrm>
          <a:prstGeom prst="rect">
            <a:avLst/>
          </a:prstGeom>
          <a:noFill/>
        </p:spPr>
        <p:txBody>
          <a:bodyPr wrap="none" rtlCol="0">
            <a:spAutoFit/>
          </a:bodyPr>
          <a:lstStyle/>
          <a:p>
            <a:r>
              <a:rPr lang="es-MX" sz="900" dirty="0"/>
              <a:t>01:00:5e:00:00:01</a:t>
            </a:r>
          </a:p>
        </p:txBody>
      </p:sp>
    </p:spTree>
    <p:extLst>
      <p:ext uri="{BB962C8B-B14F-4D97-AF65-F5344CB8AC3E}">
        <p14:creationId xmlns:p14="http://schemas.microsoft.com/office/powerpoint/2010/main" val="32788052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3279775" y="623888"/>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3276600" y="2133600"/>
            <a:ext cx="8915400" cy="3778250"/>
          </a:xfrm>
        </p:spPr>
        <p:txBody>
          <a:bodyPr/>
          <a:lstStyle/>
          <a:p>
            <a:r>
              <a:rPr lang="es-MX" dirty="0"/>
              <a:t>IGMPv1</a:t>
            </a:r>
          </a:p>
        </p:txBody>
      </p:sp>
      <p:pic>
        <p:nvPicPr>
          <p:cNvPr id="7170" name="Picture 2" descr="Internet Group Management Protocol (IGMP) – TutorZine">
            <a:extLst>
              <a:ext uri="{FF2B5EF4-FFF2-40B4-BE49-F238E27FC236}">
                <a16:creationId xmlns:a16="http://schemas.microsoft.com/office/drawing/2014/main" id="{C02EB234-52EB-46A4-A156-76CAEF9235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985" y="2512218"/>
            <a:ext cx="7236895" cy="1833563"/>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27087DD0-C83B-49DF-B37F-54CD9D8271C0}"/>
              </a:ext>
            </a:extLst>
          </p:cNvPr>
          <p:cNvSpPr txBox="1"/>
          <p:nvPr/>
        </p:nvSpPr>
        <p:spPr>
          <a:xfrm flipH="1">
            <a:off x="6857339" y="4884396"/>
            <a:ext cx="842176" cy="369332"/>
          </a:xfrm>
          <a:prstGeom prst="rect">
            <a:avLst/>
          </a:prstGeom>
          <a:noFill/>
        </p:spPr>
        <p:txBody>
          <a:bodyPr wrap="square" rtlCol="0">
            <a:spAutoFit/>
          </a:bodyPr>
          <a:lstStyle/>
          <a:p>
            <a:r>
              <a:rPr lang="es-MX" dirty="0"/>
              <a:t>Tipo=</a:t>
            </a:r>
          </a:p>
        </p:txBody>
      </p:sp>
      <p:sp>
        <p:nvSpPr>
          <p:cNvPr id="5" name="Abrir llave 4">
            <a:extLst>
              <a:ext uri="{FF2B5EF4-FFF2-40B4-BE49-F238E27FC236}">
                <a16:creationId xmlns:a16="http://schemas.microsoft.com/office/drawing/2014/main" id="{4A381E56-4D9D-412A-9056-967B0854FBC7}"/>
              </a:ext>
            </a:extLst>
          </p:cNvPr>
          <p:cNvSpPr/>
          <p:nvPr/>
        </p:nvSpPr>
        <p:spPr>
          <a:xfrm>
            <a:off x="7699515" y="4774105"/>
            <a:ext cx="212035" cy="5556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6" name="CuadroTexto 5">
            <a:extLst>
              <a:ext uri="{FF2B5EF4-FFF2-40B4-BE49-F238E27FC236}">
                <a16:creationId xmlns:a16="http://schemas.microsoft.com/office/drawing/2014/main" id="{DD23673D-22C5-4C25-8BE8-F4759104ECF6}"/>
              </a:ext>
            </a:extLst>
          </p:cNvPr>
          <p:cNvSpPr txBox="1"/>
          <p:nvPr/>
        </p:nvSpPr>
        <p:spPr>
          <a:xfrm flipH="1">
            <a:off x="7845290" y="4746827"/>
            <a:ext cx="2591464" cy="800219"/>
          </a:xfrm>
          <a:prstGeom prst="rect">
            <a:avLst/>
          </a:prstGeom>
          <a:noFill/>
        </p:spPr>
        <p:txBody>
          <a:bodyPr wrap="square" rtlCol="0">
            <a:spAutoFit/>
          </a:bodyPr>
          <a:lstStyle/>
          <a:p>
            <a:r>
              <a:rPr lang="es-MX" sz="1400" dirty="0"/>
              <a:t>1 enviado por el enrutador</a:t>
            </a:r>
          </a:p>
          <a:p>
            <a:r>
              <a:rPr lang="es-MX" sz="1400" dirty="0"/>
              <a:t>2 enviado por el host</a:t>
            </a:r>
          </a:p>
          <a:p>
            <a:endParaRPr lang="es-MX" dirty="0"/>
          </a:p>
        </p:txBody>
      </p:sp>
      <p:pic>
        <p:nvPicPr>
          <p:cNvPr id="9" name="Imagen 8">
            <a:extLst>
              <a:ext uri="{FF2B5EF4-FFF2-40B4-BE49-F238E27FC236}">
                <a16:creationId xmlns:a16="http://schemas.microsoft.com/office/drawing/2014/main" id="{4F75BCA8-BFB3-43D4-96E3-2EE73926E106}"/>
              </a:ext>
            </a:extLst>
          </p:cNvPr>
          <p:cNvPicPr>
            <a:picLocks noChangeAspect="1"/>
          </p:cNvPicPr>
          <p:nvPr/>
        </p:nvPicPr>
        <p:blipFill>
          <a:blip r:embed="rId3"/>
          <a:stretch>
            <a:fillRect/>
          </a:stretch>
        </p:blipFill>
        <p:spPr>
          <a:xfrm>
            <a:off x="213152" y="4417647"/>
            <a:ext cx="3725725" cy="2466508"/>
          </a:xfrm>
          <a:prstGeom prst="rect">
            <a:avLst/>
          </a:prstGeom>
        </p:spPr>
      </p:pic>
    </p:spTree>
    <p:extLst>
      <p:ext uri="{BB962C8B-B14F-4D97-AF65-F5344CB8AC3E}">
        <p14:creationId xmlns:p14="http://schemas.microsoft.com/office/powerpoint/2010/main" val="2915370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3279775" y="623888"/>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3276600" y="2133600"/>
            <a:ext cx="8915400" cy="3778250"/>
          </a:xfrm>
        </p:spPr>
        <p:txBody>
          <a:bodyPr/>
          <a:lstStyle/>
          <a:p>
            <a:r>
              <a:rPr lang="es-MX" dirty="0"/>
              <a:t>IGMPv2</a:t>
            </a:r>
          </a:p>
        </p:txBody>
      </p:sp>
      <p:pic>
        <p:nvPicPr>
          <p:cNvPr id="8" name="Imagen 7">
            <a:extLst>
              <a:ext uri="{FF2B5EF4-FFF2-40B4-BE49-F238E27FC236}">
                <a16:creationId xmlns:a16="http://schemas.microsoft.com/office/drawing/2014/main" id="{8D3BEFEA-C023-4FEE-B254-CE8982CAE7D3}"/>
              </a:ext>
            </a:extLst>
          </p:cNvPr>
          <p:cNvPicPr>
            <a:picLocks noChangeAspect="1"/>
          </p:cNvPicPr>
          <p:nvPr/>
        </p:nvPicPr>
        <p:blipFill>
          <a:blip r:embed="rId2"/>
          <a:stretch>
            <a:fillRect/>
          </a:stretch>
        </p:blipFill>
        <p:spPr>
          <a:xfrm>
            <a:off x="3541712" y="2443342"/>
            <a:ext cx="4267290" cy="1333528"/>
          </a:xfrm>
          <a:prstGeom prst="rect">
            <a:avLst/>
          </a:prstGeom>
        </p:spPr>
      </p:pic>
      <p:pic>
        <p:nvPicPr>
          <p:cNvPr id="10" name="Imagen 9">
            <a:extLst>
              <a:ext uri="{FF2B5EF4-FFF2-40B4-BE49-F238E27FC236}">
                <a16:creationId xmlns:a16="http://schemas.microsoft.com/office/drawing/2014/main" id="{7FAE4B9C-A8BA-4778-8527-F7C8389B8220}"/>
              </a:ext>
            </a:extLst>
          </p:cNvPr>
          <p:cNvPicPr>
            <a:picLocks noChangeAspect="1"/>
          </p:cNvPicPr>
          <p:nvPr/>
        </p:nvPicPr>
        <p:blipFill>
          <a:blip r:embed="rId3"/>
          <a:stretch>
            <a:fillRect/>
          </a:stretch>
        </p:blipFill>
        <p:spPr>
          <a:xfrm>
            <a:off x="194940" y="3911876"/>
            <a:ext cx="3725725" cy="2466508"/>
          </a:xfrm>
          <a:prstGeom prst="rect">
            <a:avLst/>
          </a:prstGeom>
        </p:spPr>
      </p:pic>
      <p:sp>
        <p:nvSpPr>
          <p:cNvPr id="6" name="CustomShape 10">
            <a:extLst>
              <a:ext uri="{FF2B5EF4-FFF2-40B4-BE49-F238E27FC236}">
                <a16:creationId xmlns:a16="http://schemas.microsoft.com/office/drawing/2014/main" id="{A44AFA7A-83E2-4F73-926A-044408546C69}"/>
              </a:ext>
            </a:extLst>
          </p:cNvPr>
          <p:cNvSpPr/>
          <p:nvPr/>
        </p:nvSpPr>
        <p:spPr>
          <a:xfrm>
            <a:off x="5504400" y="4596480"/>
            <a:ext cx="1028520" cy="36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err="1">
                <a:solidFill>
                  <a:srgbClr val="000000"/>
                </a:solidFill>
                <a:latin typeface="Arial"/>
                <a:ea typeface="DejaVu Sans"/>
              </a:rPr>
              <a:t>Tiempo</a:t>
            </a:r>
            <a:endParaRPr lang="es-MX" sz="1800" b="0" strike="noStrike" spc="-1" dirty="0">
              <a:latin typeface="Arial"/>
            </a:endParaRPr>
          </a:p>
        </p:txBody>
      </p:sp>
      <p:sp>
        <p:nvSpPr>
          <p:cNvPr id="7" name="CustomShape 11">
            <a:extLst>
              <a:ext uri="{FF2B5EF4-FFF2-40B4-BE49-F238E27FC236}">
                <a16:creationId xmlns:a16="http://schemas.microsoft.com/office/drawing/2014/main" id="{F1CBB281-013B-493C-83ED-9028FCF6681F}"/>
              </a:ext>
            </a:extLst>
          </p:cNvPr>
          <p:cNvSpPr/>
          <p:nvPr/>
        </p:nvSpPr>
        <p:spPr>
          <a:xfrm>
            <a:off x="6565680" y="4456080"/>
            <a:ext cx="135000" cy="57096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9" name="CustomShape 12">
            <a:extLst>
              <a:ext uri="{FF2B5EF4-FFF2-40B4-BE49-F238E27FC236}">
                <a16:creationId xmlns:a16="http://schemas.microsoft.com/office/drawing/2014/main" id="{E41668FD-546A-4A51-BC4F-6153EB2C0182}"/>
              </a:ext>
            </a:extLst>
          </p:cNvPr>
          <p:cNvSpPr/>
          <p:nvPr/>
        </p:nvSpPr>
        <p:spPr>
          <a:xfrm>
            <a:off x="6702480" y="4596480"/>
            <a:ext cx="4649040" cy="67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a:solidFill>
                  <a:srgbClr val="000000"/>
                </a:solidFill>
                <a:latin typeface="Arial"/>
                <a:ea typeface="DejaVu Sans"/>
              </a:rPr>
              <a:t>Solo para </a:t>
            </a:r>
            <a:r>
              <a:rPr lang="en-US" sz="1800" b="0" strike="noStrike" spc="-1" dirty="0" err="1">
                <a:solidFill>
                  <a:srgbClr val="000000"/>
                </a:solidFill>
                <a:latin typeface="Arial"/>
                <a:ea typeface="DejaVu Sans"/>
              </a:rPr>
              <a:t>el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tipo</a:t>
            </a:r>
            <a:r>
              <a:rPr lang="en-US" sz="1800" b="0" strike="noStrike" spc="-1" dirty="0">
                <a:solidFill>
                  <a:srgbClr val="000000"/>
                </a:solidFill>
                <a:latin typeface="Arial"/>
                <a:ea typeface="DejaVu Sans"/>
              </a:rPr>
              <a:t> (0x11)</a:t>
            </a:r>
            <a:r>
              <a:rPr lang="en-US" sz="1800" b="0" strike="noStrike" spc="-1" baseline="-25000" dirty="0">
                <a:solidFill>
                  <a:srgbClr val="000000"/>
                </a:solidFill>
                <a:latin typeface="Arial"/>
                <a:ea typeface="DejaVu Sans"/>
              </a:rPr>
              <a:t>16</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en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milisegundos</a:t>
            </a:r>
            <a:endParaRPr lang="es-MX" sz="1800" b="0" strike="noStrike" spc="-1" dirty="0">
              <a:latin typeface="Arial"/>
            </a:endParaRPr>
          </a:p>
          <a:p>
            <a:pPr>
              <a:lnSpc>
                <a:spcPct val="100000"/>
              </a:lnSpc>
            </a:pPr>
            <a:endParaRPr lang="es-MX" sz="1800" b="0" strike="noStrike" spc="-1" dirty="0">
              <a:latin typeface="Arial"/>
            </a:endParaRPr>
          </a:p>
        </p:txBody>
      </p:sp>
    </p:spTree>
    <p:extLst>
      <p:ext uri="{BB962C8B-B14F-4D97-AF65-F5344CB8AC3E}">
        <p14:creationId xmlns:p14="http://schemas.microsoft.com/office/powerpoint/2010/main" val="10697414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3279775" y="623888"/>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3276600" y="1539875"/>
            <a:ext cx="8915400" cy="3778250"/>
          </a:xfrm>
        </p:spPr>
        <p:txBody>
          <a:bodyPr/>
          <a:lstStyle/>
          <a:p>
            <a:r>
              <a:rPr lang="es-MX" dirty="0"/>
              <a:t>IGMPv3</a:t>
            </a:r>
          </a:p>
        </p:txBody>
      </p:sp>
      <p:pic>
        <p:nvPicPr>
          <p:cNvPr id="10" name="Imagen 9">
            <a:extLst>
              <a:ext uri="{FF2B5EF4-FFF2-40B4-BE49-F238E27FC236}">
                <a16:creationId xmlns:a16="http://schemas.microsoft.com/office/drawing/2014/main" id="{7FAE4B9C-A8BA-4778-8527-F7C8389B8220}"/>
              </a:ext>
            </a:extLst>
          </p:cNvPr>
          <p:cNvPicPr>
            <a:picLocks noChangeAspect="1"/>
          </p:cNvPicPr>
          <p:nvPr/>
        </p:nvPicPr>
        <p:blipFill>
          <a:blip r:embed="rId2"/>
          <a:stretch>
            <a:fillRect/>
          </a:stretch>
        </p:blipFill>
        <p:spPr>
          <a:xfrm>
            <a:off x="65810" y="3719747"/>
            <a:ext cx="3725725" cy="2466508"/>
          </a:xfrm>
          <a:prstGeom prst="rect">
            <a:avLst/>
          </a:prstGeom>
        </p:spPr>
      </p:pic>
      <p:sp>
        <p:nvSpPr>
          <p:cNvPr id="4" name="CuadroTexto 3">
            <a:extLst>
              <a:ext uri="{FF2B5EF4-FFF2-40B4-BE49-F238E27FC236}">
                <a16:creationId xmlns:a16="http://schemas.microsoft.com/office/drawing/2014/main" id="{C3395BF5-E947-4360-B3A9-A6451A384C58}"/>
              </a:ext>
            </a:extLst>
          </p:cNvPr>
          <p:cNvSpPr txBox="1"/>
          <p:nvPr/>
        </p:nvSpPr>
        <p:spPr>
          <a:xfrm>
            <a:off x="12557004" y="3027249"/>
            <a:ext cx="5367130" cy="1384995"/>
          </a:xfrm>
          <a:prstGeom prst="rect">
            <a:avLst/>
          </a:prstGeom>
          <a:noFill/>
        </p:spPr>
        <p:txBody>
          <a:bodyPr wrap="square" rtlCol="0">
            <a:spAutoFit/>
          </a:bodyPr>
          <a:lstStyle/>
          <a:p>
            <a:r>
              <a:rPr lang="es-MX" sz="1400" b="1" dirty="0"/>
              <a:t>S</a:t>
            </a:r>
            <a:r>
              <a:rPr lang="es-MX" sz="1400" dirty="0"/>
              <a:t> = suprimir las actualizaciones del temporizador </a:t>
            </a:r>
          </a:p>
          <a:p>
            <a:r>
              <a:rPr lang="es-MX" sz="1400" b="1" dirty="0"/>
              <a:t>QRV</a:t>
            </a:r>
            <a:r>
              <a:rPr lang="es-MX" sz="1400" dirty="0"/>
              <a:t>= robustez del interrogador (3 bits) usado para prevenir pérdida de paquetes (valor default=2)</a:t>
            </a:r>
          </a:p>
          <a:p>
            <a:r>
              <a:rPr lang="es-MX" sz="1400" b="1" dirty="0"/>
              <a:t>CCIQ</a:t>
            </a:r>
            <a:r>
              <a:rPr lang="es-MX" sz="1400" dirty="0"/>
              <a:t>= código de intervalo de consulta (</a:t>
            </a:r>
            <a:r>
              <a:rPr lang="es-MX" sz="1400" dirty="0" err="1"/>
              <a:t>seg</a:t>
            </a:r>
            <a:r>
              <a:rPr lang="es-MX" sz="1400" dirty="0"/>
              <a:t>)</a:t>
            </a:r>
          </a:p>
          <a:p>
            <a:r>
              <a:rPr lang="es-MX" sz="1400" b="1" dirty="0"/>
              <a:t>Fuentes</a:t>
            </a:r>
            <a:r>
              <a:rPr lang="es-MX" sz="1400" dirty="0"/>
              <a:t>= orígenes de donde puede venir el mensaje (fuentes de difusión seleccionables)</a:t>
            </a:r>
          </a:p>
        </p:txBody>
      </p:sp>
      <p:pic>
        <p:nvPicPr>
          <p:cNvPr id="6" name="Imagen 5">
            <a:extLst>
              <a:ext uri="{FF2B5EF4-FFF2-40B4-BE49-F238E27FC236}">
                <a16:creationId xmlns:a16="http://schemas.microsoft.com/office/drawing/2014/main" id="{2E3ECDB2-C96A-44E0-A154-C859138E487A}"/>
              </a:ext>
            </a:extLst>
          </p:cNvPr>
          <p:cNvPicPr>
            <a:picLocks noChangeAspect="1"/>
          </p:cNvPicPr>
          <p:nvPr/>
        </p:nvPicPr>
        <p:blipFill>
          <a:blip r:embed="rId3"/>
          <a:stretch>
            <a:fillRect/>
          </a:stretch>
        </p:blipFill>
        <p:spPr>
          <a:xfrm>
            <a:off x="4980865" y="1625913"/>
            <a:ext cx="5620251" cy="5090473"/>
          </a:xfrm>
          <a:prstGeom prst="rect">
            <a:avLst/>
          </a:prstGeom>
        </p:spPr>
      </p:pic>
    </p:spTree>
    <p:extLst>
      <p:ext uri="{BB962C8B-B14F-4D97-AF65-F5344CB8AC3E}">
        <p14:creationId xmlns:p14="http://schemas.microsoft.com/office/powerpoint/2010/main" val="28430310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2447261" y="3983"/>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1638300" y="1242793"/>
            <a:ext cx="8915400" cy="3778250"/>
          </a:xfrm>
        </p:spPr>
        <p:txBody>
          <a:bodyPr/>
          <a:lstStyle/>
          <a:p>
            <a:r>
              <a:rPr lang="es-MX" dirty="0"/>
              <a:t>IGMPv3</a:t>
            </a:r>
          </a:p>
        </p:txBody>
      </p:sp>
      <p:pic>
        <p:nvPicPr>
          <p:cNvPr id="7" name="Imagen 6">
            <a:extLst>
              <a:ext uri="{FF2B5EF4-FFF2-40B4-BE49-F238E27FC236}">
                <a16:creationId xmlns:a16="http://schemas.microsoft.com/office/drawing/2014/main" id="{7C070E1D-279D-4178-A825-99AB85B16FC1}"/>
              </a:ext>
            </a:extLst>
          </p:cNvPr>
          <p:cNvPicPr>
            <a:picLocks noChangeAspect="1"/>
          </p:cNvPicPr>
          <p:nvPr/>
        </p:nvPicPr>
        <p:blipFill>
          <a:blip r:embed="rId2"/>
          <a:stretch>
            <a:fillRect/>
          </a:stretch>
        </p:blipFill>
        <p:spPr>
          <a:xfrm>
            <a:off x="3773179" y="1540188"/>
            <a:ext cx="5602832" cy="3719722"/>
          </a:xfrm>
          <a:prstGeom prst="rect">
            <a:avLst/>
          </a:prstGeom>
        </p:spPr>
      </p:pic>
      <p:sp>
        <p:nvSpPr>
          <p:cNvPr id="8" name="CuadroTexto 7">
            <a:extLst>
              <a:ext uri="{FF2B5EF4-FFF2-40B4-BE49-F238E27FC236}">
                <a16:creationId xmlns:a16="http://schemas.microsoft.com/office/drawing/2014/main" id="{1FEC8096-5C58-4C03-918F-FC6C1FD03961}"/>
              </a:ext>
            </a:extLst>
          </p:cNvPr>
          <p:cNvSpPr txBox="1"/>
          <p:nvPr/>
        </p:nvSpPr>
        <p:spPr>
          <a:xfrm>
            <a:off x="1940583" y="5959605"/>
            <a:ext cx="1346587" cy="307777"/>
          </a:xfrm>
          <a:prstGeom prst="rect">
            <a:avLst/>
          </a:prstGeom>
          <a:noFill/>
        </p:spPr>
        <p:txBody>
          <a:bodyPr wrap="none" rtlCol="0">
            <a:spAutoFit/>
          </a:bodyPr>
          <a:lstStyle/>
          <a:p>
            <a:r>
              <a:rPr lang="es-MX" sz="1400" dirty="0"/>
              <a:t>Tipo Registro=</a:t>
            </a:r>
          </a:p>
        </p:txBody>
      </p:sp>
      <p:sp>
        <p:nvSpPr>
          <p:cNvPr id="9" name="Abrir llave 8">
            <a:extLst>
              <a:ext uri="{FF2B5EF4-FFF2-40B4-BE49-F238E27FC236}">
                <a16:creationId xmlns:a16="http://schemas.microsoft.com/office/drawing/2014/main" id="{7D5753C3-E796-41DC-BC91-E7481C93ED95}"/>
              </a:ext>
            </a:extLst>
          </p:cNvPr>
          <p:cNvSpPr/>
          <p:nvPr/>
        </p:nvSpPr>
        <p:spPr>
          <a:xfrm>
            <a:off x="3207224" y="5368989"/>
            <a:ext cx="423080" cy="14890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11" name="CuadroTexto 10">
            <a:extLst>
              <a:ext uri="{FF2B5EF4-FFF2-40B4-BE49-F238E27FC236}">
                <a16:creationId xmlns:a16="http://schemas.microsoft.com/office/drawing/2014/main" id="{AF9C046E-942D-4B89-ACD2-A644165908FF}"/>
              </a:ext>
            </a:extLst>
          </p:cNvPr>
          <p:cNvSpPr txBox="1"/>
          <p:nvPr/>
        </p:nvSpPr>
        <p:spPr>
          <a:xfrm>
            <a:off x="3449004" y="5402891"/>
            <a:ext cx="8537915" cy="1200329"/>
          </a:xfrm>
          <a:prstGeom prst="rect">
            <a:avLst/>
          </a:prstGeom>
          <a:noFill/>
        </p:spPr>
        <p:txBody>
          <a:bodyPr wrap="none" rtlCol="0">
            <a:spAutoFit/>
          </a:bodyPr>
          <a:lstStyle/>
          <a:p>
            <a:r>
              <a:rPr lang="es-MX" sz="1200" b="1" dirty="0"/>
              <a:t>Como respuesta a una consulta recibida en una interfaz</a:t>
            </a:r>
          </a:p>
          <a:p>
            <a:r>
              <a:rPr lang="es-MX" sz="1200" dirty="0"/>
              <a:t>1:estado actual interfaz=MODE_IS_INCLUDE para la </a:t>
            </a:r>
            <a:r>
              <a:rPr lang="es-MX" sz="1200" dirty="0" err="1"/>
              <a:t>dir</a:t>
            </a:r>
            <a:r>
              <a:rPr lang="es-MX" sz="1200" dirty="0"/>
              <a:t> </a:t>
            </a:r>
            <a:r>
              <a:rPr lang="es-MX" sz="1200" dirty="0" err="1"/>
              <a:t>multicast</a:t>
            </a:r>
            <a:r>
              <a:rPr lang="es-MX" sz="1200" dirty="0"/>
              <a:t> especificada y los campos de dirección origen</a:t>
            </a:r>
          </a:p>
          <a:p>
            <a:r>
              <a:rPr lang="es-MX" sz="1200" dirty="0"/>
              <a:t>2:estado actual interfaz=MODE_IS_EXCLUDE para la </a:t>
            </a:r>
            <a:r>
              <a:rPr lang="es-MX" sz="1200" dirty="0" err="1"/>
              <a:t>dir</a:t>
            </a:r>
            <a:r>
              <a:rPr lang="es-MX" sz="1200" dirty="0"/>
              <a:t> </a:t>
            </a:r>
            <a:r>
              <a:rPr lang="es-MX" sz="1200" dirty="0" err="1"/>
              <a:t>multicast</a:t>
            </a:r>
            <a:r>
              <a:rPr lang="es-MX" sz="1200" dirty="0"/>
              <a:t> especificada y los campos de dirección origen</a:t>
            </a:r>
          </a:p>
          <a:p>
            <a:r>
              <a:rPr lang="es-MX" sz="1200" b="1" dirty="0"/>
              <a:t>Cuando hay una invocación de cambio de modo en la interfaz de red</a:t>
            </a:r>
          </a:p>
          <a:p>
            <a:r>
              <a:rPr lang="es-MX" sz="1200" dirty="0"/>
              <a:t>3:Change_TO_INCLUDE_MODE la interfaz cambia a modo INCLUDE para la </a:t>
            </a:r>
            <a:r>
              <a:rPr lang="es-MX" sz="1200" dirty="0" err="1"/>
              <a:t>dir</a:t>
            </a:r>
            <a:r>
              <a:rPr lang="es-MX" sz="1200" dirty="0"/>
              <a:t> </a:t>
            </a:r>
            <a:r>
              <a:rPr lang="es-MX" sz="1200" dirty="0" err="1"/>
              <a:t>multicast</a:t>
            </a:r>
            <a:r>
              <a:rPr lang="es-MX" sz="1200" dirty="0"/>
              <a:t> y las direcciones origen</a:t>
            </a:r>
          </a:p>
          <a:p>
            <a:r>
              <a:rPr lang="es-MX" sz="1200" dirty="0"/>
              <a:t>4: </a:t>
            </a:r>
            <a:r>
              <a:rPr lang="es-MX" sz="1200" dirty="0" err="1"/>
              <a:t>Change_TO_EXCLUDE_MODE</a:t>
            </a:r>
            <a:r>
              <a:rPr lang="es-MX" sz="1200" dirty="0"/>
              <a:t> la interfaz cambia a modo EXCLUDE para la </a:t>
            </a:r>
            <a:r>
              <a:rPr lang="es-MX" sz="1200" dirty="0" err="1"/>
              <a:t>dir</a:t>
            </a:r>
            <a:r>
              <a:rPr lang="es-MX" sz="1200" dirty="0"/>
              <a:t> </a:t>
            </a:r>
            <a:r>
              <a:rPr lang="es-MX" sz="1200" dirty="0" err="1"/>
              <a:t>multicast</a:t>
            </a:r>
            <a:r>
              <a:rPr lang="es-MX" sz="1200" dirty="0"/>
              <a:t> y las direcciones origen</a:t>
            </a:r>
          </a:p>
        </p:txBody>
      </p:sp>
    </p:spTree>
    <p:extLst>
      <p:ext uri="{BB962C8B-B14F-4D97-AF65-F5344CB8AC3E}">
        <p14:creationId xmlns:p14="http://schemas.microsoft.com/office/powerpoint/2010/main" val="32534749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java.net.MulticastSocket</a:t>
            </a:r>
            <a:endParaRPr lang="es-MX" sz="4400" b="0" strike="noStrike" spc="-1">
              <a:latin typeface="Arial"/>
            </a:endParaRPr>
          </a:p>
        </p:txBody>
      </p:sp>
      <p:sp>
        <p:nvSpPr>
          <p:cNvPr id="520" name="CustomShape 2"/>
          <p:cNvSpPr/>
          <p:nvPr/>
        </p:nvSpPr>
        <p:spPr>
          <a:xfrm>
            <a:off x="865080" y="2183040"/>
            <a:ext cx="10971000" cy="3490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Constructores:</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800" b="0" strike="noStrike" spc="-1">
                <a:solidFill>
                  <a:srgbClr val="000000"/>
                </a:solidFill>
                <a:latin typeface="Arial"/>
                <a:ea typeface="DejaVu Sans"/>
              </a:rPr>
              <a:t>MulticastSocket()</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800" b="0" strike="noStrike" spc="-1">
                <a:solidFill>
                  <a:srgbClr val="000000"/>
                </a:solidFill>
                <a:latin typeface="Arial"/>
                <a:ea typeface="DejaVu Sans"/>
              </a:rPr>
              <a:t>MulticastSocket(int port)</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800" b="0" strike="noStrike" spc="-1">
                <a:solidFill>
                  <a:srgbClr val="000000"/>
                </a:solidFill>
                <a:latin typeface="Arial"/>
                <a:ea typeface="DejaVu Sans"/>
              </a:rPr>
              <a:t>MulticastSocket(SocketAddress bindaddr)</a:t>
            </a:r>
            <a:endParaRPr lang="es-MX" sz="2800" b="0" strike="noStrike" spc="-1">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java.net.MulticastSocket</a:t>
            </a:r>
            <a:endParaRPr lang="es-MX" sz="4400" b="0" strike="noStrike" spc="-1">
              <a:latin typeface="Arial"/>
            </a:endParaRPr>
          </a:p>
        </p:txBody>
      </p:sp>
      <p:sp>
        <p:nvSpPr>
          <p:cNvPr id="522" name="CustomShape 2"/>
          <p:cNvSpPr/>
          <p:nvPr/>
        </p:nvSpPr>
        <p:spPr>
          <a:xfrm>
            <a:off x="852480" y="1418760"/>
            <a:ext cx="10971000" cy="51235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400" b="0" strike="noStrike" spc="-1">
                <a:solidFill>
                  <a:srgbClr val="000000"/>
                </a:solidFill>
                <a:latin typeface="Arial"/>
                <a:ea typeface="DejaVu Sans"/>
              </a:rPr>
              <a:t>Métodos:</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InetAddress	getInterface()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boolean		getLoopbackMode()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NetworkInterface	getNetworkInterface()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getTimeToLive()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joinGroup(InetAddress mcastaddr)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leaveGroup(InetAddress mcastaddr)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setInterface(InetAddress inf)</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setLoopbackMode(boolean disable)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setNetworkInterface(NetworkInterface netIf)</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setTimeToLive(int ttl)</a:t>
            </a: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CustomShape 1"/>
          <p:cNvSpPr/>
          <p:nvPr/>
        </p:nvSpPr>
        <p:spPr>
          <a:xfrm>
            <a:off x="1523880" y="1122480"/>
            <a:ext cx="9141840" cy="2385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6000" b="0" strike="noStrike" spc="-1">
                <a:solidFill>
                  <a:srgbClr val="000000"/>
                </a:solidFill>
                <a:latin typeface="Calibri Light"/>
                <a:ea typeface="DejaVu Sans"/>
              </a:rPr>
              <a:t>Sockets en C</a:t>
            </a:r>
            <a:endParaRPr lang="es-MX" sz="6000" b="0" strike="noStrike" spc="-1">
              <a:latin typeface="Arial"/>
            </a:endParaRPr>
          </a:p>
        </p:txBody>
      </p:sp>
      <p:sp>
        <p:nvSpPr>
          <p:cNvPr id="524" name="CustomShape 2"/>
          <p:cNvSpPr/>
          <p:nvPr/>
        </p:nvSpPr>
        <p:spPr>
          <a:xfrm>
            <a:off x="1523880" y="3602160"/>
            <a:ext cx="9141840" cy="165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2400" b="0" strike="noStrike" spc="-1">
                <a:solidFill>
                  <a:srgbClr val="000000"/>
                </a:solidFill>
                <a:latin typeface="Calibri"/>
                <a:ea typeface="DejaVu Sans"/>
              </a:rPr>
              <a:t>Sockets bloqueantes</a:t>
            </a:r>
            <a:endParaRPr lang="es-MX" sz="2400" b="0" strike="noStrike" spc="-1">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Bibliotecas más utilizadas</a:t>
            </a:r>
            <a:endParaRPr lang="es-MX" sz="4400" b="0" strike="noStrike" spc="-1">
              <a:latin typeface="Arial"/>
            </a:endParaRPr>
          </a:p>
        </p:txBody>
      </p:sp>
      <p:sp>
        <p:nvSpPr>
          <p:cNvPr id="52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&lt;sys/</a:t>
            </a:r>
            <a:r>
              <a:rPr lang="en-US" sz="2800" b="0" strike="noStrike" spc="-1" dirty="0" err="1">
                <a:solidFill>
                  <a:srgbClr val="000000"/>
                </a:solidFill>
                <a:latin typeface="Calibri"/>
                <a:ea typeface="DejaVu Sans"/>
              </a:rPr>
              <a:t>types.h</a:t>
            </a:r>
            <a:r>
              <a:rPr lang="en-US" sz="2800" b="0" strike="noStrike" spc="-1" dirty="0">
                <a:solidFill>
                  <a:srgbClr val="000000"/>
                </a:solidFill>
                <a:latin typeface="Calibri"/>
                <a:ea typeface="DejaVu Sans"/>
              </a:rPr>
              <a:t>&gt;: </a:t>
            </a:r>
            <a:r>
              <a:rPr lang="en-US" sz="1600" b="0" strike="noStrike" spc="-1" dirty="0" err="1">
                <a:solidFill>
                  <a:srgbClr val="000000"/>
                </a:solidFill>
                <a:latin typeface="Calibri"/>
                <a:ea typeface="DejaVu Sans"/>
              </a:rPr>
              <a:t>tipos</a:t>
            </a:r>
            <a:r>
              <a:rPr lang="en-US" sz="1600" b="0" strike="noStrike" spc="-1" dirty="0">
                <a:solidFill>
                  <a:srgbClr val="000000"/>
                </a:solidFill>
                <a:latin typeface="Calibri"/>
                <a:ea typeface="DejaVu Sans"/>
              </a:rPr>
              <a:t> de </a:t>
            </a:r>
            <a:r>
              <a:rPr lang="en-US" sz="1600" b="0" strike="noStrike" spc="-1" dirty="0" err="1">
                <a:solidFill>
                  <a:srgbClr val="000000"/>
                </a:solidFill>
                <a:latin typeface="Calibri"/>
                <a:ea typeface="DejaVu Sans"/>
              </a:rPr>
              <a:t>datos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utilizados</a:t>
            </a:r>
            <a:r>
              <a:rPr lang="en-US" sz="1600" b="0" strike="noStrike" spc="-1" dirty="0">
                <a:solidFill>
                  <a:srgbClr val="000000"/>
                </a:solidFill>
                <a:latin typeface="Calibri"/>
                <a:ea typeface="DejaVu Sans"/>
              </a:rPr>
              <a:t>(</a:t>
            </a:r>
            <a:r>
              <a:rPr lang="en-US" sz="1600" b="0" strike="noStrike" spc="-1" dirty="0" err="1">
                <a:solidFill>
                  <a:srgbClr val="000000"/>
                </a:solidFill>
                <a:latin typeface="Calibri"/>
                <a:ea typeface="DejaVu Sans"/>
              </a:rPr>
              <a:t>pthread_attr_t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size_t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socklen_t</a:t>
            </a:r>
            <a:r>
              <a:rPr lang="en-US" sz="1600" b="0" strike="noStrike" spc="-1" dirty="0">
                <a:solidFill>
                  <a:srgbClr val="000000"/>
                </a:solidFill>
                <a:latin typeface="Calibri"/>
                <a:ea typeface="DejaVu Sans"/>
              </a:rPr>
              <a:t>, etc.)</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&lt;sys/</a:t>
            </a:r>
            <a:r>
              <a:rPr lang="en-US" sz="2800" b="0" strike="noStrike" spc="-1" dirty="0" err="1">
                <a:solidFill>
                  <a:srgbClr val="000000"/>
                </a:solidFill>
                <a:latin typeface="Calibri"/>
                <a:ea typeface="DejaVu Sans"/>
              </a:rPr>
              <a:t>socket.h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macros: SOCK_STREAM, </a:t>
            </a:r>
            <a:r>
              <a:rPr lang="en-US" sz="1600" b="0" strike="noStrike" spc="-1" dirty="0" err="1">
                <a:solidFill>
                  <a:srgbClr val="000000"/>
                </a:solidFill>
                <a:latin typeface="Calibri"/>
                <a:ea typeface="DejaVu Sans"/>
              </a:rPr>
              <a:t>SOCK_DGRAM,SOL_SOCKET,etc</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socket(), bind(), send(), </a:t>
            </a:r>
            <a:r>
              <a:rPr lang="en-US" sz="1600" b="0" strike="noStrike" spc="-1" dirty="0" err="1">
                <a:solidFill>
                  <a:srgbClr val="000000"/>
                </a:solidFill>
                <a:latin typeface="Calibri"/>
                <a:ea typeface="DejaVu Sans"/>
              </a:rPr>
              <a:t>recv</a:t>
            </a:r>
            <a:r>
              <a:rPr lang="en-US" sz="1600" b="0" strike="noStrike" spc="-1" dirty="0">
                <a:solidFill>
                  <a:srgbClr val="000000"/>
                </a:solidFill>
                <a:latin typeface="Calibri"/>
                <a:ea typeface="DejaVu Sans"/>
              </a:rPr>
              <a:t>(), accept(), etc.</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a:t>
            </a:r>
            <a:r>
              <a:rPr lang="en-US" sz="2800" b="0" strike="noStrike" spc="-1" dirty="0" err="1">
                <a:solidFill>
                  <a:srgbClr val="000000"/>
                </a:solidFill>
                <a:latin typeface="Calibri"/>
                <a:ea typeface="DejaVu Sans"/>
              </a:rPr>
              <a:t>stdlib.h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atoi</a:t>
            </a:r>
            <a:r>
              <a:rPr lang="en-US" sz="1600" b="0" strike="noStrike" spc="-1" dirty="0">
                <a:solidFill>
                  <a:srgbClr val="000000"/>
                </a:solidFill>
                <a:latin typeface="Calibri"/>
                <a:ea typeface="DejaVu Sans"/>
              </a:rPr>
              <a:t>(), malloc(), exit()</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a:t>
            </a:r>
            <a:r>
              <a:rPr lang="en-US" sz="2800" b="0" strike="noStrike" spc="-1" dirty="0" err="1">
                <a:solidFill>
                  <a:srgbClr val="000000"/>
                </a:solidFill>
                <a:latin typeface="Calibri"/>
                <a:ea typeface="DejaVu Sans"/>
              </a:rPr>
              <a:t>stdio.h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fopen</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fdopen</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fflush</a:t>
            </a:r>
            <a:r>
              <a:rPr lang="en-US" sz="1600" b="0" strike="noStrike" spc="-1" dirty="0">
                <a:solidFill>
                  <a:srgbClr val="000000"/>
                </a:solidFill>
                <a:latin typeface="Calibri"/>
                <a:ea typeface="DejaVu Sans"/>
              </a:rPr>
              <a:t>(),</a:t>
            </a:r>
            <a:r>
              <a:rPr lang="en-US" sz="1600" b="0" strike="noStrike" spc="-1" dirty="0" err="1">
                <a:solidFill>
                  <a:srgbClr val="000000"/>
                </a:solidFill>
                <a:latin typeface="Calibri"/>
                <a:ea typeface="DejaVu Sans"/>
              </a:rPr>
              <a:t>scanf</a:t>
            </a:r>
            <a:r>
              <a:rPr lang="en-US" sz="1600" b="0" strike="noStrike" spc="-1" dirty="0">
                <a:solidFill>
                  <a:srgbClr val="000000"/>
                </a:solidFill>
                <a:latin typeface="Calibri"/>
                <a:ea typeface="DejaVu Sans"/>
              </a:rPr>
              <a:t>(),</a:t>
            </a:r>
            <a:r>
              <a:rPr lang="en-US" sz="1600" b="0" strike="noStrike" spc="-1" dirty="0" err="1">
                <a:solidFill>
                  <a:srgbClr val="000000"/>
                </a:solidFill>
                <a:latin typeface="Calibri"/>
                <a:ea typeface="DejaVu Sans"/>
              </a:rPr>
              <a:t>printf</a:t>
            </a:r>
            <a:r>
              <a:rPr lang="en-US" sz="1600" b="0" strike="noStrike" spc="-1" dirty="0">
                <a:solidFill>
                  <a:srgbClr val="000000"/>
                </a:solidFill>
                <a:latin typeface="Calibri"/>
                <a:ea typeface="DejaVu Sans"/>
              </a:rPr>
              <a:t>(),etc.</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a:t>
            </a:r>
            <a:r>
              <a:rPr lang="en-US" sz="2800" b="0" strike="noStrike" spc="-1" dirty="0" err="1">
                <a:solidFill>
                  <a:srgbClr val="000000"/>
                </a:solidFill>
                <a:latin typeface="Calibri"/>
                <a:ea typeface="DejaVu Sans"/>
              </a:rPr>
              <a:t>netdb.h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freeaddrinfo</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getaddrinfo</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getnameinfo</a:t>
            </a:r>
            <a:r>
              <a:rPr lang="en-US" sz="1600" b="0" strike="noStrike" spc="-1" dirty="0">
                <a:solidFill>
                  <a:srgbClr val="000000"/>
                </a:solidFill>
                <a:latin typeface="Calibri"/>
                <a:ea typeface="DejaVu Sans"/>
              </a:rPr>
              <a:t>(), etc.</a:t>
            </a:r>
            <a:endParaRPr lang="es-MX" sz="1600" b="0" strike="noStrike" spc="-1" dirty="0">
              <a:latin typeface="Arial"/>
            </a:endParaRPr>
          </a:p>
          <a:p>
            <a:pPr>
              <a:lnSpc>
                <a:spcPct val="90000"/>
              </a:lnSpc>
            </a:pPr>
            <a:endParaRPr lang="es-MX" sz="1600" b="0" strike="noStrike" spc="-1" dirty="0">
              <a:latin typeface="Arial"/>
            </a:endParaRPr>
          </a:p>
          <a:p>
            <a:pPr>
              <a:lnSpc>
                <a:spcPct val="90000"/>
              </a:lnSpc>
            </a:pPr>
            <a:endParaRPr lang="es-MX" sz="1600" b="0" strike="noStrike" spc="-1" dirty="0">
              <a:latin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600" b="0" strike="noStrike" spc="-1">
                <a:solidFill>
                  <a:srgbClr val="000000"/>
                </a:solidFill>
                <a:latin typeface="Calibri Light"/>
                <a:ea typeface="DejaVu Sans"/>
              </a:rPr>
              <a:t>Estructura sockaddr_in  //&lt;netinet/in.h&gt;</a:t>
            </a:r>
            <a:endParaRPr lang="es-MX" sz="3600" b="0" strike="noStrike" spc="-1">
              <a:latin typeface="Arial"/>
            </a:endParaRPr>
          </a:p>
        </p:txBody>
      </p:sp>
      <p:sp>
        <p:nvSpPr>
          <p:cNvPr id="528" name="CustomShape 2"/>
          <p:cNvSpPr/>
          <p:nvPr/>
        </p:nvSpPr>
        <p:spPr>
          <a:xfrm>
            <a:off x="1981080" y="1344240"/>
            <a:ext cx="7209000" cy="3976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800" b="0" strike="noStrike" spc="-1">
                <a:solidFill>
                  <a:srgbClr val="000000"/>
                </a:solidFill>
                <a:latin typeface="Arial Unicode MS"/>
                <a:ea typeface="DejaVu Sans"/>
              </a:rPr>
              <a:t>struct sockaddr_in {</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short sin_family; //  AF_INET (IPv4), AF_UNIX, AF_LOCAL, etc.</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unsigned short sin_port; // ej. htons(2000)</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struct in_addr sin_addr; // ver estructura in_addr</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char sin_zero[8]; // poner en cero’s</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a:t>
            </a:r>
            <a:endParaRPr lang="es-MX" sz="1800" b="0" strike="noStrike" spc="-1">
              <a:latin typeface="Arial"/>
            </a:endParaRPr>
          </a:p>
          <a:p>
            <a:pPr>
              <a:lnSpc>
                <a:spcPct val="100000"/>
              </a:lnSpc>
            </a:pP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struct in_addr {</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unsigned long s_addr; // load with inet_aton()</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a:t>
            </a:r>
            <a:r>
              <a:rPr lang="en-US" sz="1800" b="0" strike="noStrike" spc="-1">
                <a:solidFill>
                  <a:srgbClr val="000000"/>
                </a:solidFill>
                <a:latin typeface="Calibri"/>
                <a:ea typeface="DejaVu Sans"/>
              </a:rPr>
              <a:t> </a:t>
            </a:r>
            <a:endParaRPr lang="es-MX" sz="1800" b="0" strike="noStrike" spc="-1">
              <a:latin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Estructura addrinfo //&lt;netdb.h&gt;</a:t>
            </a:r>
            <a:endParaRPr lang="es-MX" sz="4400" b="0" strike="noStrike" spc="-1">
              <a:latin typeface="Arial"/>
            </a:endParaRPr>
          </a:p>
        </p:txBody>
      </p:sp>
      <p:sp>
        <p:nvSpPr>
          <p:cNvPr id="530" name="CustomShape 2"/>
          <p:cNvSpPr/>
          <p:nvPr/>
        </p:nvSpPr>
        <p:spPr>
          <a:xfrm>
            <a:off x="1442520" y="1812600"/>
            <a:ext cx="8899920" cy="4136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a:solidFill>
                  <a:srgbClr val="444444"/>
                </a:solidFill>
                <a:latin typeface="Courier New"/>
                <a:ea typeface="DejaVu Sans"/>
              </a:rPr>
              <a:t>struct addrinfo {</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ai_flags;      // AI_PASSIVE, AI_CANONNNAME, AI_NUMERIC_HOST,etc.</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ai_family;     // AF_INET,AF_INET6,AF_UNSPEC,AF_BTH, AF_IRDA,etc.</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ai_socktype;   // SOCK_STREAM, SOCK_DGRAM, SOCK_RAW, SOCK_RDM</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ai_protocol;   // 0, IPPROTO_TCP,IPPROTO_UDP</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socklen_t ai_addrlen;  // sizeof(ai_addr)</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struct sockaddr *ai_addr;  //struct sockaddr_in/sockarrd_in6</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char *ai_canonname;    // nombre canónico</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struct addrinfo *ai_next;  // sig. Nodo de lista ligada</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a:t>
            </a:r>
            <a:r>
              <a:rPr lang="en-US" sz="1600" b="1" strike="noStrike" spc="-1">
                <a:solidFill>
                  <a:srgbClr val="000000"/>
                </a:solidFill>
                <a:latin typeface="Calibri"/>
                <a:ea typeface="DejaVu Sans"/>
              </a:rPr>
              <a:t> </a:t>
            </a:r>
            <a:endParaRPr lang="es-MX" sz="1600" b="0" strike="noStrike" spc="-1">
              <a:latin typeface="Arial"/>
            </a:endParaRPr>
          </a:p>
          <a:p>
            <a:pPr>
              <a:lnSpc>
                <a:spcPct val="100000"/>
              </a:lnSpc>
            </a:pPr>
            <a:endParaRPr lang="es-MX" sz="1600" b="0" strike="noStrike" spc="-1">
              <a:latin typeface="Arial"/>
            </a:endParaRPr>
          </a:p>
          <a:p>
            <a:pPr>
              <a:lnSpc>
                <a:spcPct val="100000"/>
              </a:lnSpc>
            </a:pPr>
            <a:endParaRPr lang="es-MX" sz="1600" b="0" strike="noStrike" spc="-1">
              <a:latin typeface="Arial"/>
            </a:endParaRPr>
          </a:p>
          <a:p>
            <a:pPr>
              <a:lnSpc>
                <a:spcPct val="100000"/>
              </a:lnSpc>
            </a:pPr>
            <a:r>
              <a:rPr lang="en-US" sz="1600" b="1" strike="noStrike" spc="-1">
                <a:solidFill>
                  <a:srgbClr val="000000"/>
                </a:solidFill>
                <a:latin typeface="Calibri"/>
                <a:ea typeface="DejaVu Sans"/>
              </a:rPr>
              <a:t>Nota: ai_flags=PASSIVE &amp;&amp; nodo=NULL (en func. getaddrinfo( ) ) para hacer bind( )</a:t>
            </a:r>
            <a:endParaRPr lang="es-MX" sz="1600" b="0" strike="noStrike" spc="-1">
              <a:latin typeface="Arial"/>
            </a:endParaRPr>
          </a:p>
          <a:p>
            <a:pPr>
              <a:lnSpc>
                <a:spcPct val="100000"/>
              </a:lnSpc>
            </a:pPr>
            <a:endParaRPr lang="es-MX" sz="1600" b="0" strike="noStrike" spc="-1">
              <a:latin typeface="Arial"/>
            </a:endParaRPr>
          </a:p>
          <a:p>
            <a:pPr>
              <a:lnSpc>
                <a:spcPct val="100000"/>
              </a:lnSpc>
            </a:pPr>
            <a:endParaRPr lang="es-MX" sz="1600" b="0" strike="noStrike" spc="-1">
              <a:latin typeface="Arial"/>
            </a:endParaRPr>
          </a:p>
          <a:p>
            <a:pPr>
              <a:lnSpc>
                <a:spcPct val="100000"/>
              </a:lnSpc>
            </a:pPr>
            <a:endParaRPr lang="es-MX" sz="1600" b="0" strike="noStrike" spc="-1">
              <a:latin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CustomShape 1"/>
          <p:cNvSpPr/>
          <p:nvPr/>
        </p:nvSpPr>
        <p:spPr>
          <a:xfrm>
            <a:off x="1523880" y="260640"/>
            <a:ext cx="5264640" cy="114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getaddrinfo()</a:t>
            </a:r>
            <a:endParaRPr lang="es-MX" sz="4400" b="0" strike="noStrike" spc="-1">
              <a:latin typeface="Arial"/>
            </a:endParaRPr>
          </a:p>
        </p:txBody>
      </p:sp>
      <p:sp>
        <p:nvSpPr>
          <p:cNvPr id="532" name="CustomShape 2"/>
          <p:cNvSpPr/>
          <p:nvPr/>
        </p:nvSpPr>
        <p:spPr>
          <a:xfrm>
            <a:off x="1551240" y="1628640"/>
            <a:ext cx="8227440" cy="4523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endParaRPr lang="es-MX" sz="1800" b="0" strike="noStrike" spc="-1">
              <a:latin typeface="Arial"/>
            </a:endParaRPr>
          </a:p>
          <a:p>
            <a:pPr>
              <a:lnSpc>
                <a:spcPct val="90000"/>
              </a:lnSpc>
            </a:pPr>
            <a:endParaRPr lang="es-MX" sz="1800" b="0" strike="noStrike" spc="-1">
              <a:latin typeface="Arial"/>
            </a:endParaRPr>
          </a:p>
          <a:p>
            <a:pPr>
              <a:lnSpc>
                <a:spcPct val="90000"/>
              </a:lnSpc>
            </a:pPr>
            <a:endParaRPr lang="es-MX" sz="1800" b="0" strike="noStrike" spc="-1">
              <a:latin typeface="Arial"/>
            </a:endParaRPr>
          </a:p>
          <a:p>
            <a:pPr>
              <a:lnSpc>
                <a:spcPct val="90000"/>
              </a:lnSpc>
            </a:pPr>
            <a:endParaRPr lang="es-MX" sz="1800" b="0" strike="noStrike" spc="-1">
              <a:latin typeface="Arial"/>
            </a:endParaRPr>
          </a:p>
          <a:p>
            <a:pPr>
              <a:lnSpc>
                <a:spcPct val="90000"/>
              </a:lnSpc>
            </a:pPr>
            <a:endParaRPr lang="es-MX" sz="1800" b="0" strike="noStrike" spc="-1">
              <a:latin typeface="Arial"/>
            </a:endParaRPr>
          </a:p>
          <a:p>
            <a:pPr marL="216000" indent="-214920">
              <a:lnSpc>
                <a:spcPct val="90000"/>
              </a:lnSpc>
              <a:buClr>
                <a:srgbClr val="000000"/>
              </a:buClr>
              <a:buFont typeface="Arial"/>
              <a:buChar char="•"/>
            </a:pPr>
            <a:r>
              <a:rPr lang="en-US" sz="2200" b="0" strike="noStrike" spc="-1">
                <a:solidFill>
                  <a:srgbClr val="000000"/>
                </a:solidFill>
                <a:latin typeface="Calibri"/>
                <a:ea typeface="DejaVu Sans"/>
              </a:rPr>
              <a:t> </a:t>
            </a:r>
            <a:endParaRPr lang="es-MX" sz="2200" b="0" strike="noStrike" spc="-1">
              <a:latin typeface="Arial"/>
            </a:endParaRPr>
          </a:p>
          <a:p>
            <a:pPr marL="216000" indent="-214920">
              <a:lnSpc>
                <a:spcPct val="90000"/>
              </a:lnSpc>
              <a:buClr>
                <a:srgbClr val="000000"/>
              </a:buClr>
              <a:buFont typeface="Arial"/>
              <a:buChar char="•"/>
            </a:pPr>
            <a:r>
              <a:rPr lang="en-US" sz="2200" b="0" strike="noStrike" spc="-1">
                <a:solidFill>
                  <a:srgbClr val="000000"/>
                </a:solidFill>
                <a:latin typeface="Calibri"/>
                <a:ea typeface="DejaVu Sans"/>
              </a:rPr>
              <a:t>Valor devuelto</a:t>
            </a:r>
            <a:endParaRPr lang="es-MX" sz="2200" b="0" strike="noStrike" spc="-1">
              <a:latin typeface="Arial"/>
            </a:endParaRPr>
          </a:p>
          <a:p>
            <a:pPr>
              <a:lnSpc>
                <a:spcPct val="90000"/>
              </a:lnSpc>
            </a:pPr>
            <a:endParaRPr lang="es-MX" sz="2200" b="0" strike="noStrike" spc="-1">
              <a:latin typeface="Arial"/>
            </a:endParaRPr>
          </a:p>
          <a:p>
            <a:pPr>
              <a:lnSpc>
                <a:spcPct val="90000"/>
              </a:lnSpc>
            </a:pPr>
            <a:endParaRPr lang="es-MX" sz="2200" b="0" strike="noStrike" spc="-1">
              <a:latin typeface="Arial"/>
            </a:endParaRPr>
          </a:p>
        </p:txBody>
      </p:sp>
      <p:sp>
        <p:nvSpPr>
          <p:cNvPr id="533" name="CustomShape 3"/>
          <p:cNvSpPr/>
          <p:nvPr/>
        </p:nvSpPr>
        <p:spPr>
          <a:xfrm>
            <a:off x="6960240" y="540000"/>
            <a:ext cx="324864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//&lt;sys/types.h&gt;, &lt;sys/socket.h&gt;,</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//&lt;netdb.h&gt;</a:t>
            </a:r>
            <a:endParaRPr lang="es-MX" sz="1800" b="0" strike="noStrike" spc="-1">
              <a:latin typeface="Arial"/>
            </a:endParaRPr>
          </a:p>
        </p:txBody>
      </p:sp>
      <p:sp>
        <p:nvSpPr>
          <p:cNvPr id="534" name="CustomShape 4"/>
          <p:cNvSpPr/>
          <p:nvPr/>
        </p:nvSpPr>
        <p:spPr>
          <a:xfrm>
            <a:off x="1830900" y="1401480"/>
            <a:ext cx="8530200" cy="130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dirty="0">
                <a:solidFill>
                  <a:srgbClr val="444444"/>
                </a:solidFill>
                <a:latin typeface="Courier New"/>
                <a:ea typeface="DejaVu Sans"/>
              </a:rPr>
              <a:t>int </a:t>
            </a:r>
            <a:r>
              <a:rPr lang="en-US" sz="1600" b="1" strike="noStrike" spc="-1" dirty="0" err="1">
                <a:solidFill>
                  <a:srgbClr val="444444"/>
                </a:solidFill>
                <a:latin typeface="Courier New"/>
                <a:ea typeface="DejaVu Sans"/>
              </a:rPr>
              <a:t>getaddrinfo</a:t>
            </a:r>
            <a:r>
              <a:rPr lang="en-US" sz="1600" b="1" strike="noStrike" spc="-1" dirty="0">
                <a:solidFill>
                  <a:srgbClr val="444444"/>
                </a:solidFill>
                <a:latin typeface="Courier New"/>
                <a:ea typeface="DejaVu Sans"/>
              </a:rPr>
              <a:t>(const char *</a:t>
            </a:r>
            <a:r>
              <a:rPr lang="en-US" sz="1600" b="0" i="1" strike="noStrike" spc="-1" dirty="0" err="1">
                <a:solidFill>
                  <a:srgbClr val="444444"/>
                </a:solidFill>
                <a:latin typeface="Courier New"/>
                <a:ea typeface="DejaVu Sans"/>
              </a:rPr>
              <a:t>nodo</a:t>
            </a:r>
            <a:r>
              <a:rPr lang="en-US" sz="1600" b="1" strike="noStrike" spc="-1" dirty="0">
                <a:solidFill>
                  <a:srgbClr val="444444"/>
                </a:solidFill>
                <a:latin typeface="Courier New"/>
                <a:ea typeface="DejaVu Sans"/>
              </a:rPr>
              <a:t>,  </a:t>
            </a:r>
            <a:r>
              <a:rPr lang="en-US" sz="1600" b="1" strike="noStrike" spc="-1" dirty="0">
                <a:solidFill>
                  <a:srgbClr val="FF0000"/>
                </a:solidFill>
                <a:latin typeface="Courier New"/>
                <a:ea typeface="DejaVu Sans"/>
              </a:rPr>
              <a:t>//</a:t>
            </a:r>
            <a:r>
              <a:rPr lang="en-US" sz="1600" b="1" strike="noStrike" spc="-1" dirty="0" err="1">
                <a:solidFill>
                  <a:srgbClr val="FF0000"/>
                </a:solidFill>
                <a:latin typeface="Courier New"/>
                <a:ea typeface="DejaVu Sans"/>
              </a:rPr>
              <a:t>ej</a:t>
            </a:r>
            <a:r>
              <a:rPr lang="en-US" sz="1600" b="1" strike="noStrike" spc="-1" dirty="0">
                <a:solidFill>
                  <a:srgbClr val="FF0000"/>
                </a:solidFill>
                <a:latin typeface="Courier New"/>
                <a:ea typeface="DejaVu Sans"/>
              </a:rPr>
              <a:t>. </a:t>
            </a:r>
            <a:r>
              <a:rPr lang="en-US" sz="1600" b="1" u="sng" strike="noStrike" spc="-1" dirty="0">
                <a:solidFill>
                  <a:srgbClr val="0000FF"/>
                </a:solidFill>
                <a:uFillTx/>
                <a:latin typeface="Courier New"/>
                <a:ea typeface="DejaVu Sans"/>
              </a:rPr>
              <a:t>“www.pc1.net</a:t>
            </a:r>
            <a:r>
              <a:rPr lang="en-US" sz="1600" b="1" strike="noStrike" spc="-1" dirty="0">
                <a:solidFill>
                  <a:srgbClr val="FF0000"/>
                </a:solidFill>
                <a:latin typeface="Courier New"/>
                <a:ea typeface="DejaVu Sans"/>
              </a:rPr>
              <a:t>” ó “127.0.0.1”</a:t>
            </a:r>
            <a:endParaRPr lang="es-MX" sz="1600" b="0" strike="noStrike" spc="-1" dirty="0">
              <a:latin typeface="Arial"/>
            </a:endParaRPr>
          </a:p>
          <a:p>
            <a:pPr>
              <a:lnSpc>
                <a:spcPct val="100000"/>
              </a:lnSpc>
            </a:pPr>
            <a:r>
              <a:rPr lang="en-US" sz="1600" b="1" strike="noStrike" spc="-1" dirty="0">
                <a:solidFill>
                  <a:srgbClr val="444444"/>
                </a:solidFill>
                <a:latin typeface="Courier New"/>
                <a:ea typeface="DejaVu Sans"/>
              </a:rPr>
              <a:t>   const char *</a:t>
            </a:r>
            <a:r>
              <a:rPr lang="en-US" sz="1600" b="0" i="1" strike="noStrike" spc="-1" dirty="0" err="1">
                <a:solidFill>
                  <a:srgbClr val="444444"/>
                </a:solidFill>
                <a:latin typeface="Courier New"/>
                <a:ea typeface="DejaVu Sans"/>
              </a:rPr>
              <a:t>servicio</a:t>
            </a:r>
            <a:r>
              <a:rPr lang="en-US" sz="1600" b="1" strike="noStrike" spc="-1" dirty="0">
                <a:solidFill>
                  <a:srgbClr val="444444"/>
                </a:solidFill>
                <a:latin typeface="Courier New"/>
                <a:ea typeface="DejaVu Sans"/>
              </a:rPr>
              <a:t>,   </a:t>
            </a:r>
            <a:r>
              <a:rPr lang="en-US" sz="1600" b="1" strike="noStrike" spc="-1" dirty="0">
                <a:solidFill>
                  <a:srgbClr val="FF0000"/>
                </a:solidFill>
                <a:latin typeface="Courier New"/>
                <a:ea typeface="DejaVu Sans"/>
              </a:rPr>
              <a:t>//</a:t>
            </a:r>
            <a:r>
              <a:rPr lang="en-US" sz="1600" b="1" strike="noStrike" spc="-1" dirty="0" err="1">
                <a:solidFill>
                  <a:srgbClr val="FF0000"/>
                </a:solidFill>
                <a:latin typeface="Courier New"/>
                <a:ea typeface="DejaVu Sans"/>
              </a:rPr>
              <a:t>ej</a:t>
            </a:r>
            <a:r>
              <a:rPr lang="en-US" sz="1600" b="1" strike="noStrike" spc="-1" dirty="0">
                <a:solidFill>
                  <a:srgbClr val="FF0000"/>
                </a:solidFill>
                <a:latin typeface="Courier New"/>
                <a:ea typeface="DejaVu Sans"/>
              </a:rPr>
              <a:t>. “FTP”, ó “21”</a:t>
            </a:r>
            <a:endParaRPr lang="es-MX" sz="1600" b="0" strike="noStrike" spc="-1" dirty="0">
              <a:latin typeface="Arial"/>
            </a:endParaRPr>
          </a:p>
          <a:p>
            <a:pPr>
              <a:lnSpc>
                <a:spcPct val="100000"/>
              </a:lnSpc>
            </a:pPr>
            <a:r>
              <a:rPr lang="en-US" sz="1600" b="1" strike="noStrike" spc="-1" dirty="0">
                <a:solidFill>
                  <a:srgbClr val="444444"/>
                </a:solidFill>
                <a:latin typeface="Courier New"/>
                <a:ea typeface="DejaVu Sans"/>
              </a:rPr>
              <a:t>   const struct </a:t>
            </a:r>
            <a:r>
              <a:rPr lang="en-US" sz="1600" b="1" strike="noStrike" spc="-1" dirty="0" err="1">
                <a:solidFill>
                  <a:srgbClr val="444444"/>
                </a:solidFill>
                <a:latin typeface="Courier New"/>
                <a:ea typeface="DejaVu Sans"/>
              </a:rPr>
              <a:t>addrinfo</a:t>
            </a:r>
            <a:r>
              <a:rPr lang="en-US" sz="1600" b="1" strike="noStrike" spc="-1" dirty="0">
                <a:solidFill>
                  <a:srgbClr val="444444"/>
                </a:solidFill>
                <a:latin typeface="Courier New"/>
                <a:ea typeface="DejaVu Sans"/>
              </a:rPr>
              <a:t> *</a:t>
            </a:r>
            <a:r>
              <a:rPr lang="en-US" sz="1600" b="0" i="1" strike="noStrike" spc="-1" dirty="0" err="1">
                <a:solidFill>
                  <a:srgbClr val="444444"/>
                </a:solidFill>
                <a:latin typeface="Courier New"/>
                <a:ea typeface="DejaVu Sans"/>
              </a:rPr>
              <a:t>i</a:t>
            </a:r>
            <a:r>
              <a:rPr lang="en-US" sz="1600" b="1" strike="noStrike" spc="-1" dirty="0">
                <a:solidFill>
                  <a:srgbClr val="444444"/>
                </a:solidFill>
                <a:latin typeface="Courier New"/>
                <a:ea typeface="DejaVu Sans"/>
              </a:rPr>
              <a:t>, </a:t>
            </a:r>
            <a:r>
              <a:rPr lang="en-US" sz="1200" b="1" strike="noStrike" spc="-1" dirty="0">
                <a:solidFill>
                  <a:srgbClr val="FF0000"/>
                </a:solidFill>
                <a:latin typeface="Courier New"/>
                <a:ea typeface="DejaVu Sans"/>
              </a:rPr>
              <a:t>// </a:t>
            </a:r>
            <a:r>
              <a:rPr lang="en-US" sz="1200" b="1" strike="noStrike" spc="-1" dirty="0" err="1">
                <a:solidFill>
                  <a:srgbClr val="FF0000"/>
                </a:solidFill>
                <a:latin typeface="Courier New"/>
                <a:ea typeface="DejaVu Sans"/>
              </a:rPr>
              <a:t>apunta</a:t>
            </a:r>
            <a:r>
              <a:rPr lang="en-US" sz="1200" b="1" strike="noStrike" spc="-1" dirty="0">
                <a:solidFill>
                  <a:srgbClr val="FF0000"/>
                </a:solidFill>
                <a:latin typeface="Courier New"/>
                <a:ea typeface="DejaVu Sans"/>
              </a:rPr>
              <a:t> a </a:t>
            </a:r>
            <a:r>
              <a:rPr lang="en-US" sz="1200" b="1" strike="noStrike" spc="-1" dirty="0" err="1">
                <a:solidFill>
                  <a:srgbClr val="FF0000"/>
                </a:solidFill>
                <a:latin typeface="Courier New"/>
                <a:ea typeface="DejaVu Sans"/>
              </a:rPr>
              <a:t>estructura</a:t>
            </a:r>
            <a:r>
              <a:rPr lang="en-US" sz="1200" b="1" strike="noStrike" spc="-1" dirty="0">
                <a:solidFill>
                  <a:srgbClr val="FF0000"/>
                </a:solidFill>
                <a:latin typeface="Courier New"/>
                <a:ea typeface="DejaVu Sans"/>
              </a:rPr>
              <a:t> con info </a:t>
            </a:r>
            <a:r>
              <a:rPr lang="en-US" sz="1200" b="1" strike="noStrike" spc="-1" dirty="0" err="1">
                <a:solidFill>
                  <a:srgbClr val="FF0000"/>
                </a:solidFill>
                <a:latin typeface="Courier New"/>
                <a:ea typeface="DejaVu Sans"/>
              </a:rPr>
              <a:t>importante</a:t>
            </a:r>
            <a:endParaRPr lang="es-MX" sz="1200" b="0" strike="noStrike" spc="-1" dirty="0">
              <a:latin typeface="Arial"/>
            </a:endParaRPr>
          </a:p>
          <a:p>
            <a:pPr>
              <a:lnSpc>
                <a:spcPct val="100000"/>
              </a:lnSpc>
            </a:pPr>
            <a:r>
              <a:rPr lang="en-US" sz="1600" b="1" strike="noStrike" spc="-1" dirty="0">
                <a:solidFill>
                  <a:srgbClr val="444444"/>
                </a:solidFill>
                <a:latin typeface="Courier New"/>
                <a:ea typeface="DejaVu Sans"/>
              </a:rPr>
              <a:t>   struct </a:t>
            </a:r>
            <a:r>
              <a:rPr lang="en-US" sz="1600" b="1" strike="noStrike" spc="-1" dirty="0" err="1">
                <a:solidFill>
                  <a:srgbClr val="444444"/>
                </a:solidFill>
                <a:latin typeface="Courier New"/>
                <a:ea typeface="DejaVu Sans"/>
              </a:rPr>
              <a:t>addrinfo</a:t>
            </a:r>
            <a:r>
              <a:rPr lang="en-US" sz="1600" b="1" strike="noStrike" spc="-1" dirty="0">
                <a:solidFill>
                  <a:srgbClr val="444444"/>
                </a:solidFill>
                <a:latin typeface="Courier New"/>
                <a:ea typeface="DejaVu Sans"/>
              </a:rPr>
              <a:t> **</a:t>
            </a:r>
            <a:r>
              <a:rPr lang="en-US" sz="1600" b="0" i="1" strike="noStrike" spc="-1" dirty="0">
                <a:solidFill>
                  <a:srgbClr val="444444"/>
                </a:solidFill>
                <a:latin typeface="Courier New"/>
                <a:ea typeface="DejaVu Sans"/>
              </a:rPr>
              <a:t>res</a:t>
            </a:r>
            <a:r>
              <a:rPr lang="en-US" sz="1600" b="1" strike="noStrike" spc="-1" dirty="0">
                <a:solidFill>
                  <a:srgbClr val="444444"/>
                </a:solidFill>
                <a:latin typeface="Courier New"/>
                <a:ea typeface="DejaVu Sans"/>
              </a:rPr>
              <a:t>);</a:t>
            </a:r>
            <a:r>
              <a:rPr lang="en-US" sz="1600" b="0" strike="noStrike" spc="-1" dirty="0">
                <a:solidFill>
                  <a:srgbClr val="000000"/>
                </a:solidFill>
                <a:latin typeface="Calibri"/>
                <a:ea typeface="DejaVu Sans"/>
              </a:rPr>
              <a:t>  </a:t>
            </a:r>
            <a:r>
              <a:rPr lang="en-US" sz="1600" b="0" strike="noStrike" spc="-1" dirty="0">
                <a:solidFill>
                  <a:srgbClr val="FF0000"/>
                </a:solidFill>
                <a:latin typeface="Calibri"/>
                <a:ea typeface="DejaVu Sans"/>
              </a:rPr>
              <a:t>//</a:t>
            </a:r>
            <a:r>
              <a:rPr lang="en-US" sz="1600" b="0" strike="noStrike" spc="-1" dirty="0" err="1">
                <a:solidFill>
                  <a:srgbClr val="FF0000"/>
                </a:solidFill>
                <a:latin typeface="Calibri"/>
                <a:ea typeface="DejaVu Sans"/>
              </a:rPr>
              <a:t>apuntador</a:t>
            </a:r>
            <a:r>
              <a:rPr lang="en-US" sz="1600" b="0" strike="noStrike" spc="-1" dirty="0">
                <a:solidFill>
                  <a:srgbClr val="FF0000"/>
                </a:solidFill>
                <a:latin typeface="Calibri"/>
                <a:ea typeface="DejaVu Sans"/>
              </a:rPr>
              <a:t> a </a:t>
            </a:r>
            <a:r>
              <a:rPr lang="en-US" sz="1600" b="0" strike="noStrike" spc="-1" dirty="0" err="1">
                <a:solidFill>
                  <a:srgbClr val="FF0000"/>
                </a:solidFill>
                <a:latin typeface="Calibri"/>
                <a:ea typeface="DejaVu Sans"/>
              </a:rPr>
              <a:t>lista</a:t>
            </a:r>
            <a:r>
              <a:rPr lang="en-US" sz="1600" b="0" strike="noStrike" spc="-1" dirty="0">
                <a:solidFill>
                  <a:srgbClr val="FF0000"/>
                </a:solidFill>
                <a:latin typeface="Calibri"/>
                <a:ea typeface="DejaVu Sans"/>
              </a:rPr>
              <a:t> </a:t>
            </a:r>
            <a:r>
              <a:rPr lang="en-US" sz="1600" b="0" strike="noStrike" spc="-1" dirty="0" err="1">
                <a:solidFill>
                  <a:srgbClr val="FF0000"/>
                </a:solidFill>
                <a:latin typeface="Calibri"/>
                <a:ea typeface="DejaVu Sans"/>
              </a:rPr>
              <a:t>ligada</a:t>
            </a:r>
            <a:r>
              <a:rPr lang="en-US" sz="1600" b="0" strike="noStrike" spc="-1" dirty="0">
                <a:solidFill>
                  <a:srgbClr val="FF0000"/>
                </a:solidFill>
                <a:latin typeface="Calibri"/>
                <a:ea typeface="DejaVu Sans"/>
              </a:rPr>
              <a:t> con </a:t>
            </a:r>
            <a:r>
              <a:rPr lang="en-US" sz="1600" b="0" strike="noStrike" spc="-1" dirty="0" err="1">
                <a:solidFill>
                  <a:srgbClr val="FF0000"/>
                </a:solidFill>
                <a:latin typeface="Calibri"/>
                <a:ea typeface="DejaVu Sans"/>
              </a:rPr>
              <a:t>el</a:t>
            </a:r>
            <a:r>
              <a:rPr lang="en-US" sz="1600" b="0" strike="noStrike" spc="-1" dirty="0">
                <a:solidFill>
                  <a:srgbClr val="FF0000"/>
                </a:solidFill>
                <a:latin typeface="Calibri"/>
                <a:ea typeface="DejaVu Sans"/>
              </a:rPr>
              <a:t> </a:t>
            </a:r>
            <a:r>
              <a:rPr lang="en-US" sz="1600" b="0" strike="noStrike" spc="-1" dirty="0" err="1">
                <a:solidFill>
                  <a:srgbClr val="FF0000"/>
                </a:solidFill>
                <a:latin typeface="Calibri"/>
                <a:ea typeface="DejaVu Sans"/>
              </a:rPr>
              <a:t>resultado</a:t>
            </a:r>
            <a:r>
              <a:rPr lang="en-US" sz="1600" b="0" strike="noStrike" spc="-1" dirty="0">
                <a:solidFill>
                  <a:srgbClr val="FF0000"/>
                </a:solidFill>
                <a:latin typeface="Calibri"/>
                <a:ea typeface="DejaVu Sans"/>
              </a:rPr>
              <a:t> de la consulta</a:t>
            </a:r>
            <a:endParaRPr lang="es-MX" sz="1600" b="0" strike="noStrike" spc="-1" dirty="0">
              <a:latin typeface="Arial"/>
            </a:endParaRPr>
          </a:p>
        </p:txBody>
      </p:sp>
      <p:sp>
        <p:nvSpPr>
          <p:cNvPr id="535" name="CustomShape 5"/>
          <p:cNvSpPr/>
          <p:nvPr/>
        </p:nvSpPr>
        <p:spPr>
          <a:xfrm>
            <a:off x="3960000" y="3705120"/>
            <a:ext cx="259920" cy="24850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536" name="CustomShape 6"/>
          <p:cNvSpPr/>
          <p:nvPr/>
        </p:nvSpPr>
        <p:spPr>
          <a:xfrm>
            <a:off x="4193280" y="3705120"/>
            <a:ext cx="6602400" cy="2645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0 = éxito</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EAI_ADDRFAMILY= El host no tiene una dirección IP en la familia de direcciones</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EAI_AGAIN= El nombre de host devolvió una falla temporal (reintentar)</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EAI_BADFLAGS=</a:t>
            </a:r>
            <a:r>
              <a:rPr lang="en-US" sz="1400" b="0" i="1" strike="noStrike" spc="-1">
                <a:solidFill>
                  <a:srgbClr val="000000"/>
                </a:solidFill>
                <a:latin typeface="Calibri"/>
                <a:ea typeface="DejaVu Sans"/>
              </a:rPr>
              <a:t>i.ai_flags contiene una bandera inválida/está habilitada la bandera AI_CANNONNAME y el nombre es NULL</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EAI_FAIL= Falla permanente</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EAI_FAMILY= familia de direcciones no soportada </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EAI_NONAME=Nodo o servicio desconocidos, o ambos son NULL, o están puestas las banderas AI_NUMERICSERV o AI_NUMERICHOST y uno/ambos de ellos no es numérico</a:t>
            </a:r>
            <a:endParaRPr lang="es-MX" sz="1400" b="0" strike="noStrike" spc="-1">
              <a:latin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1  //para un servidor</a:t>
            </a:r>
            <a:endParaRPr lang="es-MX" sz="4400" b="0" strike="noStrike" spc="-1">
              <a:latin typeface="Arial"/>
            </a:endParaRPr>
          </a:p>
        </p:txBody>
      </p:sp>
      <p:sp>
        <p:nvSpPr>
          <p:cNvPr id="538" name="CustomShape 2"/>
          <p:cNvSpPr/>
          <p:nvPr/>
        </p:nvSpPr>
        <p:spPr>
          <a:xfrm>
            <a:off x="1974600" y="1647000"/>
            <a:ext cx="8556480" cy="3254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a:solidFill>
                  <a:srgbClr val="444444"/>
                </a:solidFill>
                <a:latin typeface="Courier New"/>
                <a:ea typeface="DejaVu Sans"/>
              </a:rPr>
              <a:t>int r;</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struct addrinfo i, *lista;</a:t>
            </a:r>
            <a:endParaRPr lang="es-MX" sz="1600" b="0" strike="noStrike" spc="-1">
              <a:latin typeface="Arial"/>
            </a:endParaRPr>
          </a:p>
          <a:p>
            <a:pPr>
              <a:lnSpc>
                <a:spcPct val="100000"/>
              </a:lnSpc>
            </a:pPr>
            <a:r>
              <a:rPr lang="en-US" sz="1600" b="0" strike="noStrike" spc="-1">
                <a:solidFill>
                  <a:srgbClr val="000000"/>
                </a:solidFill>
                <a:latin typeface="Arial"/>
                <a:ea typeface="DejaVu Sans"/>
              </a:rPr>
              <a:t>memset(&amp;i,0,sizeof(i));</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i.ai_family = AF_INET6;  // IPv4 ó IPv6</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i.ai_socktype = SOCK_STREAM;</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i.ai_flags = AI_PASSIVE;  //solo para el servidor o cuando se use bind</a:t>
            </a:r>
            <a:endParaRPr lang="es-MX" sz="1600" b="0" strike="noStrike" spc="-1">
              <a:latin typeface="Arial"/>
            </a:endParaRPr>
          </a:p>
          <a:p>
            <a:pPr>
              <a:lnSpc>
                <a:spcPct val="100000"/>
              </a:lnSpc>
            </a:pPr>
            <a:r>
              <a:rPr lang="en-US" sz="1600" b="0" strike="noStrike" spc="-1">
                <a:solidFill>
                  <a:srgbClr val="000000"/>
                </a:solidFill>
                <a:latin typeface="Arial"/>
                <a:ea typeface="DejaVu Sans"/>
              </a:rPr>
              <a:t>if((r=getaddrinfo(NULL,”5678”, &amp;i,&amp;lista))!=0){</a:t>
            </a:r>
            <a:endParaRPr lang="es-MX" sz="1600" b="0" strike="noStrike" spc="-1">
              <a:latin typeface="Arial"/>
            </a:endParaRPr>
          </a:p>
          <a:p>
            <a:pPr>
              <a:lnSpc>
                <a:spcPct val="100000"/>
              </a:lnSpc>
            </a:pPr>
            <a:r>
              <a:rPr lang="en-US" sz="1600" b="0" strike="noStrike" spc="-1">
                <a:solidFill>
                  <a:srgbClr val="000000"/>
                </a:solidFill>
                <a:latin typeface="Arial"/>
                <a:ea typeface="DejaVu Sans"/>
              </a:rPr>
              <a:t>   fprintf(stderr,”error:%s\n”,gai_strerror(r));</a:t>
            </a:r>
            <a:endParaRPr lang="es-MX" sz="1600" b="0" strike="noStrike" spc="-1">
              <a:latin typeface="Arial"/>
            </a:endParaRPr>
          </a:p>
          <a:p>
            <a:pPr>
              <a:lnSpc>
                <a:spcPct val="100000"/>
              </a:lnSpc>
            </a:pPr>
            <a:r>
              <a:rPr lang="en-US" sz="1600" b="0" strike="noStrike" spc="-1">
                <a:solidFill>
                  <a:srgbClr val="000000"/>
                </a:solidFill>
                <a:latin typeface="Arial"/>
                <a:ea typeface="DejaVu Sans"/>
              </a:rPr>
              <a:t>   exit(1);</a:t>
            </a:r>
            <a:endParaRPr lang="es-MX" sz="1600" b="0" strike="noStrike" spc="-1">
              <a:latin typeface="Arial"/>
            </a:endParaRPr>
          </a:p>
          <a:p>
            <a:pPr>
              <a:lnSpc>
                <a:spcPct val="100000"/>
              </a:lnSpc>
            </a:pPr>
            <a:r>
              <a:rPr lang="en-US" sz="1600" b="0" strike="noStrike" spc="-1">
                <a:solidFill>
                  <a:srgbClr val="000000"/>
                </a:solidFill>
                <a:latin typeface="Arial"/>
                <a:ea typeface="DejaVu Sans"/>
              </a:rPr>
              <a:t>}</a:t>
            </a:r>
            <a:endParaRPr lang="es-MX" sz="1600" b="0" strike="noStrike" spc="-1">
              <a:latin typeface="Arial"/>
            </a:endParaRPr>
          </a:p>
          <a:p>
            <a:pPr>
              <a:lnSpc>
                <a:spcPct val="100000"/>
              </a:lnSpc>
            </a:pPr>
            <a:r>
              <a:rPr lang="en-US" sz="1600" b="0" strike="noStrike" spc="-1">
                <a:solidFill>
                  <a:srgbClr val="000000"/>
                </a:solidFill>
                <a:latin typeface="Arial"/>
                <a:ea typeface="DejaVu Sans"/>
              </a:rPr>
              <a:t>// se crea el socket y cuando ya no se necesite la lista se elimina </a:t>
            </a:r>
            <a:endParaRPr lang="es-MX" sz="1600" b="0" strike="noStrike" spc="-1">
              <a:latin typeface="Arial"/>
            </a:endParaRPr>
          </a:p>
          <a:p>
            <a:pPr>
              <a:lnSpc>
                <a:spcPct val="100000"/>
              </a:lnSpc>
            </a:pPr>
            <a:r>
              <a:rPr lang="en-US" sz="1600" b="0" strike="noStrike" spc="-1">
                <a:solidFill>
                  <a:srgbClr val="000000"/>
                </a:solidFill>
                <a:latin typeface="Arial"/>
                <a:ea typeface="DejaVu Sans"/>
              </a:rPr>
              <a:t>freeaddrinfo(lista);</a:t>
            </a:r>
            <a:endParaRPr lang="es-MX" sz="1600" b="0" strike="noStrike" spc="-1">
              <a:latin typeface="Arial"/>
            </a:endParaRPr>
          </a:p>
          <a:p>
            <a:pPr>
              <a:lnSpc>
                <a:spcPct val="100000"/>
              </a:lnSpc>
            </a:pPr>
            <a:endParaRPr lang="es-MX" sz="1600" b="0" strike="noStrike" spc="-1">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Ejemplo2  //para un cliente</a:t>
            </a:r>
            <a:endParaRPr lang="es-MX" sz="4400" b="0" strike="noStrike" spc="-1">
              <a:latin typeface="Arial"/>
            </a:endParaRPr>
          </a:p>
        </p:txBody>
      </p:sp>
      <p:sp>
        <p:nvSpPr>
          <p:cNvPr id="540" name="CustomShape 2"/>
          <p:cNvSpPr/>
          <p:nvPr/>
        </p:nvSpPr>
        <p:spPr>
          <a:xfrm>
            <a:off x="1974600" y="1768680"/>
            <a:ext cx="8556480" cy="301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a:solidFill>
                  <a:srgbClr val="444444"/>
                </a:solidFill>
                <a:latin typeface="Courier New"/>
                <a:ea typeface="DejaVu Sans"/>
              </a:rPr>
              <a:t>int r;</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struct addrinfo i, *lista;</a:t>
            </a:r>
            <a:endParaRPr lang="es-MX" sz="1600" b="0" strike="noStrike" spc="-1">
              <a:latin typeface="Arial"/>
            </a:endParaRPr>
          </a:p>
          <a:p>
            <a:pPr>
              <a:lnSpc>
                <a:spcPct val="100000"/>
              </a:lnSpc>
            </a:pPr>
            <a:r>
              <a:rPr lang="en-US" sz="1600" b="0" strike="noStrike" spc="-1">
                <a:solidFill>
                  <a:srgbClr val="000000"/>
                </a:solidFill>
                <a:latin typeface="Arial"/>
                <a:ea typeface="DejaVu Sans"/>
              </a:rPr>
              <a:t>memset(&amp;i,0,sizeof(i));</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i.ai_family = AF_UNSPEC;  // IPv4 ó IPv6</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i.ai_socktype = SOCK_STREAM;</a:t>
            </a:r>
            <a:endParaRPr lang="es-MX" sz="1600" b="0" strike="noStrike" spc="-1">
              <a:latin typeface="Arial"/>
            </a:endParaRPr>
          </a:p>
          <a:p>
            <a:pPr>
              <a:lnSpc>
                <a:spcPct val="100000"/>
              </a:lnSpc>
            </a:pPr>
            <a:r>
              <a:rPr lang="en-US" sz="1600" b="0" strike="noStrike" spc="-1">
                <a:solidFill>
                  <a:srgbClr val="000000"/>
                </a:solidFill>
                <a:latin typeface="Arial"/>
                <a:ea typeface="DejaVu Sans"/>
              </a:rPr>
              <a:t>if((r=getaddrinfo(“200.1.2.3”,”5678”, &amp;i,&amp;lista))!=0){</a:t>
            </a:r>
            <a:endParaRPr lang="es-MX" sz="1600" b="0" strike="noStrike" spc="-1">
              <a:latin typeface="Arial"/>
            </a:endParaRPr>
          </a:p>
          <a:p>
            <a:pPr>
              <a:lnSpc>
                <a:spcPct val="100000"/>
              </a:lnSpc>
            </a:pPr>
            <a:r>
              <a:rPr lang="en-US" sz="1600" b="0" strike="noStrike" spc="-1">
                <a:solidFill>
                  <a:srgbClr val="000000"/>
                </a:solidFill>
                <a:latin typeface="Arial"/>
                <a:ea typeface="DejaVu Sans"/>
              </a:rPr>
              <a:t>   fprintf(stderr,”error:%s\n”,gai_strerror(r));</a:t>
            </a:r>
            <a:endParaRPr lang="es-MX" sz="1600" b="0" strike="noStrike" spc="-1">
              <a:latin typeface="Arial"/>
            </a:endParaRPr>
          </a:p>
          <a:p>
            <a:pPr>
              <a:lnSpc>
                <a:spcPct val="100000"/>
              </a:lnSpc>
            </a:pPr>
            <a:r>
              <a:rPr lang="en-US" sz="1600" b="0" strike="noStrike" spc="-1">
                <a:solidFill>
                  <a:srgbClr val="000000"/>
                </a:solidFill>
                <a:latin typeface="Arial"/>
                <a:ea typeface="DejaVu Sans"/>
              </a:rPr>
              <a:t>   exit(1);</a:t>
            </a:r>
            <a:endParaRPr lang="es-MX" sz="1600" b="0" strike="noStrike" spc="-1">
              <a:latin typeface="Arial"/>
            </a:endParaRPr>
          </a:p>
          <a:p>
            <a:pPr>
              <a:lnSpc>
                <a:spcPct val="100000"/>
              </a:lnSpc>
            </a:pPr>
            <a:r>
              <a:rPr lang="en-US" sz="1600" b="0" strike="noStrike" spc="-1">
                <a:solidFill>
                  <a:srgbClr val="000000"/>
                </a:solidFill>
                <a:latin typeface="Arial"/>
                <a:ea typeface="DejaVu Sans"/>
              </a:rPr>
              <a:t>}</a:t>
            </a:r>
            <a:endParaRPr lang="es-MX" sz="1600" b="0" strike="noStrike" spc="-1">
              <a:latin typeface="Arial"/>
            </a:endParaRPr>
          </a:p>
          <a:p>
            <a:pPr>
              <a:lnSpc>
                <a:spcPct val="100000"/>
              </a:lnSpc>
            </a:pPr>
            <a:r>
              <a:rPr lang="en-US" sz="1600" b="0" strike="noStrike" spc="-1">
                <a:solidFill>
                  <a:srgbClr val="000000"/>
                </a:solidFill>
                <a:latin typeface="Arial"/>
                <a:ea typeface="DejaVu Sans"/>
              </a:rPr>
              <a:t>// se crea el socket y cuando ya no se necesite la lista se elimina </a:t>
            </a:r>
            <a:endParaRPr lang="es-MX" sz="1600" b="0" strike="noStrike" spc="-1">
              <a:latin typeface="Arial"/>
            </a:endParaRPr>
          </a:p>
          <a:p>
            <a:pPr>
              <a:lnSpc>
                <a:spcPct val="100000"/>
              </a:lnSpc>
            </a:pPr>
            <a:r>
              <a:rPr lang="en-US" sz="1600" b="0" strike="noStrike" spc="-1">
                <a:solidFill>
                  <a:srgbClr val="000000"/>
                </a:solidFill>
                <a:latin typeface="Arial"/>
                <a:ea typeface="DejaVu Sans"/>
              </a:rPr>
              <a:t>freeaddrinfo(lista);</a:t>
            </a:r>
            <a:endParaRPr lang="es-MX" sz="1600" b="0" strike="noStrike" spc="-1">
              <a:latin typeface="Arial"/>
            </a:endParaRPr>
          </a:p>
          <a:p>
            <a:pPr>
              <a:lnSpc>
                <a:spcPct val="100000"/>
              </a:lnSpc>
            </a:pPr>
            <a:endParaRPr lang="es-MX" sz="1600" b="0" strike="noStrike" spc="-1">
              <a:latin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 name="CustomShape 1"/>
          <p:cNvSpPr/>
          <p:nvPr/>
        </p:nvSpPr>
        <p:spPr>
          <a:xfrm>
            <a:off x="1919520" y="0"/>
            <a:ext cx="8227440" cy="114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socket() //&lt;sys/socket.h&gt;</a:t>
            </a:r>
            <a:endParaRPr lang="es-MX" sz="4400" b="0" strike="noStrike" spc="-1">
              <a:latin typeface="Arial"/>
            </a:endParaRPr>
          </a:p>
        </p:txBody>
      </p:sp>
      <p:sp>
        <p:nvSpPr>
          <p:cNvPr id="542" name="CustomShape 2"/>
          <p:cNvSpPr/>
          <p:nvPr/>
        </p:nvSpPr>
        <p:spPr>
          <a:xfrm>
            <a:off x="2135520" y="1263960"/>
            <a:ext cx="8227440" cy="67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 socket(int dominio, int tipo, int protocolo) </a:t>
            </a:r>
            <a:endParaRPr lang="es-MX" sz="2800" b="0" strike="noStrike" spc="-1">
              <a:latin typeface="Arial"/>
            </a:endParaRPr>
          </a:p>
        </p:txBody>
      </p:sp>
      <p:sp>
        <p:nvSpPr>
          <p:cNvPr id="543" name="CustomShape 3"/>
          <p:cNvSpPr/>
          <p:nvPr/>
        </p:nvSpPr>
        <p:spPr>
          <a:xfrm>
            <a:off x="4354341" y="2273778"/>
            <a:ext cx="7342560" cy="360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100" b="0" strike="noStrike" spc="-1" dirty="0">
                <a:solidFill>
                  <a:srgbClr val="000000"/>
                </a:solidFill>
                <a:latin typeface="Arial Unicode MS"/>
                <a:ea typeface="DejaVu Sans"/>
              </a:rPr>
              <a:t>int </a:t>
            </a:r>
            <a:r>
              <a:rPr lang="en-US" sz="1100" b="0" strike="noStrike" spc="-1" dirty="0" err="1">
                <a:solidFill>
                  <a:srgbClr val="000000"/>
                </a:solidFill>
                <a:latin typeface="Arial Unicode MS"/>
                <a:ea typeface="DejaVu Sans"/>
              </a:rPr>
              <a:t>sd</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struct </a:t>
            </a:r>
            <a:r>
              <a:rPr lang="en-US" sz="1100" b="0" strike="noStrike" spc="-1" dirty="0" err="1">
                <a:solidFill>
                  <a:srgbClr val="000000"/>
                </a:solidFill>
                <a:latin typeface="Arial Unicode MS"/>
                <a:ea typeface="DejaVu Sans"/>
              </a:rPr>
              <a:t>addrinfo</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*r, *p;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memset</a:t>
            </a:r>
            <a:r>
              <a:rPr lang="en-US" sz="1100" b="0" strike="noStrike" spc="-1" dirty="0">
                <a:solidFill>
                  <a:srgbClr val="000000"/>
                </a:solidFill>
                <a:latin typeface="Arial Unicode MS"/>
                <a:ea typeface="DejaVu Sans"/>
              </a:rPr>
              <a:t>(&amp;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0, </a:t>
            </a:r>
            <a:r>
              <a:rPr lang="en-US" sz="1100" b="0" strike="noStrike" spc="-1" dirty="0" err="1">
                <a:solidFill>
                  <a:srgbClr val="000000"/>
                </a:solidFill>
                <a:latin typeface="Arial Unicode MS"/>
                <a:ea typeface="DejaVu Sans"/>
              </a:rPr>
              <a:t>sizeof</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indicio</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i.ai_family</a:t>
            </a:r>
            <a:r>
              <a:rPr lang="en-US" sz="1100" b="0" strike="noStrike" spc="-1" dirty="0">
                <a:solidFill>
                  <a:srgbClr val="000000"/>
                </a:solidFill>
                <a:latin typeface="Arial Unicode MS"/>
                <a:ea typeface="DejaVu Sans"/>
              </a:rPr>
              <a:t> = AF_INET6; /* </a:t>
            </a:r>
            <a:r>
              <a:rPr lang="en-US" sz="1100" b="0" strike="noStrike" spc="-1" dirty="0" err="1">
                <a:solidFill>
                  <a:srgbClr val="000000"/>
                </a:solidFill>
                <a:latin typeface="Arial Unicode MS"/>
                <a:ea typeface="DejaVu Sans"/>
              </a:rPr>
              <a:t>Permite</a:t>
            </a:r>
            <a:r>
              <a:rPr lang="en-US" sz="1100" b="0" strike="noStrike" spc="-1" dirty="0">
                <a:solidFill>
                  <a:srgbClr val="000000"/>
                </a:solidFill>
                <a:latin typeface="Arial Unicode MS"/>
                <a:ea typeface="DejaVu Sans"/>
              </a:rPr>
              <a:t> IPv4 or IPv6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i.ai_socktype</a:t>
            </a:r>
            <a:r>
              <a:rPr lang="en-US" sz="1100" b="0" strike="noStrike" spc="-1" dirty="0">
                <a:solidFill>
                  <a:srgbClr val="000000"/>
                </a:solidFill>
                <a:latin typeface="Arial Unicode MS"/>
                <a:ea typeface="DejaVu Sans"/>
              </a:rPr>
              <a:t> = SOCK_STREAM;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i.ai_flags</a:t>
            </a:r>
            <a:r>
              <a:rPr lang="en-US" sz="1100" b="0" strike="noStrike" spc="-1" dirty="0">
                <a:solidFill>
                  <a:srgbClr val="000000"/>
                </a:solidFill>
                <a:latin typeface="Arial Unicode MS"/>
                <a:ea typeface="DejaVu Sans"/>
              </a:rPr>
              <a:t> = AI_PASSIVE; // </a:t>
            </a:r>
            <a:r>
              <a:rPr lang="en-US" sz="1100" b="0" strike="noStrike" spc="-1" dirty="0" err="1">
                <a:solidFill>
                  <a:srgbClr val="000000"/>
                </a:solidFill>
                <a:latin typeface="Arial Unicode MS"/>
                <a:ea typeface="DejaVu Sans"/>
              </a:rPr>
              <a:t>utilizado</a:t>
            </a:r>
            <a:r>
              <a:rPr lang="en-US" sz="1100" b="0" strike="noStrike" spc="-1" dirty="0">
                <a:solidFill>
                  <a:srgbClr val="000000"/>
                </a:solidFill>
                <a:latin typeface="Arial Unicode MS"/>
                <a:ea typeface="DejaVu Sans"/>
              </a:rPr>
              <a:t> para </a:t>
            </a:r>
            <a:r>
              <a:rPr lang="en-US" sz="1100" b="0" strike="noStrike" spc="-1" dirty="0" err="1">
                <a:solidFill>
                  <a:srgbClr val="000000"/>
                </a:solidFill>
                <a:latin typeface="Arial Unicode MS"/>
                <a:ea typeface="DejaVu Sans"/>
              </a:rPr>
              <a:t>hacer</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el</a:t>
            </a:r>
            <a:r>
              <a:rPr lang="en-US" sz="1100" b="0" strike="noStrike" spc="-1" dirty="0">
                <a:solidFill>
                  <a:srgbClr val="000000"/>
                </a:solidFill>
                <a:latin typeface="Arial Unicode MS"/>
                <a:ea typeface="DejaVu Sans"/>
              </a:rPr>
              <a:t> bind</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i.ai_protocol</a:t>
            </a:r>
            <a:r>
              <a:rPr lang="en-US" sz="1100" b="0" strike="noStrike" spc="-1" dirty="0">
                <a:solidFill>
                  <a:srgbClr val="000000"/>
                </a:solidFill>
                <a:latin typeface="Arial Unicode MS"/>
                <a:ea typeface="DejaVu Sans"/>
              </a:rPr>
              <a:t> = 0; /* Any protocol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i.ai_canonname</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i.ai_addr</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i.ai_next</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 ((</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 =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(NULL, </a:t>
            </a:r>
            <a:r>
              <a:rPr lang="en-US" sz="1100" b="0" strike="noStrike" spc="-1" dirty="0" err="1">
                <a:solidFill>
                  <a:srgbClr val="000000"/>
                </a:solidFill>
                <a:latin typeface="Arial Unicode MS"/>
                <a:ea typeface="DejaVu Sans"/>
              </a:rPr>
              <a:t>pto</a:t>
            </a:r>
            <a:r>
              <a:rPr lang="en-US" sz="1100" b="0" strike="noStrike" spc="-1" dirty="0">
                <a:solidFill>
                  <a:srgbClr val="000000"/>
                </a:solidFill>
                <a:latin typeface="Arial Unicode MS"/>
                <a:ea typeface="DejaVu Sans"/>
              </a:rPr>
              <a:t>, &amp;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&amp;r)) != 0)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fprintf</a:t>
            </a:r>
            <a:r>
              <a:rPr lang="en-US" sz="1100" b="0" strike="noStrike" spc="-1" dirty="0">
                <a:solidFill>
                  <a:srgbClr val="000000"/>
                </a:solidFill>
                <a:latin typeface="Arial Unicode MS"/>
                <a:ea typeface="DejaVu Sans"/>
              </a:rPr>
              <a:t>(stderr,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 %s\n", </a:t>
            </a:r>
            <a:r>
              <a:rPr lang="en-US" sz="1100" b="0" strike="noStrike" spc="-1" dirty="0" err="1">
                <a:solidFill>
                  <a:srgbClr val="000000"/>
                </a:solidFill>
                <a:latin typeface="Arial Unicode MS"/>
                <a:ea typeface="DejaVu Sans"/>
              </a:rPr>
              <a:t>gai_strerror</a:t>
            </a:r>
            <a:r>
              <a:rPr lang="en-US" sz="1100" b="0" strike="noStrike" spc="-1" dirty="0">
                <a:solidFill>
                  <a:srgbClr val="000000"/>
                </a:solidFill>
                <a:latin typeface="Arial Unicode MS"/>
                <a:ea typeface="DejaVu Sans"/>
              </a:rPr>
              <a:t>(</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return 1;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for(p = r; p != NULL; p = p-&gt;</a:t>
            </a:r>
            <a:r>
              <a:rPr lang="en-US" sz="1100" b="0" strike="noStrike" spc="-1" dirty="0" err="1">
                <a:solidFill>
                  <a:srgbClr val="000000"/>
                </a:solidFill>
                <a:latin typeface="Arial Unicode MS"/>
                <a:ea typeface="DejaVu Sans"/>
              </a:rPr>
              <a:t>ai_next</a:t>
            </a:r>
            <a:r>
              <a:rPr lang="en-US" sz="1100" b="0" strike="noStrike" spc="-1" dirty="0">
                <a:solidFill>
                  <a:srgbClr val="000000"/>
                </a:solidFill>
                <a:latin typeface="Arial Unicode MS"/>
                <a:ea typeface="DejaVu Sans"/>
              </a:rPr>
              <a:t>)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 </a:t>
            </a:r>
            <a:r>
              <a:rPr lang="en-US" sz="1100" b="1" strike="noStrike" spc="-1" dirty="0">
                <a:solidFill>
                  <a:srgbClr val="000000"/>
                </a:solidFill>
                <a:latin typeface="Arial Unicode MS"/>
                <a:ea typeface="DejaVu Sans"/>
              </a:rPr>
              <a:t>((</a:t>
            </a:r>
            <a:r>
              <a:rPr lang="en-US" sz="1100" b="1" strike="noStrike" spc="-1" dirty="0" err="1">
                <a:solidFill>
                  <a:srgbClr val="000000"/>
                </a:solidFill>
                <a:latin typeface="Arial Unicode MS"/>
                <a:ea typeface="DejaVu Sans"/>
              </a:rPr>
              <a:t>sd</a:t>
            </a:r>
            <a:r>
              <a:rPr lang="en-US" sz="1100" b="1" strike="noStrike" spc="-1" dirty="0">
                <a:solidFill>
                  <a:srgbClr val="000000"/>
                </a:solidFill>
                <a:latin typeface="Arial Unicode MS"/>
                <a:ea typeface="DejaVu Sans"/>
              </a:rPr>
              <a:t> = socket(p-&gt;</a:t>
            </a:r>
            <a:r>
              <a:rPr lang="en-US" sz="1100" b="1" strike="noStrike" spc="-1" dirty="0" err="1">
                <a:solidFill>
                  <a:srgbClr val="000000"/>
                </a:solidFill>
                <a:latin typeface="Arial Unicode MS"/>
                <a:ea typeface="DejaVu Sans"/>
              </a:rPr>
              <a:t>ai_family</a:t>
            </a:r>
            <a:r>
              <a:rPr lang="en-US" sz="1100" b="1" strike="noStrike" spc="-1" dirty="0">
                <a:solidFill>
                  <a:srgbClr val="000000"/>
                </a:solidFill>
                <a:latin typeface="Arial Unicode MS"/>
                <a:ea typeface="DejaVu Sans"/>
              </a:rPr>
              <a:t>, p-&gt;</a:t>
            </a:r>
            <a:r>
              <a:rPr lang="en-US" sz="1100" b="1" strike="noStrike" spc="-1" dirty="0" err="1">
                <a:solidFill>
                  <a:srgbClr val="000000"/>
                </a:solidFill>
                <a:latin typeface="Arial Unicode MS"/>
                <a:ea typeface="DejaVu Sans"/>
              </a:rPr>
              <a:t>ai_socktype,p</a:t>
            </a:r>
            <a:r>
              <a:rPr lang="en-US" sz="1100" b="1" strike="noStrike" spc="-1" dirty="0">
                <a:solidFill>
                  <a:srgbClr val="000000"/>
                </a:solidFill>
                <a:latin typeface="Arial Unicode MS"/>
                <a:ea typeface="DejaVu Sans"/>
              </a:rPr>
              <a:t>-&gt;</a:t>
            </a:r>
            <a:r>
              <a:rPr lang="en-US" sz="1100" b="1" strike="noStrike" spc="-1" dirty="0" err="1">
                <a:solidFill>
                  <a:srgbClr val="000000"/>
                </a:solidFill>
                <a:latin typeface="Arial Unicode MS"/>
                <a:ea typeface="DejaVu Sans"/>
              </a:rPr>
              <a:t>ai_protocol</a:t>
            </a:r>
            <a:r>
              <a:rPr lang="en-US" sz="1100" b="1" strike="noStrike" spc="-1" dirty="0">
                <a:solidFill>
                  <a:srgbClr val="000000"/>
                </a:solidFill>
                <a:latin typeface="Arial Unicode MS"/>
                <a:ea typeface="DejaVu Sans"/>
              </a:rPr>
              <a:t>)</a:t>
            </a:r>
            <a:r>
              <a:rPr lang="en-US" sz="1100" b="0" strike="noStrike" spc="-1" dirty="0">
                <a:solidFill>
                  <a:srgbClr val="000000"/>
                </a:solidFill>
                <a:latin typeface="Arial Unicode MS"/>
                <a:ea typeface="DejaVu Sans"/>
              </a:rPr>
              <a:t>)</a:t>
            </a:r>
            <a:r>
              <a:rPr lang="en-US" sz="1100" b="1" strike="noStrike" spc="-1" dirty="0">
                <a:solidFill>
                  <a:srgbClr val="000000"/>
                </a:solidFill>
                <a:latin typeface="Arial Unicode MS"/>
                <a:ea typeface="DejaVu Sans"/>
              </a:rPr>
              <a:t> </a:t>
            </a:r>
            <a:r>
              <a:rPr lang="en-US" sz="1100" b="0" strike="noStrike" spc="-1" dirty="0">
                <a:solidFill>
                  <a:srgbClr val="000000"/>
                </a:solidFill>
                <a:latin typeface="Arial Unicode MS"/>
                <a:ea typeface="DejaVu Sans"/>
              </a:rPr>
              <a:t>== -1)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perror</a:t>
            </a:r>
            <a:r>
              <a:rPr lang="en-US" sz="1100" b="0" strike="noStrike" spc="-1" dirty="0">
                <a:solidFill>
                  <a:srgbClr val="000000"/>
                </a:solidFill>
                <a:latin typeface="Arial Unicode MS"/>
                <a:ea typeface="DejaVu Sans"/>
              </a:rPr>
              <a:t>("server: socket");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continue;</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break;</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}//for</a:t>
            </a:r>
            <a:r>
              <a:rPr lang="en-US" sz="1100" b="0" strike="noStrike" spc="-1" dirty="0">
                <a:solidFill>
                  <a:srgbClr val="000000"/>
                </a:solidFill>
                <a:latin typeface="Calibri"/>
                <a:ea typeface="DejaVu Sans"/>
              </a:rPr>
              <a:t> </a:t>
            </a:r>
            <a:endParaRPr lang="es-MX" sz="1100" b="0" strike="noStrike" spc="-1" dirty="0">
              <a:latin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Familia de direcciones (1/2)</a:t>
            </a:r>
            <a:endParaRPr lang="es-MX" sz="4400" b="0" strike="noStrike" spc="-1">
              <a:latin typeface="Arial"/>
            </a:endParaRPr>
          </a:p>
        </p:txBody>
      </p:sp>
      <p:graphicFrame>
        <p:nvGraphicFramePr>
          <p:cNvPr id="545" name="Table 2"/>
          <p:cNvGraphicFramePr/>
          <p:nvPr/>
        </p:nvGraphicFramePr>
        <p:xfrm>
          <a:off x="1981080" y="1600200"/>
          <a:ext cx="8229240" cy="4820040"/>
        </p:xfrm>
        <a:graphic>
          <a:graphicData uri="http://schemas.openxmlformats.org/drawingml/2006/table">
            <a:tbl>
              <a:tblPr/>
              <a:tblGrid>
                <a:gridCol w="2026440">
                  <a:extLst>
                    <a:ext uri="{9D8B030D-6E8A-4147-A177-3AD203B41FA5}">
                      <a16:colId xmlns:a16="http://schemas.microsoft.com/office/drawing/2014/main" val="20000"/>
                    </a:ext>
                  </a:extLst>
                </a:gridCol>
                <a:gridCol w="6202800">
                  <a:extLst>
                    <a:ext uri="{9D8B030D-6E8A-4147-A177-3AD203B41FA5}">
                      <a16:colId xmlns:a16="http://schemas.microsoft.com/office/drawing/2014/main" val="20001"/>
                    </a:ext>
                  </a:extLst>
                </a:gridCol>
              </a:tblGrid>
              <a:tr h="370800">
                <a:tc>
                  <a:txBody>
                    <a:bodyPr/>
                    <a:lstStyle/>
                    <a:p>
                      <a:pPr>
                        <a:lnSpc>
                          <a:spcPct val="100000"/>
                        </a:lnSpc>
                      </a:pPr>
                      <a:r>
                        <a:rPr lang="en-US" sz="1800" b="1" strike="noStrike" spc="-1">
                          <a:solidFill>
                            <a:srgbClr val="FFFFFF"/>
                          </a:solidFill>
                          <a:latin typeface="Calibri"/>
                          <a:ea typeface="DejaVu Sans"/>
                        </a:rPr>
                        <a:t>Familia</a:t>
                      </a:r>
                      <a:endParaRPr lang="es-MX" sz="1800" b="0" strike="noStrike" spc="-1">
                        <a:latin typeface="Arial"/>
                      </a:endParaRPr>
                    </a:p>
                  </a:txBody>
                  <a:tcPr>
                    <a:noFill/>
                  </a:tcPr>
                </a:tc>
                <a:tc>
                  <a:txBody>
                    <a:bodyPr/>
                    <a:lstStyle/>
                    <a:p>
                      <a:pPr>
                        <a:lnSpc>
                          <a:spcPct val="100000"/>
                        </a:lnSpc>
                      </a:pPr>
                      <a:r>
                        <a:rPr lang="en-US" sz="1800" b="1" strike="noStrike" spc="-1">
                          <a:solidFill>
                            <a:srgbClr val="FFFFFF"/>
                          </a:solidFill>
                          <a:latin typeface="Calibri"/>
                          <a:ea typeface="DejaVu Sans"/>
                        </a:rPr>
                        <a:t>Descripción</a:t>
                      </a:r>
                      <a:endParaRPr lang="es-MX" sz="1800" b="0" strike="noStrike" spc="-1">
                        <a:latin typeface="Arial"/>
                      </a:endParaRPr>
                    </a:p>
                  </a:txBody>
                  <a:tcPr>
                    <a:noFill/>
                  </a:tcPr>
                </a:tc>
                <a:extLst>
                  <a:ext uri="{0D108BD9-81ED-4DB2-BD59-A6C34878D82A}">
                    <a16:rowId xmlns:a16="http://schemas.microsoft.com/office/drawing/2014/main" val="10000"/>
                  </a:ext>
                </a:extLst>
              </a:tr>
              <a:tr h="370800">
                <a:tc>
                  <a:txBody>
                    <a:bodyPr/>
                    <a:lstStyle/>
                    <a:p>
                      <a:pPr>
                        <a:lnSpc>
                          <a:spcPct val="100000"/>
                        </a:lnSpc>
                      </a:pPr>
                      <a:r>
                        <a:rPr lang="en-US" sz="1800" b="0" strike="noStrike" spc="-1">
                          <a:solidFill>
                            <a:srgbClr val="000000"/>
                          </a:solidFill>
                          <a:latin typeface="Calibri"/>
                          <a:ea typeface="DejaVu Sans"/>
                        </a:rPr>
                        <a:t>AF_LOCAL</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Es otro nombre para AF_UNIX</a:t>
                      </a:r>
                      <a:endParaRPr lang="es-MX" sz="1800" b="0" strike="noStrike" spc="-1">
                        <a:latin typeface="Arial"/>
                      </a:endParaRPr>
                    </a:p>
                  </a:txBody>
                  <a:tcPr>
                    <a:noFill/>
                  </a:tcPr>
                </a:tc>
                <a:extLst>
                  <a:ext uri="{0D108BD9-81ED-4DB2-BD59-A6C34878D82A}">
                    <a16:rowId xmlns:a16="http://schemas.microsoft.com/office/drawing/2014/main" val="10001"/>
                  </a:ext>
                </a:extLst>
              </a:tr>
              <a:tr h="370800">
                <a:tc>
                  <a:txBody>
                    <a:bodyPr/>
                    <a:lstStyle/>
                    <a:p>
                      <a:pPr>
                        <a:lnSpc>
                          <a:spcPct val="100000"/>
                        </a:lnSpc>
                      </a:pPr>
                      <a:r>
                        <a:rPr lang="en-US" sz="1800" b="0" strike="noStrike" spc="-1">
                          <a:solidFill>
                            <a:srgbClr val="000000"/>
                          </a:solidFill>
                          <a:latin typeface="Calibri"/>
                          <a:ea typeface="DejaVu Sans"/>
                        </a:rPr>
                        <a:t>AF_INET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 internet DARPA (TCP/IP)</a:t>
                      </a:r>
                      <a:endParaRPr lang="es-MX" sz="1800" b="0" strike="noStrike" spc="-1">
                        <a:latin typeface="Arial"/>
                      </a:endParaRPr>
                    </a:p>
                  </a:txBody>
                  <a:tcPr>
                    <a:noFill/>
                  </a:tcPr>
                </a:tc>
                <a:extLst>
                  <a:ext uri="{0D108BD9-81ED-4DB2-BD59-A6C34878D82A}">
                    <a16:rowId xmlns:a16="http://schemas.microsoft.com/office/drawing/2014/main" val="10002"/>
                  </a:ext>
                </a:extLst>
              </a:tr>
              <a:tr h="370800">
                <a:tc>
                  <a:txBody>
                    <a:bodyPr/>
                    <a:lstStyle/>
                    <a:p>
                      <a:pPr>
                        <a:lnSpc>
                          <a:spcPct val="100000"/>
                        </a:lnSpc>
                      </a:pPr>
                      <a:r>
                        <a:rPr lang="en-US" sz="1800" b="0" strike="noStrike" spc="-1">
                          <a:solidFill>
                            <a:srgbClr val="000000"/>
                          </a:solidFill>
                          <a:latin typeface="Calibri"/>
                          <a:ea typeface="DejaVu Sans"/>
                        </a:rPr>
                        <a:t>AF_INET6</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 internet versión 6</a:t>
                      </a:r>
                      <a:endParaRPr lang="es-MX" sz="1800" b="0" strike="noStrike" spc="-1">
                        <a:latin typeface="Arial"/>
                      </a:endParaRPr>
                    </a:p>
                  </a:txBody>
                  <a:tcPr>
                    <a:noFill/>
                  </a:tcPr>
                </a:tc>
                <a:extLst>
                  <a:ext uri="{0D108BD9-81ED-4DB2-BD59-A6C34878D82A}">
                    <a16:rowId xmlns:a16="http://schemas.microsoft.com/office/drawing/2014/main" val="10003"/>
                  </a:ext>
                </a:extLst>
              </a:tr>
              <a:tr h="370800">
                <a:tc>
                  <a:txBody>
                    <a:bodyPr/>
                    <a:lstStyle/>
                    <a:p>
                      <a:pPr>
                        <a:lnSpc>
                          <a:spcPct val="100000"/>
                        </a:lnSpc>
                      </a:pPr>
                      <a:r>
                        <a:rPr lang="en-US" sz="1800" b="0" strike="noStrike" spc="-1">
                          <a:solidFill>
                            <a:srgbClr val="000000"/>
                          </a:solidFill>
                          <a:latin typeface="Calibri"/>
                          <a:ea typeface="DejaVu Sans"/>
                        </a:rPr>
                        <a:t>AF_PUP</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Antigua red Xerox</a:t>
                      </a:r>
                      <a:endParaRPr lang="es-MX" sz="1800" b="0" strike="noStrike" spc="-1">
                        <a:latin typeface="Arial"/>
                      </a:endParaRPr>
                    </a:p>
                  </a:txBody>
                  <a:tcPr>
                    <a:noFill/>
                  </a:tcPr>
                </a:tc>
                <a:extLst>
                  <a:ext uri="{0D108BD9-81ED-4DB2-BD59-A6C34878D82A}">
                    <a16:rowId xmlns:a16="http://schemas.microsoft.com/office/drawing/2014/main" val="10004"/>
                  </a:ext>
                </a:extLst>
              </a:tr>
              <a:tr h="370800">
                <a:tc>
                  <a:txBody>
                    <a:bodyPr/>
                    <a:lstStyle/>
                    <a:p>
                      <a:pPr>
                        <a:lnSpc>
                          <a:spcPct val="100000"/>
                        </a:lnSpc>
                      </a:pPr>
                      <a:r>
                        <a:rPr lang="en-US" sz="1800" b="0" strike="noStrike" spc="-1">
                          <a:solidFill>
                            <a:srgbClr val="000000"/>
                          </a:solidFill>
                          <a:latin typeface="Calibri"/>
                          <a:ea typeface="DejaVu Sans"/>
                        </a:rPr>
                        <a:t>AF_CHAOS</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Chaos del MIT</a:t>
                      </a:r>
                      <a:endParaRPr lang="es-MX" sz="1800" b="0" strike="noStrike" spc="-1">
                        <a:latin typeface="Arial"/>
                      </a:endParaRPr>
                    </a:p>
                  </a:txBody>
                  <a:tcPr>
                    <a:noFill/>
                  </a:tcPr>
                </a:tc>
                <a:extLst>
                  <a:ext uri="{0D108BD9-81ED-4DB2-BD59-A6C34878D82A}">
                    <a16:rowId xmlns:a16="http://schemas.microsoft.com/office/drawing/2014/main" val="10005"/>
                  </a:ext>
                </a:extLst>
              </a:tr>
              <a:tr h="370800">
                <a:tc>
                  <a:txBody>
                    <a:bodyPr/>
                    <a:lstStyle/>
                    <a:p>
                      <a:pPr>
                        <a:lnSpc>
                          <a:spcPct val="100000"/>
                        </a:lnSpc>
                      </a:pPr>
                      <a:r>
                        <a:rPr lang="en-US" sz="1800" b="0" strike="noStrike" spc="-1">
                          <a:solidFill>
                            <a:srgbClr val="000000"/>
                          </a:solidFill>
                          <a:latin typeface="Calibri"/>
                          <a:ea typeface="DejaVu Sans"/>
                        </a:rPr>
                        <a:t>AF_NS</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Arquitectura Xerox Network System</a:t>
                      </a:r>
                      <a:endParaRPr lang="es-MX" sz="1800" b="0" strike="noStrike" spc="-1">
                        <a:latin typeface="Arial"/>
                      </a:endParaRPr>
                    </a:p>
                  </a:txBody>
                  <a:tcPr>
                    <a:noFill/>
                  </a:tcPr>
                </a:tc>
                <a:extLst>
                  <a:ext uri="{0D108BD9-81ED-4DB2-BD59-A6C34878D82A}">
                    <a16:rowId xmlns:a16="http://schemas.microsoft.com/office/drawing/2014/main" val="10006"/>
                  </a:ext>
                </a:extLst>
              </a:tr>
              <a:tr h="370800">
                <a:tc>
                  <a:txBody>
                    <a:bodyPr/>
                    <a:lstStyle/>
                    <a:p>
                      <a:pPr>
                        <a:lnSpc>
                          <a:spcPct val="100000"/>
                        </a:lnSpc>
                      </a:pPr>
                      <a:r>
                        <a:rPr lang="en-US" sz="1800" b="0" strike="noStrike" spc="-1">
                          <a:solidFill>
                            <a:srgbClr val="000000"/>
                          </a:solidFill>
                          <a:latin typeface="Calibri"/>
                          <a:ea typeface="DejaVu Sans"/>
                        </a:rPr>
                        <a:t>AF_ISO</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Protocolos OSI</a:t>
                      </a:r>
                      <a:endParaRPr lang="es-MX" sz="1800" b="0" strike="noStrike" spc="-1">
                        <a:latin typeface="Arial"/>
                      </a:endParaRPr>
                    </a:p>
                  </a:txBody>
                  <a:tcPr>
                    <a:noFill/>
                  </a:tcPr>
                </a:tc>
                <a:extLst>
                  <a:ext uri="{0D108BD9-81ED-4DB2-BD59-A6C34878D82A}">
                    <a16:rowId xmlns:a16="http://schemas.microsoft.com/office/drawing/2014/main" val="10007"/>
                  </a:ext>
                </a:extLst>
              </a:tr>
              <a:tr h="370800">
                <a:tc>
                  <a:txBody>
                    <a:bodyPr/>
                    <a:lstStyle/>
                    <a:p>
                      <a:pPr>
                        <a:lnSpc>
                          <a:spcPct val="100000"/>
                        </a:lnSpc>
                      </a:pPr>
                      <a:r>
                        <a:rPr lang="en-US" sz="1800" b="0" strike="noStrike" spc="-1">
                          <a:solidFill>
                            <a:srgbClr val="000000"/>
                          </a:solidFill>
                          <a:latin typeface="Calibri"/>
                          <a:ea typeface="DejaVu Sans"/>
                        </a:rPr>
                        <a:t>AF_ECMA</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European Computer Manufactures</a:t>
                      </a:r>
                      <a:endParaRPr lang="es-MX" sz="1800" b="0" strike="noStrike" spc="-1">
                        <a:latin typeface="Arial"/>
                      </a:endParaRPr>
                    </a:p>
                  </a:txBody>
                  <a:tcPr>
                    <a:noFill/>
                  </a:tcPr>
                </a:tc>
                <a:extLst>
                  <a:ext uri="{0D108BD9-81ED-4DB2-BD59-A6C34878D82A}">
                    <a16:rowId xmlns:a16="http://schemas.microsoft.com/office/drawing/2014/main" val="10008"/>
                  </a:ext>
                </a:extLst>
              </a:tr>
              <a:tr h="370800">
                <a:tc>
                  <a:txBody>
                    <a:bodyPr/>
                    <a:lstStyle/>
                    <a:p>
                      <a:pPr>
                        <a:lnSpc>
                          <a:spcPct val="100000"/>
                        </a:lnSpc>
                      </a:pPr>
                      <a:r>
                        <a:rPr lang="en-US" sz="1800" b="0" strike="noStrike" spc="-1">
                          <a:solidFill>
                            <a:srgbClr val="000000"/>
                          </a:solidFill>
                          <a:latin typeface="Calibri"/>
                          <a:ea typeface="DejaVu Sans"/>
                        </a:rPr>
                        <a:t>AF_DATAKIT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Datakit de AT&amp;T</a:t>
                      </a:r>
                      <a:endParaRPr lang="es-MX" sz="1800" b="0" strike="noStrike" spc="-1">
                        <a:latin typeface="Arial"/>
                      </a:endParaRPr>
                    </a:p>
                  </a:txBody>
                  <a:tcPr>
                    <a:noFill/>
                  </a:tcPr>
                </a:tc>
                <a:extLst>
                  <a:ext uri="{0D108BD9-81ED-4DB2-BD59-A6C34878D82A}">
                    <a16:rowId xmlns:a16="http://schemas.microsoft.com/office/drawing/2014/main" val="10009"/>
                  </a:ext>
                </a:extLst>
              </a:tr>
              <a:tr h="370800">
                <a:tc>
                  <a:txBody>
                    <a:bodyPr/>
                    <a:lstStyle/>
                    <a:p>
                      <a:pPr>
                        <a:lnSpc>
                          <a:spcPct val="100000"/>
                        </a:lnSpc>
                      </a:pPr>
                      <a:r>
                        <a:rPr lang="en-US" sz="1800" b="0" strike="noStrike" spc="-1">
                          <a:solidFill>
                            <a:srgbClr val="000000"/>
                          </a:solidFill>
                          <a:latin typeface="Calibri"/>
                          <a:ea typeface="DejaVu Sans"/>
                        </a:rPr>
                        <a:t>AF_CCITT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Protocolos del CCITT, por ejemplo X.25</a:t>
                      </a:r>
                      <a:endParaRPr lang="es-MX" sz="1800" b="0" strike="noStrike" spc="-1">
                        <a:latin typeface="Arial"/>
                      </a:endParaRPr>
                    </a:p>
                  </a:txBody>
                  <a:tcPr>
                    <a:noFill/>
                  </a:tcPr>
                </a:tc>
                <a:extLst>
                  <a:ext uri="{0D108BD9-81ED-4DB2-BD59-A6C34878D82A}">
                    <a16:rowId xmlns:a16="http://schemas.microsoft.com/office/drawing/2014/main" val="10010"/>
                  </a:ext>
                </a:extLst>
              </a:tr>
              <a:tr h="370800">
                <a:tc>
                  <a:txBody>
                    <a:bodyPr/>
                    <a:lstStyle/>
                    <a:p>
                      <a:pPr>
                        <a:lnSpc>
                          <a:spcPct val="100000"/>
                        </a:lnSpc>
                      </a:pPr>
                      <a:r>
                        <a:rPr lang="en-US" sz="1800" b="0" strike="noStrike" spc="-1">
                          <a:solidFill>
                            <a:srgbClr val="000000"/>
                          </a:solidFill>
                          <a:latin typeface="Calibri"/>
                          <a:ea typeface="DejaVu Sans"/>
                        </a:rPr>
                        <a:t>AF_SNA</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System Network Architecture (SNA) de IBM</a:t>
                      </a:r>
                      <a:endParaRPr lang="es-MX" sz="1800" b="0" strike="noStrike" spc="-1">
                        <a:latin typeface="Arial"/>
                      </a:endParaRPr>
                    </a:p>
                  </a:txBody>
                  <a:tcPr>
                    <a:noFill/>
                  </a:tcPr>
                </a:tc>
                <a:extLst>
                  <a:ext uri="{0D108BD9-81ED-4DB2-BD59-A6C34878D82A}">
                    <a16:rowId xmlns:a16="http://schemas.microsoft.com/office/drawing/2014/main" val="10011"/>
                  </a:ext>
                </a:extLst>
              </a:tr>
              <a:tr h="370440">
                <a:tc>
                  <a:txBody>
                    <a:bodyPr/>
                    <a:lstStyle/>
                    <a:p>
                      <a:pPr>
                        <a:lnSpc>
                          <a:spcPct val="100000"/>
                        </a:lnSpc>
                      </a:pPr>
                      <a:r>
                        <a:rPr lang="en-US" sz="1800" b="0" strike="noStrike" spc="-1">
                          <a:solidFill>
                            <a:srgbClr val="000000"/>
                          </a:solidFill>
                          <a:latin typeface="Calibri"/>
                          <a:ea typeface="DejaVu Sans"/>
                        </a:rPr>
                        <a:t>AF_DECnet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DEC</a:t>
                      </a:r>
                      <a:endParaRPr lang="es-MX" sz="1800" b="0" strike="noStrike" spc="-1">
                        <a:latin typeface="Arial"/>
                      </a:endParaRPr>
                    </a:p>
                  </a:txBody>
                  <a:tcPr>
                    <a:no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Familia de direcciones (2/2)</a:t>
            </a:r>
            <a:endParaRPr lang="es-MX" sz="4400" b="0" strike="noStrike" spc="-1">
              <a:latin typeface="Arial"/>
            </a:endParaRPr>
          </a:p>
        </p:txBody>
      </p:sp>
      <p:graphicFrame>
        <p:nvGraphicFramePr>
          <p:cNvPr id="547" name="Table 2"/>
          <p:cNvGraphicFramePr/>
          <p:nvPr/>
        </p:nvGraphicFramePr>
        <p:xfrm>
          <a:off x="1981080" y="1600200"/>
          <a:ext cx="8229240" cy="4929840"/>
        </p:xfrm>
        <a:graphic>
          <a:graphicData uri="http://schemas.openxmlformats.org/drawingml/2006/table">
            <a:tbl>
              <a:tblPr/>
              <a:tblGrid>
                <a:gridCol w="2026440">
                  <a:extLst>
                    <a:ext uri="{9D8B030D-6E8A-4147-A177-3AD203B41FA5}">
                      <a16:colId xmlns:a16="http://schemas.microsoft.com/office/drawing/2014/main" val="20000"/>
                    </a:ext>
                  </a:extLst>
                </a:gridCol>
                <a:gridCol w="6202800">
                  <a:extLst>
                    <a:ext uri="{9D8B030D-6E8A-4147-A177-3AD203B41FA5}">
                      <a16:colId xmlns:a16="http://schemas.microsoft.com/office/drawing/2014/main" val="20001"/>
                    </a:ext>
                  </a:extLst>
                </a:gridCol>
              </a:tblGrid>
              <a:tr h="363960">
                <a:tc>
                  <a:txBody>
                    <a:bodyPr/>
                    <a:lstStyle/>
                    <a:p>
                      <a:pPr>
                        <a:lnSpc>
                          <a:spcPct val="100000"/>
                        </a:lnSpc>
                      </a:pPr>
                      <a:r>
                        <a:rPr lang="en-US" sz="1800" b="1" strike="noStrike" spc="-1">
                          <a:solidFill>
                            <a:srgbClr val="FFFFFF"/>
                          </a:solidFill>
                          <a:latin typeface="Calibri"/>
                          <a:ea typeface="DejaVu Sans"/>
                        </a:rPr>
                        <a:t>Familia</a:t>
                      </a:r>
                      <a:endParaRPr lang="es-MX" sz="1800" b="0" strike="noStrike" spc="-1">
                        <a:latin typeface="Arial"/>
                      </a:endParaRPr>
                    </a:p>
                  </a:txBody>
                  <a:tcPr>
                    <a:noFill/>
                  </a:tcPr>
                </a:tc>
                <a:tc>
                  <a:txBody>
                    <a:bodyPr/>
                    <a:lstStyle/>
                    <a:p>
                      <a:pPr>
                        <a:lnSpc>
                          <a:spcPct val="100000"/>
                        </a:lnSpc>
                      </a:pPr>
                      <a:r>
                        <a:rPr lang="en-US" sz="1800" b="1" strike="noStrike" spc="-1">
                          <a:solidFill>
                            <a:srgbClr val="FFFFFF"/>
                          </a:solidFill>
                          <a:latin typeface="Calibri"/>
                          <a:ea typeface="DejaVu Sans"/>
                        </a:rPr>
                        <a:t>Descripción</a:t>
                      </a:r>
                      <a:endParaRPr lang="es-MX" sz="1800" b="0" strike="noStrike" spc="-1">
                        <a:latin typeface="Arial"/>
                      </a:endParaRPr>
                    </a:p>
                  </a:txBody>
                  <a:tcPr>
                    <a:noFill/>
                  </a:tcPr>
                </a:tc>
                <a:extLst>
                  <a:ext uri="{0D108BD9-81ED-4DB2-BD59-A6C34878D82A}">
                    <a16:rowId xmlns:a16="http://schemas.microsoft.com/office/drawing/2014/main" val="10000"/>
                  </a:ext>
                </a:extLst>
              </a:tr>
              <a:tr h="635400">
                <a:tc>
                  <a:txBody>
                    <a:bodyPr/>
                    <a:lstStyle/>
                    <a:p>
                      <a:pPr>
                        <a:lnSpc>
                          <a:spcPct val="100000"/>
                        </a:lnSpc>
                      </a:pPr>
                      <a:r>
                        <a:rPr lang="en-US" sz="1800" b="0" strike="noStrike" spc="-1">
                          <a:solidFill>
                            <a:srgbClr val="000000"/>
                          </a:solidFill>
                          <a:latin typeface="Calibri"/>
                          <a:ea typeface="DejaVu Sans"/>
                        </a:rPr>
                        <a:t>AF_IMPLINK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Antigua interfaz de enlace 1822 Interface Message Processor</a:t>
                      </a:r>
                      <a:endParaRPr lang="es-MX" sz="1800" b="0" strike="noStrike" spc="-1">
                        <a:latin typeface="Arial"/>
                      </a:endParaRPr>
                    </a:p>
                  </a:txBody>
                  <a:tcPr>
                    <a:noFill/>
                  </a:tcPr>
                </a:tc>
                <a:extLst>
                  <a:ext uri="{0D108BD9-81ED-4DB2-BD59-A6C34878D82A}">
                    <a16:rowId xmlns:a16="http://schemas.microsoft.com/office/drawing/2014/main" val="10001"/>
                  </a:ext>
                </a:extLst>
              </a:tr>
              <a:tr h="363960">
                <a:tc>
                  <a:txBody>
                    <a:bodyPr/>
                    <a:lstStyle/>
                    <a:p>
                      <a:pPr>
                        <a:lnSpc>
                          <a:spcPct val="100000"/>
                        </a:lnSpc>
                      </a:pPr>
                      <a:r>
                        <a:rPr lang="en-US" sz="1800" b="0" strike="noStrike" spc="-1">
                          <a:solidFill>
                            <a:srgbClr val="000000"/>
                          </a:solidFill>
                          <a:latin typeface="Calibri"/>
                          <a:ea typeface="DejaVu Sans"/>
                        </a:rPr>
                        <a:t>AF_DLI</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Interfaz directa de enlace</a:t>
                      </a:r>
                      <a:endParaRPr lang="es-MX" sz="1800" b="0" strike="noStrike" spc="-1">
                        <a:latin typeface="Arial"/>
                      </a:endParaRPr>
                    </a:p>
                  </a:txBody>
                  <a:tcPr>
                    <a:noFill/>
                  </a:tcPr>
                </a:tc>
                <a:extLst>
                  <a:ext uri="{0D108BD9-81ED-4DB2-BD59-A6C34878D82A}">
                    <a16:rowId xmlns:a16="http://schemas.microsoft.com/office/drawing/2014/main" val="10002"/>
                  </a:ext>
                </a:extLst>
              </a:tr>
              <a:tr h="363960">
                <a:tc>
                  <a:txBody>
                    <a:bodyPr/>
                    <a:lstStyle/>
                    <a:p>
                      <a:pPr>
                        <a:lnSpc>
                          <a:spcPct val="100000"/>
                        </a:lnSpc>
                      </a:pPr>
                      <a:r>
                        <a:rPr lang="en-US" sz="1800" b="0" strike="noStrike" spc="-1">
                          <a:solidFill>
                            <a:srgbClr val="000000"/>
                          </a:solidFill>
                          <a:latin typeface="Calibri"/>
                          <a:ea typeface="DejaVu Sans"/>
                        </a:rPr>
                        <a:t>AF_LAT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Interfaz de teminales de red de área local</a:t>
                      </a:r>
                      <a:endParaRPr lang="es-MX" sz="1800" b="0" strike="noStrike" spc="-1">
                        <a:latin typeface="Arial"/>
                      </a:endParaRPr>
                    </a:p>
                  </a:txBody>
                  <a:tcPr>
                    <a:noFill/>
                  </a:tcPr>
                </a:tc>
                <a:extLst>
                  <a:ext uri="{0D108BD9-81ED-4DB2-BD59-A6C34878D82A}">
                    <a16:rowId xmlns:a16="http://schemas.microsoft.com/office/drawing/2014/main" val="10003"/>
                  </a:ext>
                </a:extLst>
              </a:tr>
              <a:tr h="363960">
                <a:tc>
                  <a:txBody>
                    <a:bodyPr/>
                    <a:lstStyle/>
                    <a:p>
                      <a:pPr>
                        <a:lnSpc>
                          <a:spcPct val="100000"/>
                        </a:lnSpc>
                      </a:pPr>
                      <a:r>
                        <a:rPr lang="en-US" sz="1800" b="0" strike="noStrike" spc="-1">
                          <a:solidFill>
                            <a:srgbClr val="000000"/>
                          </a:solidFill>
                          <a:latin typeface="Calibri"/>
                          <a:ea typeface="DejaVu Sans"/>
                        </a:rPr>
                        <a:t>AF_HYLINK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Network System, Córporation Hyperchannel</a:t>
                      </a:r>
                      <a:endParaRPr lang="es-MX" sz="1800" b="0" strike="noStrike" spc="-1">
                        <a:latin typeface="Arial"/>
                      </a:endParaRPr>
                    </a:p>
                  </a:txBody>
                  <a:tcPr>
                    <a:noFill/>
                  </a:tcPr>
                </a:tc>
                <a:extLst>
                  <a:ext uri="{0D108BD9-81ED-4DB2-BD59-A6C34878D82A}">
                    <a16:rowId xmlns:a16="http://schemas.microsoft.com/office/drawing/2014/main" val="10004"/>
                  </a:ext>
                </a:extLst>
              </a:tr>
              <a:tr h="363960">
                <a:tc>
                  <a:txBody>
                    <a:bodyPr/>
                    <a:lstStyle/>
                    <a:p>
                      <a:pPr>
                        <a:lnSpc>
                          <a:spcPct val="100000"/>
                        </a:lnSpc>
                      </a:pPr>
                      <a:r>
                        <a:rPr lang="en-US" sz="1800" b="0" strike="noStrike" spc="-1">
                          <a:solidFill>
                            <a:srgbClr val="000000"/>
                          </a:solidFill>
                          <a:latin typeface="Calibri"/>
                          <a:ea typeface="DejaVu Sans"/>
                        </a:rPr>
                        <a:t>AF_APPLETALK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AppleTalk</a:t>
                      </a:r>
                      <a:endParaRPr lang="es-MX" sz="1800" b="0" strike="noStrike" spc="-1">
                        <a:latin typeface="Arial"/>
                      </a:endParaRPr>
                    </a:p>
                  </a:txBody>
                  <a:tcPr>
                    <a:noFill/>
                  </a:tcPr>
                </a:tc>
                <a:extLst>
                  <a:ext uri="{0D108BD9-81ED-4DB2-BD59-A6C34878D82A}">
                    <a16:rowId xmlns:a16="http://schemas.microsoft.com/office/drawing/2014/main" val="10005"/>
                  </a:ext>
                </a:extLst>
              </a:tr>
              <a:tr h="635400">
                <a:tc>
                  <a:txBody>
                    <a:bodyPr/>
                    <a:lstStyle/>
                    <a:p>
                      <a:pPr>
                        <a:lnSpc>
                          <a:spcPct val="100000"/>
                        </a:lnSpc>
                      </a:pPr>
                      <a:r>
                        <a:rPr lang="en-US" sz="1800" b="0" strike="noStrike" spc="-1">
                          <a:solidFill>
                            <a:srgbClr val="000000"/>
                          </a:solidFill>
                          <a:latin typeface="Calibri"/>
                          <a:ea typeface="DejaVu Sans"/>
                        </a:rPr>
                        <a:t>AF_ROUTE</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Comunicación con la capa de encaminamiento del núcleo</a:t>
                      </a:r>
                      <a:endParaRPr lang="es-MX" sz="1800" b="0" strike="noStrike" spc="-1">
                        <a:latin typeface="Arial"/>
                      </a:endParaRPr>
                    </a:p>
                  </a:txBody>
                  <a:tcPr>
                    <a:noFill/>
                  </a:tcPr>
                </a:tc>
                <a:extLst>
                  <a:ext uri="{0D108BD9-81ED-4DB2-BD59-A6C34878D82A}">
                    <a16:rowId xmlns:a16="http://schemas.microsoft.com/office/drawing/2014/main" val="10006"/>
                  </a:ext>
                </a:extLst>
              </a:tr>
              <a:tr h="363960">
                <a:tc>
                  <a:txBody>
                    <a:bodyPr/>
                    <a:lstStyle/>
                    <a:p>
                      <a:pPr>
                        <a:lnSpc>
                          <a:spcPct val="100000"/>
                        </a:lnSpc>
                      </a:pPr>
                      <a:r>
                        <a:rPr lang="en-US" sz="1800" b="0" strike="noStrike" spc="-1">
                          <a:solidFill>
                            <a:srgbClr val="000000"/>
                          </a:solidFill>
                          <a:latin typeface="Calibri"/>
                          <a:ea typeface="DejaVu Sans"/>
                        </a:rPr>
                        <a:t>AF_LINK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Acceso a la capa de enlace</a:t>
                      </a:r>
                      <a:endParaRPr lang="es-MX" sz="1800" b="0" strike="noStrike" spc="-1">
                        <a:latin typeface="Arial"/>
                      </a:endParaRPr>
                    </a:p>
                  </a:txBody>
                  <a:tcPr>
                    <a:noFill/>
                  </a:tcPr>
                </a:tc>
                <a:extLst>
                  <a:ext uri="{0D108BD9-81ED-4DB2-BD59-A6C34878D82A}">
                    <a16:rowId xmlns:a16="http://schemas.microsoft.com/office/drawing/2014/main" val="10007"/>
                  </a:ext>
                </a:extLst>
              </a:tr>
              <a:tr h="363960">
                <a:tc>
                  <a:txBody>
                    <a:bodyPr/>
                    <a:lstStyle/>
                    <a:p>
                      <a:pPr>
                        <a:lnSpc>
                          <a:spcPct val="100000"/>
                        </a:lnSpc>
                      </a:pPr>
                      <a:r>
                        <a:rPr lang="en-US" sz="1800" b="0" strike="noStrike" spc="-1">
                          <a:solidFill>
                            <a:srgbClr val="000000"/>
                          </a:solidFill>
                          <a:latin typeface="Calibri"/>
                          <a:ea typeface="DejaVu Sans"/>
                        </a:rPr>
                        <a:t>AF_XTP</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eXpress Transfer Protocol</a:t>
                      </a:r>
                      <a:endParaRPr lang="es-MX" sz="1800" b="0" strike="noStrike" spc="-1">
                        <a:latin typeface="Arial"/>
                      </a:endParaRPr>
                    </a:p>
                  </a:txBody>
                  <a:tcPr>
                    <a:noFill/>
                  </a:tcPr>
                </a:tc>
                <a:extLst>
                  <a:ext uri="{0D108BD9-81ED-4DB2-BD59-A6C34878D82A}">
                    <a16:rowId xmlns:a16="http://schemas.microsoft.com/office/drawing/2014/main" val="10008"/>
                  </a:ext>
                </a:extLst>
              </a:tr>
              <a:tr h="363960">
                <a:tc>
                  <a:txBody>
                    <a:bodyPr/>
                    <a:lstStyle/>
                    <a:p>
                      <a:pPr>
                        <a:lnSpc>
                          <a:spcPct val="100000"/>
                        </a:lnSpc>
                      </a:pPr>
                      <a:r>
                        <a:rPr lang="en-US" sz="1800" b="0" strike="noStrike" spc="-1">
                          <a:solidFill>
                            <a:srgbClr val="000000"/>
                          </a:solidFill>
                          <a:latin typeface="Calibri"/>
                          <a:ea typeface="DejaVu Sans"/>
                        </a:rPr>
                        <a:t>AF_COIP</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Connection-oriented IP (ST II)</a:t>
                      </a:r>
                      <a:endParaRPr lang="es-MX" sz="1800" b="0" strike="noStrike" spc="-1">
                        <a:latin typeface="Arial"/>
                      </a:endParaRPr>
                    </a:p>
                  </a:txBody>
                  <a:tcPr>
                    <a:noFill/>
                  </a:tcPr>
                </a:tc>
                <a:extLst>
                  <a:ext uri="{0D108BD9-81ED-4DB2-BD59-A6C34878D82A}">
                    <a16:rowId xmlns:a16="http://schemas.microsoft.com/office/drawing/2014/main" val="10009"/>
                  </a:ext>
                </a:extLst>
              </a:tr>
              <a:tr h="363960">
                <a:tc>
                  <a:txBody>
                    <a:bodyPr/>
                    <a:lstStyle/>
                    <a:p>
                      <a:pPr>
                        <a:lnSpc>
                          <a:spcPct val="100000"/>
                        </a:lnSpc>
                      </a:pPr>
                      <a:r>
                        <a:rPr lang="en-US" sz="1800" b="0" strike="noStrike" spc="-1">
                          <a:solidFill>
                            <a:srgbClr val="000000"/>
                          </a:solidFill>
                          <a:latin typeface="Calibri"/>
                          <a:ea typeface="DejaVu Sans"/>
                        </a:rPr>
                        <a:t>AF_CNT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Computer Network Tecnology</a:t>
                      </a:r>
                      <a:endParaRPr lang="es-MX" sz="1800" b="0" strike="noStrike" spc="-1">
                        <a:latin typeface="Arial"/>
                      </a:endParaRPr>
                    </a:p>
                  </a:txBody>
                  <a:tcPr>
                    <a:noFill/>
                  </a:tcPr>
                </a:tc>
                <a:extLst>
                  <a:ext uri="{0D108BD9-81ED-4DB2-BD59-A6C34878D82A}">
                    <a16:rowId xmlns:a16="http://schemas.microsoft.com/office/drawing/2014/main" val="10010"/>
                  </a:ext>
                </a:extLst>
              </a:tr>
              <a:tr h="367200">
                <a:tc>
                  <a:txBody>
                    <a:bodyPr/>
                    <a:lstStyle/>
                    <a:p>
                      <a:pPr>
                        <a:lnSpc>
                          <a:spcPct val="100000"/>
                        </a:lnSpc>
                      </a:pPr>
                      <a:r>
                        <a:rPr lang="en-US" sz="1800" b="0" strike="noStrike" spc="-1">
                          <a:solidFill>
                            <a:srgbClr val="000000"/>
                          </a:solidFill>
                          <a:latin typeface="Calibri"/>
                          <a:ea typeface="DejaVu Sans"/>
                        </a:rPr>
                        <a:t>AF_IPX</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 Internet de Novell</a:t>
                      </a:r>
                      <a:endParaRPr lang="es-MX" sz="1800" b="0" strike="noStrike" spc="-1">
                        <a:latin typeface="Arial"/>
                      </a:endParaRPr>
                    </a:p>
                  </a:txBody>
                  <a:tcPr>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Tipos de semántica de la comunicación</a:t>
            </a:r>
            <a:endParaRPr lang="es-MX" sz="4400" b="0" strike="noStrike" spc="-1">
              <a:latin typeface="Arial"/>
            </a:endParaRPr>
          </a:p>
        </p:txBody>
      </p:sp>
      <p:sp>
        <p:nvSpPr>
          <p:cNvPr id="54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SOCK_STREAM</a:t>
            </a:r>
            <a:r>
              <a:rPr lang="en-US" sz="2800" b="0" strike="noStrike" spc="-1">
                <a:solidFill>
                  <a:srgbClr val="000000"/>
                </a:solidFill>
                <a:latin typeface="Calibri"/>
                <a:ea typeface="DejaVu Sans"/>
              </a:rPr>
              <a:t>, sockets de flujo</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SOCK_DGRAM</a:t>
            </a:r>
            <a:r>
              <a:rPr lang="en-US" sz="2800" b="0" strike="noStrike" spc="-1">
                <a:solidFill>
                  <a:srgbClr val="000000"/>
                </a:solidFill>
                <a:latin typeface="Calibri"/>
                <a:ea typeface="DejaVu Sans"/>
              </a:rPr>
              <a:t>, sockets de datagrama</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SOCK_RAW</a:t>
            </a:r>
            <a:r>
              <a:rPr lang="en-US" sz="2800" b="0" strike="noStrike" spc="-1">
                <a:solidFill>
                  <a:srgbClr val="000000"/>
                </a:solidFill>
                <a:latin typeface="Calibri"/>
                <a:ea typeface="DejaVu Sans"/>
              </a:rPr>
              <a:t>, sockets crudos</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SOCK_SEQPACKET</a:t>
            </a:r>
            <a:r>
              <a:rPr lang="en-US" sz="2800" b="0" strike="noStrike" spc="-1">
                <a:solidFill>
                  <a:srgbClr val="000000"/>
                </a:solidFill>
                <a:latin typeface="Calibri"/>
                <a:ea typeface="DejaVu Sans"/>
              </a:rPr>
              <a:t>, conector no orientado a conexión pero fiable de longitud fija (solo en </a:t>
            </a:r>
            <a:r>
              <a:rPr lang="en-US" sz="4300" b="0" strike="noStrike" spc="-1">
                <a:solidFill>
                  <a:srgbClr val="000000"/>
                </a:solidFill>
                <a:latin typeface="MoolBoran"/>
                <a:ea typeface="DejaVu Sans"/>
              </a:rPr>
              <a:t>AF_NS</a:t>
            </a:r>
            <a:r>
              <a:rPr lang="en-US" sz="2800" b="0" strike="noStrike" spc="-1">
                <a:solidFill>
                  <a:srgbClr val="000000"/>
                </a:solidFill>
                <a:latin typeface="Calibri"/>
                <a:ea typeface="DejaVu Sans"/>
              </a:rPr>
              <a:t>)</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SOCK_RDM</a:t>
            </a:r>
            <a:r>
              <a:rPr lang="en-US" sz="2800" b="0" strike="noStrike" spc="-1">
                <a:solidFill>
                  <a:srgbClr val="000000"/>
                </a:solidFill>
                <a:latin typeface="Calibri"/>
                <a:ea typeface="DejaVu Sans"/>
              </a:rPr>
              <a:t>, conector no orientado a conexión pero fiable y secuencial (no implementado pero se puede simular a nivel de capa de usuario)</a:t>
            </a:r>
            <a:endParaRPr lang="es-MX" sz="2800" b="0" strike="noStrike" spc="-1">
              <a:latin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bind()</a:t>
            </a:r>
            <a:endParaRPr lang="es-MX" sz="4400" b="0" strike="noStrike" spc="-1">
              <a:latin typeface="Arial"/>
            </a:endParaRPr>
          </a:p>
        </p:txBody>
      </p:sp>
      <p:sp>
        <p:nvSpPr>
          <p:cNvPr id="551" name="CustomShape 2"/>
          <p:cNvSpPr/>
          <p:nvPr/>
        </p:nvSpPr>
        <p:spPr>
          <a:xfrm>
            <a:off x="1981080" y="1448640"/>
            <a:ext cx="8227440" cy="355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8497B0"/>
                </a:solidFill>
                <a:latin typeface="MoolBoran"/>
                <a:ea typeface="DejaVu Sans"/>
              </a:rPr>
              <a:t>#include &lt;netinet/in.h&gt; </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bind(int sd, const struct sockaddr *addr, socklen_t addrlen);</a:t>
            </a:r>
            <a:endParaRPr lang="es-MX" sz="2800" b="0" strike="noStrike" spc="-1">
              <a:latin typeface="Arial"/>
            </a:endParaRPr>
          </a:p>
          <a:p>
            <a:pPr>
              <a:lnSpc>
                <a:spcPct val="100000"/>
              </a:lnSpc>
            </a:pP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Valor devuelto:</a:t>
            </a:r>
            <a:endParaRPr lang="es-MX" sz="2800" b="0" strike="noStrike" spc="-1">
              <a:latin typeface="Arial"/>
            </a:endParaRPr>
          </a:p>
          <a:p>
            <a:pPr>
              <a:lnSpc>
                <a:spcPct val="100000"/>
              </a:lnSpc>
            </a:pPr>
            <a:endParaRPr lang="es-MX" sz="2800" b="0" strike="noStrike" spc="-1">
              <a:latin typeface="Arial"/>
            </a:endParaRPr>
          </a:p>
        </p:txBody>
      </p:sp>
      <p:sp>
        <p:nvSpPr>
          <p:cNvPr id="552" name="CustomShape 3"/>
          <p:cNvSpPr/>
          <p:nvPr/>
        </p:nvSpPr>
        <p:spPr>
          <a:xfrm>
            <a:off x="5015880" y="364500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553" name="CustomShape 4"/>
          <p:cNvSpPr/>
          <p:nvPr/>
        </p:nvSpPr>
        <p:spPr>
          <a:xfrm>
            <a:off x="4986720" y="3778920"/>
            <a:ext cx="122652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error</a:t>
            </a:r>
            <a:endParaRPr lang="es-MX" sz="1800" b="0" strike="noStrike" spc="-1">
              <a:latin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CustomShape 1"/>
          <p:cNvSpPr/>
          <p:nvPr/>
        </p:nvSpPr>
        <p:spPr>
          <a:xfrm>
            <a:off x="1775520" y="11664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bind()</a:t>
            </a:r>
            <a:endParaRPr lang="es-MX" sz="4400" b="0" strike="noStrike" spc="-1">
              <a:latin typeface="Arial"/>
            </a:endParaRPr>
          </a:p>
        </p:txBody>
      </p:sp>
      <p:sp>
        <p:nvSpPr>
          <p:cNvPr id="555" name="CustomShape 2"/>
          <p:cNvSpPr/>
          <p:nvPr/>
        </p:nvSpPr>
        <p:spPr>
          <a:xfrm>
            <a:off x="4728252" y="1123920"/>
            <a:ext cx="7342560" cy="4610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100" b="0" strike="noStrike" spc="-1" dirty="0">
                <a:solidFill>
                  <a:srgbClr val="000000"/>
                </a:solidFill>
                <a:latin typeface="Arial Unicode MS"/>
                <a:ea typeface="DejaVu Sans"/>
              </a:rPr>
              <a:t>int </a:t>
            </a:r>
            <a:r>
              <a:rPr lang="en-US" sz="1100" b="0" strike="noStrike" spc="-1" dirty="0" err="1">
                <a:solidFill>
                  <a:srgbClr val="000000"/>
                </a:solidFill>
                <a:latin typeface="Arial Unicode MS"/>
                <a:ea typeface="DejaVu Sans"/>
              </a:rPr>
              <a:t>sd</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struct </a:t>
            </a:r>
            <a:r>
              <a:rPr lang="en-US" sz="1100" b="0" strike="noStrike" spc="-1" dirty="0" err="1">
                <a:solidFill>
                  <a:srgbClr val="000000"/>
                </a:solidFill>
                <a:latin typeface="Arial Unicode MS"/>
                <a:ea typeface="DejaVu Sans"/>
              </a:rPr>
              <a:t>addrinfo</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*r, *p;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memset</a:t>
            </a:r>
            <a:r>
              <a:rPr lang="en-US" sz="1100" b="0" strike="noStrike" spc="-1" dirty="0">
                <a:solidFill>
                  <a:srgbClr val="000000"/>
                </a:solidFill>
                <a:latin typeface="Arial Unicode MS"/>
                <a:ea typeface="DejaVu Sans"/>
              </a:rPr>
              <a:t>(&amp;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0, </a:t>
            </a:r>
            <a:r>
              <a:rPr lang="en-US" sz="1100" b="0" strike="noStrike" spc="-1" dirty="0" err="1">
                <a:solidFill>
                  <a:srgbClr val="000000"/>
                </a:solidFill>
                <a:latin typeface="Arial Unicode MS"/>
                <a:ea typeface="DejaVu Sans"/>
              </a:rPr>
              <a:t>sizeof</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indicio</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i.ai_family</a:t>
            </a:r>
            <a:r>
              <a:rPr lang="en-US" sz="1100" b="0" strike="noStrike" spc="-1" dirty="0">
                <a:solidFill>
                  <a:srgbClr val="000000"/>
                </a:solidFill>
                <a:latin typeface="Arial Unicode MS"/>
                <a:ea typeface="DejaVu Sans"/>
              </a:rPr>
              <a:t> = AF_INET6; /* </a:t>
            </a:r>
            <a:r>
              <a:rPr lang="en-US" sz="1100" b="0" strike="noStrike" spc="-1" dirty="0" err="1">
                <a:solidFill>
                  <a:srgbClr val="000000"/>
                </a:solidFill>
                <a:latin typeface="Arial Unicode MS"/>
                <a:ea typeface="DejaVu Sans"/>
              </a:rPr>
              <a:t>Permite</a:t>
            </a:r>
            <a:r>
              <a:rPr lang="en-US" sz="1100" b="0" strike="noStrike" spc="-1" dirty="0">
                <a:solidFill>
                  <a:srgbClr val="000000"/>
                </a:solidFill>
                <a:latin typeface="Arial Unicode MS"/>
                <a:ea typeface="DejaVu Sans"/>
              </a:rPr>
              <a:t> IPv4 or IPv6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i.ai_socktype</a:t>
            </a:r>
            <a:r>
              <a:rPr lang="en-US" sz="1100" b="0" strike="noStrike" spc="-1" dirty="0">
                <a:solidFill>
                  <a:srgbClr val="000000"/>
                </a:solidFill>
                <a:latin typeface="Arial Unicode MS"/>
                <a:ea typeface="DejaVu Sans"/>
              </a:rPr>
              <a:t> = SOCK_STREAM;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i.ai_flags</a:t>
            </a:r>
            <a:r>
              <a:rPr lang="en-US" sz="1100" b="0" strike="noStrike" spc="-1" dirty="0">
                <a:solidFill>
                  <a:srgbClr val="000000"/>
                </a:solidFill>
                <a:latin typeface="Arial Unicode MS"/>
                <a:ea typeface="DejaVu Sans"/>
              </a:rPr>
              <a:t> = AI_PASSIVE; // </a:t>
            </a:r>
            <a:r>
              <a:rPr lang="en-US" sz="1100" b="0" strike="noStrike" spc="-1" dirty="0" err="1">
                <a:solidFill>
                  <a:srgbClr val="000000"/>
                </a:solidFill>
                <a:latin typeface="Arial Unicode MS"/>
                <a:ea typeface="DejaVu Sans"/>
              </a:rPr>
              <a:t>utilizado</a:t>
            </a:r>
            <a:r>
              <a:rPr lang="en-US" sz="1100" b="0" strike="noStrike" spc="-1" dirty="0">
                <a:solidFill>
                  <a:srgbClr val="000000"/>
                </a:solidFill>
                <a:latin typeface="Arial Unicode MS"/>
                <a:ea typeface="DejaVu Sans"/>
              </a:rPr>
              <a:t> para </a:t>
            </a:r>
            <a:r>
              <a:rPr lang="en-US" sz="1100" b="0" strike="noStrike" spc="-1" dirty="0" err="1">
                <a:solidFill>
                  <a:srgbClr val="000000"/>
                </a:solidFill>
                <a:latin typeface="Arial Unicode MS"/>
                <a:ea typeface="DejaVu Sans"/>
              </a:rPr>
              <a:t>hacer</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el</a:t>
            </a:r>
            <a:r>
              <a:rPr lang="en-US" sz="1100" b="0" strike="noStrike" spc="-1" dirty="0">
                <a:solidFill>
                  <a:srgbClr val="000000"/>
                </a:solidFill>
                <a:latin typeface="Arial Unicode MS"/>
                <a:ea typeface="DejaVu Sans"/>
              </a:rPr>
              <a:t> bind</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i.ai_protocol</a:t>
            </a:r>
            <a:r>
              <a:rPr lang="en-US" sz="1100" b="0" strike="noStrike" spc="-1" dirty="0">
                <a:solidFill>
                  <a:srgbClr val="000000"/>
                </a:solidFill>
                <a:latin typeface="Arial Unicode MS"/>
                <a:ea typeface="DejaVu Sans"/>
              </a:rPr>
              <a:t> = 0; /* Any protocol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i.ai_canonname</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i.ai_addr</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i.ai_next</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 ((</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 =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(NULL, </a:t>
            </a:r>
            <a:r>
              <a:rPr lang="en-US" sz="1100" b="0" strike="noStrike" spc="-1" dirty="0" err="1">
                <a:solidFill>
                  <a:srgbClr val="000000"/>
                </a:solidFill>
                <a:latin typeface="Arial Unicode MS"/>
                <a:ea typeface="DejaVu Sans"/>
              </a:rPr>
              <a:t>pto</a:t>
            </a:r>
            <a:r>
              <a:rPr lang="en-US" sz="1100" b="0" strike="noStrike" spc="-1" dirty="0">
                <a:solidFill>
                  <a:srgbClr val="000000"/>
                </a:solidFill>
                <a:latin typeface="Arial Unicode MS"/>
                <a:ea typeface="DejaVu Sans"/>
              </a:rPr>
              <a:t>, &amp;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&amp;r)) != 0)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fprintf</a:t>
            </a:r>
            <a:r>
              <a:rPr lang="en-US" sz="1100" b="0" strike="noStrike" spc="-1" dirty="0">
                <a:solidFill>
                  <a:srgbClr val="000000"/>
                </a:solidFill>
                <a:latin typeface="Arial Unicode MS"/>
                <a:ea typeface="DejaVu Sans"/>
              </a:rPr>
              <a:t>(stderr,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 %s\n", </a:t>
            </a:r>
            <a:r>
              <a:rPr lang="en-US" sz="1100" b="0" strike="noStrike" spc="-1" dirty="0" err="1">
                <a:solidFill>
                  <a:srgbClr val="000000"/>
                </a:solidFill>
                <a:latin typeface="Arial Unicode MS"/>
                <a:ea typeface="DejaVu Sans"/>
              </a:rPr>
              <a:t>gai_strerror</a:t>
            </a:r>
            <a:r>
              <a:rPr lang="en-US" sz="1100" b="0" strike="noStrike" spc="-1" dirty="0">
                <a:solidFill>
                  <a:srgbClr val="000000"/>
                </a:solidFill>
                <a:latin typeface="Arial Unicode MS"/>
                <a:ea typeface="DejaVu Sans"/>
              </a:rPr>
              <a:t>(</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return 1;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for(p = r; p != NULL; p = p-&gt;</a:t>
            </a:r>
            <a:r>
              <a:rPr lang="en-US" sz="1100" b="0" strike="noStrike" spc="-1" dirty="0" err="1">
                <a:solidFill>
                  <a:srgbClr val="000000"/>
                </a:solidFill>
                <a:latin typeface="Arial Unicode MS"/>
                <a:ea typeface="DejaVu Sans"/>
              </a:rPr>
              <a:t>ai_next</a:t>
            </a:r>
            <a:r>
              <a:rPr lang="en-US" sz="1100" b="0" strike="noStrike" spc="-1" dirty="0">
                <a:solidFill>
                  <a:srgbClr val="000000"/>
                </a:solidFill>
                <a:latin typeface="Arial Unicode MS"/>
                <a:ea typeface="DejaVu Sans"/>
              </a:rPr>
              <a:t>)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 ((</a:t>
            </a:r>
            <a:r>
              <a:rPr lang="en-US" sz="1100" b="0" strike="noStrike" spc="-1" dirty="0" err="1">
                <a:solidFill>
                  <a:srgbClr val="000000"/>
                </a:solidFill>
                <a:latin typeface="Arial Unicode MS"/>
                <a:ea typeface="DejaVu Sans"/>
              </a:rPr>
              <a:t>sd</a:t>
            </a:r>
            <a:r>
              <a:rPr lang="en-US" sz="1100" b="0" strike="noStrike" spc="-1" dirty="0">
                <a:solidFill>
                  <a:srgbClr val="000000"/>
                </a:solidFill>
                <a:latin typeface="Arial Unicode MS"/>
                <a:ea typeface="DejaVu Sans"/>
              </a:rPr>
              <a:t> = socket(p-&gt;</a:t>
            </a:r>
            <a:r>
              <a:rPr lang="en-US" sz="1100" b="0" strike="noStrike" spc="-1" dirty="0" err="1">
                <a:solidFill>
                  <a:srgbClr val="000000"/>
                </a:solidFill>
                <a:latin typeface="Arial Unicode MS"/>
                <a:ea typeface="DejaVu Sans"/>
              </a:rPr>
              <a:t>ai_family</a:t>
            </a:r>
            <a:r>
              <a:rPr lang="en-US" sz="1100" b="0" strike="noStrike" spc="-1" dirty="0">
                <a:solidFill>
                  <a:srgbClr val="000000"/>
                </a:solidFill>
                <a:latin typeface="Arial Unicode MS"/>
                <a:ea typeface="DejaVu Sans"/>
              </a:rPr>
              <a:t>, p-&gt;</a:t>
            </a:r>
            <a:r>
              <a:rPr lang="en-US" sz="1100" b="0" strike="noStrike" spc="-1" dirty="0" err="1">
                <a:solidFill>
                  <a:srgbClr val="000000"/>
                </a:solidFill>
                <a:latin typeface="Arial Unicode MS"/>
                <a:ea typeface="DejaVu Sans"/>
              </a:rPr>
              <a:t>ai_socktype,p</a:t>
            </a:r>
            <a:r>
              <a:rPr lang="en-US" sz="1100" b="0" strike="noStrike" spc="-1" dirty="0">
                <a:solidFill>
                  <a:srgbClr val="000000"/>
                </a:solidFill>
                <a:latin typeface="Arial Unicode MS"/>
                <a:ea typeface="DejaVu Sans"/>
              </a:rPr>
              <a:t>-&gt;</a:t>
            </a:r>
            <a:r>
              <a:rPr lang="en-US" sz="1100" b="0" strike="noStrike" spc="-1" dirty="0" err="1">
                <a:solidFill>
                  <a:srgbClr val="000000"/>
                </a:solidFill>
                <a:latin typeface="Arial Unicode MS"/>
                <a:ea typeface="DejaVu Sans"/>
              </a:rPr>
              <a:t>ai_protocol</a:t>
            </a:r>
            <a:r>
              <a:rPr lang="en-US" sz="1100" b="0" strike="noStrike" spc="-1" dirty="0">
                <a:solidFill>
                  <a:srgbClr val="000000"/>
                </a:solidFill>
                <a:latin typeface="Arial Unicode MS"/>
                <a:ea typeface="DejaVu Sans"/>
              </a:rPr>
              <a:t>)) == -1)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perror</a:t>
            </a:r>
            <a:r>
              <a:rPr lang="en-US" sz="1100" b="0" strike="noStrike" spc="-1" dirty="0">
                <a:solidFill>
                  <a:srgbClr val="000000"/>
                </a:solidFill>
                <a:latin typeface="Arial Unicode MS"/>
                <a:ea typeface="DejaVu Sans"/>
              </a:rPr>
              <a:t>("server: socket");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continue;</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if (bind(</a:t>
            </a:r>
            <a:r>
              <a:rPr lang="en-US" sz="1100" b="1" strike="noStrike" spc="-1" dirty="0" err="1">
                <a:solidFill>
                  <a:srgbClr val="000000"/>
                </a:solidFill>
                <a:latin typeface="Arial Unicode MS"/>
                <a:ea typeface="DejaVu Sans"/>
              </a:rPr>
              <a:t>sd</a:t>
            </a:r>
            <a:r>
              <a:rPr lang="en-US" sz="1100" b="1" strike="noStrike" spc="-1" dirty="0">
                <a:solidFill>
                  <a:srgbClr val="000000"/>
                </a:solidFill>
                <a:latin typeface="Arial Unicode MS"/>
                <a:ea typeface="DejaVu Sans"/>
              </a:rPr>
              <a:t>, p-&gt;</a:t>
            </a:r>
            <a:r>
              <a:rPr lang="en-US" sz="1100" b="1" strike="noStrike" spc="-1" dirty="0" err="1">
                <a:solidFill>
                  <a:srgbClr val="000000"/>
                </a:solidFill>
                <a:latin typeface="Arial Unicode MS"/>
                <a:ea typeface="DejaVu Sans"/>
              </a:rPr>
              <a:t>ai_addr</a:t>
            </a:r>
            <a:r>
              <a:rPr lang="en-US" sz="1100" b="1" strike="noStrike" spc="-1" dirty="0">
                <a:solidFill>
                  <a:srgbClr val="000000"/>
                </a:solidFill>
                <a:latin typeface="Arial Unicode MS"/>
                <a:ea typeface="DejaVu Sans"/>
              </a:rPr>
              <a:t>, p-&gt;</a:t>
            </a:r>
            <a:r>
              <a:rPr lang="en-US" sz="1100" b="1" strike="noStrike" spc="-1" dirty="0" err="1">
                <a:solidFill>
                  <a:srgbClr val="000000"/>
                </a:solidFill>
                <a:latin typeface="Arial Unicode MS"/>
                <a:ea typeface="DejaVu Sans"/>
              </a:rPr>
              <a:t>ai_addrlen</a:t>
            </a:r>
            <a:r>
              <a:rPr lang="en-US" sz="1100" b="1" strike="noStrike" spc="-1" dirty="0">
                <a:solidFill>
                  <a:srgbClr val="000000"/>
                </a:solidFill>
                <a:latin typeface="Arial Unicode MS"/>
                <a:ea typeface="DejaVu Sans"/>
              </a:rPr>
              <a:t>) == -1)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close(</a:t>
            </a:r>
            <a:r>
              <a:rPr lang="en-US" sz="1100" b="1" strike="noStrike" spc="-1" dirty="0" err="1">
                <a:solidFill>
                  <a:srgbClr val="000000"/>
                </a:solidFill>
                <a:latin typeface="Arial Unicode MS"/>
                <a:ea typeface="DejaVu Sans"/>
              </a:rPr>
              <a:t>sd</a:t>
            </a:r>
            <a:r>
              <a:rPr lang="en-US" sz="1100" b="1"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a:t>
            </a:r>
            <a:r>
              <a:rPr lang="en-US" sz="1100" b="1" strike="noStrike" spc="-1" dirty="0" err="1">
                <a:solidFill>
                  <a:srgbClr val="000000"/>
                </a:solidFill>
                <a:latin typeface="Arial Unicode MS"/>
                <a:ea typeface="DejaVu Sans"/>
              </a:rPr>
              <a:t>perror</a:t>
            </a:r>
            <a:r>
              <a:rPr lang="en-US" sz="1100" b="1" strike="noStrike" spc="-1" dirty="0">
                <a:solidFill>
                  <a:srgbClr val="000000"/>
                </a:solidFill>
                <a:latin typeface="Arial Unicode MS"/>
                <a:ea typeface="DejaVu Sans"/>
              </a:rPr>
              <a:t>("server: bind");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continue;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}//if</a:t>
            </a:r>
            <a:r>
              <a:rPr lang="en-US" sz="800" b="0" strike="noStrike" spc="-1" dirty="0">
                <a:solidFill>
                  <a:srgbClr val="000000"/>
                </a:solidFill>
                <a:latin typeface="Calibri"/>
                <a:ea typeface="DejaVu Sans"/>
              </a:rPr>
              <a:t> </a:t>
            </a:r>
            <a:endParaRPr lang="es-MX" sz="800" b="0" strike="noStrike" spc="-1" dirty="0">
              <a:latin typeface="Arial"/>
            </a:endParaRPr>
          </a:p>
          <a:p>
            <a:pPr>
              <a:lnSpc>
                <a:spcPct val="100000"/>
              </a:lnSpc>
            </a:pPr>
            <a:endParaRPr lang="es-MX" sz="800" b="0" strike="noStrike" spc="-1" dirty="0">
              <a:latin typeface="Arial"/>
            </a:endParaRPr>
          </a:p>
          <a:p>
            <a:pPr>
              <a:lnSpc>
                <a:spcPct val="100000"/>
              </a:lnSpc>
            </a:pPr>
            <a:r>
              <a:rPr lang="en-US" sz="1100" b="0" strike="noStrike" spc="-1" dirty="0">
                <a:solidFill>
                  <a:srgbClr val="000000"/>
                </a:solidFill>
                <a:latin typeface="Arial Unicode MS"/>
                <a:ea typeface="DejaVu Sans"/>
              </a:rPr>
              <a:t>   break;</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}//for</a:t>
            </a:r>
            <a:r>
              <a:rPr lang="en-US" sz="1100" b="0" strike="noStrike" spc="-1" dirty="0">
                <a:solidFill>
                  <a:srgbClr val="000000"/>
                </a:solidFill>
                <a:latin typeface="Calibri"/>
                <a:ea typeface="DejaVu Sans"/>
              </a:rPr>
              <a:t> </a:t>
            </a:r>
            <a:endParaRPr lang="es-MX" sz="1100" b="0" strike="noStrike" spc="-1" dirty="0">
              <a:latin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CustomShape 1"/>
          <p:cNvSpPr/>
          <p:nvPr/>
        </p:nvSpPr>
        <p:spPr>
          <a:xfrm>
            <a:off x="593640" y="14076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listen()</a:t>
            </a:r>
            <a:endParaRPr lang="es-MX" sz="4400" b="0" strike="noStrike" spc="-1">
              <a:latin typeface="Arial"/>
            </a:endParaRPr>
          </a:p>
        </p:txBody>
      </p:sp>
      <p:sp>
        <p:nvSpPr>
          <p:cNvPr id="557" name="CustomShape 2"/>
          <p:cNvSpPr/>
          <p:nvPr/>
        </p:nvSpPr>
        <p:spPr>
          <a:xfrm>
            <a:off x="1981080" y="1600200"/>
            <a:ext cx="8227440" cy="175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8497B0"/>
                </a:solidFill>
                <a:latin typeface="MoolBoran"/>
                <a:ea typeface="DejaVu Sans"/>
              </a:rPr>
              <a:t>#include &lt;netinet/in.h&gt;</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listen(int sd, int backlog);</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//backlog tiene un máximo definido en SOMAXCONN=128 en /usr/src/linux/net/ipv4/af_inet.c.  5= mal desempeño en webservers (/usr/src/linux/socket.h en kernels 2.x )</a:t>
            </a:r>
            <a:endParaRPr lang="es-MX" sz="2800" b="0" strike="noStrike" spc="-1">
              <a:latin typeface="Arial"/>
            </a:endParaRPr>
          </a:p>
        </p:txBody>
      </p:sp>
      <p:sp>
        <p:nvSpPr>
          <p:cNvPr id="558" name="CustomShape 3"/>
          <p:cNvSpPr/>
          <p:nvPr/>
        </p:nvSpPr>
        <p:spPr>
          <a:xfrm>
            <a:off x="2510280" y="4941000"/>
            <a:ext cx="5391360" cy="1460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1" strike="noStrike" spc="-1" dirty="0">
                <a:solidFill>
                  <a:srgbClr val="444444"/>
                </a:solidFill>
                <a:latin typeface="Courier New"/>
                <a:ea typeface="DejaVu Sans"/>
              </a:rPr>
              <a:t>if(listen(sd,</a:t>
            </a:r>
            <a:r>
              <a:rPr lang="en-US" b="1" spc="-1" dirty="0">
                <a:solidFill>
                  <a:srgbClr val="444444"/>
                </a:solidFill>
                <a:latin typeface="Courier New"/>
                <a:ea typeface="DejaVu Sans"/>
              </a:rPr>
              <a:t>128</a:t>
            </a:r>
            <a:r>
              <a:rPr lang="en-US" sz="1800" b="1" strike="noStrike" spc="-1" dirty="0">
                <a:solidFill>
                  <a:srgbClr val="444444"/>
                </a:solidFill>
                <a:latin typeface="Courier New"/>
                <a:ea typeface="DejaVu Sans"/>
              </a:rPr>
              <a:t>)==-1){</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  </a:t>
            </a:r>
            <a:r>
              <a:rPr lang="en-US" sz="1800" b="1" strike="noStrike" spc="-1" dirty="0" err="1">
                <a:solidFill>
                  <a:srgbClr val="444444"/>
                </a:solidFill>
                <a:latin typeface="Courier New"/>
                <a:ea typeface="DejaVu Sans"/>
              </a:rPr>
              <a:t>perror</a:t>
            </a:r>
            <a:r>
              <a:rPr lang="en-US" sz="1800" b="1" strike="noStrike" spc="-1" dirty="0">
                <a:solidFill>
                  <a:srgbClr val="444444"/>
                </a:solidFill>
                <a:latin typeface="Courier New"/>
                <a:ea typeface="DejaVu Sans"/>
              </a:rPr>
              <a:t>(“error </a:t>
            </a:r>
            <a:r>
              <a:rPr lang="en-US" sz="1800" b="1" strike="noStrike" spc="-1" dirty="0" err="1">
                <a:solidFill>
                  <a:srgbClr val="444444"/>
                </a:solidFill>
                <a:latin typeface="Courier New"/>
                <a:ea typeface="DejaVu Sans"/>
              </a:rPr>
              <a:t>en</a:t>
            </a:r>
            <a:r>
              <a:rPr lang="en-US" sz="1800" b="1" strike="noStrike" spc="-1" dirty="0">
                <a:solidFill>
                  <a:srgbClr val="444444"/>
                </a:solidFill>
                <a:latin typeface="Courier New"/>
                <a:ea typeface="DejaVu Sans"/>
              </a:rPr>
              <a:t> </a:t>
            </a:r>
            <a:r>
              <a:rPr lang="en-US" sz="1800" b="1" strike="noStrike" spc="-1" dirty="0" err="1">
                <a:solidFill>
                  <a:srgbClr val="444444"/>
                </a:solidFill>
                <a:latin typeface="Courier New"/>
                <a:ea typeface="DejaVu Sans"/>
              </a:rPr>
              <a:t>func</a:t>
            </a:r>
            <a:r>
              <a:rPr lang="en-US" sz="1800" b="1" strike="noStrike" spc="-1" dirty="0">
                <a:solidFill>
                  <a:srgbClr val="444444"/>
                </a:solidFill>
                <a:latin typeface="Courier New"/>
                <a:ea typeface="DejaVu Sans"/>
              </a:rPr>
              <a:t>. Listen()\n”);</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  close(</a:t>
            </a:r>
            <a:r>
              <a:rPr lang="en-US" sz="1800" b="1" strike="noStrike" spc="-1" dirty="0" err="1">
                <a:solidFill>
                  <a:srgbClr val="444444"/>
                </a:solidFill>
                <a:latin typeface="Courier New"/>
                <a:ea typeface="DejaVu Sans"/>
              </a:rPr>
              <a:t>sd</a:t>
            </a:r>
            <a:r>
              <a:rPr lang="en-US" sz="1800" b="1" strike="noStrike" spc="-1" dirty="0">
                <a:solidFill>
                  <a:srgbClr val="444444"/>
                </a:solidFill>
                <a:latin typeface="Courier New"/>
                <a:ea typeface="DejaVu Sans"/>
              </a:rPr>
              <a:t>);</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  exit(1);</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a:t>
            </a:r>
            <a:endParaRPr lang="es-MX" sz="1800" b="0" strike="noStrike" spc="-1" dirty="0">
              <a:latin typeface="Arial"/>
            </a:endParaRPr>
          </a:p>
        </p:txBody>
      </p:sp>
      <p:sp>
        <p:nvSpPr>
          <p:cNvPr id="559" name="CustomShape 4"/>
          <p:cNvSpPr/>
          <p:nvPr/>
        </p:nvSpPr>
        <p:spPr>
          <a:xfrm>
            <a:off x="8595545" y="3977584"/>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560" name="CustomShape 5"/>
          <p:cNvSpPr/>
          <p:nvPr/>
        </p:nvSpPr>
        <p:spPr>
          <a:xfrm>
            <a:off x="10202945" y="3735304"/>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561" name="CustomShape 6"/>
          <p:cNvSpPr/>
          <p:nvPr/>
        </p:nvSpPr>
        <p:spPr>
          <a:xfrm>
            <a:off x="10269321" y="3869224"/>
            <a:ext cx="122652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dirty="0">
                <a:solidFill>
                  <a:srgbClr val="000000"/>
                </a:solidFill>
                <a:latin typeface="Calibri"/>
                <a:ea typeface="DejaVu Sans"/>
              </a:rPr>
              <a:t>0= </a:t>
            </a:r>
            <a:r>
              <a:rPr lang="en-US" sz="1800" b="0" strike="noStrike" spc="-1" dirty="0" err="1">
                <a:solidFill>
                  <a:srgbClr val="000000"/>
                </a:solidFill>
                <a:latin typeface="Calibri"/>
                <a:ea typeface="DejaVu Sans"/>
              </a:rPr>
              <a:t>éxito</a:t>
            </a:r>
            <a:endParaRPr lang="es-MX" sz="1800" b="0" strike="noStrike" spc="-1" dirty="0">
              <a:latin typeface="Arial"/>
            </a:endParaRPr>
          </a:p>
          <a:p>
            <a:pPr>
              <a:lnSpc>
                <a:spcPct val="100000"/>
              </a:lnSpc>
            </a:pPr>
            <a:r>
              <a:rPr lang="en-US" sz="1800" b="0" strike="noStrike" spc="-1" dirty="0">
                <a:solidFill>
                  <a:srgbClr val="000000"/>
                </a:solidFill>
                <a:latin typeface="Calibri"/>
                <a:ea typeface="DejaVu Sans"/>
              </a:rPr>
              <a:t>-1= error</a:t>
            </a:r>
            <a:endParaRPr lang="es-MX" sz="1800" b="0" strike="noStrike" spc="-1" dirty="0">
              <a:latin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CustomShape 1"/>
          <p:cNvSpPr/>
          <p:nvPr/>
        </p:nvSpPr>
        <p:spPr>
          <a:xfrm>
            <a:off x="1981080" y="12384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accept()</a:t>
            </a:r>
            <a:endParaRPr lang="es-MX" sz="4400" b="0" strike="noStrike" spc="-1">
              <a:latin typeface="Arial"/>
            </a:endParaRPr>
          </a:p>
        </p:txBody>
      </p:sp>
      <p:sp>
        <p:nvSpPr>
          <p:cNvPr id="563" name="CustomShape 2"/>
          <p:cNvSpPr/>
          <p:nvPr/>
        </p:nvSpPr>
        <p:spPr>
          <a:xfrm>
            <a:off x="1722600" y="81360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accept (int sd, struct sockaddr *dir, socklen_t *tam_dir)</a:t>
            </a:r>
            <a:endParaRPr lang="es-MX" sz="2800" b="0" strike="noStrike" spc="-1">
              <a:latin typeface="Arial"/>
            </a:endParaRPr>
          </a:p>
        </p:txBody>
      </p:sp>
      <p:sp>
        <p:nvSpPr>
          <p:cNvPr id="564" name="CustomShape 3"/>
          <p:cNvSpPr/>
          <p:nvPr/>
        </p:nvSpPr>
        <p:spPr>
          <a:xfrm>
            <a:off x="7723440" y="189756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565" name="CustomShape 4"/>
          <p:cNvSpPr/>
          <p:nvPr/>
        </p:nvSpPr>
        <p:spPr>
          <a:xfrm>
            <a:off x="9330480" y="165564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566" name="CustomShape 5"/>
          <p:cNvSpPr/>
          <p:nvPr/>
        </p:nvSpPr>
        <p:spPr>
          <a:xfrm>
            <a:off x="9479694" y="1789560"/>
            <a:ext cx="141840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dirty="0">
                <a:solidFill>
                  <a:srgbClr val="000000"/>
                </a:solidFill>
                <a:latin typeface="Calibri"/>
                <a:ea typeface="DejaVu Sans"/>
              </a:rPr>
              <a:t>&gt;0 = </a:t>
            </a:r>
            <a:r>
              <a:rPr lang="en-US" sz="1800" b="0" strike="noStrike" spc="-1" dirty="0" err="1">
                <a:solidFill>
                  <a:srgbClr val="000000"/>
                </a:solidFill>
                <a:latin typeface="Calibri"/>
                <a:ea typeface="DejaVu Sans"/>
              </a:rPr>
              <a:t>éxito</a:t>
            </a:r>
            <a:endParaRPr lang="es-MX" sz="1800" b="0" strike="noStrike" spc="-1" dirty="0">
              <a:latin typeface="Arial"/>
            </a:endParaRPr>
          </a:p>
          <a:p>
            <a:pPr>
              <a:lnSpc>
                <a:spcPct val="100000"/>
              </a:lnSpc>
            </a:pPr>
            <a:r>
              <a:rPr lang="en-US" sz="1800" b="0" strike="noStrike" spc="-1" dirty="0">
                <a:solidFill>
                  <a:srgbClr val="000000"/>
                </a:solidFill>
                <a:latin typeface="Calibri"/>
                <a:ea typeface="DejaVu Sans"/>
              </a:rPr>
              <a:t>-1= error</a:t>
            </a:r>
            <a:endParaRPr lang="es-MX" sz="1800" b="0" strike="noStrike" spc="-1" dirty="0">
              <a:latin typeface="Arial"/>
            </a:endParaRPr>
          </a:p>
        </p:txBody>
      </p:sp>
      <p:sp>
        <p:nvSpPr>
          <p:cNvPr id="567" name="CustomShape 6"/>
          <p:cNvSpPr/>
          <p:nvPr/>
        </p:nvSpPr>
        <p:spPr>
          <a:xfrm>
            <a:off x="1706400" y="2286000"/>
            <a:ext cx="8502480" cy="3675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600" b="0" strike="noStrike" spc="-1" dirty="0">
                <a:solidFill>
                  <a:srgbClr val="444444"/>
                </a:solidFill>
                <a:latin typeface="Courier New"/>
                <a:ea typeface="DejaVu Sans"/>
              </a:rPr>
              <a:t>for(;;){</a:t>
            </a:r>
          </a:p>
          <a:p>
            <a:pPr>
              <a:lnSpc>
                <a:spcPct val="100000"/>
              </a:lnSpc>
            </a:pPr>
            <a:r>
              <a:rPr lang="en-US" sz="1600" b="0" strike="noStrike" spc="-1" dirty="0">
                <a:solidFill>
                  <a:srgbClr val="444444"/>
                </a:solidFill>
                <a:latin typeface="Courier New"/>
                <a:ea typeface="DejaVu Sans"/>
              </a:rPr>
              <a:t>char </a:t>
            </a:r>
            <a:r>
              <a:rPr lang="en-US" sz="1600" b="0" strike="noStrike" spc="-1" dirty="0" err="1">
                <a:solidFill>
                  <a:srgbClr val="444444"/>
                </a:solidFill>
                <a:latin typeface="Courier New"/>
                <a:ea typeface="DejaVu Sans"/>
              </a:rPr>
              <a:t>hbuf</a:t>
            </a:r>
            <a:r>
              <a:rPr lang="en-US" sz="1600" b="0" strike="noStrike" spc="-1" dirty="0">
                <a:solidFill>
                  <a:srgbClr val="444444"/>
                </a:solidFill>
                <a:latin typeface="Courier New"/>
                <a:ea typeface="DejaVu Sans"/>
              </a:rPr>
              <a:t>[NI_MAXHOST], </a:t>
            </a:r>
            <a:r>
              <a:rPr lang="en-US" sz="1600" b="0" strike="noStrike" spc="-1" dirty="0" err="1">
                <a:solidFill>
                  <a:srgbClr val="444444"/>
                </a:solidFill>
                <a:latin typeface="Courier New"/>
                <a:ea typeface="DejaVu Sans"/>
              </a:rPr>
              <a:t>sbuf</a:t>
            </a:r>
            <a:r>
              <a:rPr lang="en-US" sz="1600" b="0" strike="noStrike" spc="-1" dirty="0">
                <a:solidFill>
                  <a:srgbClr val="444444"/>
                </a:solidFill>
                <a:latin typeface="Courier New"/>
                <a:ea typeface="DejaVu Sans"/>
              </a:rPr>
              <a:t>[NI_MAXSERV]; </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struct </a:t>
            </a:r>
            <a:r>
              <a:rPr lang="en-US" sz="1600" b="0" strike="noStrike" spc="-1" dirty="0" err="1">
                <a:solidFill>
                  <a:srgbClr val="444444"/>
                </a:solidFill>
                <a:latin typeface="Courier New"/>
                <a:ea typeface="DejaVu Sans"/>
              </a:rPr>
              <a:t>sockaddr_storage</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a:t>
            </a:r>
            <a:endParaRPr lang="es-MX" sz="1600" b="0" strike="noStrike" spc="-1" dirty="0">
              <a:latin typeface="Arial"/>
            </a:endParaRPr>
          </a:p>
          <a:p>
            <a:pPr>
              <a:lnSpc>
                <a:spcPct val="100000"/>
              </a:lnSpc>
            </a:pPr>
            <a:r>
              <a:rPr lang="en-US" sz="1600" b="0" strike="noStrike" spc="-1" dirty="0" err="1">
                <a:solidFill>
                  <a:srgbClr val="444444"/>
                </a:solidFill>
                <a:latin typeface="Courier New"/>
                <a:ea typeface="DejaVu Sans"/>
              </a:rPr>
              <a:t>socklen_t</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ctam</a:t>
            </a:r>
            <a:r>
              <a:rPr lang="en-US" sz="1600" b="0" strike="noStrike" spc="-1" dirty="0">
                <a:solidFill>
                  <a:srgbClr val="444444"/>
                </a:solidFill>
                <a:latin typeface="Courier New"/>
                <a:ea typeface="DejaVu Sans"/>
              </a:rPr>
              <a:t> = </a:t>
            </a:r>
            <a:r>
              <a:rPr lang="en-US" sz="1600" b="0" strike="noStrike" spc="-1" dirty="0" err="1">
                <a:solidFill>
                  <a:srgbClr val="444444"/>
                </a:solidFill>
                <a:latin typeface="Courier New"/>
                <a:ea typeface="DejaVu Sans"/>
              </a:rPr>
              <a:t>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a:t>
            </a:r>
            <a:endParaRPr lang="es-MX" sz="1600" b="0" strike="noStrike" spc="-1" dirty="0">
              <a:latin typeface="Arial"/>
            </a:endParaRPr>
          </a:p>
          <a:p>
            <a:pPr>
              <a:lnSpc>
                <a:spcPct val="100000"/>
              </a:lnSpc>
            </a:pPr>
            <a:r>
              <a:rPr lang="en-US" sz="1600" b="1" strike="noStrike" spc="-1" dirty="0">
                <a:solidFill>
                  <a:srgbClr val="444444"/>
                </a:solidFill>
                <a:latin typeface="Courier New"/>
                <a:ea typeface="DejaVu Sans"/>
              </a:rPr>
              <a:t>cd = accept(</a:t>
            </a:r>
            <a:r>
              <a:rPr lang="en-US" sz="1600" b="1" strike="noStrike" spc="-1" dirty="0" err="1">
                <a:solidFill>
                  <a:srgbClr val="444444"/>
                </a:solidFill>
                <a:latin typeface="Courier New"/>
                <a:ea typeface="DejaVu Sans"/>
              </a:rPr>
              <a:t>sd</a:t>
            </a:r>
            <a:r>
              <a:rPr lang="en-US" sz="1600" b="1" strike="noStrike" spc="-1" dirty="0">
                <a:solidFill>
                  <a:srgbClr val="444444"/>
                </a:solidFill>
                <a:latin typeface="Courier New"/>
                <a:ea typeface="DejaVu Sans"/>
              </a:rPr>
              <a:t>, (struct </a:t>
            </a:r>
            <a:r>
              <a:rPr lang="en-US" sz="1600" b="1" strike="noStrike" spc="-1" dirty="0" err="1">
                <a:solidFill>
                  <a:srgbClr val="444444"/>
                </a:solidFill>
                <a:latin typeface="Courier New"/>
                <a:ea typeface="DejaVu Sans"/>
              </a:rPr>
              <a:t>sockaddr</a:t>
            </a:r>
            <a:r>
              <a:rPr lang="en-US" sz="1600" b="1" strike="noStrike" spc="-1" dirty="0">
                <a:solidFill>
                  <a:srgbClr val="444444"/>
                </a:solidFill>
                <a:latin typeface="Courier New"/>
                <a:ea typeface="DejaVu Sans"/>
              </a:rPr>
              <a:t> *)&amp;</a:t>
            </a:r>
            <a:r>
              <a:rPr lang="en-US" sz="1600" b="1" strike="noStrike" spc="-1" dirty="0" err="1">
                <a:solidFill>
                  <a:srgbClr val="444444"/>
                </a:solidFill>
                <a:latin typeface="Courier New"/>
                <a:ea typeface="DejaVu Sans"/>
              </a:rPr>
              <a:t>cdir</a:t>
            </a:r>
            <a:r>
              <a:rPr lang="en-US" sz="1600" b="1" strike="noStrike" spc="-1" dirty="0">
                <a:solidFill>
                  <a:srgbClr val="444444"/>
                </a:solidFill>
                <a:latin typeface="Courier New"/>
                <a:ea typeface="DejaVu Sans"/>
              </a:rPr>
              <a:t>, &amp;</a:t>
            </a:r>
            <a:r>
              <a:rPr lang="en-US" sz="1600" b="1" strike="noStrike" spc="-1" dirty="0" err="1">
                <a:solidFill>
                  <a:srgbClr val="444444"/>
                </a:solidFill>
                <a:latin typeface="Courier New"/>
                <a:ea typeface="DejaVu Sans"/>
              </a:rPr>
              <a:t>ctam</a:t>
            </a:r>
            <a:r>
              <a:rPr lang="en-US" sz="1600" b="1" strike="noStrike" spc="-1" dirty="0">
                <a:solidFill>
                  <a:srgbClr val="444444"/>
                </a:solidFill>
                <a:latin typeface="Courier New"/>
                <a:ea typeface="DejaVu Sans"/>
              </a:rPr>
              <a:t>);</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if (cd == -1) {</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perror</a:t>
            </a:r>
            <a:r>
              <a:rPr lang="en-US" sz="1600" b="0" strike="noStrike" spc="-1" dirty="0">
                <a:solidFill>
                  <a:srgbClr val="444444"/>
                </a:solidFill>
                <a:latin typeface="Courier New"/>
                <a:ea typeface="DejaVu Sans"/>
              </a:rPr>
              <a:t>("accept");</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continue;</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if(</a:t>
            </a:r>
            <a:r>
              <a:rPr lang="en-US" sz="1600" b="0" strike="noStrike" spc="-1" dirty="0" err="1">
                <a:solidFill>
                  <a:srgbClr val="444444"/>
                </a:solidFill>
                <a:latin typeface="Courier New"/>
                <a:ea typeface="DejaVu Sans"/>
              </a:rPr>
              <a:t>getnameinfo</a:t>
            </a:r>
            <a:r>
              <a:rPr lang="en-US" sz="1600" b="0" strike="noStrike" spc="-1" dirty="0">
                <a:solidFill>
                  <a:srgbClr val="444444"/>
                </a:solidFill>
                <a:latin typeface="Courier New"/>
                <a:ea typeface="DejaVu Sans"/>
              </a:rPr>
              <a:t>((struct </a:t>
            </a:r>
            <a:r>
              <a:rPr lang="en-US" sz="1600" b="0" strike="noStrike" spc="-1" dirty="0" err="1">
                <a:solidFill>
                  <a:srgbClr val="444444"/>
                </a:solidFill>
                <a:latin typeface="Courier New"/>
                <a:ea typeface="DejaVu Sans"/>
              </a:rPr>
              <a:t>sockaddr</a:t>
            </a:r>
            <a:r>
              <a:rPr lang="en-US" sz="1600" b="0" strike="noStrike" spc="-1" dirty="0">
                <a:solidFill>
                  <a:srgbClr val="444444"/>
                </a:solidFill>
                <a:latin typeface="Courier New"/>
                <a:ea typeface="DejaVu Sans"/>
              </a:rPr>
              <a:t> *)&amp;</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hbuf</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hbuf</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sbuf,sizeof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sbuf</a:t>
            </a:r>
            <a:r>
              <a:rPr lang="en-US" sz="1600" b="0" strike="noStrike" spc="-1" dirty="0">
                <a:solidFill>
                  <a:srgbClr val="444444"/>
                </a:solidFill>
                <a:latin typeface="Courier New"/>
                <a:ea typeface="DejaVu Sans"/>
              </a:rPr>
              <a:t>), NI_NUMERICHOST | NI_NUMERICSERV) == 0)</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printf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cliente</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conectado</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desde</a:t>
            </a:r>
            <a:r>
              <a:rPr lang="en-US" sz="1600" b="0" strike="noStrike" spc="-1" dirty="0">
                <a:solidFill>
                  <a:srgbClr val="444444"/>
                </a:solidFill>
                <a:latin typeface="Courier New"/>
                <a:ea typeface="DejaVu Sans"/>
              </a:rPr>
              <a:t> %s:%s\n", </a:t>
            </a:r>
            <a:r>
              <a:rPr lang="en-US" sz="1600" b="0" strike="noStrike" spc="-1" dirty="0" err="1">
                <a:solidFill>
                  <a:srgbClr val="444444"/>
                </a:solidFill>
                <a:latin typeface="Courier New"/>
                <a:ea typeface="DejaVu Sans"/>
              </a:rPr>
              <a:t>hbuf,sbuf</a:t>
            </a:r>
            <a:r>
              <a:rPr lang="en-US" sz="1600" b="0" strike="noStrike" spc="-1" dirty="0">
                <a:solidFill>
                  <a:srgbClr val="444444"/>
                </a:solidFill>
                <a:latin typeface="Courier New"/>
                <a:ea typeface="DejaVu Sans"/>
              </a:rPr>
              <a:t>); </a:t>
            </a:r>
            <a:endParaRPr lang="es-MX" sz="1600" b="0" strike="noStrike" spc="-1" dirty="0">
              <a:latin typeface="Arial"/>
            </a:endParaRPr>
          </a:p>
          <a:p>
            <a:pPr>
              <a:lnSpc>
                <a:spcPct val="100000"/>
              </a:lnSpc>
            </a:pPr>
            <a:endParaRPr lang="es-MX" sz="1600" b="0" strike="noStrike" spc="-1" dirty="0">
              <a:latin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write()</a:t>
            </a:r>
            <a:endParaRPr lang="es-MX" sz="4400" b="0" strike="noStrike" spc="-1">
              <a:latin typeface="Arial"/>
            </a:endParaRPr>
          </a:p>
        </p:txBody>
      </p:sp>
      <p:sp>
        <p:nvSpPr>
          <p:cNvPr id="569" name="CustomShape 2"/>
          <p:cNvSpPr/>
          <p:nvPr/>
        </p:nvSpPr>
        <p:spPr>
          <a:xfrm>
            <a:off x="1722600" y="81360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200" b="0" strike="noStrike" spc="-1">
                <a:solidFill>
                  <a:srgbClr val="8497B0"/>
                </a:solidFill>
                <a:latin typeface="MoolBoran"/>
                <a:ea typeface="DejaVu Sans"/>
              </a:rPr>
              <a:t>#include &lt;unistd.h&gt;</a:t>
            </a:r>
            <a:endParaRPr lang="es-MX" sz="3200" b="0" strike="noStrike" spc="-1">
              <a:latin typeface="Arial"/>
            </a:endParaRPr>
          </a:p>
          <a:p>
            <a:pPr>
              <a:lnSpc>
                <a:spcPct val="100000"/>
              </a:lnSpc>
            </a:pPr>
            <a:r>
              <a:rPr lang="en-US" sz="3200" b="0" strike="noStrike" spc="-1">
                <a:solidFill>
                  <a:srgbClr val="000000"/>
                </a:solidFill>
                <a:latin typeface="MoolBoran"/>
                <a:ea typeface="DejaVu Sans"/>
              </a:rPr>
              <a:t>int write(int sd, const void *buf, size_t tam)</a:t>
            </a:r>
            <a:endParaRPr lang="es-MX" sz="3200" b="0" strike="noStrike" spc="-1">
              <a:latin typeface="Arial"/>
            </a:endParaRPr>
          </a:p>
        </p:txBody>
      </p:sp>
      <p:sp>
        <p:nvSpPr>
          <p:cNvPr id="570" name="CustomShape 3"/>
          <p:cNvSpPr/>
          <p:nvPr/>
        </p:nvSpPr>
        <p:spPr>
          <a:xfrm>
            <a:off x="6499080" y="135180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571" name="CustomShape 4"/>
          <p:cNvSpPr/>
          <p:nvPr/>
        </p:nvSpPr>
        <p:spPr>
          <a:xfrm>
            <a:off x="8106480" y="110952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572" name="CustomShape 5"/>
          <p:cNvSpPr/>
          <p:nvPr/>
        </p:nvSpPr>
        <p:spPr>
          <a:xfrm>
            <a:off x="8184240" y="1100520"/>
            <a:ext cx="2158200" cy="1459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&gt;0 = #bytes enviados</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0 = socket cerrado</a:t>
            </a:r>
            <a:endParaRPr lang="es-MX" sz="1800" b="0" strike="noStrike" spc="-1">
              <a:latin typeface="Arial"/>
            </a:endParaRPr>
          </a:p>
        </p:txBody>
      </p:sp>
      <p:sp>
        <p:nvSpPr>
          <p:cNvPr id="573" name="CustomShape 6"/>
          <p:cNvSpPr/>
          <p:nvPr/>
        </p:nvSpPr>
        <p:spPr>
          <a:xfrm>
            <a:off x="897840" y="2125440"/>
            <a:ext cx="4637880" cy="4198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*msj =“un mensaje”;</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write(cd,msj, strlen(msj)+1);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write\n”);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v=2;</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write(cd,&amp;v,sizeof(v));</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float v2= 5.1f;</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Char b[10];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memset(b,0,sizeof(b));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sprintf(b,”%f”,v2);</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n=write(cd,b,strlen(b)+1);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574" name="CustomShape 7"/>
          <p:cNvSpPr/>
          <p:nvPr/>
        </p:nvSpPr>
        <p:spPr>
          <a:xfrm>
            <a:off x="5718240" y="2319480"/>
            <a:ext cx="6244200" cy="4047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struct dato{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char nombre[30];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char apellido[25];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int edad;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struct dato *o;</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o = (struct dato *)malloc(sizeof (struct dato));</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O-&gt;nombre=“Juan”;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O-&gt;apellido=“Perez”;</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O-&gt;edad=htonl(23);</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write(cd,(const char*)o,sizeof(struct dato));</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free(o);</a:t>
            </a:r>
            <a:endParaRPr lang="es-MX" sz="1400" b="0" strike="noStrike" spc="-1">
              <a:latin typeface="Arial"/>
            </a:endParaRPr>
          </a:p>
          <a:p>
            <a:pPr>
              <a:lnSpc>
                <a:spcPct val="100000"/>
              </a:lnSpc>
            </a:pPr>
            <a:endParaRPr lang="es-MX" sz="1400" b="0" strike="noStrike" spc="-1">
              <a:latin typeface="Arial"/>
            </a:endParaRPr>
          </a:p>
          <a:p>
            <a:pPr>
              <a:lnSpc>
                <a:spcPct val="100000"/>
              </a:lnSpc>
            </a:pPr>
            <a:endParaRPr lang="es-MX" sz="1400" b="0" strike="noStrike" spc="-1">
              <a:latin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CustomShape 1"/>
          <p:cNvSpPr/>
          <p:nvPr/>
        </p:nvSpPr>
        <p:spPr>
          <a:xfrm>
            <a:off x="1981080" y="274680"/>
            <a:ext cx="8227800" cy="48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600" b="0" strike="noStrike" spc="-1">
                <a:solidFill>
                  <a:srgbClr val="000000"/>
                </a:solidFill>
                <a:latin typeface="Calibri Light"/>
                <a:ea typeface="DejaVu Sans"/>
              </a:rPr>
              <a:t>Función send()</a:t>
            </a:r>
            <a:endParaRPr lang="es-MX" sz="3600" b="0" strike="noStrike" spc="-1">
              <a:latin typeface="Arial"/>
            </a:endParaRPr>
          </a:p>
        </p:txBody>
      </p:sp>
      <p:sp>
        <p:nvSpPr>
          <p:cNvPr id="450" name="CustomShape 2"/>
          <p:cNvSpPr/>
          <p:nvPr/>
        </p:nvSpPr>
        <p:spPr>
          <a:xfrm>
            <a:off x="1722600" y="813600"/>
            <a:ext cx="10013040" cy="103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a:solidFill>
                  <a:srgbClr val="8497B0"/>
                </a:solidFill>
                <a:latin typeface="MoolBoran"/>
                <a:ea typeface="DejaVu Sans"/>
              </a:rPr>
              <a:t>#include &lt;sys/socket.h&gt;</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int send(int sd, const void *buf, size_t tam, int bandera)</a:t>
            </a:r>
            <a:endParaRPr lang="es-MX" sz="2400" b="0" strike="noStrike" spc="-1">
              <a:latin typeface="Arial"/>
            </a:endParaRPr>
          </a:p>
        </p:txBody>
      </p:sp>
      <p:sp>
        <p:nvSpPr>
          <p:cNvPr id="451" name="CustomShape 3"/>
          <p:cNvSpPr/>
          <p:nvPr/>
        </p:nvSpPr>
        <p:spPr>
          <a:xfrm>
            <a:off x="8119080" y="3260880"/>
            <a:ext cx="1755360" cy="91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452" name="CustomShape 4"/>
          <p:cNvSpPr/>
          <p:nvPr/>
        </p:nvSpPr>
        <p:spPr>
          <a:xfrm>
            <a:off x="9258480" y="3162600"/>
            <a:ext cx="153720" cy="9126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453" name="CustomShape 5"/>
          <p:cNvSpPr/>
          <p:nvPr/>
        </p:nvSpPr>
        <p:spPr>
          <a:xfrm>
            <a:off x="9372240" y="3153600"/>
            <a:ext cx="2759400" cy="14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enviados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454" name="CustomShape 6"/>
          <p:cNvSpPr/>
          <p:nvPr/>
        </p:nvSpPr>
        <p:spPr>
          <a:xfrm>
            <a:off x="1734840" y="2086920"/>
            <a:ext cx="5007240" cy="270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*msj =“un mensaje”;</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send(cd,msj, strlen(msj)+1,0);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send()\n”);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v=2;</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send(cd,&amp;v2,sizeof(v2),0);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455" name="CustomShape 7"/>
          <p:cNvSpPr/>
          <p:nvPr/>
        </p:nvSpPr>
        <p:spPr>
          <a:xfrm>
            <a:off x="9552240" y="1952640"/>
            <a:ext cx="430200" cy="38412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sp>
      <p:sp>
        <p:nvSpPr>
          <p:cNvPr id="456" name="CustomShape 8"/>
          <p:cNvSpPr/>
          <p:nvPr/>
        </p:nvSpPr>
        <p:spPr>
          <a:xfrm>
            <a:off x="10020240" y="1942560"/>
            <a:ext cx="82800" cy="7912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457" name="CustomShape 9"/>
          <p:cNvSpPr/>
          <p:nvPr/>
        </p:nvSpPr>
        <p:spPr>
          <a:xfrm>
            <a:off x="10103400" y="1793160"/>
            <a:ext cx="2158560" cy="94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0 = prioridad default</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MSG_OOB= alta prioridad</a:t>
            </a:r>
            <a:endParaRPr lang="es-MX" sz="1400" b="0" strike="noStrike" spc="-1">
              <a:latin typeface="Arial"/>
            </a:endParaRPr>
          </a:p>
        </p:txBody>
      </p:sp>
      <p:sp>
        <p:nvSpPr>
          <p:cNvPr id="458" name="CustomShape 10"/>
          <p:cNvSpPr/>
          <p:nvPr/>
        </p:nvSpPr>
        <p:spPr>
          <a:xfrm>
            <a:off x="1653480" y="4680000"/>
            <a:ext cx="3242160" cy="149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float v2= 5.1f;</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Char b[10];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memset(b,0,sizeof(b));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sprintf(b,”%f”,v2);</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n=send(cd,b,strlen(b)+1,0);</a:t>
            </a:r>
            <a:endParaRPr lang="es-MX" sz="1400" b="0" strike="noStrike" spc="-1">
              <a:latin typeface="Arial"/>
            </a:endParaRPr>
          </a:p>
          <a:p>
            <a:pPr>
              <a:lnSpc>
                <a:spcPct val="100000"/>
              </a:lnSpc>
            </a:pPr>
            <a:endParaRPr lang="es-MX" sz="1400" b="0" strike="noStrike" spc="-1">
              <a:latin typeface="Arial"/>
            </a:endParaRPr>
          </a:p>
        </p:txBody>
      </p:sp>
      <p:sp>
        <p:nvSpPr>
          <p:cNvPr id="459" name="CustomShape 11"/>
          <p:cNvSpPr/>
          <p:nvPr/>
        </p:nvSpPr>
        <p:spPr>
          <a:xfrm>
            <a:off x="6120000" y="4752000"/>
            <a:ext cx="5834520" cy="1697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struct dato *o;</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o = (struct dato *)malloc(sizeof (struct dato));</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O-&gt;nombre=“Juan”;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O-&gt;apellido=“Perez”;</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O-&gt;edad=htonl(23);</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send(cd,(const char*)o,sizeof(struct dato),0);</a:t>
            </a:r>
            <a:endParaRPr lang="es-MX" sz="1400" b="0" strike="noStrike" spc="-1">
              <a:latin typeface="Arial"/>
            </a:endParaRPr>
          </a:p>
          <a:p>
            <a:pPr>
              <a:lnSpc>
                <a:spcPct val="100000"/>
              </a:lnSpc>
            </a:pPr>
            <a:endParaRPr lang="es-MX" sz="1400" b="0" strike="noStrike" spc="-1">
              <a:latin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CustomShape 1"/>
          <p:cNvSpPr/>
          <p:nvPr/>
        </p:nvSpPr>
        <p:spPr>
          <a:xfrm>
            <a:off x="1981080" y="274680"/>
            <a:ext cx="8227800" cy="48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600" b="0" strike="noStrike" spc="-1">
                <a:solidFill>
                  <a:srgbClr val="000000"/>
                </a:solidFill>
                <a:latin typeface="Calibri Light"/>
                <a:ea typeface="DejaVu Sans"/>
              </a:rPr>
              <a:t>Función read()</a:t>
            </a:r>
            <a:endParaRPr lang="es-MX" sz="3600" b="0" strike="noStrike" spc="-1">
              <a:latin typeface="Arial"/>
            </a:endParaRPr>
          </a:p>
        </p:txBody>
      </p:sp>
      <p:sp>
        <p:nvSpPr>
          <p:cNvPr id="461" name="CustomShape 2"/>
          <p:cNvSpPr/>
          <p:nvPr/>
        </p:nvSpPr>
        <p:spPr>
          <a:xfrm>
            <a:off x="792000" y="792000"/>
            <a:ext cx="6531840" cy="103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200" b="0" strike="noStrike" spc="-1">
                <a:solidFill>
                  <a:srgbClr val="8497B0"/>
                </a:solidFill>
                <a:latin typeface="MoolBoran"/>
                <a:ea typeface="DejaVu Sans"/>
              </a:rPr>
              <a:t>#include &lt;unistd.h&gt;</a:t>
            </a:r>
            <a:endParaRPr lang="es-MX" sz="2200" b="0" strike="noStrike" spc="-1">
              <a:latin typeface="Arial"/>
            </a:endParaRPr>
          </a:p>
          <a:p>
            <a:pPr>
              <a:lnSpc>
                <a:spcPct val="100000"/>
              </a:lnSpc>
            </a:pPr>
            <a:r>
              <a:rPr lang="en-US" sz="2200" b="0" strike="noStrike" spc="-1">
                <a:solidFill>
                  <a:srgbClr val="000000"/>
                </a:solidFill>
                <a:latin typeface="MoolBoran"/>
                <a:ea typeface="DejaVu Sans"/>
              </a:rPr>
              <a:t>int read(int sd, const void *buf, size_t tam)</a:t>
            </a:r>
            <a:endParaRPr lang="es-MX" sz="2200" b="0" strike="noStrike" spc="-1">
              <a:latin typeface="Arial"/>
            </a:endParaRPr>
          </a:p>
        </p:txBody>
      </p:sp>
      <p:sp>
        <p:nvSpPr>
          <p:cNvPr id="462" name="CustomShape 3"/>
          <p:cNvSpPr/>
          <p:nvPr/>
        </p:nvSpPr>
        <p:spPr>
          <a:xfrm>
            <a:off x="8335080" y="1063800"/>
            <a:ext cx="1755360" cy="91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463" name="CustomShape 4"/>
          <p:cNvSpPr/>
          <p:nvPr/>
        </p:nvSpPr>
        <p:spPr>
          <a:xfrm>
            <a:off x="9474480" y="1109520"/>
            <a:ext cx="153720" cy="9126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464" name="CustomShape 5"/>
          <p:cNvSpPr/>
          <p:nvPr/>
        </p:nvSpPr>
        <p:spPr>
          <a:xfrm>
            <a:off x="9552240" y="1172520"/>
            <a:ext cx="2759400" cy="14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leidos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465" name="CustomShape 6"/>
          <p:cNvSpPr/>
          <p:nvPr/>
        </p:nvSpPr>
        <p:spPr>
          <a:xfrm>
            <a:off x="356760" y="1998000"/>
            <a:ext cx="5007240" cy="270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buf[100];</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bzero(buf, sizeof(buf));</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read(cd,buf, sizeof(buf));</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read()\n”);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read(cd,&amp;v,sizeof(v));</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char b[10];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bzero(b,sizeof(b));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read(cd,b,sizeof(b));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float v1 = atof(b);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466" name="CustomShape 7"/>
          <p:cNvSpPr/>
          <p:nvPr/>
        </p:nvSpPr>
        <p:spPr>
          <a:xfrm>
            <a:off x="5718240" y="2319480"/>
            <a:ext cx="6244560" cy="2555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dirty="0">
                <a:solidFill>
                  <a:srgbClr val="444444"/>
                </a:solidFill>
                <a:latin typeface="Courier New"/>
                <a:ea typeface="DejaVu Sans"/>
              </a:rPr>
              <a:t>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char </a:t>
            </a:r>
            <a:r>
              <a:rPr lang="en-US" sz="1400" b="0" strike="noStrike" spc="-1" dirty="0" err="1">
                <a:solidFill>
                  <a:srgbClr val="444444"/>
                </a:solidFill>
                <a:latin typeface="Courier New"/>
                <a:ea typeface="DejaVu Sans"/>
              </a:rPr>
              <a:t>nombre</a:t>
            </a:r>
            <a:r>
              <a:rPr lang="en-US" sz="1400" b="0" strike="noStrike" spc="-1" dirty="0">
                <a:solidFill>
                  <a:srgbClr val="444444"/>
                </a:solidFill>
                <a:latin typeface="Courier New"/>
                <a:ea typeface="DejaVu Sans"/>
              </a:rPr>
              <a:t>[30];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char </a:t>
            </a:r>
            <a:r>
              <a:rPr lang="en-US" sz="1400" b="0" strike="noStrike" spc="-1" dirty="0" err="1">
                <a:solidFill>
                  <a:srgbClr val="444444"/>
                </a:solidFill>
                <a:latin typeface="Courier New"/>
                <a:ea typeface="DejaVu Sans"/>
              </a:rPr>
              <a:t>apellido</a:t>
            </a:r>
            <a:r>
              <a:rPr lang="en-US" sz="1400" b="0" strike="noStrike" spc="-1" dirty="0">
                <a:solidFill>
                  <a:srgbClr val="444444"/>
                </a:solidFill>
                <a:latin typeface="Courier New"/>
                <a:ea typeface="DejaVu Sans"/>
              </a:rPr>
              <a:t>[25];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int </a:t>
            </a:r>
            <a:r>
              <a:rPr lang="en-US" sz="1400" b="0" strike="noStrike" spc="-1" dirty="0" err="1">
                <a:solidFill>
                  <a:srgbClr val="444444"/>
                </a:solidFill>
                <a:latin typeface="Courier New"/>
                <a:ea typeface="DejaVu Sans"/>
              </a:rPr>
              <a:t>edad</a:t>
            </a:r>
            <a:r>
              <a:rPr lang="en-US" sz="1400" b="0" strike="noStrike" spc="-1" dirty="0">
                <a:solidFill>
                  <a:srgbClr val="444444"/>
                </a:solidFill>
                <a:latin typeface="Courier New"/>
                <a:ea typeface="DejaVu Sans"/>
              </a:rPr>
              <a:t>;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spc="-1" dirty="0">
                <a:solidFill>
                  <a:srgbClr val="444444"/>
                </a:solidFill>
                <a:latin typeface="Courier New"/>
                <a:ea typeface="DejaVu Sans"/>
              </a:rPr>
              <a:t>c</a:t>
            </a:r>
            <a:r>
              <a:rPr lang="en-US" sz="1400" b="0" strike="noStrike" spc="-1" dirty="0">
                <a:solidFill>
                  <a:srgbClr val="444444"/>
                </a:solidFill>
                <a:latin typeface="Courier New"/>
                <a:ea typeface="DejaVu Sans"/>
              </a:rPr>
              <a:t>har b[200];</a:t>
            </a:r>
            <a:endParaRPr lang="es-MX" sz="1400" b="0" strike="noStrike" spc="-1" dirty="0">
              <a:latin typeface="Arial"/>
            </a:endParaRPr>
          </a:p>
          <a:p>
            <a:pPr>
              <a:lnSpc>
                <a:spcPct val="100000"/>
              </a:lnSpc>
            </a:pPr>
            <a:r>
              <a:rPr lang="en-US" sz="1400" b="0" strike="noStrike" spc="-1" dirty="0" err="1">
                <a:solidFill>
                  <a:srgbClr val="444444"/>
                </a:solidFill>
                <a:latin typeface="Courier New"/>
                <a:ea typeface="DejaVu Sans"/>
              </a:rPr>
              <a:t>bzero</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b,sizeof</a:t>
            </a:r>
            <a:r>
              <a:rPr lang="en-US" sz="1400" b="0" strike="noStrike" spc="-1" dirty="0">
                <a:solidFill>
                  <a:srgbClr val="444444"/>
                </a:solidFill>
                <a:latin typeface="Courier New"/>
                <a:ea typeface="DejaVu Sans"/>
              </a:rPr>
              <a:t>(b));</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 = read(</a:t>
            </a:r>
            <a:r>
              <a:rPr lang="en-US" sz="1400" b="0" strike="noStrike" spc="-1" dirty="0" err="1">
                <a:solidFill>
                  <a:srgbClr val="444444"/>
                </a:solidFill>
                <a:latin typeface="Courier New"/>
                <a:ea typeface="DejaVu Sans"/>
              </a:rPr>
              <a:t>cd,b,sizeof</a:t>
            </a:r>
            <a:r>
              <a:rPr lang="en-US" sz="1400" b="0" strike="noStrike" spc="-1" dirty="0">
                <a:solidFill>
                  <a:srgbClr val="444444"/>
                </a:solidFill>
                <a:latin typeface="Courier New"/>
                <a:ea typeface="DejaVu Sans"/>
              </a:rPr>
              <a:t>(b));</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*o = (struct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*)b;</a:t>
            </a:r>
            <a:endParaRPr lang="es-MX" sz="1400" b="0" strike="noStrike" spc="-1" dirty="0">
              <a:latin typeface="Arial"/>
            </a:endParaRPr>
          </a:p>
          <a:p>
            <a:pPr>
              <a:lnSpc>
                <a:spcPct val="100000"/>
              </a:lnSpc>
            </a:pPr>
            <a:endParaRPr lang="es-MX" sz="1400" b="0" strike="noStrike" spc="-1" dirty="0">
              <a:latin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 name="CustomShape 1"/>
          <p:cNvSpPr/>
          <p:nvPr/>
        </p:nvSpPr>
        <p:spPr>
          <a:xfrm>
            <a:off x="1981080" y="274680"/>
            <a:ext cx="8227800" cy="48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recv()</a:t>
            </a:r>
            <a:endParaRPr lang="es-MX" sz="4400" b="0" strike="noStrike" spc="-1">
              <a:latin typeface="Arial"/>
            </a:endParaRPr>
          </a:p>
        </p:txBody>
      </p:sp>
      <p:sp>
        <p:nvSpPr>
          <p:cNvPr id="468" name="CustomShape 2"/>
          <p:cNvSpPr/>
          <p:nvPr/>
        </p:nvSpPr>
        <p:spPr>
          <a:xfrm>
            <a:off x="1722600" y="813600"/>
            <a:ext cx="9076680" cy="1035000"/>
          </a:xfrm>
          <a:prstGeom prst="rect">
            <a:avLst/>
          </a:prstGeom>
          <a:solidFill>
            <a:srgbClr val="EEEEEE"/>
          </a:solidFill>
          <a:ln>
            <a:solidFill>
              <a:srgbClr val="CCCCCC"/>
            </a:solid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200" b="0" strike="noStrike" spc="-1">
                <a:solidFill>
                  <a:srgbClr val="8497B0"/>
                </a:solidFill>
                <a:latin typeface="Noto Sans"/>
                <a:ea typeface="DejaVu Sans"/>
              </a:rPr>
              <a:t>#include &lt;sys/socket.h&gt;</a:t>
            </a:r>
            <a:endParaRPr lang="es-MX" sz="2200" b="0" strike="noStrike" spc="-1">
              <a:latin typeface="Arial"/>
            </a:endParaRPr>
          </a:p>
          <a:p>
            <a:pPr>
              <a:lnSpc>
                <a:spcPct val="100000"/>
              </a:lnSpc>
            </a:pPr>
            <a:r>
              <a:rPr lang="en-US" sz="2200" b="0" strike="noStrike" spc="-1">
                <a:solidFill>
                  <a:srgbClr val="000000"/>
                </a:solidFill>
                <a:latin typeface="Noto Sans"/>
                <a:ea typeface="DejaVu Sans"/>
              </a:rPr>
              <a:t>int recv(int sd, const void *buf, size_t tam, int bandera)</a:t>
            </a:r>
            <a:endParaRPr lang="es-MX" sz="2200" b="0" strike="noStrike" spc="-1">
              <a:latin typeface="Arial"/>
            </a:endParaRPr>
          </a:p>
        </p:txBody>
      </p:sp>
      <p:sp>
        <p:nvSpPr>
          <p:cNvPr id="469" name="CustomShape 3"/>
          <p:cNvSpPr/>
          <p:nvPr/>
        </p:nvSpPr>
        <p:spPr>
          <a:xfrm>
            <a:off x="6499080" y="3404880"/>
            <a:ext cx="1755360" cy="91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470" name="CustomShape 4"/>
          <p:cNvSpPr/>
          <p:nvPr/>
        </p:nvSpPr>
        <p:spPr>
          <a:xfrm>
            <a:off x="8106480" y="3162600"/>
            <a:ext cx="153720" cy="9126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471" name="CustomShape 5"/>
          <p:cNvSpPr/>
          <p:nvPr/>
        </p:nvSpPr>
        <p:spPr>
          <a:xfrm>
            <a:off x="8220240" y="3225600"/>
            <a:ext cx="2158560" cy="14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leidos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472" name="CustomShape 6"/>
          <p:cNvSpPr/>
          <p:nvPr/>
        </p:nvSpPr>
        <p:spPr>
          <a:xfrm>
            <a:off x="1734840" y="2086920"/>
            <a:ext cx="5007240" cy="270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buf[100];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recv(cd,buf, sizeof(buf),0);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recv\n”);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recv(cd,&amp;v,sizeof(v), MSG_OOB);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473" name="CustomShape 7"/>
          <p:cNvSpPr/>
          <p:nvPr/>
        </p:nvSpPr>
        <p:spPr>
          <a:xfrm>
            <a:off x="8652240" y="1916640"/>
            <a:ext cx="430200" cy="38412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sp>
      <p:sp>
        <p:nvSpPr>
          <p:cNvPr id="474" name="CustomShape 8"/>
          <p:cNvSpPr/>
          <p:nvPr/>
        </p:nvSpPr>
        <p:spPr>
          <a:xfrm>
            <a:off x="9156240" y="2014560"/>
            <a:ext cx="75960" cy="5126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475" name="CustomShape 9"/>
          <p:cNvSpPr/>
          <p:nvPr/>
        </p:nvSpPr>
        <p:spPr>
          <a:xfrm>
            <a:off x="9247680" y="1944000"/>
            <a:ext cx="2158560" cy="94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200" b="1" strike="noStrike" spc="-1">
                <a:solidFill>
                  <a:srgbClr val="000000"/>
                </a:solidFill>
                <a:latin typeface="Calibri"/>
                <a:ea typeface="DejaVu Sans"/>
              </a:rPr>
              <a:t>0 = prioridad default</a:t>
            </a:r>
            <a:endParaRPr lang="es-MX" sz="1200" b="0" strike="noStrike" spc="-1">
              <a:latin typeface="Arial"/>
            </a:endParaRPr>
          </a:p>
          <a:p>
            <a:pPr>
              <a:lnSpc>
                <a:spcPct val="100000"/>
              </a:lnSpc>
            </a:pPr>
            <a:r>
              <a:rPr lang="en-US" sz="1200" b="1" strike="noStrike" spc="-1">
                <a:solidFill>
                  <a:srgbClr val="000000"/>
                </a:solidFill>
                <a:latin typeface="Calibri"/>
                <a:ea typeface="DejaVu Sans"/>
              </a:rPr>
              <a:t>MSG_OOB= alta prioridad</a:t>
            </a:r>
            <a:endParaRPr lang="es-MX" sz="1200" b="0" strike="noStrike" spc="-1">
              <a:latin typeface="Arial"/>
            </a:endParaRPr>
          </a:p>
        </p:txBody>
      </p:sp>
      <p:sp>
        <p:nvSpPr>
          <p:cNvPr id="476" name="CustomShape 10"/>
          <p:cNvSpPr/>
          <p:nvPr/>
        </p:nvSpPr>
        <p:spPr>
          <a:xfrm>
            <a:off x="1693440" y="4794840"/>
            <a:ext cx="3274200" cy="1297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char b[10];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bzero(b,sizeof(b));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recv(cd,b,sizeof(b),0);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float v1 = atof(b);</a:t>
            </a:r>
            <a:endParaRPr lang="es-MX" sz="1400" b="0" strike="noStrike" spc="-1">
              <a:latin typeface="Arial"/>
            </a:endParaRPr>
          </a:p>
          <a:p>
            <a:pPr>
              <a:lnSpc>
                <a:spcPct val="100000"/>
              </a:lnSpc>
            </a:pPr>
            <a:endParaRPr lang="es-MX" sz="1400" b="0" strike="noStrike" spc="-1">
              <a:latin typeface="Arial"/>
            </a:endParaRPr>
          </a:p>
        </p:txBody>
      </p:sp>
      <p:sp>
        <p:nvSpPr>
          <p:cNvPr id="477" name="CustomShape 11"/>
          <p:cNvSpPr/>
          <p:nvPr/>
        </p:nvSpPr>
        <p:spPr>
          <a:xfrm>
            <a:off x="7136280" y="4952520"/>
            <a:ext cx="3807360" cy="1095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Chat b[200];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bzero(b,sizeof(b));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recv(cd,b,sizeof(b),0);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struct dato *o = (struct dato *)b;</a:t>
            </a:r>
            <a:endParaRPr lang="es-MX" sz="1400" b="0" strike="noStrike" spc="-1">
              <a:latin typeface="Arial"/>
            </a:endParaRPr>
          </a:p>
          <a:p>
            <a:pPr>
              <a:lnSpc>
                <a:spcPct val="100000"/>
              </a:lnSpc>
            </a:pPr>
            <a:endParaRPr lang="es-MX" sz="1400" b="0" strike="noStrike" spc="-1">
              <a:latin typeface="Arial"/>
            </a:endParaRPr>
          </a:p>
        </p:txBody>
      </p:sp>
      <p:sp>
        <p:nvSpPr>
          <p:cNvPr id="2" name="CuadroTexto 1">
            <a:extLst>
              <a:ext uri="{FF2B5EF4-FFF2-40B4-BE49-F238E27FC236}">
                <a16:creationId xmlns:a16="http://schemas.microsoft.com/office/drawing/2014/main" id="{420AA221-17FF-4236-A1B6-D2FE26BD0CCA}"/>
              </a:ext>
            </a:extLst>
          </p:cNvPr>
          <p:cNvSpPr txBox="1"/>
          <p:nvPr/>
        </p:nvSpPr>
        <p:spPr>
          <a:xfrm>
            <a:off x="9379974" y="2684206"/>
            <a:ext cx="4069266" cy="323165"/>
          </a:xfrm>
          <a:prstGeom prst="rect">
            <a:avLst/>
          </a:prstGeom>
          <a:noFill/>
        </p:spPr>
        <p:txBody>
          <a:bodyPr wrap="square" rtlCol="0">
            <a:spAutoFit/>
          </a:bodyPr>
          <a:lstStyle/>
          <a:p>
            <a:r>
              <a:rPr lang="es-MX" sz="1500" dirty="0">
                <a:solidFill>
                  <a:srgbClr val="FF0000"/>
                </a:solidFill>
              </a:rPr>
              <a:t>//SO_OOBINLINE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shutdown()</a:t>
            </a:r>
            <a:endParaRPr lang="es-MX" sz="4400" b="0" strike="noStrike" spc="-1">
              <a:latin typeface="Arial"/>
            </a:endParaRPr>
          </a:p>
        </p:txBody>
      </p:sp>
      <p:sp>
        <p:nvSpPr>
          <p:cNvPr id="601" name="CustomShape 2"/>
          <p:cNvSpPr/>
          <p:nvPr/>
        </p:nvSpPr>
        <p:spPr>
          <a:xfrm>
            <a:off x="1722600" y="81360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200" b="0" strike="noStrike" spc="-1">
                <a:solidFill>
                  <a:srgbClr val="8497B0"/>
                </a:solidFill>
                <a:latin typeface="MoolBoran"/>
                <a:ea typeface="DejaVu Sans"/>
              </a:rPr>
              <a:t>#include &lt;sys/socket.h&gt;</a:t>
            </a:r>
            <a:endParaRPr lang="es-MX" sz="3200" b="0" strike="noStrike" spc="-1">
              <a:latin typeface="Arial"/>
            </a:endParaRPr>
          </a:p>
          <a:p>
            <a:pPr>
              <a:lnSpc>
                <a:spcPct val="100000"/>
              </a:lnSpc>
            </a:pPr>
            <a:r>
              <a:rPr lang="en-US" sz="3200" b="0" strike="noStrike" spc="-1">
                <a:solidFill>
                  <a:srgbClr val="000000"/>
                </a:solidFill>
                <a:latin typeface="MoolBoran"/>
                <a:ea typeface="DejaVu Sans"/>
              </a:rPr>
              <a:t>int shutdown(int sd, int modo, )</a:t>
            </a:r>
            <a:endParaRPr lang="es-MX" sz="3200" b="0" strike="noStrike" spc="-1">
              <a:latin typeface="Arial"/>
            </a:endParaRPr>
          </a:p>
        </p:txBody>
      </p:sp>
      <p:sp>
        <p:nvSpPr>
          <p:cNvPr id="602" name="CustomShape 3"/>
          <p:cNvSpPr/>
          <p:nvPr/>
        </p:nvSpPr>
        <p:spPr>
          <a:xfrm>
            <a:off x="6499080" y="325908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03" name="CustomShape 4"/>
          <p:cNvSpPr/>
          <p:nvPr/>
        </p:nvSpPr>
        <p:spPr>
          <a:xfrm>
            <a:off x="8106480" y="3162600"/>
            <a:ext cx="147600" cy="6354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04" name="CustomShape 5"/>
          <p:cNvSpPr/>
          <p:nvPr/>
        </p:nvSpPr>
        <p:spPr>
          <a:xfrm>
            <a:off x="8184240" y="3153600"/>
            <a:ext cx="2158200" cy="63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p:txBody>
      </p:sp>
      <p:sp>
        <p:nvSpPr>
          <p:cNvPr id="605" name="CustomShape 6"/>
          <p:cNvSpPr/>
          <p:nvPr/>
        </p:nvSpPr>
        <p:spPr>
          <a:xfrm>
            <a:off x="1981080" y="4287960"/>
            <a:ext cx="6807240" cy="1002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cd = accept(sd,(struct sockaddr *)&amp;cdir,&amp;ctam);</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a:t>
            </a:r>
            <a:r>
              <a:rPr lang="en-US" sz="1400" b="1" strike="noStrike" spc="-1">
                <a:solidFill>
                  <a:srgbClr val="444444"/>
                </a:solidFill>
                <a:latin typeface="Courier New"/>
                <a:ea typeface="DejaVu Sans"/>
              </a:rPr>
              <a:t>shutdown(cd,SHUT_RD)</a:t>
            </a:r>
            <a:r>
              <a:rPr lang="en-US" sz="1400" b="0" strike="noStrike" spc="-1">
                <a:solidFill>
                  <a:srgbClr val="444444"/>
                </a:solidFill>
                <a:latin typeface="Courier New"/>
                <a:ea typeface="DejaVu Sans"/>
              </a:rPr>
              <a: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perror(“No fue posible deshabilitar lectura”);</a:t>
            </a:r>
            <a:endParaRPr lang="es-MX" sz="1400" b="0" strike="noStrike" spc="-1">
              <a:latin typeface="Arial"/>
            </a:endParaRPr>
          </a:p>
          <a:p>
            <a:pPr>
              <a:lnSpc>
                <a:spcPct val="100000"/>
              </a:lnSpc>
            </a:pPr>
            <a:endParaRPr lang="es-MX" sz="1400" b="0" strike="noStrike" spc="-1">
              <a:latin typeface="Arial"/>
            </a:endParaRPr>
          </a:p>
        </p:txBody>
      </p:sp>
      <p:sp>
        <p:nvSpPr>
          <p:cNvPr id="606" name="CustomShape 7"/>
          <p:cNvSpPr/>
          <p:nvPr/>
        </p:nvSpPr>
        <p:spPr>
          <a:xfrm>
            <a:off x="4773240" y="1560600"/>
            <a:ext cx="1779120" cy="287640"/>
          </a:xfrm>
          <a:prstGeom prst="bentConnector3">
            <a:avLst>
              <a:gd name="adj1" fmla="val -766"/>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sp>
      <p:sp>
        <p:nvSpPr>
          <p:cNvPr id="607" name="CustomShape 8"/>
          <p:cNvSpPr/>
          <p:nvPr/>
        </p:nvSpPr>
        <p:spPr>
          <a:xfrm>
            <a:off x="6554880" y="1467000"/>
            <a:ext cx="75600" cy="7646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08" name="CustomShape 9"/>
          <p:cNvSpPr/>
          <p:nvPr/>
        </p:nvSpPr>
        <p:spPr>
          <a:xfrm>
            <a:off x="6593760" y="1428120"/>
            <a:ext cx="2956680" cy="1366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SHUT_RD = deshabilita lectura</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SHUT_WR = deshabilita escritura</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SHUT_RDWR = deshabilita ambas</a:t>
            </a:r>
            <a:endParaRPr lang="es-MX" sz="1400" b="0" strike="noStrike" spc="-1">
              <a:latin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close()</a:t>
            </a:r>
            <a:endParaRPr lang="es-MX" sz="4400" b="0" strike="noStrike" spc="-1">
              <a:latin typeface="Arial"/>
            </a:endParaRPr>
          </a:p>
        </p:txBody>
      </p:sp>
      <p:sp>
        <p:nvSpPr>
          <p:cNvPr id="610" name="CustomShape 2"/>
          <p:cNvSpPr/>
          <p:nvPr/>
        </p:nvSpPr>
        <p:spPr>
          <a:xfrm>
            <a:off x="1981080" y="132372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200" b="0" strike="noStrike" spc="-1">
                <a:solidFill>
                  <a:srgbClr val="8497B0"/>
                </a:solidFill>
                <a:latin typeface="MoolBoran"/>
                <a:ea typeface="DejaVu Sans"/>
              </a:rPr>
              <a:t>#include &lt;unistd.h&gt;</a:t>
            </a:r>
            <a:endParaRPr lang="es-MX" sz="3200" b="0" strike="noStrike" spc="-1">
              <a:latin typeface="Arial"/>
            </a:endParaRPr>
          </a:p>
          <a:p>
            <a:pPr>
              <a:lnSpc>
                <a:spcPct val="100000"/>
              </a:lnSpc>
            </a:pPr>
            <a:r>
              <a:rPr lang="en-US" sz="3200" b="0" strike="noStrike" spc="-1">
                <a:solidFill>
                  <a:srgbClr val="000000"/>
                </a:solidFill>
                <a:latin typeface="MoolBoran"/>
                <a:ea typeface="DejaVu Sans"/>
              </a:rPr>
              <a:t>int close(int sd)</a:t>
            </a:r>
            <a:endParaRPr lang="es-MX" sz="3200" b="0" strike="noStrike" spc="-1">
              <a:latin typeface="Arial"/>
            </a:endParaRPr>
          </a:p>
        </p:txBody>
      </p:sp>
      <p:sp>
        <p:nvSpPr>
          <p:cNvPr id="611" name="CustomShape 3"/>
          <p:cNvSpPr/>
          <p:nvPr/>
        </p:nvSpPr>
        <p:spPr>
          <a:xfrm>
            <a:off x="4184640" y="316584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12" name="CustomShape 4"/>
          <p:cNvSpPr/>
          <p:nvPr/>
        </p:nvSpPr>
        <p:spPr>
          <a:xfrm>
            <a:off x="5802120" y="3078000"/>
            <a:ext cx="147600" cy="55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13" name="CustomShape 5"/>
          <p:cNvSpPr/>
          <p:nvPr/>
        </p:nvSpPr>
        <p:spPr>
          <a:xfrm>
            <a:off x="5879880" y="3069000"/>
            <a:ext cx="2158200" cy="911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 name="CustomShape 1"/>
          <p:cNvSpPr/>
          <p:nvPr/>
        </p:nvSpPr>
        <p:spPr>
          <a:xfrm>
            <a:off x="1981080" y="27468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connect()</a:t>
            </a:r>
            <a:endParaRPr lang="es-MX" sz="4400" b="0" strike="noStrike" spc="-1">
              <a:latin typeface="Arial"/>
            </a:endParaRPr>
          </a:p>
        </p:txBody>
      </p:sp>
      <p:sp>
        <p:nvSpPr>
          <p:cNvPr id="615" name="CustomShape 2"/>
          <p:cNvSpPr/>
          <p:nvPr/>
        </p:nvSpPr>
        <p:spPr>
          <a:xfrm>
            <a:off x="1847520" y="1124640"/>
            <a:ext cx="8361000" cy="1726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5B9BD5"/>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5B9BD5"/>
                </a:solidFill>
                <a:latin typeface="MoolBoran"/>
                <a:ea typeface="DejaVu Sans"/>
              </a:rPr>
              <a:t>#include &lt;sys/types.h&gt;</a:t>
            </a:r>
            <a:endParaRPr lang="es-MX" sz="2800" b="0" strike="noStrike" spc="-1">
              <a:latin typeface="Arial"/>
            </a:endParaRPr>
          </a:p>
          <a:p>
            <a:pPr>
              <a:lnSpc>
                <a:spcPct val="100000"/>
              </a:lnSpc>
            </a:pP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connect(int sd, const struct sockaddr *dir, socklen_t tam_ref);</a:t>
            </a:r>
            <a:endParaRPr lang="es-MX" sz="2800" b="0" strike="noStrike" spc="-1">
              <a:latin typeface="Arial"/>
            </a:endParaRPr>
          </a:p>
        </p:txBody>
      </p:sp>
      <p:sp>
        <p:nvSpPr>
          <p:cNvPr id="616" name="CustomShape 3"/>
          <p:cNvSpPr/>
          <p:nvPr/>
        </p:nvSpPr>
        <p:spPr>
          <a:xfrm>
            <a:off x="4184640" y="316584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17" name="CustomShape 4"/>
          <p:cNvSpPr/>
          <p:nvPr/>
        </p:nvSpPr>
        <p:spPr>
          <a:xfrm>
            <a:off x="5802120" y="3078000"/>
            <a:ext cx="147600" cy="55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18" name="CustomShape 5"/>
          <p:cNvSpPr/>
          <p:nvPr/>
        </p:nvSpPr>
        <p:spPr>
          <a:xfrm>
            <a:off x="5879880" y="3069000"/>
            <a:ext cx="2158200" cy="911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 connect()</a:t>
            </a:r>
            <a:endParaRPr lang="es-MX" sz="4400" b="0" strike="noStrike" spc="-1">
              <a:latin typeface="Arial"/>
            </a:endParaRPr>
          </a:p>
        </p:txBody>
      </p:sp>
      <p:sp>
        <p:nvSpPr>
          <p:cNvPr id="620" name="CustomShape 2"/>
          <p:cNvSpPr/>
          <p:nvPr/>
        </p:nvSpPr>
        <p:spPr>
          <a:xfrm>
            <a:off x="1374480" y="1288440"/>
            <a:ext cx="9750960" cy="435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int op = 0;</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for(p = servinfo; p != NULL; p = p-&gt;ai_next)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if ((cd = socket(p-&gt;ai_family, p-&gt;ai_socktype,p-&gt;ai_protocol)) == -1)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perror("client: socket");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continue;</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/*if (setsockopt(cd, IPPROTO_IPV6, IPV6_V6ONLY, (void *)&amp;op, sizeof(op)) == -1)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perror("setsockopt   no soporta IPv6");</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if (connect(cd, p-&gt;ai_addr, p-&gt;ai_addrlen) == -1)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close(cd);</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perror("client: connect");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continue;</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break;</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}//for</a:t>
            </a:r>
            <a:endParaRPr lang="es-MX" sz="1400" b="0" strike="noStrike" spc="-1">
              <a:latin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 name="CustomShape 1"/>
          <p:cNvSpPr/>
          <p:nvPr/>
        </p:nvSpPr>
        <p:spPr>
          <a:xfrm>
            <a:off x="851040" y="207792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Sockets de datagrama bloqueantes en C</a:t>
            </a:r>
            <a:endParaRPr lang="es-MX" sz="4400" b="0" strike="noStrike" spc="-1">
              <a:latin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CustomShape 1"/>
          <p:cNvSpPr/>
          <p:nvPr/>
        </p:nvSpPr>
        <p:spPr>
          <a:xfrm>
            <a:off x="1919520" y="0"/>
            <a:ext cx="8227440" cy="114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000" b="0" strike="noStrike" spc="-1">
                <a:solidFill>
                  <a:srgbClr val="000000"/>
                </a:solidFill>
                <a:latin typeface="Calibri Light"/>
                <a:ea typeface="DejaVu Sans"/>
              </a:rPr>
              <a:t>Función socket() //&lt;sys/socket.h&gt;</a:t>
            </a:r>
            <a:endParaRPr lang="es-MX" sz="3000" b="0" strike="noStrike" spc="-1">
              <a:latin typeface="Arial"/>
            </a:endParaRPr>
          </a:p>
        </p:txBody>
      </p:sp>
      <p:sp>
        <p:nvSpPr>
          <p:cNvPr id="623" name="CustomShape 2"/>
          <p:cNvSpPr/>
          <p:nvPr/>
        </p:nvSpPr>
        <p:spPr>
          <a:xfrm>
            <a:off x="2135520" y="1263960"/>
            <a:ext cx="8227440" cy="67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 socket(int dominio, int tipo, int protocolo) </a:t>
            </a:r>
            <a:endParaRPr lang="es-MX" sz="2800" b="0" strike="noStrike" spc="-1">
              <a:latin typeface="Arial"/>
            </a:endParaRPr>
          </a:p>
        </p:txBody>
      </p:sp>
      <p:sp>
        <p:nvSpPr>
          <p:cNvPr id="624" name="CustomShape 3"/>
          <p:cNvSpPr/>
          <p:nvPr/>
        </p:nvSpPr>
        <p:spPr>
          <a:xfrm>
            <a:off x="1919520" y="1940400"/>
            <a:ext cx="8134560" cy="4767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400" b="0" strike="noStrike" spc="-1">
                <a:solidFill>
                  <a:srgbClr val="000000"/>
                </a:solidFill>
                <a:latin typeface="Arial Unicode MS"/>
                <a:ea typeface="DejaVu Sans"/>
              </a:rPr>
              <a:t>int sd;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struct addrinfo i, *r, *p;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memset(&amp;i, 0, sizeof (i)); //indicio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i.ai_family = AF_INET6; /* Permite IPv4 or IPv6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i.ai_socktype = SOCK_DGRAM;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i.ai_flags = AI_PASSIVE; // utilizado para hacer el bind</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i.ai_protocol = 0; /* Any protocol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i.ai_canonname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i.ai_addr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i.ai_next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 ((rv = getaddrinfo(NULL, pto, &amp;i, &amp;r)) != 0)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fprintf(stderr, "getaddrinfo: %s\n", gai_strerror(rv));</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return 1;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for(p = r; p != NULL; p = p-&gt;ai_next)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 </a:t>
            </a:r>
            <a:r>
              <a:rPr lang="en-US" sz="1400" b="1" strike="noStrike" spc="-1">
                <a:solidFill>
                  <a:srgbClr val="000000"/>
                </a:solidFill>
                <a:latin typeface="Arial Unicode MS"/>
                <a:ea typeface="DejaVu Sans"/>
              </a:rPr>
              <a:t>((sd = socket(p-&gt;ai_family, p-&gt;ai_socktype,p-&gt;ai_protocol)</a:t>
            </a:r>
            <a:r>
              <a:rPr lang="en-US" sz="1400" b="0" strike="noStrike" spc="-1">
                <a:solidFill>
                  <a:srgbClr val="000000"/>
                </a:solidFill>
                <a:latin typeface="Arial Unicode MS"/>
                <a:ea typeface="DejaVu Sans"/>
              </a:rPr>
              <a:t>)</a:t>
            </a:r>
            <a:r>
              <a:rPr lang="en-US" sz="1400" b="1" strike="noStrike" spc="-1">
                <a:solidFill>
                  <a:srgbClr val="000000"/>
                </a:solidFill>
                <a:latin typeface="Arial Unicode MS"/>
                <a:ea typeface="DejaVu Sans"/>
              </a:rPr>
              <a:t> </a:t>
            </a:r>
            <a:r>
              <a:rPr lang="en-US" sz="1400" b="0" strike="noStrike" spc="-1">
                <a:solidFill>
                  <a:srgbClr val="000000"/>
                </a:solidFill>
                <a:latin typeface="Arial Unicode MS"/>
                <a:ea typeface="DejaVu Sans"/>
              </a:rPr>
              <a:t>== -1)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perror("server: socket");</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continue;</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break;</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}//for</a:t>
            </a:r>
            <a:r>
              <a:rPr lang="en-US" sz="1400" b="0" strike="noStrike" spc="-1">
                <a:solidFill>
                  <a:srgbClr val="000000"/>
                </a:solidFill>
                <a:latin typeface="Calibri"/>
                <a:ea typeface="DejaVu Sans"/>
              </a:rPr>
              <a:t> </a:t>
            </a:r>
            <a:endParaRPr lang="es-MX" sz="1400" b="0" strike="noStrike" spc="-1">
              <a:latin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bind()</a:t>
            </a:r>
            <a:endParaRPr lang="es-MX" sz="4400" b="0" strike="noStrike" spc="-1">
              <a:latin typeface="Arial"/>
            </a:endParaRPr>
          </a:p>
        </p:txBody>
      </p:sp>
      <p:sp>
        <p:nvSpPr>
          <p:cNvPr id="626" name="CustomShape 2"/>
          <p:cNvSpPr/>
          <p:nvPr/>
        </p:nvSpPr>
        <p:spPr>
          <a:xfrm>
            <a:off x="1981080" y="1448640"/>
            <a:ext cx="8227440" cy="355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8497B0"/>
                </a:solidFill>
                <a:latin typeface="MoolBoran"/>
                <a:ea typeface="DejaVu Sans"/>
              </a:rPr>
              <a:t>#include &lt;netinet/in.h&gt; </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bind(int sd, const struct sockaddr *addr, socklen_t addrlen);</a:t>
            </a:r>
            <a:endParaRPr lang="es-MX" sz="2800" b="0" strike="noStrike" spc="-1">
              <a:latin typeface="Arial"/>
            </a:endParaRPr>
          </a:p>
          <a:p>
            <a:pPr>
              <a:lnSpc>
                <a:spcPct val="100000"/>
              </a:lnSpc>
            </a:pP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Valor devuelto:</a:t>
            </a:r>
            <a:endParaRPr lang="es-MX" sz="2800" b="0" strike="noStrike" spc="-1">
              <a:latin typeface="Arial"/>
            </a:endParaRPr>
          </a:p>
          <a:p>
            <a:pPr>
              <a:lnSpc>
                <a:spcPct val="100000"/>
              </a:lnSpc>
            </a:pPr>
            <a:endParaRPr lang="es-MX" sz="2800" b="0" strike="noStrike" spc="-1">
              <a:latin typeface="Arial"/>
            </a:endParaRPr>
          </a:p>
        </p:txBody>
      </p:sp>
      <p:sp>
        <p:nvSpPr>
          <p:cNvPr id="627" name="CustomShape 3"/>
          <p:cNvSpPr/>
          <p:nvPr/>
        </p:nvSpPr>
        <p:spPr>
          <a:xfrm>
            <a:off x="5015880" y="364500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28" name="CustomShape 4"/>
          <p:cNvSpPr/>
          <p:nvPr/>
        </p:nvSpPr>
        <p:spPr>
          <a:xfrm>
            <a:off x="4986720" y="3778920"/>
            <a:ext cx="122652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error</a:t>
            </a:r>
            <a:endParaRPr lang="es-MX" sz="1800" b="0" strike="noStrike" spc="-1">
              <a:latin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 name="CustomShape 1"/>
          <p:cNvSpPr/>
          <p:nvPr/>
        </p:nvSpPr>
        <p:spPr>
          <a:xfrm>
            <a:off x="1775520" y="11664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bind()</a:t>
            </a:r>
            <a:endParaRPr lang="es-MX" sz="4400" b="0" strike="noStrike" spc="-1">
              <a:latin typeface="Arial"/>
            </a:endParaRPr>
          </a:p>
        </p:txBody>
      </p:sp>
      <p:sp>
        <p:nvSpPr>
          <p:cNvPr id="630" name="CustomShape 2"/>
          <p:cNvSpPr/>
          <p:nvPr/>
        </p:nvSpPr>
        <p:spPr>
          <a:xfrm>
            <a:off x="2279520" y="678240"/>
            <a:ext cx="8871840" cy="6177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400" b="0" strike="noStrike" spc="-1">
                <a:solidFill>
                  <a:srgbClr val="000000"/>
                </a:solidFill>
                <a:latin typeface="Arial Unicode MS"/>
                <a:ea typeface="DejaVu Sans"/>
              </a:rPr>
              <a:t>int sd;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struct addrinfo i, *r, *p;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memset(&amp;i, 0, sizeof (i)); //indicio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i.ai_family = AF_INET6; /* Permite IPv4 or IPv6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i.ai_socktype = SOCK_DGRAM;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i.ai_flags = AI_PASSIVE; // utilizado para hacer el bind</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i.ai_protocol = 0; /* Any protocol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i.ai_canonname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i.ai_addr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i.ai_next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 ((rv = getaddrinfo(NULL, pto, &amp;i, &amp;r)) != 0)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fprintf(stderr, "getaddrinfo: %s\n", gai_strerror(rv));</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return 1;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for(p = r; p != NULL; p = p-&gt;ai_next)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 ((sd = socket(p-&gt;ai_family, p-&gt;ai_socktype,p-&gt;ai_protocol)) == -1)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perror("server: socket");</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continue;</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if (bind(sd, p-&gt;ai_addr, p-&gt;ai_addrlen) == -1)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close(sd);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perror("server: bind");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continue;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}//if</a:t>
            </a:r>
            <a:r>
              <a:rPr lang="en-US" sz="1400" b="0" strike="noStrike" spc="-1">
                <a:solidFill>
                  <a:srgbClr val="000000"/>
                </a:solidFill>
                <a:latin typeface="Calibri"/>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break;</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}//for</a:t>
            </a:r>
            <a:r>
              <a:rPr lang="en-US" sz="1400" b="0" strike="noStrike" spc="-1">
                <a:solidFill>
                  <a:srgbClr val="000000"/>
                </a:solidFill>
                <a:latin typeface="Calibri"/>
                <a:ea typeface="DejaVu Sans"/>
              </a:rPr>
              <a:t> </a:t>
            </a:r>
            <a:endParaRPr lang="es-MX" sz="1400" b="0" strike="noStrike" spc="-1">
              <a:latin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CustomShape 1"/>
          <p:cNvSpPr/>
          <p:nvPr/>
        </p:nvSpPr>
        <p:spPr>
          <a:xfrm>
            <a:off x="1119600" y="1090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sendto()</a:t>
            </a:r>
            <a:endParaRPr lang="es-MX" sz="4400" b="0" strike="noStrike" spc="-1">
              <a:latin typeface="Arial"/>
            </a:endParaRPr>
          </a:p>
        </p:txBody>
      </p:sp>
      <p:sp>
        <p:nvSpPr>
          <p:cNvPr id="632" name="CustomShape 2"/>
          <p:cNvSpPr/>
          <p:nvPr/>
        </p:nvSpPr>
        <p:spPr>
          <a:xfrm>
            <a:off x="115920" y="813600"/>
            <a:ext cx="1189836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8497B0"/>
                </a:solidFill>
                <a:latin typeface="MoolBoran"/>
                <a:ea typeface="DejaVu Sans"/>
              </a:rPr>
              <a:t>#include &lt;sys/socket.h&gt;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ssize_t sendto(int sd, const void *buf, size_t tam, int bandera,const struct sockaddr *dst, socklen_t tam)</a:t>
            </a:r>
            <a:endParaRPr lang="es-MX" sz="2000" b="0" strike="noStrike" spc="-1">
              <a:latin typeface="Arial"/>
            </a:endParaRPr>
          </a:p>
        </p:txBody>
      </p:sp>
      <p:sp>
        <p:nvSpPr>
          <p:cNvPr id="633" name="CustomShape 3"/>
          <p:cNvSpPr/>
          <p:nvPr/>
        </p:nvSpPr>
        <p:spPr>
          <a:xfrm>
            <a:off x="115920" y="2266560"/>
            <a:ext cx="1679040" cy="31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34" name="CustomShape 4"/>
          <p:cNvSpPr/>
          <p:nvPr/>
        </p:nvSpPr>
        <p:spPr>
          <a:xfrm>
            <a:off x="1684800" y="2122920"/>
            <a:ext cx="148320" cy="60192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35" name="CustomShape 5"/>
          <p:cNvSpPr/>
          <p:nvPr/>
        </p:nvSpPr>
        <p:spPr>
          <a:xfrm>
            <a:off x="1796760" y="2064960"/>
            <a:ext cx="2158200" cy="717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enviados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636" name="CustomShape 6"/>
          <p:cNvSpPr/>
          <p:nvPr/>
        </p:nvSpPr>
        <p:spPr>
          <a:xfrm>
            <a:off x="6612840" y="1613160"/>
            <a:ext cx="429840" cy="38376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sp>
      <p:sp>
        <p:nvSpPr>
          <p:cNvPr id="637" name="CustomShape 7"/>
          <p:cNvSpPr/>
          <p:nvPr/>
        </p:nvSpPr>
        <p:spPr>
          <a:xfrm>
            <a:off x="7112880" y="1807920"/>
            <a:ext cx="75600" cy="5122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38" name="CustomShape 8"/>
          <p:cNvSpPr/>
          <p:nvPr/>
        </p:nvSpPr>
        <p:spPr>
          <a:xfrm>
            <a:off x="7112880" y="1789560"/>
            <a:ext cx="2158200" cy="527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0 = prioridad default</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MSG_OOB= alta prioridad</a:t>
            </a:r>
            <a:endParaRPr lang="es-MX" sz="1400" b="0" strike="noStrike" spc="-1">
              <a:latin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CustomShape 1"/>
          <p:cNvSpPr/>
          <p:nvPr/>
        </p:nvSpPr>
        <p:spPr>
          <a:xfrm>
            <a:off x="4561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sendto()</a:t>
            </a:r>
            <a:endParaRPr lang="es-MX" sz="4400" b="0" strike="noStrike" spc="-1">
              <a:latin typeface="Arial"/>
            </a:endParaRPr>
          </a:p>
        </p:txBody>
      </p:sp>
      <p:sp>
        <p:nvSpPr>
          <p:cNvPr id="640" name="CustomShape 2"/>
          <p:cNvSpPr/>
          <p:nvPr/>
        </p:nvSpPr>
        <p:spPr>
          <a:xfrm>
            <a:off x="115920" y="1132920"/>
            <a:ext cx="12192480" cy="572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*msj =“un mensaje”;</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FF0000"/>
                </a:solidFill>
                <a:latin typeface="Courier New"/>
                <a:ea typeface="DejaVu Sans"/>
              </a:rPr>
              <a:t>int v1=htonl(5);</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float v2 = 3.0f;</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char b[7];</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sprintf(b,”%f”,v2);</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struct datos *d = (struct datos*)malloc(sizeof(struct datos));</a:t>
            </a: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 d-&gt;v3=htons(30);</a:t>
            </a: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 d-&gt;v4=“cadena”;</a:t>
            </a:r>
            <a:endParaRPr lang="es-MX" sz="1400" b="0" strike="noStrike" spc="-1">
              <a:latin typeface="Arial"/>
            </a:endParaRPr>
          </a:p>
          <a:p>
            <a:pPr>
              <a:lnSpc>
                <a:spcPct val="100000"/>
              </a:lnSpc>
            </a:pP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if(sendto(cd, (const char*)msj, strlen(msj)+1, 0, (struct sockaddr *)rp-&gt;ai_addr, rp-&gt;ai_addrlen)==-1)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FF0000"/>
                </a:solidFill>
                <a:latin typeface="Courier New"/>
                <a:ea typeface="DejaVu Sans"/>
              </a:rPr>
              <a:t>if(sendto(cd, &amp;v1, sizeof(v1), 0, (struct sockaddr *)rp-&gt;ai_addr, rp-&gt;ai_addrlen)==-1)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558ED5"/>
                </a:solidFill>
                <a:latin typeface="Courier New"/>
                <a:ea typeface="DejaVu Sans"/>
              </a:rPr>
              <a:t>if(sendto(cd, b, strlen(b)+1, 0, (struct sockaddr *)rp-&gt;ai_addr, rp-&gt;ai_addrlen)==-1)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C00000"/>
                </a:solidFill>
                <a:latin typeface="Courier New"/>
                <a:ea typeface="DejaVu Sans"/>
              </a:rPr>
              <a:t>if(sendto(cd, (const char*)d, sizeof(d), 0, (struct sockaddr *)rp-&gt;ai_addr, rp-&gt;ai_addrlen)==-1)</a:t>
            </a:r>
            <a:endParaRPr lang="es-MX" sz="1400" b="0" strike="noStrike" spc="-1">
              <a:latin typeface="Arial"/>
            </a:endParaRPr>
          </a:p>
          <a:p>
            <a:pPr>
              <a:lnSpc>
                <a:spcPct val="100000"/>
              </a:lnSpc>
            </a:pPr>
            <a:endParaRPr lang="es-MX" sz="1400" b="0" strike="noStrike" spc="-1">
              <a:latin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CustomShape 1"/>
          <p:cNvSpPr/>
          <p:nvPr/>
        </p:nvSpPr>
        <p:spPr>
          <a:xfrm>
            <a:off x="4561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sendto()</a:t>
            </a:r>
            <a:endParaRPr lang="es-MX" sz="4400" b="0" strike="noStrike" spc="-1">
              <a:latin typeface="Arial"/>
            </a:endParaRPr>
          </a:p>
        </p:txBody>
      </p:sp>
      <p:sp>
        <p:nvSpPr>
          <p:cNvPr id="640" name="CustomShape 2"/>
          <p:cNvSpPr/>
          <p:nvPr/>
        </p:nvSpPr>
        <p:spPr>
          <a:xfrm>
            <a:off x="115920" y="1132920"/>
            <a:ext cx="12192480" cy="572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pc="-1" dirty="0">
                <a:solidFill>
                  <a:srgbClr val="444444"/>
                </a:solidFill>
                <a:latin typeface="Courier New"/>
              </a:rPr>
              <a:t>/**</a:t>
            </a:r>
            <a:r>
              <a:rPr lang="en-US" sz="1400" b="1" spc="-1" dirty="0" err="1">
                <a:solidFill>
                  <a:srgbClr val="444444"/>
                </a:solidFill>
                <a:latin typeface="Courier New"/>
              </a:rPr>
              <a:t>jansson</a:t>
            </a:r>
            <a:r>
              <a:rPr lang="en-US" sz="1400" b="1" spc="-1" dirty="0">
                <a:solidFill>
                  <a:srgbClr val="444444"/>
                </a:solidFill>
                <a:latin typeface="Courier New"/>
              </a:rPr>
              <a:t>**/</a:t>
            </a:r>
          </a:p>
          <a:p>
            <a:pPr>
              <a:lnSpc>
                <a:spcPct val="100000"/>
              </a:lnSpc>
            </a:pPr>
            <a:endParaRPr lang="en-US" sz="1400" b="1" spc="-1" dirty="0">
              <a:solidFill>
                <a:srgbClr val="444444"/>
              </a:solidFill>
              <a:latin typeface="Courier New"/>
            </a:endParaRPr>
          </a:p>
          <a:p>
            <a:pPr>
              <a:lnSpc>
                <a:spcPct val="100000"/>
              </a:lnSpc>
            </a:pPr>
            <a:r>
              <a:rPr lang="es-MX" sz="1400" b="1" spc="-1" dirty="0" err="1">
                <a:solidFill>
                  <a:srgbClr val="444444"/>
                </a:solidFill>
                <a:latin typeface="Courier New"/>
              </a:rPr>
              <a:t>const</a:t>
            </a:r>
            <a:r>
              <a:rPr lang="es-MX" sz="1400" b="1" spc="-1" dirty="0">
                <a:solidFill>
                  <a:srgbClr val="444444"/>
                </a:solidFill>
                <a:latin typeface="Courier New"/>
              </a:rPr>
              <a:t> </a:t>
            </a:r>
            <a:r>
              <a:rPr lang="es-MX" sz="1400" b="1" spc="-1" dirty="0" err="1">
                <a:solidFill>
                  <a:srgbClr val="444444"/>
                </a:solidFill>
                <a:latin typeface="Courier New"/>
              </a:rPr>
              <a:t>char</a:t>
            </a:r>
            <a:r>
              <a:rPr lang="es-MX" sz="1400" b="1" spc="-1" dirty="0">
                <a:solidFill>
                  <a:srgbClr val="444444"/>
                </a:solidFill>
                <a:latin typeface="Courier New"/>
              </a:rPr>
              <a:t>* nombre = "Pedro";</a:t>
            </a:r>
          </a:p>
          <a:p>
            <a:pPr>
              <a:lnSpc>
                <a:spcPct val="100000"/>
              </a:lnSpc>
            </a:pPr>
            <a:r>
              <a:rPr lang="es-MX" sz="1400" b="1" spc="-1" dirty="0" err="1">
                <a:solidFill>
                  <a:srgbClr val="444444"/>
                </a:solidFill>
                <a:latin typeface="Courier New"/>
              </a:rPr>
              <a:t>const</a:t>
            </a:r>
            <a:r>
              <a:rPr lang="es-MX" sz="1400" b="1" spc="-1" dirty="0">
                <a:solidFill>
                  <a:srgbClr val="444444"/>
                </a:solidFill>
                <a:latin typeface="Courier New"/>
              </a:rPr>
              <a:t> </a:t>
            </a:r>
            <a:r>
              <a:rPr lang="es-MX" sz="1400" b="1" spc="-1" dirty="0" err="1">
                <a:solidFill>
                  <a:srgbClr val="444444"/>
                </a:solidFill>
                <a:latin typeface="Courier New"/>
              </a:rPr>
              <a:t>char</a:t>
            </a:r>
            <a:r>
              <a:rPr lang="es-MX" sz="1400" b="1" spc="-1" dirty="0">
                <a:solidFill>
                  <a:srgbClr val="444444"/>
                </a:solidFill>
                <a:latin typeface="Courier New"/>
              </a:rPr>
              <a:t>* ciudad = "CDMX";</a:t>
            </a:r>
          </a:p>
          <a:p>
            <a:pPr>
              <a:lnSpc>
                <a:spcPct val="100000"/>
              </a:lnSpc>
            </a:pPr>
            <a:r>
              <a:rPr lang="es-MX" sz="1400" b="1" spc="-1" dirty="0" err="1">
                <a:solidFill>
                  <a:srgbClr val="444444"/>
                </a:solidFill>
                <a:latin typeface="Courier New"/>
              </a:rPr>
              <a:t>int</a:t>
            </a:r>
            <a:r>
              <a:rPr lang="es-MX" sz="1400" b="1" spc="-1" dirty="0">
                <a:solidFill>
                  <a:srgbClr val="444444"/>
                </a:solidFill>
                <a:latin typeface="Courier New"/>
              </a:rPr>
              <a:t> edad = 30;</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root</a:t>
            </a:r>
            <a:r>
              <a:rPr lang="es-MX" sz="1400" b="1" spc="-1" dirty="0">
                <a:solidFill>
                  <a:srgbClr val="444444"/>
                </a:solidFill>
                <a:latin typeface="Courier New"/>
              </a:rPr>
              <a:t> = </a:t>
            </a:r>
            <a:r>
              <a:rPr lang="es-MX" sz="1400" b="1" spc="-1" dirty="0" err="1">
                <a:solidFill>
                  <a:srgbClr val="444444"/>
                </a:solidFill>
                <a:latin typeface="Courier New"/>
              </a:rPr>
              <a:t>json_object</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jtemp</a:t>
            </a:r>
            <a:r>
              <a:rPr lang="es-MX" sz="1400" b="1" spc="-1" dirty="0">
                <a:solidFill>
                  <a:srgbClr val="444444"/>
                </a:solidFill>
                <a:latin typeface="Courier New"/>
              </a:rPr>
              <a:t> = NULL;</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json_string</a:t>
            </a:r>
            <a:r>
              <a:rPr lang="es-MX" sz="1400" b="1" spc="-1" dirty="0">
                <a:solidFill>
                  <a:srgbClr val="444444"/>
                </a:solidFill>
                <a:latin typeface="Courier New"/>
              </a:rPr>
              <a:t>(nombre);</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"nombre",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json_string</a:t>
            </a:r>
            <a:r>
              <a:rPr lang="es-MX" sz="1400" b="1" spc="-1" dirty="0">
                <a:solidFill>
                  <a:srgbClr val="444444"/>
                </a:solidFill>
                <a:latin typeface="Courier New"/>
              </a:rPr>
              <a:t>(ciudad);</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"ciudad",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json_integer</a:t>
            </a:r>
            <a:r>
              <a:rPr lang="es-MX" sz="1400" b="1" spc="-1" dirty="0">
                <a:solidFill>
                  <a:srgbClr val="444444"/>
                </a:solidFill>
                <a:latin typeface="Courier New"/>
              </a:rPr>
              <a:t>(edad);</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"edad",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msj</a:t>
            </a:r>
            <a:r>
              <a:rPr lang="es-MX" sz="1400" b="1" spc="-1" dirty="0">
                <a:solidFill>
                  <a:srgbClr val="444444"/>
                </a:solidFill>
                <a:latin typeface="Courier New"/>
              </a:rPr>
              <a:t> = </a:t>
            </a:r>
            <a:r>
              <a:rPr lang="es-MX" sz="1400" b="1" spc="-1" dirty="0" err="1">
                <a:solidFill>
                  <a:srgbClr val="444444"/>
                </a:solidFill>
                <a:latin typeface="Courier New"/>
              </a:rPr>
              <a:t>json_dumps</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JSON_INDENT(4));</a:t>
            </a:r>
          </a:p>
          <a:p>
            <a:pPr>
              <a:lnSpc>
                <a:spcPct val="100000"/>
              </a:lnSpc>
            </a:pPr>
            <a:endParaRPr lang="es-MX" sz="1400" b="1" spc="-1" dirty="0">
              <a:solidFill>
                <a:srgbClr val="444444"/>
              </a:solidFill>
              <a:latin typeface="Courier New"/>
            </a:endParaRPr>
          </a:p>
          <a:p>
            <a:pPr>
              <a:lnSpc>
                <a:spcPct val="100000"/>
              </a:lnSpc>
            </a:pP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a:t>
            </a:r>
            <a:r>
              <a:rPr lang="en-US" sz="1400" b="0" strike="noStrike" spc="-1" dirty="0" err="1">
                <a:solidFill>
                  <a:srgbClr val="444444"/>
                </a:solidFill>
                <a:latin typeface="Courier New"/>
                <a:ea typeface="DejaVu Sans"/>
              </a:rPr>
              <a:t>sendto</a:t>
            </a:r>
            <a:r>
              <a:rPr lang="en-US" sz="1400" b="0" strike="noStrike" spc="-1" dirty="0">
                <a:solidFill>
                  <a:srgbClr val="444444"/>
                </a:solidFill>
                <a:latin typeface="Courier New"/>
                <a:ea typeface="DejaVu Sans"/>
              </a:rPr>
              <a:t>(cd, </a:t>
            </a:r>
            <a:r>
              <a:rPr lang="en-US" sz="1400" b="0" strike="noStrike" spc="-1" dirty="0" err="1">
                <a:solidFill>
                  <a:srgbClr val="444444"/>
                </a:solidFill>
                <a:latin typeface="Courier New"/>
                <a:ea typeface="DejaVu Sans"/>
              </a:rPr>
              <a:t>msj</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strlen</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msj</a:t>
            </a:r>
            <a:r>
              <a:rPr lang="en-US" sz="1400" b="0" strike="noStrike" spc="-1" dirty="0">
                <a:solidFill>
                  <a:srgbClr val="444444"/>
                </a:solidFill>
                <a:latin typeface="Courier New"/>
                <a:ea typeface="DejaVu Sans"/>
              </a:rPr>
              <a:t>)+1, 0, (struct </a:t>
            </a:r>
            <a:r>
              <a:rPr lang="en-US" sz="1400" b="0" strike="noStrike" spc="-1" dirty="0" err="1">
                <a:solidFill>
                  <a:srgbClr val="444444"/>
                </a:solidFill>
                <a:latin typeface="Courier New"/>
                <a:ea typeface="DejaVu Sans"/>
              </a:rPr>
              <a:t>sockaddr</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rp</a:t>
            </a:r>
            <a:r>
              <a:rPr lang="en-US" sz="1400" b="0" strike="noStrike" spc="-1" dirty="0">
                <a:solidFill>
                  <a:srgbClr val="444444"/>
                </a:solidFill>
                <a:latin typeface="Courier New"/>
                <a:ea typeface="DejaVu Sans"/>
              </a:rPr>
              <a:t>-&gt;</a:t>
            </a:r>
            <a:r>
              <a:rPr lang="en-US" sz="1400" b="0" strike="noStrike" spc="-1" dirty="0" err="1">
                <a:solidFill>
                  <a:srgbClr val="444444"/>
                </a:solidFill>
                <a:latin typeface="Courier New"/>
                <a:ea typeface="DejaVu Sans"/>
              </a:rPr>
              <a:t>ai_addr</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rp</a:t>
            </a:r>
            <a:r>
              <a:rPr lang="en-US" sz="1400" b="0" strike="noStrike" spc="-1" dirty="0">
                <a:solidFill>
                  <a:srgbClr val="444444"/>
                </a:solidFill>
                <a:latin typeface="Courier New"/>
                <a:ea typeface="DejaVu Sans"/>
              </a:rPr>
              <a:t>-&gt;</a:t>
            </a:r>
            <a:r>
              <a:rPr lang="en-US" sz="1400" b="0" strike="noStrike" spc="-1" dirty="0" err="1">
                <a:solidFill>
                  <a:srgbClr val="444444"/>
                </a:solidFill>
                <a:latin typeface="Courier New"/>
                <a:ea typeface="DejaVu Sans"/>
              </a:rPr>
              <a:t>ai_addrlen</a:t>
            </a:r>
            <a:r>
              <a:rPr lang="en-US" sz="1400" b="0" strike="noStrike" spc="-1" dirty="0">
                <a:solidFill>
                  <a:srgbClr val="444444"/>
                </a:solidFill>
                <a:latin typeface="Courier New"/>
                <a:ea typeface="DejaVu Sans"/>
              </a:rPr>
              <a:t>)==-1)</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7030A0"/>
                </a:solidFill>
                <a:latin typeface="Courier New"/>
                <a:ea typeface="DejaVu Sans"/>
              </a:rPr>
              <a:t>)</a:t>
            </a:r>
            <a:endParaRPr lang="es-MX" sz="1400" b="0" strike="noStrike" spc="-1" dirty="0">
              <a:solidFill>
                <a:srgbClr val="7030A0"/>
              </a:solidFill>
              <a:latin typeface="Arial"/>
            </a:endParaRPr>
          </a:p>
          <a:p>
            <a:pPr>
              <a:lnSpc>
                <a:spcPct val="100000"/>
              </a:lnSpc>
            </a:pPr>
            <a:endParaRPr lang="es-MX" sz="1400" b="0" strike="noStrike" spc="-1" dirty="0">
              <a:latin typeface="Arial"/>
            </a:endParaRPr>
          </a:p>
        </p:txBody>
      </p:sp>
    </p:spTree>
    <p:extLst>
      <p:ext uri="{BB962C8B-B14F-4D97-AF65-F5344CB8AC3E}">
        <p14:creationId xmlns:p14="http://schemas.microsoft.com/office/powerpoint/2010/main" val="28676145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recvfrom()</a:t>
            </a:r>
            <a:endParaRPr lang="es-MX" sz="4400" b="0" strike="noStrike" spc="-1">
              <a:latin typeface="Arial"/>
            </a:endParaRPr>
          </a:p>
        </p:txBody>
      </p:sp>
      <p:sp>
        <p:nvSpPr>
          <p:cNvPr id="642" name="CustomShape 2"/>
          <p:cNvSpPr/>
          <p:nvPr/>
        </p:nvSpPr>
        <p:spPr>
          <a:xfrm>
            <a:off x="125640" y="271332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43" name="CustomShape 3"/>
          <p:cNvSpPr/>
          <p:nvPr/>
        </p:nvSpPr>
        <p:spPr>
          <a:xfrm>
            <a:off x="1733040" y="247104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44" name="CustomShape 4"/>
          <p:cNvSpPr/>
          <p:nvPr/>
        </p:nvSpPr>
        <p:spPr>
          <a:xfrm>
            <a:off x="1810800" y="2462040"/>
            <a:ext cx="2158200" cy="1459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&gt;0 = #bytes leidos</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0 = socket cerrado</a:t>
            </a:r>
            <a:endParaRPr lang="es-MX" sz="1800" b="0" strike="noStrike" spc="-1">
              <a:latin typeface="Arial"/>
            </a:endParaRPr>
          </a:p>
        </p:txBody>
      </p:sp>
      <p:sp>
        <p:nvSpPr>
          <p:cNvPr id="645" name="CustomShape 5"/>
          <p:cNvSpPr/>
          <p:nvPr/>
        </p:nvSpPr>
        <p:spPr>
          <a:xfrm>
            <a:off x="1087200" y="3923280"/>
            <a:ext cx="50068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buf[100];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recv(cd,buf, sizeof(buf),0);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recv\n”);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recv(cd,&amp;v,sizeof(v), MSG_OOB);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646" name="CustomShape 6"/>
          <p:cNvSpPr/>
          <p:nvPr/>
        </p:nvSpPr>
        <p:spPr>
          <a:xfrm>
            <a:off x="7356600" y="1724400"/>
            <a:ext cx="429840" cy="38376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sp>
      <p:sp>
        <p:nvSpPr>
          <p:cNvPr id="647" name="CustomShape 7"/>
          <p:cNvSpPr/>
          <p:nvPr/>
        </p:nvSpPr>
        <p:spPr>
          <a:xfrm>
            <a:off x="7788600" y="1858320"/>
            <a:ext cx="75600" cy="5122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48" name="CustomShape 8"/>
          <p:cNvSpPr/>
          <p:nvPr/>
        </p:nvSpPr>
        <p:spPr>
          <a:xfrm>
            <a:off x="7788240" y="1815120"/>
            <a:ext cx="2158200" cy="555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0 = prioridad default</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MSG_OOB= alta prioridad</a:t>
            </a:r>
            <a:endParaRPr lang="es-MX" sz="1400" b="0" strike="noStrike" spc="-1">
              <a:latin typeface="Arial"/>
            </a:endParaRPr>
          </a:p>
        </p:txBody>
      </p:sp>
      <p:sp>
        <p:nvSpPr>
          <p:cNvPr id="649" name="CustomShape 9"/>
          <p:cNvSpPr/>
          <p:nvPr/>
        </p:nvSpPr>
        <p:spPr>
          <a:xfrm>
            <a:off x="290880" y="792720"/>
            <a:ext cx="1219032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8497B0"/>
                </a:solidFill>
                <a:latin typeface="MoolBoran"/>
                <a:ea typeface="DejaVu Sans"/>
              </a:rPr>
              <a:t>#include &lt;sys/socket.h&gt;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ssize_t recvfrom(int sd, const void *buf, size_t tam, int bandera,const struct sockaddr *dst, socklen_t *tam)</a:t>
            </a:r>
            <a:endParaRPr lang="es-MX" sz="2000" b="0" strike="noStrike" spc="-1">
              <a:latin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CustomShape 1"/>
          <p:cNvSpPr/>
          <p:nvPr/>
        </p:nvSpPr>
        <p:spPr>
          <a:xfrm>
            <a:off x="251280" y="0"/>
            <a:ext cx="10513440" cy="776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recvfrom()</a:t>
            </a:r>
            <a:endParaRPr lang="es-MX" sz="4400" b="0" strike="noStrike" spc="-1">
              <a:latin typeface="Arial"/>
            </a:endParaRPr>
          </a:p>
        </p:txBody>
      </p:sp>
      <p:sp>
        <p:nvSpPr>
          <p:cNvPr id="651" name="CustomShape 2"/>
          <p:cNvSpPr/>
          <p:nvPr/>
        </p:nvSpPr>
        <p:spPr>
          <a:xfrm>
            <a:off x="251280" y="777960"/>
            <a:ext cx="12192480" cy="607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*m =(char *)malloc(sizeof(char)*20);</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memset(m,0,sizeof(m));</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FF0000"/>
                </a:solidFill>
                <a:latin typeface="Courier New"/>
                <a:ea typeface="DejaVu Sans"/>
              </a:rPr>
              <a:t>int v1;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float v2;</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char b[7];</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memset(b,0,sizeof(b));</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struct datos *d;</a:t>
            </a: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Char bb[20];</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struct sockaddr_storage rp;</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memset(&amp;rp,0,sizeof(rp));</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socklen_t ctam = sizeof(rp);</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if(recvfrom(cd, m, sizeof(m), 0, (struct sockaddr *)&amp;rp, &amp;ctam)==-1)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FF0000"/>
                </a:solidFill>
                <a:latin typeface="Courier New"/>
                <a:ea typeface="DejaVu Sans"/>
              </a:rPr>
              <a:t>if(recvfrom(cd, &amp;v1, sizeof(v1), 0, (struct sockaddr *)&amp;rp, &amp;ctam)==-1)</a:t>
            </a:r>
            <a:endParaRPr lang="es-MX" sz="1400" b="0" strike="noStrike" spc="-1">
              <a:latin typeface="Arial"/>
            </a:endParaRPr>
          </a:p>
          <a:p>
            <a:pPr>
              <a:lnSpc>
                <a:spcPct val="100000"/>
              </a:lnSpc>
            </a:pPr>
            <a:r>
              <a:rPr lang="en-US" sz="1400" b="0" strike="noStrike" spc="-1">
                <a:solidFill>
                  <a:srgbClr val="FF0000"/>
                </a:solidFill>
                <a:latin typeface="Courier New"/>
                <a:ea typeface="DejaVu Sans"/>
              </a:rPr>
              <a:t>int vv = ntohl(v1);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558ED5"/>
                </a:solidFill>
                <a:latin typeface="Courier New"/>
                <a:ea typeface="DejaVu Sans"/>
              </a:rPr>
              <a:t>if(recvfrom(cd, b, sizeof(b), 0, (struct sockaddr *)&amp;rp, &amp;ctam)==-1)</a:t>
            </a:r>
            <a:endParaRPr lang="es-MX" sz="1400" b="0" strike="noStrike" spc="-1">
              <a:latin typeface="Arial"/>
            </a:endParaRPr>
          </a:p>
          <a:p>
            <a:pPr>
              <a:lnSpc>
                <a:spcPct val="100000"/>
              </a:lnSpc>
            </a:pPr>
            <a:r>
              <a:rPr lang="en-US" sz="1400" b="0" strike="noStrike" spc="-1">
                <a:solidFill>
                  <a:srgbClr val="558ED5"/>
                </a:solidFill>
                <a:latin typeface="Courier New"/>
                <a:ea typeface="DejaVu Sans"/>
              </a:rPr>
              <a:t>v2 = atof(b);</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C00000"/>
                </a:solidFill>
                <a:latin typeface="Courier New"/>
                <a:ea typeface="DejaVu Sans"/>
              </a:rPr>
              <a:t>if(recvfrom(cd, (const char*)bb, sizeof(bb), 0, (struct sockaddr *)&amp;rp,&amp;ctam)==-1)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d = (struct datos *)bb;</a:t>
            </a:r>
            <a:endParaRPr lang="es-MX" sz="1400" b="0" strike="noStrike" spc="-1">
              <a:latin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CustomShape 1"/>
          <p:cNvSpPr/>
          <p:nvPr/>
        </p:nvSpPr>
        <p:spPr>
          <a:xfrm>
            <a:off x="251280" y="0"/>
            <a:ext cx="10513440" cy="776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recvfrom()</a:t>
            </a:r>
            <a:endParaRPr lang="es-MX" sz="4400" b="0" strike="noStrike" spc="-1">
              <a:latin typeface="Arial"/>
            </a:endParaRPr>
          </a:p>
        </p:txBody>
      </p:sp>
      <p:sp>
        <p:nvSpPr>
          <p:cNvPr id="651" name="CustomShape 2"/>
          <p:cNvSpPr/>
          <p:nvPr/>
        </p:nvSpPr>
        <p:spPr>
          <a:xfrm>
            <a:off x="251280" y="777960"/>
            <a:ext cx="10779577" cy="607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dirty="0">
                <a:solidFill>
                  <a:srgbClr val="444444"/>
                </a:solidFill>
                <a:latin typeface="Courier New"/>
                <a:ea typeface="DejaVu Sans"/>
              </a:rPr>
              <a:t>/********* </a:t>
            </a:r>
            <a:r>
              <a:rPr lang="en-US" sz="1400" b="1" strike="noStrike" spc="-1" dirty="0" err="1">
                <a:solidFill>
                  <a:srgbClr val="444444"/>
                </a:solidFill>
                <a:latin typeface="Courier New"/>
                <a:ea typeface="DejaVu Sans"/>
              </a:rPr>
              <a:t>jansson</a:t>
            </a:r>
            <a:r>
              <a:rPr lang="en-US" sz="1400" b="1" strike="noStrike" spc="-1" dirty="0">
                <a:solidFill>
                  <a:srgbClr val="444444"/>
                </a:solidFill>
                <a:latin typeface="Courier New"/>
                <a:ea typeface="DejaVu Sans"/>
              </a:rPr>
              <a:t> ******/</a:t>
            </a:r>
          </a:p>
          <a:p>
            <a:pPr>
              <a:lnSpc>
                <a:spcPct val="100000"/>
              </a:lnSpc>
            </a:pPr>
            <a:endParaRPr lang="en-US" sz="1400" b="1" spc="-1" dirty="0">
              <a:solidFill>
                <a:srgbClr val="444444"/>
              </a:solidFill>
              <a:latin typeface="Courier New"/>
              <a:ea typeface="DejaVu Sans"/>
            </a:endParaRPr>
          </a:p>
          <a:p>
            <a:pPr>
              <a:lnSpc>
                <a:spcPct val="100000"/>
              </a:lnSpc>
            </a:pPr>
            <a:r>
              <a:rPr lang="en-US" sz="1400" b="1" strike="noStrike" spc="-1" dirty="0">
                <a:solidFill>
                  <a:srgbClr val="444444"/>
                </a:solidFill>
                <a:latin typeface="Courier New"/>
                <a:ea typeface="DejaVu Sans"/>
              </a:rPr>
              <a:t>char *m =(char *)malloc(</a:t>
            </a:r>
            <a:r>
              <a:rPr lang="en-US" sz="1400" b="1" strike="noStrike" spc="-1" dirty="0" err="1">
                <a:solidFill>
                  <a:srgbClr val="444444"/>
                </a:solidFill>
                <a:latin typeface="Courier New"/>
                <a:ea typeface="DejaVu Sans"/>
              </a:rPr>
              <a:t>sizeof</a:t>
            </a:r>
            <a:r>
              <a:rPr lang="en-US" sz="1400" b="1" strike="noStrike" spc="-1" dirty="0">
                <a:solidFill>
                  <a:srgbClr val="444444"/>
                </a:solidFill>
                <a:latin typeface="Courier New"/>
                <a:ea typeface="DejaVu Sans"/>
              </a:rPr>
              <a:t>(char)*20);</a:t>
            </a:r>
            <a:endParaRPr lang="es-MX" sz="1400" b="0" strike="noStrike" spc="-1" dirty="0">
              <a:latin typeface="Arial"/>
            </a:endParaRPr>
          </a:p>
          <a:p>
            <a:pPr>
              <a:lnSpc>
                <a:spcPct val="100000"/>
              </a:lnSpc>
            </a:pPr>
            <a:r>
              <a:rPr lang="en-US" sz="1400" b="1" strike="noStrike" spc="-1" dirty="0" err="1">
                <a:solidFill>
                  <a:srgbClr val="444444"/>
                </a:solidFill>
                <a:latin typeface="Courier New"/>
                <a:ea typeface="DejaVu Sans"/>
              </a:rPr>
              <a:t>memset</a:t>
            </a:r>
            <a:r>
              <a:rPr lang="en-US" sz="1400" b="1" strike="noStrike" spc="-1" dirty="0">
                <a:solidFill>
                  <a:srgbClr val="444444"/>
                </a:solidFill>
                <a:latin typeface="Courier New"/>
                <a:ea typeface="DejaVu Sans"/>
              </a:rPr>
              <a:t>(m,0,sizeof(m));</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a:t>
            </a:r>
            <a:r>
              <a:rPr lang="en-US" sz="1400" b="0" strike="noStrike" spc="-1" dirty="0" err="1">
                <a:solidFill>
                  <a:srgbClr val="444444"/>
                </a:solidFill>
                <a:latin typeface="Courier New"/>
                <a:ea typeface="DejaVu Sans"/>
              </a:rPr>
              <a:t>recvfrom</a:t>
            </a:r>
            <a:r>
              <a:rPr lang="en-US" sz="1400" b="0" strike="noStrike" spc="-1" dirty="0">
                <a:solidFill>
                  <a:srgbClr val="444444"/>
                </a:solidFill>
                <a:latin typeface="Courier New"/>
                <a:ea typeface="DejaVu Sans"/>
              </a:rPr>
              <a:t>(cd, m, </a:t>
            </a:r>
            <a:r>
              <a:rPr lang="en-US" sz="1400" b="0" strike="noStrike" spc="-1" dirty="0" err="1">
                <a:solidFill>
                  <a:srgbClr val="444444"/>
                </a:solidFill>
                <a:latin typeface="Courier New"/>
                <a:ea typeface="DejaVu Sans"/>
              </a:rPr>
              <a:t>sizeof</a:t>
            </a:r>
            <a:r>
              <a:rPr lang="en-US" sz="1400" b="0" strike="noStrike" spc="-1" dirty="0">
                <a:solidFill>
                  <a:srgbClr val="444444"/>
                </a:solidFill>
                <a:latin typeface="Courier New"/>
                <a:ea typeface="DejaVu Sans"/>
              </a:rPr>
              <a:t>(m), 0, (struct </a:t>
            </a:r>
            <a:r>
              <a:rPr lang="en-US" sz="1400" b="0" strike="noStrike" spc="-1" dirty="0" err="1">
                <a:solidFill>
                  <a:srgbClr val="444444"/>
                </a:solidFill>
                <a:latin typeface="Courier New"/>
                <a:ea typeface="DejaVu Sans"/>
              </a:rPr>
              <a:t>sockaddr</a:t>
            </a:r>
            <a:r>
              <a:rPr lang="en-US" sz="1400" b="0" strike="noStrike" spc="-1" dirty="0">
                <a:solidFill>
                  <a:srgbClr val="444444"/>
                </a:solidFill>
                <a:latin typeface="Courier New"/>
                <a:ea typeface="DejaVu Sans"/>
              </a:rPr>
              <a:t> *)&amp;</a:t>
            </a:r>
            <a:r>
              <a:rPr lang="en-US" sz="1400" b="0" strike="noStrike" spc="-1" dirty="0" err="1">
                <a:solidFill>
                  <a:srgbClr val="444444"/>
                </a:solidFill>
                <a:latin typeface="Courier New"/>
                <a:ea typeface="DejaVu Sans"/>
              </a:rPr>
              <a:t>rp</a:t>
            </a:r>
            <a:r>
              <a:rPr lang="en-US" sz="1400" b="0" strike="noStrike" spc="-1" dirty="0">
                <a:solidFill>
                  <a:srgbClr val="444444"/>
                </a:solidFill>
                <a:latin typeface="Courier New"/>
                <a:ea typeface="DejaVu Sans"/>
              </a:rPr>
              <a:t>, &amp;</a:t>
            </a:r>
            <a:r>
              <a:rPr lang="en-US" sz="1400" b="0" strike="noStrike" spc="-1" dirty="0" err="1">
                <a:solidFill>
                  <a:srgbClr val="444444"/>
                </a:solidFill>
                <a:latin typeface="Courier New"/>
                <a:ea typeface="DejaVu Sans"/>
              </a:rPr>
              <a:t>ctam</a:t>
            </a:r>
            <a:r>
              <a:rPr lang="en-US" sz="1400" b="0" strike="noStrike" spc="-1" dirty="0">
                <a:solidFill>
                  <a:srgbClr val="444444"/>
                </a:solidFill>
                <a:latin typeface="Courier New"/>
                <a:ea typeface="DejaVu Sans"/>
              </a:rPr>
              <a:t>)==-1){…}</a:t>
            </a:r>
          </a:p>
          <a:p>
            <a:pPr>
              <a:lnSpc>
                <a:spcPct val="100000"/>
              </a:lnSpc>
            </a:pPr>
            <a:endParaRPr lang="en-US" sz="1400" spc="-1" dirty="0">
              <a:solidFill>
                <a:srgbClr val="444444"/>
              </a:solidFill>
              <a:latin typeface="Courier New"/>
            </a:endParaRP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nuevo_json</a:t>
            </a:r>
            <a:r>
              <a:rPr lang="es-MX" sz="1400" b="1" spc="-1" dirty="0">
                <a:solidFill>
                  <a:srgbClr val="444444"/>
                </a:solidFill>
                <a:latin typeface="Courier New"/>
              </a:rPr>
              <a:t> = </a:t>
            </a:r>
            <a:r>
              <a:rPr lang="es-MX" sz="1400" b="1" spc="-1" dirty="0" err="1">
                <a:solidFill>
                  <a:srgbClr val="444444"/>
                </a:solidFill>
                <a:latin typeface="Courier New"/>
              </a:rPr>
              <a:t>json_loads</a:t>
            </a:r>
            <a:r>
              <a:rPr lang="es-MX" sz="1400" b="1" spc="-1" dirty="0">
                <a:solidFill>
                  <a:srgbClr val="444444"/>
                </a:solidFill>
                <a:latin typeface="Courier New"/>
              </a:rPr>
              <a:t>(m,0,NULL);</a:t>
            </a:r>
          </a:p>
          <a:p>
            <a:pPr>
              <a:lnSpc>
                <a:spcPct val="100000"/>
              </a:lnSpc>
            </a:pPr>
            <a:endParaRPr lang="es-MX" sz="1400" b="1" spc="-1" dirty="0">
              <a:solidFill>
                <a:srgbClr val="444444"/>
              </a:solidFill>
              <a:latin typeface="Courier New"/>
            </a:endParaRP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nombre1 = NULL;</a:t>
            </a: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ciudad1 = NULL;</a:t>
            </a:r>
          </a:p>
          <a:p>
            <a:pPr>
              <a:lnSpc>
                <a:spcPct val="100000"/>
              </a:lnSpc>
            </a:pPr>
            <a:r>
              <a:rPr lang="es-MX" sz="1400" b="1" spc="-1" dirty="0" err="1">
                <a:solidFill>
                  <a:srgbClr val="444444"/>
                </a:solidFill>
                <a:latin typeface="Courier New"/>
              </a:rPr>
              <a:t>int</a:t>
            </a:r>
            <a:r>
              <a:rPr lang="es-MX" sz="1400" b="1" spc="-1" dirty="0">
                <a:solidFill>
                  <a:srgbClr val="444444"/>
                </a:solidFill>
                <a:latin typeface="Courier New"/>
              </a:rPr>
              <a:t> edad1;</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jtemp1 = NULL;       </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"nombre");</a:t>
            </a:r>
          </a:p>
          <a:p>
            <a:pPr>
              <a:lnSpc>
                <a:spcPct val="100000"/>
              </a:lnSpc>
            </a:pPr>
            <a:r>
              <a:rPr lang="es-MX" sz="1400" b="1" spc="-1" dirty="0">
                <a:solidFill>
                  <a:srgbClr val="444444"/>
                </a:solidFill>
                <a:latin typeface="Courier New"/>
              </a:rPr>
              <a:t>nombre1 = (</a:t>
            </a: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json_string_value</a:t>
            </a:r>
            <a:r>
              <a:rPr lang="es-MX" sz="1400" b="1" spc="-1" dirty="0">
                <a:solidFill>
                  <a:srgbClr val="444444"/>
                </a:solidFill>
                <a:latin typeface="Courier New"/>
              </a:rPr>
              <a:t>(jtemp1);</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"ciudad");</a:t>
            </a:r>
          </a:p>
          <a:p>
            <a:pPr>
              <a:lnSpc>
                <a:spcPct val="100000"/>
              </a:lnSpc>
            </a:pPr>
            <a:r>
              <a:rPr lang="es-MX" sz="1400" b="1" spc="-1" dirty="0">
                <a:solidFill>
                  <a:srgbClr val="444444"/>
                </a:solidFill>
                <a:latin typeface="Courier New"/>
              </a:rPr>
              <a:t>ciudad1 = (</a:t>
            </a: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json_string_value</a:t>
            </a:r>
            <a:r>
              <a:rPr lang="es-MX" sz="1400" b="1" spc="-1" dirty="0">
                <a:solidFill>
                  <a:srgbClr val="444444"/>
                </a:solidFill>
                <a:latin typeface="Courier New"/>
              </a:rPr>
              <a:t>(jtemp1);</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"edad");</a:t>
            </a:r>
          </a:p>
          <a:p>
            <a:pPr>
              <a:lnSpc>
                <a:spcPct val="100000"/>
              </a:lnSpc>
            </a:pPr>
            <a:r>
              <a:rPr lang="es-MX" sz="1400" b="1" spc="-1" dirty="0">
                <a:solidFill>
                  <a:srgbClr val="444444"/>
                </a:solidFill>
                <a:latin typeface="Courier New"/>
              </a:rPr>
              <a:t>edad1 = (</a:t>
            </a:r>
            <a:r>
              <a:rPr lang="es-MX" sz="1400" b="1" spc="-1" dirty="0" err="1">
                <a:solidFill>
                  <a:srgbClr val="444444"/>
                </a:solidFill>
                <a:latin typeface="Courier New"/>
              </a:rPr>
              <a:t>int</a:t>
            </a:r>
            <a:r>
              <a:rPr lang="es-MX" sz="1400" b="1" spc="-1" dirty="0">
                <a:solidFill>
                  <a:srgbClr val="444444"/>
                </a:solidFill>
                <a:latin typeface="Courier New"/>
              </a:rPr>
              <a:t>) </a:t>
            </a:r>
            <a:r>
              <a:rPr lang="es-MX" sz="1400" b="1" spc="-1" dirty="0" err="1">
                <a:solidFill>
                  <a:srgbClr val="444444"/>
                </a:solidFill>
                <a:latin typeface="Courier New"/>
              </a:rPr>
              <a:t>json_integer_value</a:t>
            </a:r>
            <a:r>
              <a:rPr lang="es-MX" sz="1400" b="1" spc="-1" dirty="0">
                <a:solidFill>
                  <a:srgbClr val="444444"/>
                </a:solidFill>
                <a:latin typeface="Courier New"/>
              </a:rPr>
              <a:t>(jtemp1);</a:t>
            </a:r>
          </a:p>
          <a:p>
            <a:pPr>
              <a:lnSpc>
                <a:spcPct val="100000"/>
              </a:lnSpc>
            </a:pPr>
            <a:r>
              <a:rPr lang="es-MX" sz="1400" b="1" spc="-1" dirty="0" err="1">
                <a:solidFill>
                  <a:srgbClr val="444444"/>
                </a:solidFill>
                <a:latin typeface="Courier New"/>
              </a:rPr>
              <a:t>printf</a:t>
            </a:r>
            <a:r>
              <a:rPr lang="es-MX" sz="1400" b="1" spc="-1" dirty="0">
                <a:solidFill>
                  <a:srgbClr val="444444"/>
                </a:solidFill>
                <a:latin typeface="Courier New"/>
              </a:rPr>
              <a:t>("%s %s %d\n", nombre1, ciudad1, edad1);</a:t>
            </a:r>
          </a:p>
          <a:p>
            <a:pPr>
              <a:lnSpc>
                <a:spcPct val="100000"/>
              </a:lnSpc>
            </a:pPr>
            <a:endParaRPr lang="es-MX" sz="1400" b="0" strike="noStrike" spc="-1" dirty="0">
              <a:latin typeface="Arial"/>
            </a:endParaRPr>
          </a:p>
        </p:txBody>
      </p:sp>
    </p:spTree>
    <p:extLst>
      <p:ext uri="{BB962C8B-B14F-4D97-AF65-F5344CB8AC3E}">
        <p14:creationId xmlns:p14="http://schemas.microsoft.com/office/powerpoint/2010/main" val="404093001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Ejercicio</a:t>
            </a:r>
            <a:endParaRPr lang="es-MX" sz="4400" b="0" strike="noStrike" spc="-1">
              <a:latin typeface="Arial"/>
            </a:endParaRPr>
          </a:p>
        </p:txBody>
      </p:sp>
      <p:sp>
        <p:nvSpPr>
          <p:cNvPr id="65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Crear un programa que permita al usuario jugar el juego “Ahorcado” en red implementando el servidor en lenguaje C y el cliente en lenguaje JAVA.</a:t>
            </a:r>
            <a:endParaRPr lang="es-MX" sz="2800" b="0" strike="noStrike" spc="-1">
              <a:latin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CustomShape 1"/>
          <p:cNvSpPr/>
          <p:nvPr/>
        </p:nvSpPr>
        <p:spPr>
          <a:xfrm>
            <a:off x="851040" y="207792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4400" b="0" strike="noStrike" spc="-1">
                <a:solidFill>
                  <a:srgbClr val="000000"/>
                </a:solidFill>
                <a:latin typeface="Arial"/>
                <a:ea typeface="DejaVu Sans"/>
              </a:rPr>
              <a:t>Sockets de datagrama multicast bloqueantes en C</a:t>
            </a:r>
            <a:endParaRPr lang="es-MX" sz="4400" b="0" strike="noStrike" spc="-1">
              <a:latin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 name="CustomShape 1"/>
          <p:cNvSpPr/>
          <p:nvPr/>
        </p:nvSpPr>
        <p:spPr>
          <a:xfrm>
            <a:off x="838080" y="31032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Internet Group Management Protocol (IGMP)</a:t>
            </a:r>
            <a:endParaRPr lang="es-MX" sz="4400" b="0" strike="noStrike" spc="-1">
              <a:latin typeface="Arial"/>
            </a:endParaRPr>
          </a:p>
        </p:txBody>
      </p:sp>
      <p:sp>
        <p:nvSpPr>
          <p:cNvPr id="656" name="CustomShape 2"/>
          <p:cNvSpPr/>
          <p:nvPr/>
        </p:nvSpPr>
        <p:spPr>
          <a:xfrm>
            <a:off x="838080" y="174888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Aplicación</a:t>
            </a:r>
            <a:endParaRPr lang="es-MX" sz="1800" b="0" strike="noStrike" spc="-1">
              <a:latin typeface="Arial"/>
            </a:endParaRPr>
          </a:p>
        </p:txBody>
      </p:sp>
      <p:sp>
        <p:nvSpPr>
          <p:cNvPr id="657" name="CustomShape 3"/>
          <p:cNvSpPr/>
          <p:nvPr/>
        </p:nvSpPr>
        <p:spPr>
          <a:xfrm>
            <a:off x="838080" y="229500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Transporte</a:t>
            </a:r>
            <a:endParaRPr lang="es-MX" sz="1800" b="0" strike="noStrike" spc="-1">
              <a:latin typeface="Arial"/>
            </a:endParaRPr>
          </a:p>
        </p:txBody>
      </p:sp>
      <p:sp>
        <p:nvSpPr>
          <p:cNvPr id="658" name="CustomShape 4"/>
          <p:cNvSpPr/>
          <p:nvPr/>
        </p:nvSpPr>
        <p:spPr>
          <a:xfrm>
            <a:off x="838080" y="284076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Internet</a:t>
            </a:r>
            <a:endParaRPr lang="es-MX" sz="1800" b="0" strike="noStrike" spc="-1">
              <a:latin typeface="Arial"/>
            </a:endParaRPr>
          </a:p>
        </p:txBody>
      </p:sp>
      <p:sp>
        <p:nvSpPr>
          <p:cNvPr id="659" name="CustomShape 5"/>
          <p:cNvSpPr/>
          <p:nvPr/>
        </p:nvSpPr>
        <p:spPr>
          <a:xfrm>
            <a:off x="838080" y="338688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Enlace de Red</a:t>
            </a:r>
            <a:endParaRPr lang="es-MX" sz="1800" b="0" strike="noStrike" spc="-1">
              <a:latin typeface="Arial"/>
            </a:endParaRPr>
          </a:p>
        </p:txBody>
      </p:sp>
      <p:sp>
        <p:nvSpPr>
          <p:cNvPr id="660" name="CustomShape 6"/>
          <p:cNvSpPr/>
          <p:nvPr/>
        </p:nvSpPr>
        <p:spPr>
          <a:xfrm>
            <a:off x="2900520" y="2908800"/>
            <a:ext cx="2796480" cy="3632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IP.protocolo=0x02 (IGMP)</a:t>
            </a:r>
            <a:endParaRPr lang="es-MX" sz="1800" b="0" strike="noStrike" spc="-1">
              <a:latin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Mensaje IGMP</a:t>
            </a:r>
            <a:endParaRPr lang="es-MX" sz="4400" b="0" strike="noStrike" spc="-1">
              <a:latin typeface="Arial"/>
            </a:endParaRPr>
          </a:p>
        </p:txBody>
      </p:sp>
      <p:sp>
        <p:nvSpPr>
          <p:cNvPr id="662" name="CustomShape 2"/>
          <p:cNvSpPr/>
          <p:nvPr/>
        </p:nvSpPr>
        <p:spPr>
          <a:xfrm>
            <a:off x="2923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Tipo</a:t>
            </a:r>
            <a:endParaRPr lang="es-MX" sz="1800" b="0" strike="noStrike" spc="-1">
              <a:latin typeface="Arial"/>
            </a:endParaRPr>
          </a:p>
        </p:txBody>
      </p:sp>
      <p:sp>
        <p:nvSpPr>
          <p:cNvPr id="663" name="CustomShape 3"/>
          <p:cNvSpPr/>
          <p:nvPr/>
        </p:nvSpPr>
        <p:spPr>
          <a:xfrm>
            <a:off x="21751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Tiempo</a:t>
            </a:r>
            <a:endParaRPr lang="es-MX" sz="1800" b="0" strike="noStrike" spc="-1">
              <a:latin typeface="Arial"/>
            </a:endParaRPr>
          </a:p>
        </p:txBody>
      </p:sp>
      <p:sp>
        <p:nvSpPr>
          <p:cNvPr id="664" name="CustomShape 4"/>
          <p:cNvSpPr/>
          <p:nvPr/>
        </p:nvSpPr>
        <p:spPr>
          <a:xfrm>
            <a:off x="40579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Checksum</a:t>
            </a:r>
            <a:endParaRPr lang="es-MX" sz="1800" b="0" strike="noStrike" spc="-1">
              <a:latin typeface="Arial"/>
            </a:endParaRPr>
          </a:p>
        </p:txBody>
      </p:sp>
      <p:sp>
        <p:nvSpPr>
          <p:cNvPr id="665" name="CustomShape 5"/>
          <p:cNvSpPr/>
          <p:nvPr/>
        </p:nvSpPr>
        <p:spPr>
          <a:xfrm>
            <a:off x="59407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Grupo</a:t>
            </a:r>
            <a:endParaRPr lang="es-MX" sz="1800" b="0" strike="noStrike" spc="-1">
              <a:latin typeface="Arial"/>
            </a:endParaRPr>
          </a:p>
        </p:txBody>
      </p:sp>
      <p:sp>
        <p:nvSpPr>
          <p:cNvPr id="666" name="CustomShape 6"/>
          <p:cNvSpPr/>
          <p:nvPr/>
        </p:nvSpPr>
        <p:spPr>
          <a:xfrm>
            <a:off x="857160" y="2478600"/>
            <a:ext cx="6543720" cy="3632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1 byte                     1 byte                   2 bytes                 4 bytes</a:t>
            </a:r>
            <a:endParaRPr lang="es-MX" sz="1800" b="0" strike="noStrike" spc="-1">
              <a:latin typeface="Arial"/>
            </a:endParaRPr>
          </a:p>
        </p:txBody>
      </p:sp>
      <p:sp>
        <p:nvSpPr>
          <p:cNvPr id="667" name="CustomShape 7"/>
          <p:cNvSpPr/>
          <p:nvPr/>
        </p:nvSpPr>
        <p:spPr>
          <a:xfrm>
            <a:off x="186480" y="4596480"/>
            <a:ext cx="774000" cy="36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Tipo</a:t>
            </a:r>
            <a:endParaRPr lang="es-MX" sz="1800" b="0" strike="noStrike" spc="-1">
              <a:latin typeface="Arial"/>
            </a:endParaRPr>
          </a:p>
        </p:txBody>
      </p:sp>
      <p:sp>
        <p:nvSpPr>
          <p:cNvPr id="668" name="CustomShape 8"/>
          <p:cNvSpPr/>
          <p:nvPr/>
        </p:nvSpPr>
        <p:spPr>
          <a:xfrm>
            <a:off x="962280" y="4023720"/>
            <a:ext cx="140760" cy="15130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69" name="CustomShape 9"/>
          <p:cNvSpPr/>
          <p:nvPr/>
        </p:nvSpPr>
        <p:spPr>
          <a:xfrm>
            <a:off x="1099080" y="4061160"/>
            <a:ext cx="4403520" cy="1609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(0x11)</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(17)</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=&gt;Consulta</a:t>
            </a:r>
            <a:endParaRPr lang="es-MX" sz="1800" b="0" strike="noStrike" spc="-1">
              <a:latin typeface="Arial"/>
            </a:endParaRPr>
          </a:p>
          <a:p>
            <a:pPr>
              <a:lnSpc>
                <a:spcPct val="100000"/>
              </a:lnSpc>
            </a:pPr>
            <a:r>
              <a:rPr lang="en-US" sz="1800" b="0" strike="noStrike" spc="-1">
                <a:solidFill>
                  <a:srgbClr val="000000"/>
                </a:solidFill>
                <a:latin typeface="Arial"/>
                <a:ea typeface="DejaVu Sans"/>
              </a:rPr>
              <a:t>(0x12)</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(18)</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=&gt;Reporte (IGMPv1)</a:t>
            </a:r>
            <a:endParaRPr lang="es-MX" sz="1800" b="0" strike="noStrike" spc="-1">
              <a:latin typeface="Arial"/>
            </a:endParaRPr>
          </a:p>
          <a:p>
            <a:pPr>
              <a:lnSpc>
                <a:spcPct val="100000"/>
              </a:lnSpc>
            </a:pPr>
            <a:r>
              <a:rPr lang="en-US" sz="1800" b="0" strike="noStrike" spc="-1">
                <a:solidFill>
                  <a:srgbClr val="000000"/>
                </a:solidFill>
                <a:latin typeface="Arial"/>
                <a:ea typeface="DejaVu Sans"/>
              </a:rPr>
              <a:t>(0x16)</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(22)</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=&gt;Reporte (IGMPv2)</a:t>
            </a:r>
            <a:endParaRPr lang="es-MX" sz="1800" b="0" strike="noStrike" spc="-1">
              <a:latin typeface="Arial"/>
            </a:endParaRPr>
          </a:p>
          <a:p>
            <a:pPr>
              <a:lnSpc>
                <a:spcPct val="100000"/>
              </a:lnSpc>
            </a:pPr>
            <a:r>
              <a:rPr lang="en-US" sz="1800" b="0" strike="noStrike" spc="-1">
                <a:solidFill>
                  <a:srgbClr val="000000"/>
                </a:solidFill>
                <a:latin typeface="Arial"/>
                <a:ea typeface="DejaVu Sans"/>
              </a:rPr>
              <a:t>(0x22)</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(34)</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=&gt;Reporte (IGMPv3)</a:t>
            </a:r>
            <a:endParaRPr lang="es-MX" sz="1800" b="0" strike="noStrike" spc="-1">
              <a:latin typeface="Arial"/>
            </a:endParaRPr>
          </a:p>
          <a:p>
            <a:pPr>
              <a:lnSpc>
                <a:spcPct val="100000"/>
              </a:lnSpc>
            </a:pPr>
            <a:endParaRPr lang="es-MX" sz="1800" b="0" strike="noStrike" spc="-1">
              <a:latin typeface="Arial"/>
            </a:endParaRPr>
          </a:p>
        </p:txBody>
      </p:sp>
      <p:sp>
        <p:nvSpPr>
          <p:cNvPr id="670" name="CustomShape 10"/>
          <p:cNvSpPr/>
          <p:nvPr/>
        </p:nvSpPr>
        <p:spPr>
          <a:xfrm>
            <a:off x="5504400" y="4596480"/>
            <a:ext cx="1028520" cy="36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Tiempo</a:t>
            </a:r>
            <a:endParaRPr lang="es-MX" sz="1800" b="0" strike="noStrike" spc="-1">
              <a:latin typeface="Arial"/>
            </a:endParaRPr>
          </a:p>
        </p:txBody>
      </p:sp>
      <p:sp>
        <p:nvSpPr>
          <p:cNvPr id="671" name="CustomShape 11"/>
          <p:cNvSpPr/>
          <p:nvPr/>
        </p:nvSpPr>
        <p:spPr>
          <a:xfrm>
            <a:off x="6565680" y="4456080"/>
            <a:ext cx="135000" cy="57096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sp>
      <p:sp>
        <p:nvSpPr>
          <p:cNvPr id="672" name="CustomShape 12"/>
          <p:cNvSpPr/>
          <p:nvPr/>
        </p:nvSpPr>
        <p:spPr>
          <a:xfrm>
            <a:off x="6702480" y="4596480"/>
            <a:ext cx="4649040" cy="67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Solo para el tipo (0x11)</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en milisegundos</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Opción de socket SO_REUSEADDR</a:t>
            </a:r>
            <a:endParaRPr lang="es-MX" sz="4400" b="0" strike="noStrike" spc="-1">
              <a:latin typeface="Arial"/>
            </a:endParaRPr>
          </a:p>
        </p:txBody>
      </p:sp>
      <p:sp>
        <p:nvSpPr>
          <p:cNvPr id="674"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int op,v=1;</a:t>
            </a:r>
            <a:endParaRPr lang="es-MX" sz="1800" b="0" strike="noStrike" spc="-1">
              <a:latin typeface="Arial"/>
            </a:endParaRPr>
          </a:p>
          <a:p>
            <a:pPr>
              <a:lnSpc>
                <a:spcPct val="100000"/>
              </a:lnSpc>
            </a:pPr>
            <a:r>
              <a:rPr lang="en-US" sz="1800" b="0" strike="noStrike" spc="-1">
                <a:solidFill>
                  <a:srgbClr val="000000"/>
                </a:solidFill>
                <a:latin typeface="Arial"/>
                <a:ea typeface="DejaVu Sans"/>
              </a:rPr>
              <a:t>if ( setsockopt(sd, SOL_SOCKET, SO_REUSE_ADDR, &amp;v, sizeof(v)) != 0 )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perror(“No se pudo modificar la opción \n ”);</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Estructura ip_mreq (ipv4)</a:t>
            </a:r>
            <a:endParaRPr lang="es-MX" sz="4400" b="0" strike="noStrike" spc="-1">
              <a:latin typeface="Arial"/>
            </a:endParaRPr>
          </a:p>
        </p:txBody>
      </p:sp>
      <p:sp>
        <p:nvSpPr>
          <p:cNvPr id="676"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struct ip_mreq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struct in_addr imr_multiaddr; /* Dir. Grupo multicast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struct in_addr imr_address;   /* Dir. Interfaz de red local*/</a:t>
            </a:r>
            <a:endParaRPr lang="es-MX" sz="1800" b="0" strike="noStrike" spc="-1">
              <a:latin typeface="Arial"/>
            </a:endParaRPr>
          </a:p>
          <a:p>
            <a:pPr>
              <a:lnSpc>
                <a:spcPct val="100000"/>
              </a:lnSpc>
            </a:pPr>
            <a:r>
              <a:rPr lang="en-US" sz="1800" b="0" strike="noStrike" spc="-1">
                <a:solidFill>
                  <a:srgbClr val="000000"/>
                </a:solidFill>
                <a:latin typeface="Arial"/>
                <a:ea typeface="DejaVu Sans"/>
              </a:rPr>
              <a:t>                  };</a:t>
            </a:r>
            <a:endParaRPr lang="es-MX" sz="1800" b="0" strike="noStrike" spc="-1">
              <a:latin typeface="Aria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Estructura ipv6_mreq (ipv6)</a:t>
            </a:r>
            <a:endParaRPr lang="es-MX" sz="4400" b="0" strike="noStrike" spc="-1">
              <a:latin typeface="Arial"/>
            </a:endParaRPr>
          </a:p>
        </p:txBody>
      </p:sp>
      <p:sp>
        <p:nvSpPr>
          <p:cNvPr id="678" name="CustomShape 2"/>
          <p:cNvSpPr/>
          <p:nvPr/>
        </p:nvSpPr>
        <p:spPr>
          <a:xfrm>
            <a:off x="838080" y="2162520"/>
            <a:ext cx="10034280" cy="1261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struct ipv6_mreq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struct in6_addr    ipv6mr_multiaddr;    /* Dir. IPv6 multicast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unsigned int       ipv6mr_interface;    /* índice interfaz red */</a:t>
            </a:r>
            <a:endParaRPr lang="es-MX" sz="1800" b="0" strike="noStrike" spc="-1">
              <a:latin typeface="Arial"/>
            </a:endParaRPr>
          </a:p>
          <a:p>
            <a:pPr>
              <a:lnSpc>
                <a:spcPct val="100000"/>
              </a:lnSpc>
            </a:pPr>
            <a:r>
              <a:rPr lang="en-US" sz="1800" b="0" strike="noStrike" spc="-1">
                <a:solidFill>
                  <a:srgbClr val="000000"/>
                </a:solidFill>
                <a:latin typeface="Arial"/>
                <a:ea typeface="DejaVu Sans"/>
              </a:rPr>
              <a:t>}</a:t>
            </a:r>
            <a:endParaRPr lang="es-MX" sz="1800" b="0" strike="noStrike" spc="-1">
              <a:latin typeface="Arial"/>
            </a:endParaRPr>
          </a:p>
        </p:txBody>
      </p:sp>
      <p:graphicFrame>
        <p:nvGraphicFramePr>
          <p:cNvPr id="679" name="Table 3"/>
          <p:cNvGraphicFramePr/>
          <p:nvPr/>
        </p:nvGraphicFramePr>
        <p:xfrm>
          <a:off x="837720" y="4573440"/>
          <a:ext cx="9192960" cy="640080"/>
        </p:xfrm>
        <a:graphic>
          <a:graphicData uri="http://schemas.openxmlformats.org/drawingml/2006/table">
            <a:tbl>
              <a:tblPr/>
              <a:tblGrid>
                <a:gridCol w="2672280">
                  <a:extLst>
                    <a:ext uri="{9D8B030D-6E8A-4147-A177-3AD203B41FA5}">
                      <a16:colId xmlns:a16="http://schemas.microsoft.com/office/drawing/2014/main" val="20000"/>
                    </a:ext>
                  </a:extLst>
                </a:gridCol>
                <a:gridCol w="2672280">
                  <a:extLst>
                    <a:ext uri="{9D8B030D-6E8A-4147-A177-3AD203B41FA5}">
                      <a16:colId xmlns:a16="http://schemas.microsoft.com/office/drawing/2014/main" val="20001"/>
                    </a:ext>
                  </a:extLst>
                </a:gridCol>
                <a:gridCol w="2672280">
                  <a:extLst>
                    <a:ext uri="{9D8B030D-6E8A-4147-A177-3AD203B41FA5}">
                      <a16:colId xmlns:a16="http://schemas.microsoft.com/office/drawing/2014/main" val="20002"/>
                    </a:ext>
                  </a:extLst>
                </a:gridCol>
                <a:gridCol w="1176120">
                  <a:extLst>
                    <a:ext uri="{9D8B030D-6E8A-4147-A177-3AD203B41FA5}">
                      <a16:colId xmlns:a16="http://schemas.microsoft.com/office/drawing/2014/main" val="20003"/>
                    </a:ext>
                  </a:extLst>
                </a:gridCol>
              </a:tblGrid>
              <a:tr h="639720">
                <a:tc>
                  <a:txBody>
                    <a:bodyPr/>
                    <a:lstStyle/>
                    <a:p>
                      <a:pPr>
                        <a:lnSpc>
                          <a:spcPct val="100000"/>
                        </a:lnSpc>
                      </a:pPr>
                      <a:r>
                        <a:rPr lang="en-US" sz="1800" b="0" strike="noStrike" spc="-1">
                          <a:solidFill>
                            <a:srgbClr val="000000"/>
                          </a:solidFill>
                          <a:latin typeface="Arial"/>
                          <a:ea typeface="DejaVu Sans"/>
                        </a:rPr>
                        <a:t>ffxe::/16</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Arial"/>
                          <a:ea typeface="DejaVu Sans"/>
                        </a:rPr>
                        <a:t>224.0.1.0-238.255.255.255</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Arial"/>
                          <a:ea typeface="DejaVu Sans"/>
                        </a:rPr>
                        <a:t>Alcance Global</a:t>
                      </a:r>
                      <a:endParaRPr lang="es-MX" sz="1800" b="0" strike="noStrike" spc="-1">
                        <a:latin typeface="Arial"/>
                      </a:endParaRPr>
                    </a:p>
                  </a:txBody>
                  <a:tcPr>
                    <a:noFill/>
                  </a:tcPr>
                </a:tc>
                <a:tc>
                  <a:txBody>
                    <a:bodyPr/>
                    <a:lstStyle/>
                    <a:p>
                      <a:endParaRPr lang="es-MX"/>
                    </a:p>
                  </a:txBody>
                  <a:tcP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 name="CustomShape 1"/>
          <p:cNvSpPr/>
          <p:nvPr/>
        </p:nvSpPr>
        <p:spPr>
          <a:xfrm>
            <a:off x="838080" y="365040"/>
            <a:ext cx="10513440" cy="106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0" strike="noStrike" spc="-1">
                <a:solidFill>
                  <a:srgbClr val="000000"/>
                </a:solidFill>
                <a:latin typeface="Arial"/>
                <a:ea typeface="DejaVu Sans"/>
              </a:rPr>
              <a:t>Opción de socket IP_ADD_MEMBESHIP (IPv4)</a:t>
            </a:r>
            <a:endParaRPr lang="es-MX" sz="3600" b="0" strike="noStrike" spc="-1">
              <a:latin typeface="Arial"/>
            </a:endParaRPr>
          </a:p>
        </p:txBody>
      </p:sp>
      <p:sp>
        <p:nvSpPr>
          <p:cNvPr id="681" name="CustomShape 2"/>
          <p:cNvSpPr/>
          <p:nvPr/>
        </p:nvSpPr>
        <p:spPr>
          <a:xfrm>
            <a:off x="838080" y="1433160"/>
            <a:ext cx="10034280" cy="527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000000"/>
                </a:solidFill>
                <a:latin typeface="Arial"/>
                <a:ea typeface="DejaVu Sans"/>
              </a:rPr>
              <a:t>struct ip_mreq mr;</a:t>
            </a:r>
            <a:endParaRPr lang="es-MX" sz="2000" b="0" strike="noStrike" spc="-1">
              <a:latin typeface="Arial"/>
            </a:endParaRPr>
          </a:p>
          <a:p>
            <a:pPr>
              <a:lnSpc>
                <a:spcPct val="100000"/>
              </a:lnSpc>
            </a:pPr>
            <a:r>
              <a:rPr lang="en-US" sz="2000" b="0" strike="noStrike" spc="-1">
                <a:solidFill>
                  <a:srgbClr val="000000"/>
                </a:solidFill>
                <a:latin typeface="Arial"/>
                <a:ea typeface="DejaVu Sans"/>
              </a:rPr>
              <a:t>/* Ponemos la dirección de grupo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memcpy(&amp;mr.imr_multiaddr,&amp;((struct sockaddr_in*)(maddr-&gt;ai_addr))-&gt;sin_addr,sizeof(mr.imr_multiaddr));</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Aceptamos datagramas multicast por cualquier interfaz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mr.imr_interface.s_addr = htonl(INADDR_ANY);</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Nos unimos a la dirección de grupo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if ( setsockopt(sd, IPPROTO_IP, IP_ADD_MEMBERSHIP, (char*) &amp;mr, sizeof(mr)) != 0 )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perror("setsockopt() \n");</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CustomShape 1"/>
          <p:cNvSpPr/>
          <p:nvPr/>
        </p:nvSpPr>
        <p:spPr>
          <a:xfrm>
            <a:off x="838080" y="365040"/>
            <a:ext cx="10513440" cy="943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0" strike="noStrike" spc="-1">
                <a:solidFill>
                  <a:srgbClr val="000000"/>
                </a:solidFill>
                <a:latin typeface="Arial"/>
                <a:ea typeface="DejaVu Sans"/>
              </a:rPr>
              <a:t>Opción de socket IP_ADD_MEMBESHIP (IPv6)</a:t>
            </a:r>
            <a:endParaRPr lang="es-MX" sz="3600" b="0" strike="noStrike" spc="-1">
              <a:latin typeface="Arial"/>
            </a:endParaRPr>
          </a:p>
        </p:txBody>
      </p:sp>
      <p:sp>
        <p:nvSpPr>
          <p:cNvPr id="683" name="CustomShape 2"/>
          <p:cNvSpPr/>
          <p:nvPr/>
        </p:nvSpPr>
        <p:spPr>
          <a:xfrm>
            <a:off x="838080" y="1433160"/>
            <a:ext cx="10034280" cy="527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000000"/>
                </a:solidFill>
                <a:latin typeface="Arial"/>
                <a:ea typeface="DejaVu Sans"/>
              </a:rPr>
              <a:t>struct ipv6_mreq mr;  /* Multicast address join structure */</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Especificamos la dirección de grupo IPv6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memcpy(&amp;mr.ipv6mr_multiaddr,&amp;((struct sockaddr_in6*)(maddr-&gt;ai_addr))-&gt;sin6_addr,sizeof(mr.ipv6mr_multiaddr));</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Aceptamos datagramas multicast IPv6 desde cualquier interfaz de red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mr.ipv6mr_interface = 0;</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Nos unimos a la dirección de grupo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if ( setsockopt(sd, IPPROTO_IPV6, IPV6_ADD_MEMBERSHIP, (char*) &amp;mr, sizeof(mr)) != 0 )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perror("setsockopt() \</a:t>
            </a:r>
            <a:r>
              <a:rPr lang="en-US" sz="1800" b="0" strike="noStrike" spc="-1">
                <a:solidFill>
                  <a:srgbClr val="000000"/>
                </a:solidFill>
                <a:latin typeface="Arial"/>
                <a:ea typeface="DejaVu Sans"/>
              </a:rPr>
              <a:t>n</a:t>
            </a:r>
            <a:r>
              <a:rPr lang="en-US" sz="2000" b="0" strike="noStrike" spc="-1">
                <a:solidFill>
                  <a:srgbClr val="000000"/>
                </a:solidFill>
                <a:latin typeface="Arial"/>
                <a:ea typeface="DejaVu Sans"/>
              </a:rPr>
              <a:t>");</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Opción</a:t>
            </a:r>
            <a:r>
              <a:rPr lang="en-US" sz="4400" b="0" strike="noStrike" spc="-1" dirty="0">
                <a:solidFill>
                  <a:srgbClr val="000000"/>
                </a:solidFill>
                <a:latin typeface="Arial"/>
                <a:ea typeface="DejaVu Sans"/>
              </a:rPr>
              <a:t> de socket IP_MULTICAST_TTL</a:t>
            </a:r>
            <a:endParaRPr lang="es-MX" sz="4400" b="0" strike="noStrike" spc="-1" dirty="0">
              <a:latin typeface="Arial"/>
            </a:endParaRPr>
          </a:p>
        </p:txBody>
      </p:sp>
      <p:sp>
        <p:nvSpPr>
          <p:cNvPr id="685"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Unsignet char ttl= 200;</a:t>
            </a:r>
            <a:endParaRPr lang="es-MX" sz="1800" b="0" strike="noStrike" spc="-1">
              <a:latin typeface="Arial"/>
            </a:endParaRPr>
          </a:p>
          <a:p>
            <a:pPr>
              <a:lnSpc>
                <a:spcPct val="100000"/>
              </a:lnSpc>
            </a:pPr>
            <a:r>
              <a:rPr lang="en-US" sz="1800" b="0" strike="noStrike" spc="-1">
                <a:solidFill>
                  <a:srgbClr val="000000"/>
                </a:solidFill>
                <a:latin typeface="Arial"/>
                <a:ea typeface="DejaVu Sans"/>
              </a:rPr>
              <a:t>if ((setsockopt(sd, IPPROTO_IP, IP_MULTICAST_TTL,(void*) &amp;ttl, sizeof(ttl))) &lt; 0)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perror("setsockopt() \n");</a:t>
            </a: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r>
              <a:rPr lang="en-US" sz="1800" b="0" strike="noStrike" spc="-1">
                <a:solidFill>
                  <a:srgbClr val="000000"/>
                </a:solidFill>
                <a:latin typeface="Arial"/>
                <a:ea typeface="DejaVu Sans"/>
              </a:rPr>
              <a:t>*Ej. cliente2.c, servidor2.c</a:t>
            </a:r>
            <a:endParaRPr lang="es-MX" sz="1800" b="0" strike="noStrike" spc="-1">
              <a:latin typeface="Aria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CustomShape 1"/>
          <p:cNvSpPr/>
          <p:nvPr/>
        </p:nvSpPr>
        <p:spPr>
          <a:xfrm>
            <a:off x="433953" y="365040"/>
            <a:ext cx="11758047"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Opción</a:t>
            </a:r>
            <a:r>
              <a:rPr lang="en-US" sz="4400" b="0" strike="noStrike" spc="-1" dirty="0">
                <a:solidFill>
                  <a:srgbClr val="000000"/>
                </a:solidFill>
                <a:latin typeface="Arial"/>
                <a:ea typeface="DejaVu Sans"/>
              </a:rPr>
              <a:t> de socket IPV6_MULTICAST_HOPS</a:t>
            </a:r>
            <a:endParaRPr lang="es-MX" sz="4400" b="0" strike="noStrike" spc="-1" dirty="0">
              <a:latin typeface="Arial"/>
            </a:endParaRPr>
          </a:p>
        </p:txBody>
      </p:sp>
      <p:sp>
        <p:nvSpPr>
          <p:cNvPr id="685"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err="1">
                <a:solidFill>
                  <a:srgbClr val="000000"/>
                </a:solidFill>
                <a:latin typeface="Arial"/>
                <a:ea typeface="DejaVu Sans"/>
              </a:rPr>
              <a:t>Unsignet</a:t>
            </a:r>
            <a:r>
              <a:rPr lang="en-US" sz="1800" b="0" strike="noStrike" spc="-1" dirty="0">
                <a:solidFill>
                  <a:srgbClr val="000000"/>
                </a:solidFill>
                <a:latin typeface="Arial"/>
                <a:ea typeface="DejaVu Sans"/>
              </a:rPr>
              <a:t> char </a:t>
            </a:r>
            <a:r>
              <a:rPr lang="en-US" sz="1800" b="0" strike="noStrike" spc="-1" dirty="0" err="1">
                <a:solidFill>
                  <a:srgbClr val="000000"/>
                </a:solidFill>
                <a:latin typeface="Arial"/>
                <a:ea typeface="DejaVu Sans"/>
              </a:rPr>
              <a:t>ttl</a:t>
            </a:r>
            <a:r>
              <a:rPr lang="en-US" sz="1800" b="0" strike="noStrike" spc="-1" dirty="0">
                <a:solidFill>
                  <a:srgbClr val="000000"/>
                </a:solidFill>
                <a:latin typeface="Arial"/>
                <a:ea typeface="DejaVu Sans"/>
              </a:rPr>
              <a:t>= 200;</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if ((</a:t>
            </a:r>
            <a:r>
              <a:rPr lang="en-US" sz="1800" b="0" strike="noStrike" spc="-1" dirty="0" err="1">
                <a:solidFill>
                  <a:srgbClr val="000000"/>
                </a:solidFill>
                <a:latin typeface="Arial"/>
                <a:ea typeface="DejaVu Sans"/>
              </a:rPr>
              <a:t>setsockopt</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sd</a:t>
            </a:r>
            <a:r>
              <a:rPr lang="en-US" sz="1800" b="0" strike="noStrike" spc="-1" dirty="0">
                <a:solidFill>
                  <a:srgbClr val="000000"/>
                </a:solidFill>
                <a:latin typeface="Arial"/>
                <a:ea typeface="DejaVu Sans"/>
              </a:rPr>
              <a:t>, IPPROTO_IPV6, IPV6_MULTICAST_</a:t>
            </a:r>
            <a:r>
              <a:rPr lang="en-US" spc="-1" dirty="0">
                <a:solidFill>
                  <a:srgbClr val="000000"/>
                </a:solidFill>
                <a:latin typeface="Arial"/>
                <a:ea typeface="DejaVu Sans"/>
              </a:rPr>
              <a:t>HOPS</a:t>
            </a:r>
            <a:r>
              <a:rPr lang="en-US" sz="1800" b="0" strike="noStrike" spc="-1" dirty="0">
                <a:solidFill>
                  <a:srgbClr val="000000"/>
                </a:solidFill>
                <a:latin typeface="Arial"/>
                <a:ea typeface="DejaVu Sans"/>
              </a:rPr>
              <a:t>,(void*) &amp;</a:t>
            </a:r>
            <a:r>
              <a:rPr lang="en-US" sz="1800" b="0" strike="noStrike" spc="-1" dirty="0" err="1">
                <a:solidFill>
                  <a:srgbClr val="000000"/>
                </a:solidFill>
                <a:latin typeface="Arial"/>
                <a:ea typeface="DejaVu Sans"/>
              </a:rPr>
              <a:t>ttl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sizeof</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ttl</a:t>
            </a:r>
            <a:r>
              <a:rPr lang="en-US" sz="1800" b="0" strike="noStrike" spc="-1" dirty="0">
                <a:solidFill>
                  <a:srgbClr val="000000"/>
                </a:solidFill>
                <a:latin typeface="Arial"/>
                <a:ea typeface="DejaVu Sans"/>
              </a:rPr>
              <a:t>))) &lt; 0)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perror</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setsockopt</a:t>
            </a:r>
            <a:r>
              <a:rPr lang="en-US" sz="1800" b="0" strike="noStrike" spc="-1" dirty="0">
                <a:solidFill>
                  <a:srgbClr val="000000"/>
                </a:solidFill>
                <a:latin typeface="Arial"/>
                <a:ea typeface="DejaVu Sans"/>
              </a:rPr>
              <a:t>() \n");</a:t>
            </a: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Ej</a:t>
            </a:r>
            <a:r>
              <a:rPr lang="en-US" sz="1800" b="0" strike="noStrike" spc="-1" dirty="0">
                <a:solidFill>
                  <a:srgbClr val="000000"/>
                </a:solidFill>
                <a:latin typeface="Arial"/>
                <a:ea typeface="DejaVu Sans"/>
              </a:rPr>
              <a:t>. cliente2.c, servidor2.c</a:t>
            </a:r>
            <a:endParaRPr lang="es-MX" sz="1800" b="0" strike="noStrike" spc="-1" dirty="0">
              <a:latin typeface="Arial"/>
            </a:endParaRPr>
          </a:p>
        </p:txBody>
      </p:sp>
    </p:spTree>
    <p:extLst>
      <p:ext uri="{BB962C8B-B14F-4D97-AF65-F5344CB8AC3E}">
        <p14:creationId xmlns:p14="http://schemas.microsoft.com/office/powerpoint/2010/main" val="293918884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 name="CustomShape 1"/>
          <p:cNvSpPr/>
          <p:nvPr/>
        </p:nvSpPr>
        <p:spPr>
          <a:xfrm>
            <a:off x="851040" y="207792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4400" b="0" strike="noStrike" spc="-1">
                <a:solidFill>
                  <a:srgbClr val="000000"/>
                </a:solidFill>
                <a:latin typeface="Arial"/>
                <a:ea typeface="DejaVu Sans"/>
              </a:rPr>
              <a:t>Hilos (threads)</a:t>
            </a:r>
            <a:endParaRPr lang="es-MX" sz="4400" b="0" strike="noStrike" spc="-1">
              <a:latin typeface="Aria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Proceso vs Hilo</a:t>
            </a:r>
            <a:endParaRPr lang="es-MX" sz="4400" b="0" strike="noStrike" spc="-1">
              <a:latin typeface="Arial"/>
            </a:endParaRPr>
          </a:p>
        </p:txBody>
      </p:sp>
      <p:graphicFrame>
        <p:nvGraphicFramePr>
          <p:cNvPr id="688" name="Table 2"/>
          <p:cNvGraphicFramePr/>
          <p:nvPr>
            <p:extLst>
              <p:ext uri="{D42A27DB-BD31-4B8C-83A1-F6EECF244321}">
                <p14:modId xmlns:p14="http://schemas.microsoft.com/office/powerpoint/2010/main" val="3322283405"/>
              </p:ext>
            </p:extLst>
          </p:nvPr>
        </p:nvGraphicFramePr>
        <p:xfrm>
          <a:off x="477720" y="1920600"/>
          <a:ext cx="11136240" cy="4622186"/>
        </p:xfrm>
        <a:graphic>
          <a:graphicData uri="http://schemas.openxmlformats.org/drawingml/2006/table">
            <a:tbl>
              <a:tblPr/>
              <a:tblGrid>
                <a:gridCol w="5568120">
                  <a:extLst>
                    <a:ext uri="{9D8B030D-6E8A-4147-A177-3AD203B41FA5}">
                      <a16:colId xmlns:a16="http://schemas.microsoft.com/office/drawing/2014/main" val="20000"/>
                    </a:ext>
                  </a:extLst>
                </a:gridCol>
                <a:gridCol w="5568120">
                  <a:extLst>
                    <a:ext uri="{9D8B030D-6E8A-4147-A177-3AD203B41FA5}">
                      <a16:colId xmlns:a16="http://schemas.microsoft.com/office/drawing/2014/main" val="20001"/>
                    </a:ext>
                  </a:extLst>
                </a:gridCol>
              </a:tblGrid>
              <a:tr h="415946">
                <a:tc>
                  <a:txBody>
                    <a:bodyPr/>
                    <a:lstStyle/>
                    <a:p>
                      <a:pPr algn="ctr">
                        <a:lnSpc>
                          <a:spcPct val="100000"/>
                        </a:lnSpc>
                      </a:pPr>
                      <a:r>
                        <a:rPr lang="en-US" sz="1800" b="1" strike="noStrike" spc="-1" dirty="0" err="1">
                          <a:solidFill>
                            <a:srgbClr val="000000"/>
                          </a:solidFill>
                          <a:latin typeface="Arial"/>
                          <a:ea typeface="DejaVu Sans"/>
                        </a:rPr>
                        <a:t>Proceso</a:t>
                      </a:r>
                      <a:endParaRPr lang="es-MX" sz="1800" b="0" strike="noStrike" spc="-1" dirty="0">
                        <a:latin typeface="Arial"/>
                      </a:endParaRPr>
                    </a:p>
                  </a:txBody>
                  <a:tcPr>
                    <a:solidFill>
                      <a:srgbClr val="D9D9D9"/>
                    </a:solidFill>
                  </a:tcPr>
                </a:tc>
                <a:tc>
                  <a:txBody>
                    <a:bodyPr/>
                    <a:lstStyle/>
                    <a:p>
                      <a:pPr algn="ctr">
                        <a:lnSpc>
                          <a:spcPct val="100000"/>
                        </a:lnSpc>
                      </a:pPr>
                      <a:r>
                        <a:rPr lang="en-US" sz="1800" b="1" strike="noStrike" spc="-1">
                          <a:solidFill>
                            <a:srgbClr val="000000"/>
                          </a:solidFill>
                          <a:latin typeface="Arial"/>
                          <a:ea typeface="DejaVu Sans"/>
                        </a:rPr>
                        <a:t>Hilo</a:t>
                      </a:r>
                      <a:endParaRPr lang="es-MX" sz="1800" b="0" strike="noStrike" spc="-1">
                        <a:latin typeface="Arial"/>
                      </a:endParaRPr>
                    </a:p>
                  </a:txBody>
                  <a:tcPr>
                    <a:solidFill>
                      <a:srgbClr val="D9D9D9"/>
                    </a:solidFill>
                  </a:tcPr>
                </a:tc>
                <a:extLst>
                  <a:ext uri="{0D108BD9-81ED-4DB2-BD59-A6C34878D82A}">
                    <a16:rowId xmlns:a16="http://schemas.microsoft.com/office/drawing/2014/main" val="10000"/>
                  </a:ext>
                </a:extLst>
              </a:tr>
              <a:tr h="4156414">
                <a:tc>
                  <a:txBody>
                    <a:bodyPr/>
                    <a:lstStyle/>
                    <a:p>
                      <a:pPr>
                        <a:lnSpc>
                          <a:spcPct val="100000"/>
                        </a:lnSpc>
                      </a:pPr>
                      <a:r>
                        <a:rPr lang="en-US" sz="1800" b="0" strike="noStrike" spc="-1" dirty="0">
                          <a:solidFill>
                            <a:srgbClr val="000000"/>
                          </a:solidFill>
                          <a:latin typeface="Arial"/>
                          <a:ea typeface="DejaVu Sans"/>
                        </a:rPr>
                        <a:t>-PID</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-Tiene un </a:t>
                      </a:r>
                      <a:r>
                        <a:rPr lang="en-US" sz="1800" b="0" strike="noStrike" spc="-1" dirty="0" err="1">
                          <a:solidFill>
                            <a:srgbClr val="000000"/>
                          </a:solidFill>
                          <a:latin typeface="Arial"/>
                          <a:ea typeface="DejaVu Sans"/>
                        </a:rPr>
                        <a:t>estado</a:t>
                      </a:r>
                      <a:r>
                        <a:rPr lang="en-US" sz="1800" b="0"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Preparado</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Ejecución</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Suspendido</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Bloqueado</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Finalizado</a:t>
                      </a:r>
                      <a:r>
                        <a:rPr lang="en-US" sz="1800" b="1" strike="noStrike" spc="-1" dirty="0">
                          <a:solidFill>
                            <a:srgbClr val="000000"/>
                          </a:solidFill>
                          <a:latin typeface="Arial"/>
                          <a:ea typeface="DejaVu Sans"/>
                        </a:rPr>
                        <a:t> (zombie)</a:t>
                      </a:r>
                      <a:r>
                        <a:rPr lang="en-US" sz="1800" b="0" strike="noStrike" spc="-1" dirty="0">
                          <a:solidFill>
                            <a:srgbClr val="000000"/>
                          </a:solidFill>
                          <a:latin typeface="Arial"/>
                          <a:ea typeface="DejaVu Sans"/>
                        </a:rPr>
                        <a:t>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-Contador de </a:t>
                      </a:r>
                      <a:r>
                        <a:rPr lang="en-US" sz="1800" b="0" strike="noStrike" spc="-1" dirty="0" err="1">
                          <a:solidFill>
                            <a:srgbClr val="000000"/>
                          </a:solidFill>
                          <a:latin typeface="Arial"/>
                          <a:ea typeface="DejaVu Sans"/>
                        </a:rPr>
                        <a:t>programa</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Registros</a:t>
                      </a:r>
                      <a:r>
                        <a:rPr lang="en-US" sz="1800" b="0" strike="noStrike" spc="-1" dirty="0">
                          <a:solidFill>
                            <a:srgbClr val="000000"/>
                          </a:solidFill>
                          <a:latin typeface="Arial"/>
                          <a:ea typeface="DejaVu Sans"/>
                        </a:rPr>
                        <a:t> del CPU (</a:t>
                      </a:r>
                      <a:r>
                        <a:rPr lang="en-US" sz="1800" b="1" strike="noStrike" spc="-1" dirty="0">
                          <a:solidFill>
                            <a:srgbClr val="000000"/>
                          </a:solidFill>
                          <a:latin typeface="Arial"/>
                          <a:ea typeface="DejaVu Sans"/>
                        </a:rPr>
                        <a:t>Prop </a:t>
                      </a:r>
                      <a:r>
                        <a:rPr lang="en-US" sz="1800" b="1" strike="noStrike" spc="-1" dirty="0" err="1">
                          <a:solidFill>
                            <a:srgbClr val="000000"/>
                          </a:solidFill>
                          <a:latin typeface="Arial"/>
                          <a:ea typeface="DejaVu Sans"/>
                        </a:rPr>
                        <a:t>gral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datos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temporales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operaciones</a:t>
                      </a:r>
                      <a:r>
                        <a:rPr lang="en-US" sz="1800" b="0"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acumulador</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arit</a:t>
                      </a:r>
                      <a:r>
                        <a:rPr lang="en-US" sz="1800" b="0" strike="noStrike" spc="-1" dirty="0">
                          <a:solidFill>
                            <a:srgbClr val="000000"/>
                          </a:solidFill>
                          <a:latin typeface="Arial"/>
                          <a:ea typeface="DejaVu Sans"/>
                        </a:rPr>
                        <a:t>), </a:t>
                      </a:r>
                      <a:r>
                        <a:rPr lang="en-US" sz="1800" b="1" strike="noStrike" spc="-1" dirty="0">
                          <a:solidFill>
                            <a:srgbClr val="000000"/>
                          </a:solidFill>
                          <a:latin typeface="Arial"/>
                          <a:ea typeface="DejaVu Sans"/>
                        </a:rPr>
                        <a:t>Reg </a:t>
                      </a:r>
                      <a:r>
                        <a:rPr lang="en-US" sz="1800" b="1" strike="noStrike" spc="-1" dirty="0" err="1">
                          <a:solidFill>
                            <a:srgbClr val="000000"/>
                          </a:solidFill>
                          <a:latin typeface="Arial"/>
                          <a:ea typeface="DejaVu Sans"/>
                        </a:rPr>
                        <a:t>direccionamiento</a:t>
                      </a:r>
                      <a:r>
                        <a:rPr lang="en-US" sz="1800" b="1" strike="noStrike" spc="-1" dirty="0">
                          <a:solidFill>
                            <a:srgbClr val="000000"/>
                          </a:solidFill>
                          <a:latin typeface="Arial"/>
                          <a:ea typeface="DejaVu Sans"/>
                        </a:rPr>
                        <a:t> de </a:t>
                      </a:r>
                      <a:r>
                        <a:rPr lang="en-US" sz="1800" b="1" strike="noStrike" spc="-1" dirty="0" err="1">
                          <a:solidFill>
                            <a:srgbClr val="000000"/>
                          </a:solidFill>
                          <a:latin typeface="Arial"/>
                          <a:ea typeface="DejaVu Sans"/>
                        </a:rPr>
                        <a:t>memoria</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datos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dir</a:t>
                      </a:r>
                      <a:r>
                        <a:rPr lang="en-US" sz="1800" b="0" strike="noStrike" spc="-1" dirty="0">
                          <a:solidFill>
                            <a:srgbClr val="000000"/>
                          </a:solidFill>
                          <a:latin typeface="Arial"/>
                          <a:ea typeface="DejaVu Sans"/>
                        </a:rPr>
                        <a:t>), </a:t>
                      </a:r>
                      <a:r>
                        <a:rPr lang="en-US" sz="1800" b="1" strike="noStrike" spc="-1" dirty="0">
                          <a:solidFill>
                            <a:srgbClr val="000000"/>
                          </a:solidFill>
                          <a:latin typeface="Arial"/>
                          <a:ea typeface="DejaVu Sans"/>
                        </a:rPr>
                        <a:t>Reg </a:t>
                      </a:r>
                      <a:r>
                        <a:rPr lang="en-US" sz="1800" b="1" strike="noStrike" spc="-1" dirty="0" err="1">
                          <a:solidFill>
                            <a:srgbClr val="000000"/>
                          </a:solidFill>
                          <a:latin typeface="Arial"/>
                          <a:ea typeface="DejaVu Sans"/>
                        </a:rPr>
                        <a:t>instrucción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instrucción</a:t>
                      </a:r>
                      <a:r>
                        <a:rPr lang="en-US" sz="1800" b="0" strike="noStrike" spc="-1" dirty="0">
                          <a:solidFill>
                            <a:srgbClr val="000000"/>
                          </a:solidFill>
                          <a:latin typeface="Arial"/>
                          <a:ea typeface="DejaVu Sans"/>
                        </a:rPr>
                        <a:t> a </a:t>
                      </a:r>
                      <a:r>
                        <a:rPr lang="en-US" sz="1800" b="0" strike="noStrike" spc="-1" dirty="0" err="1">
                          <a:solidFill>
                            <a:srgbClr val="000000"/>
                          </a:solidFill>
                          <a:latin typeface="Arial"/>
                          <a:ea typeface="DejaVu Sans"/>
                        </a:rPr>
                        <a:t>ejecutarse</a:t>
                      </a:r>
                      <a:r>
                        <a:rPr lang="en-US" sz="1800" b="0" strike="noStrike" spc="-1" dirty="0">
                          <a:solidFill>
                            <a:srgbClr val="000000"/>
                          </a:solidFill>
                          <a:latin typeface="Arial"/>
                          <a:ea typeface="DejaVu Sans"/>
                        </a:rPr>
                        <a:t>) etc.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planificación</a:t>
                      </a:r>
                      <a:r>
                        <a:rPr lang="en-US" sz="1800" b="0" strike="noStrike" spc="-1" dirty="0">
                          <a:solidFill>
                            <a:srgbClr val="000000"/>
                          </a:solidFill>
                          <a:latin typeface="Arial"/>
                          <a:ea typeface="DejaVu Sans"/>
                        </a:rPr>
                        <a:t>: </a:t>
                      </a:r>
                      <a:r>
                        <a:rPr lang="en-US" sz="1800" b="1" strike="noStrike" spc="-1" dirty="0">
                          <a:solidFill>
                            <a:srgbClr val="000000"/>
                          </a:solidFill>
                          <a:latin typeface="Arial"/>
                          <a:ea typeface="DejaVu Sans"/>
                        </a:rPr>
                        <a:t>(</a:t>
                      </a:r>
                      <a:r>
                        <a:rPr lang="en-US" sz="1800" b="1" strike="noStrike" spc="-1" dirty="0" err="1">
                          <a:solidFill>
                            <a:srgbClr val="000000"/>
                          </a:solidFill>
                          <a:latin typeface="Arial"/>
                          <a:ea typeface="DejaVu Sans"/>
                        </a:rPr>
                        <a:t>prioridad</a:t>
                      </a:r>
                      <a:r>
                        <a:rPr lang="en-US" sz="1800" b="1" strike="noStrike" spc="-1" dirty="0">
                          <a:solidFill>
                            <a:srgbClr val="000000"/>
                          </a:solidFill>
                          <a:latin typeface="Arial"/>
                          <a:ea typeface="DejaVu Sans"/>
                        </a:rPr>
                        <a:t>, cola </a:t>
                      </a:r>
                      <a:r>
                        <a:rPr lang="en-US" sz="1800" b="1" strike="noStrike" spc="-1" dirty="0" err="1">
                          <a:solidFill>
                            <a:srgbClr val="000000"/>
                          </a:solidFill>
                          <a:latin typeface="Arial"/>
                          <a:ea typeface="DejaVu Sans"/>
                        </a:rPr>
                        <a:t>en</a:t>
                      </a:r>
                      <a:r>
                        <a:rPr lang="en-US" sz="1800" b="1" strike="noStrike" spc="-1" dirty="0">
                          <a:solidFill>
                            <a:srgbClr val="000000"/>
                          </a:solidFill>
                          <a:latin typeface="Arial"/>
                          <a:ea typeface="DejaVu Sans"/>
                        </a:rPr>
                        <a:t> que </a:t>
                      </a:r>
                      <a:r>
                        <a:rPr lang="en-US" sz="1800" b="1" strike="noStrike" spc="-1" dirty="0" err="1">
                          <a:solidFill>
                            <a:srgbClr val="000000"/>
                          </a:solidFill>
                          <a:latin typeface="Arial"/>
                          <a:ea typeface="DejaVu Sans"/>
                        </a:rPr>
                        <a:t>está</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agendado</a:t>
                      </a:r>
                      <a:r>
                        <a:rPr lang="en-US" sz="1800" b="1" strike="noStrike" spc="-1" dirty="0">
                          <a:solidFill>
                            <a:srgbClr val="000000"/>
                          </a:solidFill>
                          <a:latin typeface="Arial"/>
                          <a:ea typeface="DejaVu Sans"/>
                        </a:rPr>
                        <a:t>)</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admón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memoria</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mapeo</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páginas</a:t>
                      </a:r>
                      <a:r>
                        <a:rPr lang="en-US" sz="1800" b="0" strike="noStrike" spc="-1" dirty="0">
                          <a:solidFill>
                            <a:srgbClr val="000000"/>
                          </a:solidFill>
                          <a:latin typeface="Arial"/>
                          <a:ea typeface="DejaVu Sans"/>
                        </a:rPr>
                        <a:t> o </a:t>
                      </a:r>
                      <a:r>
                        <a:rPr lang="en-US" sz="1800" b="0" strike="noStrike" spc="-1" dirty="0" err="1">
                          <a:solidFill>
                            <a:srgbClr val="000000"/>
                          </a:solidFill>
                          <a:latin typeface="Arial"/>
                          <a:ea typeface="DejaVu Sans"/>
                        </a:rPr>
                        <a:t>segmentos</a:t>
                      </a:r>
                      <a:r>
                        <a:rPr lang="en-US" sz="1800" b="0" strike="noStrike" spc="-1" dirty="0">
                          <a:solidFill>
                            <a:srgbClr val="000000"/>
                          </a:solidFill>
                          <a:latin typeface="Arial"/>
                          <a:ea typeface="DejaVu Sans"/>
                        </a:rPr>
                        <a:t>)</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-Pila</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contabilidad</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recursos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utilizados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nombre</a:t>
                      </a:r>
                      <a:r>
                        <a:rPr lang="en-US" sz="1800" b="0" strike="noStrike" spc="-1" dirty="0">
                          <a:solidFill>
                            <a:srgbClr val="000000"/>
                          </a:solidFill>
                          <a:latin typeface="Arial"/>
                          <a:ea typeface="DejaVu Sans"/>
                        </a:rPr>
                        <a:t> session, id </a:t>
                      </a:r>
                      <a:r>
                        <a:rPr lang="en-US" sz="1800" b="0" strike="noStrike" spc="-1" dirty="0" err="1">
                          <a:solidFill>
                            <a:srgbClr val="000000"/>
                          </a:solidFill>
                          <a:latin typeface="Arial"/>
                          <a:ea typeface="DejaVu Sans"/>
                        </a:rPr>
                        <a:t>sesión</a:t>
                      </a:r>
                      <a:r>
                        <a:rPr lang="en-US" sz="1800" b="0" strike="noStrike" spc="-1" dirty="0">
                          <a:solidFill>
                            <a:srgbClr val="000000"/>
                          </a:solidFill>
                          <a:latin typeface="Arial"/>
                          <a:ea typeface="DejaVu Sans"/>
                        </a:rPr>
                        <a:t>)</a:t>
                      </a:r>
                      <a:endParaRPr lang="es-MX" sz="1800" b="0" strike="noStrike" spc="-1" dirty="0">
                        <a:latin typeface="Arial"/>
                      </a:endParaRPr>
                    </a:p>
                  </a:txBody>
                  <a:tcPr>
                    <a:noFill/>
                  </a:tcPr>
                </a:tc>
                <a:tc>
                  <a:txBody>
                    <a:bodyPr/>
                    <a:lstStyle/>
                    <a:p>
                      <a:pPr>
                        <a:lnSpc>
                          <a:spcPct val="100000"/>
                        </a:lnSpc>
                      </a:pPr>
                      <a:r>
                        <a:rPr lang="en-US" sz="1800" b="0" strike="noStrike" spc="-1" dirty="0">
                          <a:solidFill>
                            <a:srgbClr val="000000"/>
                          </a:solidFill>
                          <a:latin typeface="Arial"/>
                          <a:ea typeface="DejaVu Sans"/>
                        </a:rPr>
                        <a:t>-TID</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-Tiene un </a:t>
                      </a:r>
                      <a:r>
                        <a:rPr lang="en-US" sz="1800" b="0" strike="noStrike" spc="-1" dirty="0" err="1">
                          <a:solidFill>
                            <a:srgbClr val="000000"/>
                          </a:solidFill>
                          <a:latin typeface="Arial"/>
                          <a:ea typeface="DejaVu Sans"/>
                        </a:rPr>
                        <a:t>estado:Preparado</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Ejecución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Bloqueado</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Finalizado</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Registros</a:t>
                      </a:r>
                      <a:r>
                        <a:rPr lang="en-US" sz="1800" b="0" strike="noStrike" spc="-1" dirty="0">
                          <a:solidFill>
                            <a:srgbClr val="000000"/>
                          </a:solidFill>
                          <a:latin typeface="Arial"/>
                          <a:ea typeface="DejaVu Sans"/>
                        </a:rPr>
                        <a:t> del CPU</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-Pila</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planificación</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-Variables locales</a:t>
                      </a:r>
                      <a:endParaRPr lang="es-MX" sz="1800" b="0" strike="noStrike" spc="-1" dirty="0">
                        <a:latin typeface="Arial"/>
                      </a:endParaRPr>
                    </a:p>
                    <a:p>
                      <a:pPr>
                        <a:lnSpc>
                          <a:spcPct val="100000"/>
                        </a:lnSpc>
                      </a:pPr>
                      <a:endParaRPr lang="es-MX" sz="1800" b="0" strike="noStrike" spc="-1" dirty="0">
                        <a:latin typeface="Arial"/>
                      </a:endParaRPr>
                    </a:p>
                  </a:txBody>
                  <a:tcP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 name="CustomShape 1"/>
          <p:cNvSpPr/>
          <p:nvPr/>
        </p:nvSpPr>
        <p:spPr>
          <a:xfrm>
            <a:off x="6927480" y="2440800"/>
            <a:ext cx="1258200" cy="402624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
        <p:nvSpPr>
          <p:cNvPr id="690" name="CustomShape 2"/>
          <p:cNvSpPr/>
          <p:nvPr/>
        </p:nvSpPr>
        <p:spPr>
          <a:xfrm>
            <a:off x="8201520" y="2440800"/>
            <a:ext cx="1235160" cy="402624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
        <p:nvSpPr>
          <p:cNvPr id="691" name="CustomShape 3"/>
          <p:cNvSpPr/>
          <p:nvPr/>
        </p:nvSpPr>
        <p:spPr>
          <a:xfrm>
            <a:off x="5691600" y="2440800"/>
            <a:ext cx="1200960" cy="402840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
        <p:nvSpPr>
          <p:cNvPr id="692" name="CustomShape 4"/>
          <p:cNvSpPr/>
          <p:nvPr/>
        </p:nvSpPr>
        <p:spPr>
          <a:xfrm>
            <a:off x="573120" y="2440800"/>
            <a:ext cx="3751200" cy="706320"/>
          </a:xfrm>
          <a:prstGeom prst="rect">
            <a:avLst/>
          </a:prstGeom>
          <a:solidFill>
            <a:srgbClr val="9BBB59"/>
          </a:solidFill>
          <a:ln w="25560">
            <a:solidFill>
              <a:srgbClr val="3A5F8B"/>
            </a:solidFill>
            <a:round/>
          </a:ln>
        </p:spPr>
        <p:style>
          <a:lnRef idx="0">
            <a:scrgbClr r="0" g="0" b="0"/>
          </a:lnRef>
          <a:fillRef idx="0">
            <a:scrgbClr r="0" g="0" b="0"/>
          </a:fillRef>
          <a:effectRef idx="0">
            <a:scrgbClr r="0" g="0" b="0"/>
          </a:effectRef>
          <a:fontRef idx="minor"/>
        </p:style>
      </p:sp>
      <p:sp>
        <p:nvSpPr>
          <p:cNvPr id="693" name="CustomShape 5"/>
          <p:cNvSpPr/>
          <p:nvPr/>
        </p:nvSpPr>
        <p:spPr>
          <a:xfrm>
            <a:off x="5691600" y="1655280"/>
            <a:ext cx="3751200" cy="706320"/>
          </a:xfrm>
          <a:prstGeom prst="rect">
            <a:avLst/>
          </a:prstGeom>
          <a:solidFill>
            <a:srgbClr val="9BBB59"/>
          </a:solidFill>
          <a:ln w="25560">
            <a:solidFill>
              <a:srgbClr val="3A5F8B"/>
            </a:solidFill>
            <a:round/>
          </a:ln>
        </p:spPr>
        <p:style>
          <a:lnRef idx="0">
            <a:scrgbClr r="0" g="0" b="0"/>
          </a:lnRef>
          <a:fillRef idx="0">
            <a:scrgbClr r="0" g="0" b="0"/>
          </a:fillRef>
          <a:effectRef idx="0">
            <a:scrgbClr r="0" g="0" b="0"/>
          </a:effectRef>
          <a:fontRef idx="minor"/>
        </p:style>
      </p:sp>
      <p:sp>
        <p:nvSpPr>
          <p:cNvPr id="694" name="CustomShape 6"/>
          <p:cNvSpPr/>
          <p:nvPr/>
        </p:nvSpPr>
        <p:spPr>
          <a:xfrm>
            <a:off x="573120" y="1690200"/>
            <a:ext cx="3751200" cy="706320"/>
          </a:xfrm>
          <a:prstGeom prst="rect">
            <a:avLst/>
          </a:prstGeom>
          <a:solidFill>
            <a:srgbClr val="9BBB59"/>
          </a:solidFill>
          <a:ln w="25560">
            <a:solidFill>
              <a:srgbClr val="3A5F8B"/>
            </a:solidFill>
            <a:round/>
          </a:ln>
        </p:spPr>
        <p:style>
          <a:lnRef idx="0">
            <a:scrgbClr r="0" g="0" b="0"/>
          </a:lnRef>
          <a:fillRef idx="0">
            <a:scrgbClr r="0" g="0" b="0"/>
          </a:fillRef>
          <a:effectRef idx="0">
            <a:scrgbClr r="0" g="0" b="0"/>
          </a:effectRef>
          <a:fontRef idx="minor"/>
        </p:style>
      </p:sp>
      <p:sp>
        <p:nvSpPr>
          <p:cNvPr id="695" name="CustomShape 7"/>
          <p:cNvSpPr/>
          <p:nvPr/>
        </p:nvSpPr>
        <p:spPr>
          <a:xfrm>
            <a:off x="7819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Proceso vs Hilo</a:t>
            </a:r>
            <a:endParaRPr lang="es-MX" sz="4400" b="0" strike="noStrike" spc="-1">
              <a:latin typeface="Arial"/>
            </a:endParaRPr>
          </a:p>
        </p:txBody>
      </p:sp>
      <p:sp>
        <p:nvSpPr>
          <p:cNvPr id="696" name="CustomShape 8"/>
          <p:cNvSpPr/>
          <p:nvPr/>
        </p:nvSpPr>
        <p:spPr>
          <a:xfrm>
            <a:off x="62784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Código</a:t>
            </a:r>
            <a:endParaRPr lang="es-MX" sz="1800" b="0" strike="noStrike" spc="-1">
              <a:latin typeface="Arial"/>
            </a:endParaRPr>
          </a:p>
        </p:txBody>
      </p:sp>
      <p:sp>
        <p:nvSpPr>
          <p:cNvPr id="697" name="CustomShape 9"/>
          <p:cNvSpPr/>
          <p:nvPr/>
        </p:nvSpPr>
        <p:spPr>
          <a:xfrm>
            <a:off x="185832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Datos</a:t>
            </a:r>
            <a:endParaRPr lang="es-MX" sz="1800" b="0" strike="noStrike" spc="-1">
              <a:latin typeface="Arial"/>
            </a:endParaRPr>
          </a:p>
        </p:txBody>
      </p:sp>
      <p:sp>
        <p:nvSpPr>
          <p:cNvPr id="698" name="CustomShape 10"/>
          <p:cNvSpPr/>
          <p:nvPr/>
        </p:nvSpPr>
        <p:spPr>
          <a:xfrm>
            <a:off x="308880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Arch</a:t>
            </a:r>
            <a:endParaRPr lang="es-MX" sz="1800" b="0" strike="noStrike" spc="-1">
              <a:latin typeface="Arial"/>
            </a:endParaRPr>
          </a:p>
        </p:txBody>
      </p:sp>
      <p:sp>
        <p:nvSpPr>
          <p:cNvPr id="699" name="CustomShape 11"/>
          <p:cNvSpPr/>
          <p:nvPr/>
        </p:nvSpPr>
        <p:spPr>
          <a:xfrm>
            <a:off x="576180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Código</a:t>
            </a:r>
            <a:endParaRPr lang="es-MX" sz="1800" b="0" strike="noStrike" spc="-1">
              <a:latin typeface="Arial"/>
            </a:endParaRPr>
          </a:p>
        </p:txBody>
      </p:sp>
      <p:sp>
        <p:nvSpPr>
          <p:cNvPr id="700" name="CustomShape 12"/>
          <p:cNvSpPr/>
          <p:nvPr/>
        </p:nvSpPr>
        <p:spPr>
          <a:xfrm>
            <a:off x="699228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Datos</a:t>
            </a:r>
            <a:endParaRPr lang="es-MX" sz="1800" b="0" strike="noStrike" spc="-1">
              <a:latin typeface="Arial"/>
            </a:endParaRPr>
          </a:p>
        </p:txBody>
      </p:sp>
      <p:sp>
        <p:nvSpPr>
          <p:cNvPr id="701" name="CustomShape 13"/>
          <p:cNvSpPr/>
          <p:nvPr/>
        </p:nvSpPr>
        <p:spPr>
          <a:xfrm>
            <a:off x="822276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Arch</a:t>
            </a:r>
            <a:endParaRPr lang="es-MX" sz="1800" b="0" strike="noStrike" spc="-1">
              <a:latin typeface="Arial"/>
            </a:endParaRPr>
          </a:p>
        </p:txBody>
      </p:sp>
      <p:sp>
        <p:nvSpPr>
          <p:cNvPr id="702" name="CustomShape 14"/>
          <p:cNvSpPr/>
          <p:nvPr/>
        </p:nvSpPr>
        <p:spPr>
          <a:xfrm>
            <a:off x="5761800" y="32889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03" name="CustomShape 15"/>
          <p:cNvSpPr/>
          <p:nvPr/>
        </p:nvSpPr>
        <p:spPr>
          <a:xfrm>
            <a:off x="6992280" y="32889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04" name="CustomShape 16"/>
          <p:cNvSpPr/>
          <p:nvPr/>
        </p:nvSpPr>
        <p:spPr>
          <a:xfrm>
            <a:off x="8222760" y="32889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05" name="CustomShape 17"/>
          <p:cNvSpPr/>
          <p:nvPr/>
        </p:nvSpPr>
        <p:spPr>
          <a:xfrm>
            <a:off x="5761800" y="256860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6" name="CustomShape 18"/>
          <p:cNvSpPr/>
          <p:nvPr/>
        </p:nvSpPr>
        <p:spPr>
          <a:xfrm>
            <a:off x="6992280" y="256860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7" name="CustomShape 19"/>
          <p:cNvSpPr/>
          <p:nvPr/>
        </p:nvSpPr>
        <p:spPr>
          <a:xfrm>
            <a:off x="8222760" y="256860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8" name="CustomShape 20"/>
          <p:cNvSpPr/>
          <p:nvPr/>
        </p:nvSpPr>
        <p:spPr>
          <a:xfrm>
            <a:off x="640440" y="26067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9" name="CustomShape 21"/>
          <p:cNvSpPr/>
          <p:nvPr/>
        </p:nvSpPr>
        <p:spPr>
          <a:xfrm>
            <a:off x="3088800" y="259524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10" name="CustomShape 22"/>
          <p:cNvSpPr/>
          <p:nvPr/>
        </p:nvSpPr>
        <p:spPr>
          <a:xfrm>
            <a:off x="573120" y="3163320"/>
            <a:ext cx="3751200" cy="329220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Creación de hilos en JAVA</a:t>
            </a:r>
            <a:endParaRPr lang="es-MX" sz="4400" b="0" strike="noStrike" spc="-1">
              <a:latin typeface="Arial"/>
            </a:endParaRPr>
          </a:p>
        </p:txBody>
      </p:sp>
      <p:sp>
        <p:nvSpPr>
          <p:cNvPr id="712" name="CustomShape 2"/>
          <p:cNvSpPr/>
          <p:nvPr/>
        </p:nvSpPr>
        <p:spPr>
          <a:xfrm>
            <a:off x="838080" y="1825560"/>
            <a:ext cx="10203120" cy="2336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buClr>
                <a:srgbClr val="000000"/>
              </a:buClr>
              <a:buFont typeface="Arial"/>
              <a:buChar char="•"/>
            </a:pPr>
            <a:r>
              <a:rPr lang="en-US" sz="2400" b="0" strike="noStrike" spc="-1">
                <a:solidFill>
                  <a:srgbClr val="000000"/>
                </a:solidFill>
                <a:latin typeface="Arial"/>
                <a:ea typeface="DejaVu Sans"/>
              </a:rPr>
              <a:t>Heredando de la clase Thread (java.lang.Thread)</a:t>
            </a:r>
            <a:endParaRPr lang="es-MX" sz="2400" b="0" strike="noStrike" spc="-1">
              <a:latin typeface="Arial"/>
            </a:endParaRPr>
          </a:p>
          <a:p>
            <a:pPr>
              <a:lnSpc>
                <a:spcPct val="90000"/>
              </a:lnSpc>
            </a:pPr>
            <a:endParaRPr lang="es-MX" sz="2400" b="0" strike="noStrike" spc="-1">
              <a:latin typeface="Arial"/>
            </a:endParaRPr>
          </a:p>
          <a:p>
            <a:pPr marL="571680" indent="-570240">
              <a:lnSpc>
                <a:spcPct val="90000"/>
              </a:lnSpc>
              <a:buClr>
                <a:srgbClr val="000000"/>
              </a:buClr>
              <a:buFont typeface="Arial"/>
              <a:buChar char="•"/>
            </a:pPr>
            <a:r>
              <a:rPr lang="en-US" sz="2400" b="0" strike="noStrike" spc="-1">
                <a:solidFill>
                  <a:srgbClr val="000000"/>
                </a:solidFill>
                <a:latin typeface="Arial"/>
                <a:ea typeface="DejaVu Sans"/>
              </a:rPr>
              <a:t>Implementando la interfaz Runnable (java.lang.Runnable)</a:t>
            </a:r>
            <a:endParaRPr lang="es-MX" sz="2400" b="0" strike="noStrike" spc="-1">
              <a:latin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Clase Thread (java.lang.Thread)</a:t>
            </a:r>
            <a:endParaRPr lang="es-MX" sz="4400" b="0" strike="noStrike" spc="-1">
              <a:latin typeface="Arial"/>
            </a:endParaRPr>
          </a:p>
        </p:txBody>
      </p:sp>
      <p:sp>
        <p:nvSpPr>
          <p:cNvPr id="71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1" strike="noStrike" spc="-1">
                <a:solidFill>
                  <a:srgbClr val="000000"/>
                </a:solidFill>
                <a:latin typeface="Arial"/>
                <a:ea typeface="DejaVu Sans"/>
              </a:rPr>
              <a:t>Campos:</a:t>
            </a:r>
            <a:endParaRPr lang="es-MX" sz="4400" b="0" strike="noStrike" spc="-1">
              <a:latin typeface="Arial"/>
            </a:endParaRPr>
          </a:p>
          <a:p>
            <a:pPr>
              <a:lnSpc>
                <a:spcPct val="100000"/>
              </a:lnSpc>
            </a:pPr>
            <a:r>
              <a:rPr lang="en-US" sz="1800" b="0" strike="noStrike" spc="-1">
                <a:solidFill>
                  <a:srgbClr val="000000"/>
                </a:solidFill>
                <a:latin typeface="Arial"/>
                <a:ea typeface="DejaVu Sans"/>
              </a:rPr>
              <a:t>static int MAX_PRIORITY</a:t>
            </a:r>
            <a:endParaRPr lang="es-MX" sz="1800" b="0" strike="noStrike" spc="-1">
              <a:latin typeface="Arial"/>
            </a:endParaRPr>
          </a:p>
          <a:p>
            <a:pPr>
              <a:lnSpc>
                <a:spcPct val="100000"/>
              </a:lnSpc>
            </a:pPr>
            <a:r>
              <a:rPr lang="en-US" sz="1800" b="0" strike="noStrike" spc="-1">
                <a:solidFill>
                  <a:srgbClr val="000000"/>
                </a:solidFill>
                <a:latin typeface="Arial"/>
                <a:ea typeface="DejaVu Sans"/>
              </a:rPr>
              <a:t>static int MIN_PRIORITY</a:t>
            </a:r>
            <a:endParaRPr lang="es-MX" sz="1800" b="0" strike="noStrike" spc="-1">
              <a:latin typeface="Arial"/>
            </a:endParaRPr>
          </a:p>
          <a:p>
            <a:pPr>
              <a:lnSpc>
                <a:spcPct val="100000"/>
              </a:lnSpc>
            </a:pPr>
            <a:r>
              <a:rPr lang="en-US" sz="1800" b="0" strike="noStrike" spc="-1">
                <a:solidFill>
                  <a:srgbClr val="000000"/>
                </a:solidFill>
                <a:latin typeface="Arial"/>
                <a:ea typeface="DejaVu Sans"/>
              </a:rPr>
              <a:t>static int NORM_PRIORITY</a:t>
            </a:r>
            <a:endParaRPr lang="es-MX" sz="1800" b="0" strike="noStrike" spc="-1">
              <a:latin typeface="Arial"/>
            </a:endParaRPr>
          </a:p>
          <a:p>
            <a:pPr>
              <a:lnSpc>
                <a:spcPct val="90000"/>
              </a:lnSpc>
            </a:pPr>
            <a:r>
              <a:rPr lang="en-US" sz="4400" b="1" strike="noStrike" spc="-1">
                <a:solidFill>
                  <a:srgbClr val="000000"/>
                </a:solidFill>
                <a:latin typeface="Arial"/>
                <a:ea typeface="DejaVu Sans"/>
              </a:rPr>
              <a:t>Constructores:</a:t>
            </a:r>
            <a:endParaRPr lang="es-MX" sz="4400" b="0" strike="noStrike" spc="-1">
              <a:latin typeface="Arial"/>
            </a:endParaRPr>
          </a:p>
          <a:p>
            <a:pPr>
              <a:lnSpc>
                <a:spcPct val="100000"/>
              </a:lnSpc>
            </a:pPr>
            <a:r>
              <a:rPr lang="en-US" sz="1800" b="0" strike="noStrike" spc="-1">
                <a:solidFill>
                  <a:srgbClr val="000000"/>
                </a:solidFill>
                <a:latin typeface="Arial"/>
                <a:ea typeface="DejaVu Sans"/>
              </a:rPr>
              <a:t>Thread( )</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Thread(String nombre)</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Thread(ThreadGroup gpo, String n)</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Thread(Runnable r)</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Thread(Runnable r, String nombre)</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Thread(ThreadGroup gpo, Runnable r)</a:t>
            </a:r>
            <a:endParaRPr lang="es-MX" sz="1800" b="0" strike="noStrike" spc="-1">
              <a:latin typeface="Aria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CustomShape 1"/>
          <p:cNvSpPr/>
          <p:nvPr/>
        </p:nvSpPr>
        <p:spPr>
          <a:xfrm>
            <a:off x="838080" y="815760"/>
            <a:ext cx="4773600" cy="58230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Métodos:</a:t>
            </a:r>
            <a:endParaRPr lang="es-MX" sz="4400" b="0" strike="noStrike" spc="-1">
              <a:latin typeface="Arial"/>
            </a:endParaRPr>
          </a:p>
          <a:p>
            <a:pPr>
              <a:lnSpc>
                <a:spcPct val="90000"/>
              </a:lnSpc>
            </a:pPr>
            <a:endParaRPr lang="es-MX" sz="4400" b="0" strike="noStrike" spc="-1">
              <a:latin typeface="Arial"/>
            </a:endParaRPr>
          </a:p>
          <a:p>
            <a:pPr>
              <a:lnSpc>
                <a:spcPct val="100000"/>
              </a:lnSpc>
            </a:pPr>
            <a:r>
              <a:rPr lang="en-US" sz="2000" b="0" strike="noStrike" spc="-1">
                <a:solidFill>
                  <a:srgbClr val="000000"/>
                </a:solidFill>
                <a:latin typeface="Arial"/>
                <a:ea typeface="DejaVu Sans"/>
              </a:rPr>
              <a:t>- static int activeCount(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protected Object clone(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static Thread currentThread(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static void dumpStack(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long getId(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String getName(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int getPriority(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Thread.State getState(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ThreadGroup getThreadGroup( )</a:t>
            </a:r>
            <a:endParaRPr lang="es-MX" sz="2000" b="0" strike="noStrike" spc="-1">
              <a:latin typeface="Arial"/>
            </a:endParaRPr>
          </a:p>
          <a:p>
            <a:pPr marL="343080" indent="-341640">
              <a:lnSpc>
                <a:spcPct val="100000"/>
              </a:lnSpc>
              <a:buClr>
                <a:srgbClr val="000000"/>
              </a:buClr>
              <a:buFont typeface="StarSymbol"/>
              <a:buChar char="-"/>
            </a:pPr>
            <a:r>
              <a:rPr lang="en-US" sz="2000" b="0" strike="noStrike" spc="-1">
                <a:solidFill>
                  <a:srgbClr val="000000"/>
                </a:solidFill>
                <a:latin typeface="Arial"/>
                <a:ea typeface="DejaVu Sans"/>
              </a:rPr>
              <a:t>static boolean holdsLock(Object o)</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//monitor de acceso</a:t>
            </a:r>
            <a:endParaRPr lang="es-MX" sz="2000" b="0" strike="noStrike" spc="-1">
              <a:latin typeface="Arial"/>
            </a:endParaRPr>
          </a:p>
          <a:p>
            <a:pPr>
              <a:lnSpc>
                <a:spcPct val="100000"/>
              </a:lnSpc>
            </a:pPr>
            <a:r>
              <a:rPr lang="en-US" sz="2000" b="0" strike="noStrike" spc="-1">
                <a:solidFill>
                  <a:srgbClr val="000000"/>
                </a:solidFill>
                <a:latin typeface="Arial"/>
                <a:ea typeface="DejaVu Sans"/>
              </a:rPr>
              <a:t>- boolean isAlive(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bolean isDaemon(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join(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join(long t)</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join(run)</a:t>
            </a:r>
            <a:endParaRPr lang="es-MX" sz="2000" b="0" strike="noStrike" spc="-1">
              <a:latin typeface="Arial"/>
            </a:endParaRPr>
          </a:p>
          <a:p>
            <a:pPr>
              <a:lnSpc>
                <a:spcPct val="100000"/>
              </a:lnSpc>
            </a:pPr>
            <a:endParaRPr lang="es-MX" sz="2000" b="0" strike="noStrike" spc="-1">
              <a:latin typeface="Arial"/>
            </a:endParaRPr>
          </a:p>
          <a:p>
            <a:pPr>
              <a:lnSpc>
                <a:spcPct val="100000"/>
              </a:lnSpc>
            </a:pPr>
            <a:endParaRPr lang="es-MX" sz="2000" b="0" strike="noStrike" spc="-1">
              <a:latin typeface="Arial"/>
            </a:endParaRPr>
          </a:p>
          <a:p>
            <a:pPr>
              <a:lnSpc>
                <a:spcPct val="100000"/>
              </a:lnSpc>
            </a:pPr>
            <a:endParaRPr lang="es-MX" sz="2000" b="0" strike="noStrike" spc="-1">
              <a:latin typeface="Arial"/>
            </a:endParaRPr>
          </a:p>
        </p:txBody>
      </p:sp>
      <p:sp>
        <p:nvSpPr>
          <p:cNvPr id="716" name="CustomShape 2"/>
          <p:cNvSpPr/>
          <p:nvPr/>
        </p:nvSpPr>
        <p:spPr>
          <a:xfrm>
            <a:off x="6828480" y="1038600"/>
            <a:ext cx="4607280" cy="2476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2000" b="0" strike="noStrike" spc="-1">
                <a:solidFill>
                  <a:srgbClr val="000000"/>
                </a:solidFill>
                <a:latin typeface="Arial"/>
                <a:ea typeface="DejaVu Sans"/>
              </a:rPr>
              <a:t>- void setDaemon(boolean b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setName(String nombre)</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setPriority(int p)</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static void sleep(long t)</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start(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String toString(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Static void yield( )</a:t>
            </a:r>
            <a:endParaRPr lang="es-MX" sz="2000" b="0" strike="noStrike" spc="-1">
              <a:latin typeface="Arial"/>
            </a:endParaRPr>
          </a:p>
          <a:p>
            <a:pPr>
              <a:lnSpc>
                <a:spcPct val="100000"/>
              </a:lnSpc>
            </a:pPr>
            <a:endParaRPr lang="es-MX" sz="2000" b="0" strike="noStrike" spc="-1">
              <a:latin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Interfaz Runnable (java.lang.Runnable)</a:t>
            </a:r>
            <a:endParaRPr lang="es-MX" sz="4400" b="0" strike="noStrike" spc="-1">
              <a:latin typeface="Arial"/>
            </a:endParaRPr>
          </a:p>
        </p:txBody>
      </p:sp>
      <p:sp>
        <p:nvSpPr>
          <p:cNvPr id="718" name="CustomShape 2"/>
          <p:cNvSpPr/>
          <p:nvPr/>
        </p:nvSpPr>
        <p:spPr>
          <a:xfrm>
            <a:off x="838080" y="1825560"/>
            <a:ext cx="5179320" cy="20552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Métodos:</a:t>
            </a:r>
            <a:endParaRPr lang="es-MX" sz="4400" b="0" strike="noStrike" spc="-1">
              <a:latin typeface="Arial"/>
            </a:endParaRPr>
          </a:p>
          <a:p>
            <a:pPr>
              <a:lnSpc>
                <a:spcPct val="100000"/>
              </a:lnSpc>
            </a:pPr>
            <a:r>
              <a:rPr lang="en-US" sz="1800" b="0" strike="noStrike" spc="-1">
                <a:solidFill>
                  <a:srgbClr val="000000"/>
                </a:solidFill>
                <a:latin typeface="Arial"/>
                <a:ea typeface="DejaVu Sans"/>
              </a:rPr>
              <a:t>void run( )</a:t>
            </a:r>
            <a:endParaRPr lang="es-MX" sz="1800" b="0" strike="noStrike" spc="-1">
              <a:latin typeface="Aria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CustomShape 1"/>
          <p:cNvSpPr/>
          <p:nvPr/>
        </p:nvSpPr>
        <p:spPr>
          <a:xfrm>
            <a:off x="542520" y="2036520"/>
            <a:ext cx="10625400" cy="4349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800" b="1" strike="noStrike" spc="-1">
                <a:solidFill>
                  <a:srgbClr val="000000"/>
                </a:solidFill>
                <a:latin typeface="Arial"/>
                <a:ea typeface="DejaVu Sans"/>
              </a:rPr>
              <a:t>Condición de carrera</a:t>
            </a:r>
            <a:r>
              <a:rPr lang="en-US" sz="2800" b="0" strike="noStrike" spc="-1">
                <a:solidFill>
                  <a:srgbClr val="000000"/>
                </a:solidFill>
                <a:latin typeface="Arial"/>
                <a:ea typeface="DejaVu Sans"/>
              </a:rPr>
              <a:t>: Ocurre cuando dos o más hilos acceden al mismo tiempo a un recurso compartido, de modo que el resultado de este acceso depende del orden de llegada de los hilos.</a:t>
            </a:r>
            <a:endParaRPr lang="es-MX" sz="2800" b="0" strike="noStrike" spc="-1">
              <a:latin typeface="Arial"/>
            </a:endParaRPr>
          </a:p>
          <a:p>
            <a:pPr>
              <a:lnSpc>
                <a:spcPct val="90000"/>
              </a:lnSpc>
            </a:pPr>
            <a:endParaRPr lang="es-MX" sz="2800" b="0" strike="noStrike" spc="-1">
              <a:latin typeface="Arial"/>
            </a:endParaRPr>
          </a:p>
          <a:p>
            <a:pPr>
              <a:lnSpc>
                <a:spcPct val="90000"/>
              </a:lnSpc>
            </a:pPr>
            <a:r>
              <a:rPr lang="en-US" sz="2800" b="1" strike="noStrike" spc="-1">
                <a:solidFill>
                  <a:srgbClr val="000000"/>
                </a:solidFill>
                <a:latin typeface="Arial"/>
                <a:ea typeface="DejaVu Sans"/>
              </a:rPr>
              <a:t>Sección crítica</a:t>
            </a:r>
            <a:r>
              <a:rPr lang="en-US" sz="2800" b="0" strike="noStrike" spc="-1">
                <a:solidFill>
                  <a:srgbClr val="000000"/>
                </a:solidFill>
                <a:latin typeface="Arial"/>
                <a:ea typeface="DejaVu Sans"/>
              </a:rPr>
              <a:t>: sección de un programa en que se accede a un recurso compartido, el cual no debe ser accedido por más de un hilo a la vez. </a:t>
            </a:r>
            <a:endParaRPr lang="es-MX" sz="2800" b="0" strike="noStrike" spc="-1">
              <a:latin typeface="Arial"/>
            </a:endParaRPr>
          </a:p>
          <a:p>
            <a:pPr>
              <a:lnSpc>
                <a:spcPct val="90000"/>
              </a:lnSpc>
            </a:pPr>
            <a:endParaRPr lang="es-MX" sz="2800" b="0" strike="noStrike" spc="-1">
              <a:latin typeface="Arial"/>
            </a:endParaRPr>
          </a:p>
          <a:p>
            <a:pPr>
              <a:lnSpc>
                <a:spcPct val="90000"/>
              </a:lnSpc>
            </a:pPr>
            <a:r>
              <a:rPr lang="en-US" sz="2800" b="1" strike="noStrike" spc="-1">
                <a:solidFill>
                  <a:srgbClr val="000000"/>
                </a:solidFill>
                <a:latin typeface="Arial"/>
                <a:ea typeface="DejaVu Sans"/>
              </a:rPr>
              <a:t>Exclusión mutua</a:t>
            </a:r>
            <a:r>
              <a:rPr lang="en-US" sz="2800" b="0" strike="noStrike" spc="-1">
                <a:solidFill>
                  <a:srgbClr val="000000"/>
                </a:solidFill>
                <a:latin typeface="Arial"/>
                <a:ea typeface="DejaVu Sans"/>
              </a:rPr>
              <a:t>: Un solo hilo debe excluir temporalmente a los demás hilos para utilizar un recurso compartido.</a:t>
            </a:r>
            <a:endParaRPr lang="es-MX" sz="2800" b="0" strike="noStrike" spc="-1">
              <a:latin typeface="Arial"/>
            </a:endParaRPr>
          </a:p>
        </p:txBody>
      </p:sp>
      <p:sp>
        <p:nvSpPr>
          <p:cNvPr id="720" name="CustomShape 2"/>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Situaciones al compartir recursos</a:t>
            </a:r>
            <a:endParaRPr lang="es-MX" sz="4400" b="0" strike="noStrike" spc="-1">
              <a:latin typeface="Aria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de hilos</a:t>
            </a:r>
            <a:endParaRPr lang="es-MX" sz="4400" b="0" strike="noStrike" spc="-1">
              <a:latin typeface="Arial"/>
            </a:endParaRPr>
          </a:p>
        </p:txBody>
      </p:sp>
      <p:sp>
        <p:nvSpPr>
          <p:cNvPr id="722" name="CustomShape 2"/>
          <p:cNvSpPr/>
          <p:nvPr/>
        </p:nvSpPr>
        <p:spPr>
          <a:xfrm>
            <a:off x="960840" y="1787760"/>
            <a:ext cx="10513440" cy="5170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216000" indent="-214920">
              <a:lnSpc>
                <a:spcPct val="100000"/>
              </a:lnSpc>
              <a:buClr>
                <a:srgbClr val="000000"/>
              </a:buClr>
              <a:buFont typeface="Arial"/>
              <a:buChar char="•"/>
            </a:pPr>
            <a:r>
              <a:rPr lang="en-US" sz="3600" b="0" strike="noStrike" spc="-1">
                <a:solidFill>
                  <a:srgbClr val="000000"/>
                </a:solidFill>
                <a:latin typeface="Arial"/>
                <a:ea typeface="DejaVu Sans"/>
              </a:rPr>
              <a:t>A nivel de bloque</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A nivel de método</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A nivel de variable (visibilidad)</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Mutex</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Variables de condición</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Semáforos</a:t>
            </a:r>
            <a:endParaRPr lang="es-MX" sz="3600" b="0" strike="noStrike" spc="-1">
              <a:latin typeface="Arial"/>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a nivel de bloque</a:t>
            </a:r>
            <a:endParaRPr lang="es-MX" sz="4400" b="0" strike="noStrike" spc="-1">
              <a:latin typeface="Arial"/>
            </a:endParaRPr>
          </a:p>
        </p:txBody>
      </p:sp>
      <p:sp>
        <p:nvSpPr>
          <p:cNvPr id="724" name="CustomShape 2"/>
          <p:cNvSpPr/>
          <p:nvPr/>
        </p:nvSpPr>
        <p:spPr>
          <a:xfrm>
            <a:off x="838080" y="1392120"/>
            <a:ext cx="10513440" cy="4269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2000" b="0" strike="noStrike" spc="-1">
                <a:solidFill>
                  <a:srgbClr val="000000"/>
                </a:solidFill>
                <a:latin typeface="Arial"/>
                <a:ea typeface="DejaVu Sans"/>
              </a:rPr>
              <a:t>synchronized (Object o){</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a:t>
            </a:r>
            <a:endParaRPr lang="es-MX" sz="2000" b="0" strike="noStrike" spc="-1">
              <a:latin typeface="Arial"/>
            </a:endParaRPr>
          </a:p>
          <a:p>
            <a:pPr>
              <a:lnSpc>
                <a:spcPct val="100000"/>
              </a:lnSpc>
            </a:pPr>
            <a:r>
              <a:rPr lang="en-US" sz="2000" b="0" strike="noStrike" spc="-1">
                <a:solidFill>
                  <a:srgbClr val="000000"/>
                </a:solidFill>
                <a:latin typeface="Arial"/>
                <a:ea typeface="DejaVu Sans"/>
              </a:rPr>
              <a:t>}</a:t>
            </a:r>
            <a:endParaRPr lang="es-MX" sz="2000" b="0" strike="noStrike" spc="-1">
              <a:latin typeface="Arial"/>
            </a:endParaRPr>
          </a:p>
          <a:p>
            <a:pPr>
              <a:lnSpc>
                <a:spcPct val="100000"/>
              </a:lnSpc>
            </a:pP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*Ej. BloqueSinc.java</a:t>
            </a:r>
            <a:endParaRPr lang="es-MX" sz="2000" b="0" strike="noStrike" spc="-1">
              <a:latin typeface="Arial"/>
            </a:endParaRPr>
          </a:p>
          <a:p>
            <a:pPr>
              <a:lnSpc>
                <a:spcPct val="90000"/>
              </a:lnSpc>
            </a:pPr>
            <a:endParaRPr lang="es-MX" sz="2000" b="0" strike="noStrike" spc="-1">
              <a:latin typeface="Aria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a nivel de método</a:t>
            </a:r>
            <a:endParaRPr lang="es-MX" sz="4400" b="0" strike="noStrike" spc="-1">
              <a:latin typeface="Arial"/>
            </a:endParaRPr>
          </a:p>
        </p:txBody>
      </p:sp>
      <p:sp>
        <p:nvSpPr>
          <p:cNvPr id="726" name="CustomShape 2"/>
          <p:cNvSpPr/>
          <p:nvPr/>
        </p:nvSpPr>
        <p:spPr>
          <a:xfrm>
            <a:off x="838080" y="1825560"/>
            <a:ext cx="10513440" cy="49150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2400" b="0" strike="noStrike" spc="-1">
                <a:solidFill>
                  <a:srgbClr val="000000"/>
                </a:solidFill>
                <a:latin typeface="Arial"/>
                <a:ea typeface="DejaVu Sans"/>
              </a:rPr>
              <a:t>public class Clase {</a:t>
            </a:r>
            <a:endParaRPr lang="es-MX" sz="2400" b="0" strike="noStrike" spc="-1">
              <a:latin typeface="Arial"/>
            </a:endParaRPr>
          </a:p>
          <a:p>
            <a:pPr>
              <a:lnSpc>
                <a:spcPct val="100000"/>
              </a:lnSpc>
            </a:pPr>
            <a:r>
              <a:rPr lang="en-US" sz="2400" b="0" strike="noStrike" spc="-1">
                <a:solidFill>
                  <a:srgbClr val="000000"/>
                </a:solidFill>
                <a:latin typeface="Arial"/>
                <a:ea typeface="DejaVu Sans"/>
              </a:rPr>
              <a:t>   public synchonized void método(. . .) { … </a:t>
            </a:r>
            <a:endParaRPr lang="es-MX" sz="2400" b="0" strike="noStrike" spc="-1">
              <a:latin typeface="Arial"/>
            </a:endParaRPr>
          </a:p>
          <a:p>
            <a:pPr>
              <a:lnSpc>
                <a:spcPct val="100000"/>
              </a:lnSpc>
            </a:pPr>
            <a:r>
              <a:rPr lang="en-US" sz="2400" b="0" strike="noStrike" spc="-1">
                <a:solidFill>
                  <a:srgbClr val="000000"/>
                </a:solidFill>
                <a:latin typeface="Arial"/>
                <a:ea typeface="DejaVu Sans"/>
              </a:rPr>
              <a:t>}</a:t>
            </a:r>
            <a:endParaRPr lang="es-MX" sz="2400" b="0" strike="noStrike" spc="-1">
              <a:latin typeface="Arial"/>
            </a:endParaRPr>
          </a:p>
          <a:p>
            <a:pPr>
              <a:lnSpc>
                <a:spcPct val="100000"/>
              </a:lnSpc>
            </a:pPr>
            <a:r>
              <a:rPr lang="en-US" sz="2400" b="0" strike="noStrike" spc="-1">
                <a:solidFill>
                  <a:srgbClr val="000000"/>
                </a:solidFill>
                <a:latin typeface="Arial"/>
                <a:ea typeface="DejaVu Sans"/>
              </a:rPr>
              <a:t>   . . .</a:t>
            </a:r>
            <a:endParaRPr lang="es-MX" sz="2400" b="0" strike="noStrike" spc="-1">
              <a:latin typeface="Arial"/>
            </a:endParaRPr>
          </a:p>
          <a:p>
            <a:pPr>
              <a:lnSpc>
                <a:spcPct val="100000"/>
              </a:lnSpc>
            </a:pPr>
            <a:r>
              <a:rPr lang="en-US" sz="2400" b="0" strike="noStrike" spc="-1">
                <a:solidFill>
                  <a:srgbClr val="000000"/>
                </a:solidFill>
                <a:latin typeface="Arial"/>
                <a:ea typeface="DejaVu Sans"/>
              </a:rPr>
              <a:t>}</a:t>
            </a:r>
            <a:endParaRPr lang="es-MX" sz="2400" b="0" strike="noStrike" spc="-1">
              <a:latin typeface="Arial"/>
            </a:endParaRPr>
          </a:p>
          <a:p>
            <a:pPr>
              <a:lnSpc>
                <a:spcPct val="100000"/>
              </a:lnSpc>
            </a:pPr>
            <a:endParaRPr lang="es-MX" sz="2400" b="0" strike="noStrike" spc="-1">
              <a:latin typeface="Arial"/>
            </a:endParaRPr>
          </a:p>
          <a:p>
            <a:pPr>
              <a:lnSpc>
                <a:spcPct val="100000"/>
              </a:lnSpc>
            </a:pPr>
            <a:r>
              <a:rPr lang="en-US" sz="2400" b="0" strike="noStrike" spc="-1">
                <a:solidFill>
                  <a:srgbClr val="000000"/>
                </a:solidFill>
                <a:latin typeface="Arial"/>
                <a:ea typeface="DejaVu Sans"/>
              </a:rPr>
              <a:t>*Ej. MetodoSinc.java </a:t>
            </a:r>
            <a:endParaRPr lang="es-MX" sz="2400" b="0" strike="noStrike" spc="-1">
              <a:latin typeface="Aria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a nivel de variable</a:t>
            </a:r>
            <a:endParaRPr lang="es-MX" sz="4400" b="0" strike="noStrike" spc="-1">
              <a:latin typeface="Arial"/>
            </a:endParaRPr>
          </a:p>
        </p:txBody>
      </p:sp>
      <p:sp>
        <p:nvSpPr>
          <p:cNvPr id="728" name="CustomShape 2"/>
          <p:cNvSpPr/>
          <p:nvPr/>
        </p:nvSpPr>
        <p:spPr>
          <a:xfrm>
            <a:off x="838080" y="1825560"/>
            <a:ext cx="5179320" cy="3194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200" b="0" strike="noStrike" spc="-1">
                <a:solidFill>
                  <a:srgbClr val="000000"/>
                </a:solidFill>
                <a:latin typeface="Arial"/>
                <a:ea typeface="DejaVu Sans"/>
              </a:rPr>
              <a:t>class Contador{</a:t>
            </a:r>
            <a:endParaRPr lang="es-MX" sz="3200" b="0" strike="noStrike" spc="-1">
              <a:latin typeface="Arial"/>
            </a:endParaRPr>
          </a:p>
          <a:p>
            <a:pPr>
              <a:lnSpc>
                <a:spcPct val="100000"/>
              </a:lnSpc>
            </a:pPr>
            <a:r>
              <a:rPr lang="en-US" sz="3200" b="0" strike="noStrike" spc="-1">
                <a:solidFill>
                  <a:srgbClr val="000000"/>
                </a:solidFill>
                <a:latin typeface="Arial"/>
                <a:ea typeface="DejaVu Sans"/>
              </a:rPr>
              <a:t>    private </a:t>
            </a:r>
            <a:r>
              <a:rPr lang="en-US" sz="3200" b="1" strike="noStrike" spc="-1">
                <a:solidFill>
                  <a:srgbClr val="000000"/>
                </a:solidFill>
                <a:latin typeface="Arial"/>
                <a:ea typeface="DejaVu Sans"/>
              </a:rPr>
              <a:t>volatile</a:t>
            </a:r>
            <a:r>
              <a:rPr lang="en-US" sz="3200" b="0" strike="noStrike" spc="-1">
                <a:solidFill>
                  <a:srgbClr val="000000"/>
                </a:solidFill>
                <a:latin typeface="Arial"/>
                <a:ea typeface="DejaVu Sans"/>
              </a:rPr>
              <a:t> int vcuenta;</a:t>
            </a:r>
            <a:endParaRPr lang="es-MX" sz="3200" b="0" strike="noStrike" spc="-1">
              <a:latin typeface="Arial"/>
            </a:endParaRPr>
          </a:p>
          <a:p>
            <a:pPr>
              <a:lnSpc>
                <a:spcPct val="100000"/>
              </a:lnSpc>
            </a:pPr>
            <a:r>
              <a:rPr lang="en-US" sz="3200" b="0" strike="noStrike" spc="-1">
                <a:solidFill>
                  <a:srgbClr val="000000"/>
                </a:solidFill>
                <a:latin typeface="Arial"/>
                <a:ea typeface="DejaVu Sans"/>
              </a:rPr>
              <a:t>    public Contador(){</a:t>
            </a:r>
            <a:endParaRPr lang="es-MX" sz="3200" b="0" strike="noStrike" spc="-1">
              <a:latin typeface="Arial"/>
            </a:endParaRPr>
          </a:p>
          <a:p>
            <a:pPr>
              <a:lnSpc>
                <a:spcPct val="100000"/>
              </a:lnSpc>
            </a:pPr>
            <a:r>
              <a:rPr lang="en-US" sz="3200" b="0" strike="noStrike" spc="-1">
                <a:solidFill>
                  <a:srgbClr val="000000"/>
                </a:solidFill>
                <a:latin typeface="Arial"/>
                <a:ea typeface="DejaVu Sans"/>
              </a:rPr>
              <a:t>        vcuenta=0;</a:t>
            </a:r>
            <a:endParaRPr lang="es-MX" sz="3200" b="0" strike="noStrike" spc="-1">
              <a:latin typeface="Arial"/>
            </a:endParaRPr>
          </a:p>
          <a:p>
            <a:pPr>
              <a:lnSpc>
                <a:spcPct val="100000"/>
              </a:lnSpc>
            </a:pPr>
            <a:r>
              <a:rPr lang="en-US" sz="3200" b="0" strike="noStrike" spc="-1">
                <a:solidFill>
                  <a:srgbClr val="000000"/>
                </a:solidFill>
                <a:latin typeface="Arial"/>
                <a:ea typeface="DejaVu Sans"/>
              </a:rPr>
              <a:t>    }//constructor Contador</a:t>
            </a:r>
            <a:endParaRPr lang="es-MX" sz="3200" b="0" strike="noStrike" spc="-1">
              <a:latin typeface="Aria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Mutex  (java.útil.concurrent.*;) </a:t>
            </a:r>
            <a:endParaRPr lang="es-MX" sz="4400" b="0" strike="noStrike" spc="-1">
              <a:latin typeface="Arial"/>
            </a:endParaRPr>
          </a:p>
        </p:txBody>
      </p:sp>
      <p:sp>
        <p:nvSpPr>
          <p:cNvPr id="730" name="CustomShape 2"/>
          <p:cNvSpPr/>
          <p:nvPr/>
        </p:nvSpPr>
        <p:spPr>
          <a:xfrm>
            <a:off x="725760" y="2030400"/>
            <a:ext cx="10513440" cy="3172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216000" indent="-214920">
              <a:lnSpc>
                <a:spcPct val="100000"/>
              </a:lnSpc>
              <a:buClr>
                <a:srgbClr val="000000"/>
              </a:buClr>
              <a:buFont typeface="Arial"/>
              <a:buChar char="•"/>
            </a:pPr>
            <a:r>
              <a:rPr lang="en-US" sz="4400" b="0" strike="noStrike" spc="-1">
                <a:solidFill>
                  <a:srgbClr val="000000"/>
                </a:solidFill>
                <a:latin typeface="Arial"/>
                <a:ea typeface="DejaVu Sans"/>
              </a:rPr>
              <a:t> Interfaz Lock</a:t>
            </a:r>
            <a:endParaRPr lang="es-MX" sz="4400" b="0" strike="noStrike" spc="-1">
              <a:latin typeface="Arial"/>
            </a:endParaRPr>
          </a:p>
          <a:p>
            <a:pPr marL="216000" indent="-214920">
              <a:lnSpc>
                <a:spcPct val="100000"/>
              </a:lnSpc>
              <a:buClr>
                <a:srgbClr val="000000"/>
              </a:buClr>
              <a:buFont typeface="Arial"/>
              <a:buChar char="•"/>
            </a:pPr>
            <a:r>
              <a:rPr lang="en-US" sz="4400" b="0" strike="noStrike" spc="-1">
                <a:solidFill>
                  <a:srgbClr val="000000"/>
                </a:solidFill>
                <a:latin typeface="Arial"/>
                <a:ea typeface="DejaVu Sans"/>
              </a:rPr>
              <a:t> Clase ReentrantLock</a:t>
            </a:r>
            <a:endParaRPr lang="es-MX" sz="4400" b="0" strike="noStrike" spc="-1">
              <a:latin typeface="Arial"/>
            </a:endParaRPr>
          </a:p>
          <a:p>
            <a:pPr marL="216000" indent="-214920">
              <a:lnSpc>
                <a:spcPct val="100000"/>
              </a:lnSpc>
              <a:buClr>
                <a:srgbClr val="000000"/>
              </a:buClr>
              <a:buFont typeface="Arial"/>
              <a:buChar char="•"/>
            </a:pPr>
            <a:r>
              <a:rPr lang="en-US" sz="4400" b="0" strike="noStrike" spc="-1">
                <a:solidFill>
                  <a:srgbClr val="000000"/>
                </a:solidFill>
                <a:latin typeface="Arial"/>
                <a:ea typeface="DejaVu Sans"/>
              </a:rPr>
              <a:t> Interfaz ReadWriteLock</a:t>
            </a:r>
            <a:endParaRPr lang="es-MX" sz="4400" b="0" strike="noStrike" spc="-1">
              <a:latin typeface="Arial"/>
            </a:endParaRPr>
          </a:p>
          <a:p>
            <a:pPr>
              <a:lnSpc>
                <a:spcPct val="100000"/>
              </a:lnSpc>
            </a:pPr>
            <a:endParaRPr lang="es-MX" sz="4400" b="0" strike="noStrike" spc="-1">
              <a:latin typeface="Aria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Desventajas de usar bloques/métodos sincronizados</a:t>
            </a:r>
            <a:endParaRPr lang="es-MX" sz="4400" b="0" strike="noStrike" spc="-1">
              <a:latin typeface="Arial"/>
            </a:endParaRPr>
          </a:p>
        </p:txBody>
      </p:sp>
      <p:sp>
        <p:nvSpPr>
          <p:cNvPr id="732" name="CustomShape 2"/>
          <p:cNvSpPr/>
          <p:nvPr/>
        </p:nvSpPr>
        <p:spPr>
          <a:xfrm>
            <a:off x="609480" y="1604520"/>
            <a:ext cx="10971000" cy="46602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Si un hilo </a:t>
            </a:r>
            <a:r>
              <a:rPr lang="es-MX" sz="2400" b="1" strike="noStrike" spc="-1" dirty="0">
                <a:solidFill>
                  <a:srgbClr val="000000"/>
                </a:solidFill>
                <a:latin typeface="Arial"/>
                <a:ea typeface="DejaVu Sans"/>
              </a:rPr>
              <a:t>ya está dentro </a:t>
            </a:r>
            <a:r>
              <a:rPr lang="es-MX" sz="2400" b="0" strike="noStrike" spc="-1" dirty="0">
                <a:solidFill>
                  <a:srgbClr val="000000"/>
                </a:solidFill>
                <a:latin typeface="Arial"/>
                <a:ea typeface="DejaVu Sans"/>
              </a:rPr>
              <a:t>de un método sincronizado y </a:t>
            </a:r>
            <a:r>
              <a:rPr lang="es-MX" sz="2400" b="1" strike="noStrike" spc="-1" dirty="0">
                <a:solidFill>
                  <a:srgbClr val="000000"/>
                </a:solidFill>
                <a:latin typeface="Arial"/>
                <a:ea typeface="DejaVu Sans"/>
              </a:rPr>
              <a:t>otro hilo intenta entrar</a:t>
            </a:r>
            <a:r>
              <a:rPr lang="es-MX" sz="2400" b="0" strike="noStrike" spc="-1" dirty="0">
                <a:solidFill>
                  <a:srgbClr val="000000"/>
                </a:solidFill>
                <a:latin typeface="Arial"/>
                <a:ea typeface="DejaVu Sans"/>
              </a:rPr>
              <a:t>, </a:t>
            </a:r>
            <a:r>
              <a:rPr lang="es-MX" sz="2400" b="1" strike="noStrike" spc="-1" dirty="0">
                <a:solidFill>
                  <a:srgbClr val="000000"/>
                </a:solidFill>
                <a:latin typeface="Arial"/>
                <a:ea typeface="DejaVu Sans"/>
              </a:rPr>
              <a:t>éste tendrá que esperar </a:t>
            </a:r>
            <a:r>
              <a:rPr lang="es-MX" sz="2400" b="0" strike="noStrike" spc="-1" dirty="0">
                <a:solidFill>
                  <a:srgbClr val="000000"/>
                </a:solidFill>
                <a:latin typeface="Arial"/>
                <a:ea typeface="DejaVu Sans"/>
              </a:rPr>
              <a:t>(y no puede ser interrumpido) a que el candado de acceso sea retirado aún cuando el primer hilo aún no haya ejecutado ninguna instrucción de la sección crítica.</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Cualquier hilo puede ganar el acceso al candado del monitor de acceso una vez que éste es liberado y eso puede llevar a situaciones donde </a:t>
            </a:r>
            <a:r>
              <a:rPr lang="es-MX" sz="2400" b="1" strike="noStrike" spc="-1" dirty="0">
                <a:solidFill>
                  <a:srgbClr val="000000"/>
                </a:solidFill>
                <a:latin typeface="Arial"/>
                <a:ea typeface="DejaVu Sans"/>
              </a:rPr>
              <a:t>un hilo nunca tenga acceso a él</a:t>
            </a:r>
            <a:r>
              <a:rPr lang="es-MX" sz="2400" b="0" strike="noStrike" spc="-1" dirty="0">
                <a:solidFill>
                  <a:srgbClr val="000000"/>
                </a:solidFill>
                <a:latin typeface="Arial"/>
                <a:ea typeface="DejaVu Sans"/>
              </a:rPr>
              <a:t> (dependiendo de la prioridad del hilo)</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Bloques sincronizados </a:t>
            </a:r>
            <a:r>
              <a:rPr lang="es-MX" sz="2400" b="1" strike="noStrike" spc="-1" dirty="0">
                <a:solidFill>
                  <a:srgbClr val="000000"/>
                </a:solidFill>
                <a:latin typeface="Arial"/>
                <a:ea typeface="DejaVu Sans"/>
              </a:rPr>
              <a:t>no ofrecen métodos para examinar la cola de hilos </a:t>
            </a:r>
            <a:r>
              <a:rPr lang="es-MX" sz="2400" b="0" strike="noStrike" spc="-1" dirty="0">
                <a:solidFill>
                  <a:srgbClr val="000000"/>
                </a:solidFill>
                <a:latin typeface="Arial"/>
                <a:ea typeface="DejaVu Sans"/>
              </a:rPr>
              <a:t>bloqueados en espera del monitor de acceso</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Un bloque sincronizado </a:t>
            </a:r>
            <a:r>
              <a:rPr lang="es-MX" sz="2400" b="1" strike="noStrike" spc="-1" dirty="0">
                <a:solidFill>
                  <a:srgbClr val="000000"/>
                </a:solidFill>
                <a:latin typeface="Arial"/>
                <a:ea typeface="DejaVu Sans"/>
              </a:rPr>
              <a:t>no puede comenzar en un método y terminar en otro</a:t>
            </a:r>
            <a:endParaRPr lang="es-MX" sz="2400" b="1" strike="noStrike" spc="-1" dirty="0">
              <a:latin typeface="Arial"/>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CustomShape 1"/>
          <p:cNvSpPr/>
          <p:nvPr/>
        </p:nvSpPr>
        <p:spPr>
          <a:xfrm>
            <a:off x="838080" y="0"/>
            <a:ext cx="10513440" cy="1165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Interfaz Lock (java.útil.concurrent.Lock)</a:t>
            </a:r>
            <a:endParaRPr lang="es-MX" sz="4400" b="0" strike="noStrike" spc="-1">
              <a:latin typeface="Arial"/>
            </a:endParaRPr>
          </a:p>
        </p:txBody>
      </p:sp>
      <p:sp>
        <p:nvSpPr>
          <p:cNvPr id="734" name="CustomShape 2"/>
          <p:cNvSpPr/>
          <p:nvPr/>
        </p:nvSpPr>
        <p:spPr>
          <a:xfrm>
            <a:off x="718920" y="1167480"/>
            <a:ext cx="10751760" cy="1600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800" b="0" strike="noStrike" spc="-1">
                <a:solidFill>
                  <a:srgbClr val="000000"/>
                </a:solidFill>
                <a:latin typeface="Arial"/>
                <a:ea typeface="DejaVu Sans"/>
              </a:rPr>
              <a:t>Un bloqueo (lock) es un mecanismo para controlar el acceso a un recurso compartido por múltiples hilos.  Un lock es un objeto que solamente puede ser poseido por un hilo a la vez.</a:t>
            </a:r>
            <a:endParaRPr lang="es-MX" sz="2800" b="0" strike="noStrike" spc="-1">
              <a:latin typeface="Arial"/>
            </a:endParaRPr>
          </a:p>
        </p:txBody>
      </p:sp>
      <p:sp>
        <p:nvSpPr>
          <p:cNvPr id="735" name="CustomShape 3"/>
          <p:cNvSpPr/>
          <p:nvPr/>
        </p:nvSpPr>
        <p:spPr>
          <a:xfrm>
            <a:off x="1308240" y="3319920"/>
            <a:ext cx="9212400" cy="2649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a:solidFill>
                  <a:srgbClr val="000000"/>
                </a:solidFill>
                <a:latin typeface="Arial"/>
                <a:ea typeface="DejaVu Sans"/>
              </a:rPr>
              <a:t>Lock l = ...;</a:t>
            </a:r>
            <a:endParaRPr lang="es-MX" sz="2400" b="0" strike="noStrike" spc="-1">
              <a:latin typeface="Arial"/>
            </a:endParaRPr>
          </a:p>
          <a:p>
            <a:pPr>
              <a:lnSpc>
                <a:spcPct val="100000"/>
              </a:lnSpc>
            </a:pPr>
            <a:r>
              <a:rPr lang="en-US" sz="2400" b="0" strike="noStrike" spc="-1">
                <a:solidFill>
                  <a:srgbClr val="000000"/>
                </a:solidFill>
                <a:latin typeface="Arial"/>
                <a:ea typeface="DejaVu Sans"/>
              </a:rPr>
              <a:t> l.lock();</a:t>
            </a:r>
            <a:endParaRPr lang="es-MX" sz="2400" b="0" strike="noStrike" spc="-1">
              <a:latin typeface="Arial"/>
            </a:endParaRPr>
          </a:p>
          <a:p>
            <a:pPr>
              <a:lnSpc>
                <a:spcPct val="100000"/>
              </a:lnSpc>
            </a:pPr>
            <a:r>
              <a:rPr lang="en-US" sz="2400" b="0" strike="noStrike" spc="-1">
                <a:solidFill>
                  <a:srgbClr val="000000"/>
                </a:solidFill>
                <a:latin typeface="Arial"/>
                <a:ea typeface="DejaVu Sans"/>
              </a:rPr>
              <a:t> try {</a:t>
            </a:r>
            <a:endParaRPr lang="es-MX" sz="2400" b="0" strike="noStrike" spc="-1">
              <a:latin typeface="Arial"/>
            </a:endParaRPr>
          </a:p>
          <a:p>
            <a:pPr>
              <a:lnSpc>
                <a:spcPct val="100000"/>
              </a:lnSpc>
            </a:pPr>
            <a:r>
              <a:rPr lang="en-US" sz="2400" b="0" strike="noStrike" spc="-1">
                <a:solidFill>
                  <a:srgbClr val="000000"/>
                </a:solidFill>
                <a:latin typeface="Arial"/>
                <a:ea typeface="DejaVu Sans"/>
              </a:rPr>
              <a:t>   // acceso al recurso compartido protegido por el bloqueo</a:t>
            </a:r>
            <a:endParaRPr lang="es-MX" sz="2400" b="0" strike="noStrike" spc="-1">
              <a:latin typeface="Arial"/>
            </a:endParaRPr>
          </a:p>
          <a:p>
            <a:pPr>
              <a:lnSpc>
                <a:spcPct val="100000"/>
              </a:lnSpc>
            </a:pPr>
            <a:r>
              <a:rPr lang="en-US" sz="2400" b="0" strike="noStrike" spc="-1">
                <a:solidFill>
                  <a:srgbClr val="000000"/>
                </a:solidFill>
                <a:latin typeface="Arial"/>
                <a:ea typeface="DejaVu Sans"/>
              </a:rPr>
              <a:t> } finally {</a:t>
            </a:r>
            <a:endParaRPr lang="es-MX" sz="2400" b="0" strike="noStrike" spc="-1">
              <a:latin typeface="Arial"/>
            </a:endParaRPr>
          </a:p>
          <a:p>
            <a:pPr>
              <a:lnSpc>
                <a:spcPct val="100000"/>
              </a:lnSpc>
            </a:pPr>
            <a:r>
              <a:rPr lang="en-US" sz="2400" b="0" strike="noStrike" spc="-1">
                <a:solidFill>
                  <a:srgbClr val="000000"/>
                </a:solidFill>
                <a:latin typeface="Arial"/>
                <a:ea typeface="DejaVu Sans"/>
              </a:rPr>
              <a:t>   l.unlock();</a:t>
            </a:r>
            <a:endParaRPr lang="es-MX" sz="2400" b="0" strike="noStrike" spc="-1">
              <a:latin typeface="Arial"/>
            </a:endParaRPr>
          </a:p>
          <a:p>
            <a:pPr>
              <a:lnSpc>
                <a:spcPct val="100000"/>
              </a:lnSpc>
            </a:pPr>
            <a:r>
              <a:rPr lang="en-US" sz="2400" b="0" strike="noStrike" spc="-1">
                <a:solidFill>
                  <a:srgbClr val="000000"/>
                </a:solidFill>
                <a:latin typeface="Arial"/>
                <a:ea typeface="DejaVu Sans"/>
              </a:rPr>
              <a:t> }</a:t>
            </a:r>
            <a:endParaRPr lang="es-MX" sz="2400" b="0" strike="noStrike" spc="-1">
              <a:latin typeface="Aria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CustomShape 1"/>
          <p:cNvSpPr/>
          <p:nvPr/>
        </p:nvSpPr>
        <p:spPr>
          <a:xfrm>
            <a:off x="838080" y="365040"/>
            <a:ext cx="10513440" cy="702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Interfaz Lock </a:t>
            </a:r>
            <a:endParaRPr lang="es-MX" sz="4400" b="0" strike="noStrike" spc="-1">
              <a:latin typeface="Arial"/>
            </a:endParaRPr>
          </a:p>
        </p:txBody>
      </p:sp>
      <p:sp>
        <p:nvSpPr>
          <p:cNvPr id="737" name="CustomShape 2"/>
          <p:cNvSpPr/>
          <p:nvPr/>
        </p:nvSpPr>
        <p:spPr>
          <a:xfrm>
            <a:off x="838080" y="1825560"/>
            <a:ext cx="9682920" cy="4349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a:solidFill>
                  <a:srgbClr val="000000"/>
                </a:solidFill>
                <a:latin typeface="Arial"/>
                <a:ea typeface="DejaVu Sans"/>
              </a:rPr>
              <a:t>Métodos:</a:t>
            </a:r>
            <a:endParaRPr lang="es-MX" sz="3200" b="0" strike="noStrike" spc="-1">
              <a:latin typeface="Arial"/>
            </a:endParaRPr>
          </a:p>
          <a:p>
            <a:pPr>
              <a:lnSpc>
                <a:spcPct val="90000"/>
              </a:lnSpc>
            </a:pPr>
            <a:endParaRPr lang="es-MX" sz="32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void lock(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void lockInterruptibly(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Condition new Condition(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boolean tryLock(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boolean tryLock(long t, TimeUnit unidades)</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void unlock( )</a:t>
            </a:r>
            <a:endParaRPr lang="es-MX" sz="2400" b="0" strike="noStrike" spc="-1">
              <a:latin typeface="Aria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CustomShape 1"/>
          <p:cNvSpPr/>
          <p:nvPr/>
        </p:nvSpPr>
        <p:spPr>
          <a:xfrm>
            <a:off x="83808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a:solidFill>
                  <a:srgbClr val="000000"/>
                </a:solidFill>
                <a:latin typeface="Arial"/>
                <a:ea typeface="DejaVu Sans"/>
              </a:rPr>
              <a:t>Clase ReentrantLock (java.util.concurrent.locks.ReentrantLock)</a:t>
            </a:r>
            <a:endParaRPr lang="es-MX" sz="3200" b="0" strike="noStrike" spc="-1">
              <a:latin typeface="Arial"/>
            </a:endParaRPr>
          </a:p>
        </p:txBody>
      </p:sp>
      <p:sp>
        <p:nvSpPr>
          <p:cNvPr id="739" name="CustomShape 2"/>
          <p:cNvSpPr/>
          <p:nvPr/>
        </p:nvSpPr>
        <p:spPr>
          <a:xfrm>
            <a:off x="838080" y="1463040"/>
            <a:ext cx="10400040" cy="5146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buClr>
                <a:srgbClr val="000000"/>
              </a:buClr>
              <a:buFont typeface="Arial"/>
              <a:buChar char="•"/>
            </a:pPr>
            <a:r>
              <a:rPr lang="en-US" sz="4400" b="0" strike="noStrike" spc="-1">
                <a:solidFill>
                  <a:srgbClr val="000000"/>
                </a:solidFill>
                <a:latin typeface="Arial"/>
                <a:ea typeface="DejaVu Sans"/>
              </a:rPr>
              <a:t>Constructores:</a:t>
            </a:r>
            <a:endParaRPr lang="es-MX" sz="44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ReentrantLock(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ReentrantLock(boolean justicia)</a:t>
            </a:r>
            <a:endParaRPr lang="es-MX" sz="1800" b="0" strike="noStrike" spc="-1">
              <a:latin typeface="Arial"/>
            </a:endParaRPr>
          </a:p>
          <a:p>
            <a:pPr>
              <a:lnSpc>
                <a:spcPct val="100000"/>
              </a:lnSpc>
            </a:pPr>
            <a:endParaRPr lang="es-MX" sz="1800" b="0" strike="noStrike" spc="-1">
              <a:latin typeface="Arial"/>
            </a:endParaRPr>
          </a:p>
          <a:p>
            <a:pPr marL="571680" indent="-570240">
              <a:lnSpc>
                <a:spcPct val="90000"/>
              </a:lnSpc>
              <a:buClr>
                <a:srgbClr val="000000"/>
              </a:buClr>
              <a:buFont typeface="Arial"/>
              <a:buChar char="•"/>
            </a:pPr>
            <a:r>
              <a:rPr lang="en-US" sz="4400" b="0" strike="noStrike" spc="-1">
                <a:solidFill>
                  <a:srgbClr val="000000"/>
                </a:solidFill>
                <a:latin typeface="Arial"/>
                <a:ea typeface="DejaVu Sans"/>
              </a:rPr>
              <a:t>Métodos:</a:t>
            </a:r>
            <a:endParaRPr lang="es-MX" sz="44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protected Thread getOwner(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int getHoldCount( ) //#veces lock sin unlock</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int getQueueLength(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protected Collection&lt;Thread&gt; getWaitingThreads(Condition c)</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int getWaitingQueueLength(Condition c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boolean isFair(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boolean isLocked(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void lock(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void lockInterruptibly( )</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 name="CustomShape 1"/>
          <p:cNvSpPr/>
          <p:nvPr/>
        </p:nvSpPr>
        <p:spPr>
          <a:xfrm>
            <a:off x="83808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a:solidFill>
                  <a:srgbClr val="000000"/>
                </a:solidFill>
                <a:latin typeface="Arial"/>
                <a:ea typeface="DejaVu Sans"/>
              </a:rPr>
              <a:t>Clase ReentrantLock (java.útil.concurrent.locks.ReentrantLock)</a:t>
            </a:r>
            <a:endParaRPr lang="es-MX" sz="3200" b="0" strike="noStrike" spc="-1">
              <a:latin typeface="Arial"/>
            </a:endParaRPr>
          </a:p>
        </p:txBody>
      </p:sp>
      <p:sp>
        <p:nvSpPr>
          <p:cNvPr id="741" name="CustomShape 2"/>
          <p:cNvSpPr/>
          <p:nvPr/>
        </p:nvSpPr>
        <p:spPr>
          <a:xfrm>
            <a:off x="956520" y="1842840"/>
            <a:ext cx="8945280" cy="2192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100000"/>
              </a:lnSpc>
              <a:buClr>
                <a:srgbClr val="000000"/>
              </a:buClr>
              <a:buFont typeface="Arial"/>
              <a:buChar char="•"/>
            </a:pPr>
            <a:r>
              <a:rPr lang="en-US" sz="2400" b="0" strike="noStrike" spc="-1">
                <a:solidFill>
                  <a:srgbClr val="000000"/>
                </a:solidFill>
                <a:latin typeface="Arial"/>
                <a:ea typeface="DejaVu Sans"/>
              </a:rPr>
              <a:t>Métodos</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Condition newCondition(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boolean tryLock(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boolean tryLock(long t, TimeUnit unidades)</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void unlock( )</a:t>
            </a:r>
            <a:endParaRPr lang="es-MX" sz="2400" b="0" strike="noStrike" spc="-1">
              <a:latin typeface="Arial"/>
            </a:endParaRPr>
          </a:p>
          <a:p>
            <a:pPr>
              <a:lnSpc>
                <a:spcPct val="100000"/>
              </a:lnSpc>
            </a:pPr>
            <a:endParaRPr lang="es-MX" sz="2400" b="0" strike="noStrike" spc="-1">
              <a:latin typeface="Aria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 name="CustomShape 1"/>
          <p:cNvSpPr/>
          <p:nvPr/>
        </p:nvSpPr>
        <p:spPr>
          <a:xfrm>
            <a:off x="83808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a:solidFill>
                  <a:srgbClr val="000000"/>
                </a:solidFill>
                <a:latin typeface="Arial"/>
                <a:ea typeface="DejaVu Sans"/>
              </a:rPr>
              <a:t>Clase ReentrantLock (java.útil.concurrent.locks.ReentrantLock)</a:t>
            </a:r>
            <a:endParaRPr lang="es-MX" sz="3200" b="0" strike="noStrike" spc="-1">
              <a:latin typeface="Arial"/>
            </a:endParaRPr>
          </a:p>
        </p:txBody>
      </p:sp>
      <p:sp>
        <p:nvSpPr>
          <p:cNvPr id="743" name="CustomShape 2"/>
          <p:cNvSpPr/>
          <p:nvPr/>
        </p:nvSpPr>
        <p:spPr>
          <a:xfrm>
            <a:off x="838080" y="1463040"/>
            <a:ext cx="10400040" cy="52596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000" b="0" strike="noStrike" spc="-1" dirty="0" err="1">
                <a:solidFill>
                  <a:srgbClr val="000000"/>
                </a:solidFill>
                <a:latin typeface="Arial"/>
                <a:ea typeface="DejaVu Sans"/>
              </a:rPr>
              <a:t>Uso</a:t>
            </a:r>
            <a:r>
              <a:rPr lang="en-US" sz="2000" b="0" strike="noStrike" spc="-1" dirty="0">
                <a:solidFill>
                  <a:srgbClr val="000000"/>
                </a:solidFill>
                <a:latin typeface="Arial"/>
                <a:ea typeface="DejaVu Sans"/>
              </a:rPr>
              <a:t>:</a:t>
            </a:r>
            <a:endParaRPr lang="es-MX" sz="2000" b="0" strike="noStrike" spc="-1" dirty="0">
              <a:latin typeface="Arial"/>
            </a:endParaRPr>
          </a:p>
          <a:p>
            <a:pPr>
              <a:lnSpc>
                <a:spcPct val="90000"/>
              </a:lnSpc>
            </a:pPr>
            <a:endParaRPr lang="es-MX" sz="2000" b="0" strike="noStrike" spc="-1" dirty="0">
              <a:latin typeface="Arial"/>
            </a:endParaRPr>
          </a:p>
          <a:p>
            <a:pPr>
              <a:lnSpc>
                <a:spcPct val="90000"/>
              </a:lnSpc>
            </a:pP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class </a:t>
            </a:r>
            <a:r>
              <a:rPr lang="en-US" sz="2000" b="0" strike="noStrike" spc="-1" dirty="0" err="1">
                <a:solidFill>
                  <a:srgbClr val="000000"/>
                </a:solidFill>
                <a:latin typeface="Arial"/>
                <a:ea typeface="DejaVu Sans"/>
              </a:rPr>
              <a:t>miClase</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private </a:t>
            </a:r>
            <a:r>
              <a:rPr lang="en-US" sz="2000" b="0" strike="noStrike" spc="-1" dirty="0">
                <a:solidFill>
                  <a:srgbClr val="C00000"/>
                </a:solidFill>
                <a:latin typeface="Arial"/>
                <a:ea typeface="DejaVu Sans"/>
              </a:rPr>
              <a:t>final</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ReentrantLock</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rl</a:t>
            </a:r>
            <a:r>
              <a:rPr lang="en-US" sz="2000" b="0" strike="noStrike" spc="-1" dirty="0">
                <a:solidFill>
                  <a:srgbClr val="000000"/>
                </a:solidFill>
                <a:latin typeface="Arial"/>
                <a:ea typeface="DejaVu Sans"/>
              </a:rPr>
              <a:t> = new </a:t>
            </a:r>
            <a:r>
              <a:rPr lang="en-US" sz="2000" b="0" strike="noStrike" spc="-1" dirty="0" err="1">
                <a:solidFill>
                  <a:srgbClr val="000000"/>
                </a:solidFill>
                <a:latin typeface="Arial"/>
                <a:ea typeface="DejaVu Sans"/>
              </a:rPr>
              <a:t>ReentrantLock</a:t>
            </a:r>
            <a:r>
              <a:rPr lang="en-US" sz="2000" b="0" strike="noStrike" spc="-1" dirty="0">
                <a:solidFill>
                  <a:srgbClr val="000000"/>
                </a:solidFill>
                <a:latin typeface="Arial"/>
                <a:ea typeface="DejaVu Sans"/>
              </a:rPr>
              <a:t>();</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 ...</a:t>
            </a:r>
            <a:endParaRPr lang="es-MX" sz="2000" b="0" strike="noStrike" spc="-1" dirty="0">
              <a:latin typeface="Arial"/>
            </a:endParaRPr>
          </a:p>
          <a:p>
            <a:pPr>
              <a:lnSpc>
                <a:spcPct val="90000"/>
              </a:lnSpc>
            </a:pP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public void </a:t>
            </a:r>
            <a:r>
              <a:rPr lang="en-US" sz="2000" b="0" strike="noStrike" spc="-1" dirty="0" err="1">
                <a:solidFill>
                  <a:srgbClr val="000000"/>
                </a:solidFill>
                <a:latin typeface="Arial"/>
                <a:ea typeface="DejaVu Sans"/>
              </a:rPr>
              <a:t>metodo</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r>
              <a:rPr lang="en-US" sz="2000" spc="-1" dirty="0" err="1">
                <a:solidFill>
                  <a:srgbClr val="000000"/>
                </a:solidFill>
                <a:latin typeface="Arial"/>
                <a:ea typeface="DejaVu Sans"/>
              </a:rPr>
              <a:t>rl</a:t>
            </a:r>
            <a:r>
              <a:rPr lang="en-US" sz="2000" b="0" strike="noStrike" spc="-1" dirty="0" err="1">
                <a:solidFill>
                  <a:srgbClr val="000000"/>
                </a:solidFill>
                <a:latin typeface="Arial"/>
                <a:ea typeface="DejaVu Sans"/>
              </a:rPr>
              <a:t>.lock</a:t>
            </a:r>
            <a:r>
              <a:rPr lang="en-US" sz="2000" b="0" strike="noStrike" spc="-1" dirty="0">
                <a:solidFill>
                  <a:srgbClr val="000000"/>
                </a:solidFill>
                <a:latin typeface="Arial"/>
                <a:ea typeface="DejaVu Sans"/>
              </a:rPr>
              <a:t>();  // </a:t>
            </a:r>
            <a:r>
              <a:rPr lang="en-US" sz="2000" b="0" strike="noStrike" spc="-1" dirty="0" err="1">
                <a:solidFill>
                  <a:srgbClr val="000000"/>
                </a:solidFill>
                <a:latin typeface="Arial"/>
                <a:ea typeface="DejaVu Sans"/>
              </a:rPr>
              <a:t>comienza</a:t>
            </a:r>
            <a:r>
              <a:rPr lang="en-US" sz="2000" b="0" strike="noStrike" spc="-1" dirty="0">
                <a:solidFill>
                  <a:srgbClr val="000000"/>
                </a:solidFill>
                <a:latin typeface="Arial"/>
                <a:ea typeface="DejaVu Sans"/>
              </a:rPr>
              <a:t> mutex</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try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 ... Cuerpo del </a:t>
            </a:r>
            <a:r>
              <a:rPr lang="en-US" sz="2000" b="0" strike="noStrike" spc="-1" dirty="0" err="1">
                <a:solidFill>
                  <a:srgbClr val="000000"/>
                </a:solidFill>
                <a:latin typeface="Arial"/>
                <a:ea typeface="DejaVu Sans"/>
              </a:rPr>
              <a:t>método</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 finally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r>
              <a:rPr lang="en-US" sz="2000" spc="-1" dirty="0" err="1">
                <a:solidFill>
                  <a:srgbClr val="000000"/>
                </a:solidFill>
                <a:latin typeface="Arial"/>
                <a:ea typeface="DejaVu Sans"/>
              </a:rPr>
              <a:t>rl</a:t>
            </a:r>
            <a:r>
              <a:rPr lang="en-US" sz="2000" b="0" strike="noStrike" spc="-1" dirty="0" err="1">
                <a:solidFill>
                  <a:srgbClr val="000000"/>
                </a:solidFill>
                <a:latin typeface="Arial"/>
                <a:ea typeface="DejaVu Sans"/>
              </a:rPr>
              <a:t>.unlock</a:t>
            </a:r>
            <a:r>
              <a:rPr lang="en-US" sz="2000" b="0" strike="noStrike" spc="-1" dirty="0">
                <a:solidFill>
                  <a:srgbClr val="000000"/>
                </a:solidFill>
                <a:latin typeface="Arial"/>
                <a:ea typeface="DejaVu Sans"/>
              </a:rPr>
              <a:t>()</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Ejemplo</a:t>
            </a:r>
            <a:r>
              <a:rPr lang="en-US" sz="1800" b="0" strike="noStrike" spc="-1" dirty="0">
                <a:solidFill>
                  <a:srgbClr val="000000"/>
                </a:solidFill>
                <a:latin typeface="Arial"/>
                <a:ea typeface="DejaVu Sans"/>
              </a:rPr>
              <a:t>: Mutex.java</a:t>
            </a:r>
            <a:endParaRPr lang="es-MX" sz="1800" b="0" strike="noStrike" spc="-1" dirty="0">
              <a:latin typeface="Aria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CustomShape 1"/>
          <p:cNvSpPr/>
          <p:nvPr/>
        </p:nvSpPr>
        <p:spPr>
          <a:xfrm>
            <a:off x="434520" y="7308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Interfaz ReadWriteLock (java.util.concurrent.locks.ReadWriteLock)</a:t>
            </a:r>
            <a:endParaRPr lang="es-MX" sz="4400" b="0" strike="noStrike" spc="-1">
              <a:latin typeface="Arial"/>
            </a:endParaRPr>
          </a:p>
        </p:txBody>
      </p:sp>
      <p:sp>
        <p:nvSpPr>
          <p:cNvPr id="745" name="CustomShape 2"/>
          <p:cNvSpPr/>
          <p:nvPr/>
        </p:nvSpPr>
        <p:spPr>
          <a:xfrm>
            <a:off x="596160" y="2465640"/>
            <a:ext cx="595116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Métodos:</a:t>
            </a:r>
            <a:endParaRPr lang="es-MX" sz="2800" b="0" strike="noStrike" spc="-1">
              <a:latin typeface="Arial"/>
            </a:endParaRPr>
          </a:p>
          <a:p>
            <a:pPr marL="685800" lvl="1" indent="-227160">
              <a:lnSpc>
                <a:spcPct val="90000"/>
              </a:lnSpc>
              <a:spcBef>
                <a:spcPts val="499"/>
              </a:spcBef>
              <a:buClr>
                <a:srgbClr val="000000"/>
              </a:buClr>
              <a:buFont typeface="Arial"/>
              <a:buChar char="•"/>
            </a:pPr>
            <a:r>
              <a:rPr lang="es-MX" sz="2400" b="0" strike="noStrike" spc="-1">
                <a:solidFill>
                  <a:srgbClr val="000000"/>
                </a:solidFill>
                <a:latin typeface="Arial"/>
                <a:ea typeface="DejaVu Sans"/>
              </a:rPr>
              <a:t>Lock readLock( )</a:t>
            </a:r>
            <a:endParaRPr lang="es-MX" sz="2400" b="0" strike="noStrike" spc="-1">
              <a:latin typeface="Arial"/>
            </a:endParaRPr>
          </a:p>
          <a:p>
            <a:pPr marL="685800" lvl="1" indent="-227160">
              <a:lnSpc>
                <a:spcPct val="90000"/>
              </a:lnSpc>
              <a:spcBef>
                <a:spcPts val="499"/>
              </a:spcBef>
              <a:buClr>
                <a:srgbClr val="000000"/>
              </a:buClr>
              <a:buFont typeface="Arial"/>
              <a:buChar char="•"/>
            </a:pPr>
            <a:r>
              <a:rPr lang="es-MX" sz="2400" b="0" strike="noStrike" spc="-1">
                <a:solidFill>
                  <a:srgbClr val="000000"/>
                </a:solidFill>
                <a:latin typeface="Arial"/>
                <a:ea typeface="DejaVu Sans"/>
              </a:rPr>
              <a:t>Lock writeLock( )</a:t>
            </a:r>
            <a:endParaRPr lang="es-MX" sz="2400" b="0" strike="noStrike" spc="-1">
              <a:latin typeface="Aria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 name="CustomShape 1"/>
          <p:cNvSpPr/>
          <p:nvPr/>
        </p:nvSpPr>
        <p:spPr>
          <a:xfrm>
            <a:off x="609480" y="273600"/>
            <a:ext cx="10971000" cy="18900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a:solidFill>
                  <a:srgbClr val="000000"/>
                </a:solidFill>
                <a:latin typeface="Arial"/>
                <a:ea typeface="DejaVu Sans"/>
              </a:rPr>
              <a:t>Clase ReentrantReadWriteLock </a:t>
            </a:r>
            <a:r>
              <a:rPr lang="es-MX" sz="3200" b="0" strike="noStrike" spc="-1">
                <a:solidFill>
                  <a:srgbClr val="000000"/>
                </a:solidFill>
                <a:latin typeface="Arial"/>
                <a:ea typeface="DejaVu Sans"/>
              </a:rPr>
              <a:t>(java.util.concurrent.locks.ReentrantReadWriteLock)</a:t>
            </a:r>
            <a:endParaRPr lang="es-MX" sz="3200" b="0" strike="noStrike" spc="-1">
              <a:latin typeface="Arial"/>
            </a:endParaRPr>
          </a:p>
        </p:txBody>
      </p:sp>
      <p:sp>
        <p:nvSpPr>
          <p:cNvPr id="747" name="CustomShape 2"/>
          <p:cNvSpPr/>
          <p:nvPr/>
        </p:nvSpPr>
        <p:spPr>
          <a:xfrm>
            <a:off x="609480" y="2546280"/>
            <a:ext cx="10971000" cy="2427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Constructores:</a:t>
            </a:r>
            <a:endParaRPr lang="es-MX" sz="2800" b="0" strike="noStrike" spc="-1">
              <a:latin typeface="Arial"/>
            </a:endParaRPr>
          </a:p>
          <a:p>
            <a:pPr>
              <a:lnSpc>
                <a:spcPct val="90000"/>
              </a:lnSpc>
              <a:spcBef>
                <a:spcPts val="1001"/>
              </a:spcBef>
            </a:pP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3200" b="0" strike="noStrike" spc="-1">
                <a:solidFill>
                  <a:srgbClr val="000000"/>
                </a:solidFill>
                <a:latin typeface="Arial"/>
                <a:ea typeface="DejaVu Sans"/>
              </a:rPr>
              <a:t>ReentrantReadWriteLock( )</a:t>
            </a:r>
            <a:endParaRPr lang="es-MX" sz="3200" b="0" strike="noStrike" spc="-1">
              <a:latin typeface="Arial"/>
            </a:endParaRPr>
          </a:p>
          <a:p>
            <a:pPr marL="285840" lvl="1" indent="-284400">
              <a:lnSpc>
                <a:spcPct val="90000"/>
              </a:lnSpc>
              <a:spcBef>
                <a:spcPts val="499"/>
              </a:spcBef>
              <a:buClr>
                <a:srgbClr val="000000"/>
              </a:buClr>
              <a:buFont typeface="Arial"/>
              <a:buChar char="•"/>
            </a:pPr>
            <a:r>
              <a:rPr lang="es-MX" sz="3200" b="0" strike="noStrike" spc="-1">
                <a:solidFill>
                  <a:srgbClr val="000000"/>
                </a:solidFill>
                <a:latin typeface="Arial"/>
                <a:ea typeface="DejaVu Sans"/>
              </a:rPr>
              <a:t>ReentrantReadWriteLock(boolean fair)</a:t>
            </a:r>
            <a:endParaRPr lang="es-MX" sz="3200" b="0" strike="noStrike" spc="-1">
              <a:latin typeface="Arial"/>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 name="CustomShape 1"/>
          <p:cNvSpPr/>
          <p:nvPr/>
        </p:nvSpPr>
        <p:spPr>
          <a:xfrm>
            <a:off x="609480" y="273600"/>
            <a:ext cx="10971000" cy="1688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a:solidFill>
                  <a:srgbClr val="000000"/>
                </a:solidFill>
                <a:latin typeface="Arial"/>
                <a:ea typeface="DejaVu Sans"/>
              </a:rPr>
              <a:t>Clase ReentrantReadWriteLock </a:t>
            </a:r>
            <a:r>
              <a:rPr lang="es-MX" sz="3200" b="0" strike="noStrike" spc="-1">
                <a:solidFill>
                  <a:srgbClr val="000000"/>
                </a:solidFill>
                <a:latin typeface="Arial"/>
                <a:ea typeface="DejaVu Sans"/>
              </a:rPr>
              <a:t>(java.util.concurrent.locks.ReentrantReadWriteLock)</a:t>
            </a:r>
            <a:endParaRPr lang="es-MX" sz="3200" b="0" strike="noStrike" spc="-1">
              <a:latin typeface="Arial"/>
            </a:endParaRPr>
          </a:p>
        </p:txBody>
      </p:sp>
      <p:sp>
        <p:nvSpPr>
          <p:cNvPr id="749" name="CustomShape 2"/>
          <p:cNvSpPr/>
          <p:nvPr/>
        </p:nvSpPr>
        <p:spPr>
          <a:xfrm>
            <a:off x="609480" y="1963440"/>
            <a:ext cx="10971000" cy="478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Métodos:</a:t>
            </a:r>
            <a:endParaRPr lang="es-MX" sz="3200" b="0" strike="noStrike" spc="-1">
              <a:latin typeface="Arial"/>
            </a:endParaRPr>
          </a:p>
          <a:p>
            <a:pPr>
              <a:lnSpc>
                <a:spcPct val="90000"/>
              </a:lnSpc>
              <a:spcBef>
                <a:spcPts val="1001"/>
              </a:spcBef>
            </a:pPr>
            <a:endParaRPr lang="es-MX" sz="32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Thread getOwner( ) //write lock</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Collection&lt;Thread&gt; getQueuedReaderThreads(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Collection&lt;Thread&gt; getQueuedWriterThreads(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Collection&lt;Thread&gt; getQueuedThreads(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int QueueLength(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boolean isFair(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boolean isWriteLocked(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boolean isWriteLockedByCurrentThread( )</a:t>
            </a:r>
            <a:endParaRPr lang="es-MX" sz="2800" b="0" strike="noStrike" spc="-1">
              <a:latin typeface="Aria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CustomShape 1"/>
          <p:cNvSpPr/>
          <p:nvPr/>
        </p:nvSpPr>
        <p:spPr>
          <a:xfrm>
            <a:off x="609480" y="273600"/>
            <a:ext cx="10971000" cy="1688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a:solidFill>
                  <a:srgbClr val="000000"/>
                </a:solidFill>
                <a:latin typeface="Arial"/>
                <a:ea typeface="DejaVu Sans"/>
              </a:rPr>
              <a:t>Clase ReentrantReadWriteLock </a:t>
            </a:r>
            <a:r>
              <a:rPr lang="es-MX" sz="3200" b="0" strike="noStrike" spc="-1">
                <a:solidFill>
                  <a:srgbClr val="000000"/>
                </a:solidFill>
                <a:latin typeface="Arial"/>
                <a:ea typeface="DejaVu Sans"/>
              </a:rPr>
              <a:t>(java.util.concurrent.locks.ReentrantReadWriteLock)</a:t>
            </a:r>
            <a:endParaRPr lang="es-MX" sz="3200" b="0" strike="noStrike" spc="-1">
              <a:latin typeface="Arial"/>
            </a:endParaRPr>
          </a:p>
        </p:txBody>
      </p:sp>
      <p:sp>
        <p:nvSpPr>
          <p:cNvPr id="751" name="CustomShape 2"/>
          <p:cNvSpPr/>
          <p:nvPr/>
        </p:nvSpPr>
        <p:spPr>
          <a:xfrm>
            <a:off x="609480" y="1963440"/>
            <a:ext cx="10971000" cy="478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Métodos:</a:t>
            </a:r>
            <a:endParaRPr lang="es-MX" sz="3200" b="0" strike="noStrike" spc="-1">
              <a:latin typeface="Arial"/>
            </a:endParaRPr>
          </a:p>
          <a:p>
            <a:pPr>
              <a:lnSpc>
                <a:spcPct val="90000"/>
              </a:lnSpc>
              <a:spcBef>
                <a:spcPts val="1001"/>
              </a:spcBef>
            </a:pPr>
            <a:endParaRPr lang="es-MX" sz="32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ReentrantReadWriteLock.ReadLock	readLock()</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ReentrantReadWriteLock.WriteLock	writeLock()</a:t>
            </a:r>
            <a:endParaRPr lang="es-MX" sz="2800" b="0" strike="noStrike" spc="-1">
              <a:latin typeface="Arial"/>
            </a:endParaRPr>
          </a:p>
        </p:txBody>
      </p:sp>
      <p:sp>
        <p:nvSpPr>
          <p:cNvPr id="752" name="CustomShape 3"/>
          <p:cNvSpPr/>
          <p:nvPr/>
        </p:nvSpPr>
        <p:spPr>
          <a:xfrm>
            <a:off x="806760" y="5956920"/>
            <a:ext cx="1062180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**Ejemplo: Writer.java, Reader.java, ReadWriteList.java, ReadWriteLockTest.java</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Variables de condición</a:t>
            </a:r>
            <a:endParaRPr lang="es-MX" sz="4400" b="0" strike="noStrike" spc="-1">
              <a:latin typeface="Arial"/>
            </a:endParaRPr>
          </a:p>
        </p:txBody>
      </p:sp>
      <p:sp>
        <p:nvSpPr>
          <p:cNvPr id="754" name="CustomShape 2"/>
          <p:cNvSpPr/>
          <p:nvPr/>
        </p:nvSpPr>
        <p:spPr>
          <a:xfrm>
            <a:off x="227520" y="1774800"/>
            <a:ext cx="10971000" cy="3259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457200" indent="-455760">
              <a:lnSpc>
                <a:spcPct val="90000"/>
              </a:lnSpc>
              <a:spcBef>
                <a:spcPts val="1001"/>
              </a:spcBef>
              <a:buClr>
                <a:srgbClr val="000000"/>
              </a:buClr>
              <a:buFont typeface="Arial"/>
              <a:buChar char="•"/>
            </a:pPr>
            <a:r>
              <a:rPr lang="es-MX" sz="2400" b="0" strike="noStrike" spc="-1">
                <a:solidFill>
                  <a:srgbClr val="000000"/>
                </a:solidFill>
                <a:latin typeface="Arial"/>
                <a:ea typeface="DejaVu Sans"/>
              </a:rPr>
              <a:t>Son utilizadas para que un hilo pueda bloquear su ejecución hasta que se den las condiciones necesarias para continuar.</a:t>
            </a:r>
            <a:endParaRPr lang="es-MX" sz="2400" b="0" strike="noStrike" spc="-1">
              <a:latin typeface="Arial"/>
            </a:endParaRPr>
          </a:p>
          <a:p>
            <a:pPr>
              <a:lnSpc>
                <a:spcPct val="90000"/>
              </a:lnSpc>
              <a:spcBef>
                <a:spcPts val="1001"/>
              </a:spcBef>
            </a:pPr>
            <a:endParaRPr lang="es-MX" sz="2400" b="0" strike="noStrike" spc="-1">
              <a:latin typeface="Arial"/>
            </a:endParaRPr>
          </a:p>
          <a:p>
            <a:pPr marL="457200" indent="-455760">
              <a:lnSpc>
                <a:spcPct val="90000"/>
              </a:lnSpc>
              <a:spcBef>
                <a:spcPts val="1001"/>
              </a:spcBef>
              <a:buClr>
                <a:srgbClr val="000000"/>
              </a:buClr>
              <a:buFont typeface="Arial"/>
              <a:buChar char="•"/>
            </a:pPr>
            <a:r>
              <a:rPr lang="es-MX" sz="2400" b="0" strike="noStrike" spc="-1">
                <a:solidFill>
                  <a:srgbClr val="000000"/>
                </a:solidFill>
                <a:latin typeface="Arial"/>
                <a:ea typeface="DejaVu Sans"/>
              </a:rPr>
              <a:t>Se utilizan en conjunto con mutex para garantizar la exclusión mutua a la variable de condición. </a:t>
            </a:r>
            <a:endParaRPr lang="es-MX" sz="2400" b="0" strike="noStrike" spc="-1">
              <a:latin typeface="Aria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 name="CustomShape 1"/>
          <p:cNvSpPr/>
          <p:nvPr/>
        </p:nvSpPr>
        <p:spPr>
          <a:xfrm>
            <a:off x="609480" y="273600"/>
            <a:ext cx="10971000" cy="871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3600" b="0" strike="noStrike" spc="-1">
                <a:solidFill>
                  <a:srgbClr val="000000"/>
                </a:solidFill>
                <a:latin typeface="Arial"/>
                <a:ea typeface="DejaVu Sans"/>
              </a:rPr>
              <a:t>Creación de variables de condición</a:t>
            </a:r>
            <a:endParaRPr lang="es-MX" sz="3600" b="0" strike="noStrike" spc="-1">
              <a:latin typeface="Arial"/>
            </a:endParaRPr>
          </a:p>
        </p:txBody>
      </p:sp>
      <p:sp>
        <p:nvSpPr>
          <p:cNvPr id="756" name="CustomShape 2"/>
          <p:cNvSpPr/>
          <p:nvPr/>
        </p:nvSpPr>
        <p:spPr>
          <a:xfrm>
            <a:off x="718560" y="1009800"/>
            <a:ext cx="10971000" cy="46933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a:solidFill>
                  <a:srgbClr val="000000"/>
                </a:solidFill>
                <a:latin typeface="Arial"/>
                <a:ea typeface="DejaVu Sans"/>
              </a:rPr>
              <a:t>Se crean mediante el método newCondition() de las clases </a:t>
            </a:r>
            <a:endParaRPr lang="es-MX" sz="2400" b="0" strike="noStrike" spc="-1">
              <a:latin typeface="Arial"/>
            </a:endParaRPr>
          </a:p>
          <a:p>
            <a:pPr marL="228600" indent="-227160">
              <a:lnSpc>
                <a:spcPct val="90000"/>
              </a:lnSpc>
              <a:spcBef>
                <a:spcPts val="1001"/>
              </a:spcBef>
              <a:buClr>
                <a:srgbClr val="000000"/>
              </a:buClr>
              <a:buFont typeface="Arial"/>
              <a:buChar char="•"/>
            </a:pPr>
            <a:r>
              <a:rPr lang="es-MX" sz="2400" b="0" strike="noStrike" spc="-1">
                <a:solidFill>
                  <a:srgbClr val="000000"/>
                </a:solidFill>
                <a:latin typeface="Arial"/>
                <a:ea typeface="DejaVu Sans"/>
              </a:rPr>
              <a:t>ReentrantLock /ReadWriteLock</a:t>
            </a:r>
            <a:endParaRPr lang="es-MX" sz="2400" b="0" strike="noStrike" spc="-1">
              <a:latin typeface="Arial"/>
            </a:endParaRPr>
          </a:p>
          <a:p>
            <a:pPr>
              <a:lnSpc>
                <a:spcPct val="90000"/>
              </a:lnSpc>
              <a:spcBef>
                <a:spcPts val="1001"/>
              </a:spcBef>
            </a:pPr>
            <a:endParaRPr lang="es-MX" sz="2400" b="0" strike="noStrike" spc="-1">
              <a:latin typeface="Arial"/>
            </a:endParaRPr>
          </a:p>
          <a:p>
            <a:pPr>
              <a:lnSpc>
                <a:spcPct val="90000"/>
              </a:lnSpc>
              <a:spcBef>
                <a:spcPts val="1001"/>
              </a:spcBef>
            </a:pPr>
            <a:r>
              <a:rPr lang="es-MX" sz="2400" b="0" strike="noStrike" spc="-1">
                <a:solidFill>
                  <a:srgbClr val="000000"/>
                </a:solidFill>
                <a:latin typeface="Arial"/>
                <a:ea typeface="DejaVu Sans"/>
              </a:rPr>
              <a:t>     </a:t>
            </a:r>
            <a:r>
              <a:rPr lang="es-MX" sz="2400" b="0" strike="noStrike" spc="-1">
                <a:solidFill>
                  <a:srgbClr val="000000"/>
                </a:solidFill>
                <a:latin typeface="Courier New"/>
                <a:ea typeface="DejaVu Sans"/>
              </a:rPr>
              <a:t>ReentrantLock l = new ReentrantLock( );</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Condition c = l.newCondition( );</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a:t>
            </a:r>
            <a:endParaRPr lang="es-MX" sz="2400" b="0" strike="noStrike" spc="-1">
              <a:latin typeface="Aria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2800" b="0" strike="noStrike" spc="-1">
                <a:solidFill>
                  <a:srgbClr val="000000"/>
                </a:solidFill>
                <a:latin typeface="Arial"/>
                <a:ea typeface="DejaVu Sans"/>
              </a:rPr>
              <a:t>Interfaz Condition (java.util.concurrent.locks.Condition)</a:t>
            </a:r>
            <a:endParaRPr lang="es-MX" sz="2800" b="0" strike="noStrike" spc="-1">
              <a:latin typeface="Arial"/>
            </a:endParaRPr>
          </a:p>
        </p:txBody>
      </p:sp>
      <p:sp>
        <p:nvSpPr>
          <p:cNvPr id="758" name="CustomShape 2"/>
          <p:cNvSpPr/>
          <p:nvPr/>
        </p:nvSpPr>
        <p:spPr>
          <a:xfrm>
            <a:off x="172800" y="1645560"/>
            <a:ext cx="5407920" cy="397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300" b="0" strike="noStrike" spc="-1">
                <a:solidFill>
                  <a:srgbClr val="000000"/>
                </a:solidFill>
                <a:latin typeface="Arial"/>
                <a:ea typeface="DejaVu Sans"/>
              </a:rPr>
              <a:t>Métodos:</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await( )</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boolean await(long t, TimeUnit u)</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awaitUninterruptibly( )</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boolean awaitUntil(Date d)</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signal( )</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signallAll( )</a:t>
            </a:r>
            <a:endParaRPr lang="es-MX" sz="2300" b="0" strike="noStrike" spc="-1">
              <a:latin typeface="Aria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Uso</a:t>
            </a:r>
            <a:endParaRPr lang="es-MX" sz="4400" b="0" strike="noStrike" spc="-1">
              <a:latin typeface="Arial"/>
            </a:endParaRPr>
          </a:p>
        </p:txBody>
      </p:sp>
      <p:sp>
        <p:nvSpPr>
          <p:cNvPr id="760" name="CustomShape 2"/>
          <p:cNvSpPr/>
          <p:nvPr/>
        </p:nvSpPr>
        <p:spPr>
          <a:xfrm>
            <a:off x="609480" y="1433160"/>
            <a:ext cx="10971000" cy="496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spcBef>
                <a:spcPts val="1001"/>
              </a:spcBef>
            </a:pPr>
            <a:r>
              <a:rPr lang="es-MX" sz="1800" b="0" strike="noStrike" spc="-1" dirty="0" err="1">
                <a:solidFill>
                  <a:srgbClr val="000000"/>
                </a:solidFill>
                <a:latin typeface="Courier New"/>
                <a:ea typeface="DejaVu Sans"/>
              </a:rPr>
              <a:t>ReentrantLock</a:t>
            </a:r>
            <a:r>
              <a:rPr lang="es-MX" sz="1800" b="0" strike="noStrike" spc="-1" dirty="0">
                <a:solidFill>
                  <a:srgbClr val="000000"/>
                </a:solidFill>
                <a:latin typeface="Courier New"/>
                <a:ea typeface="DejaVu Sans"/>
              </a:rPr>
              <a:t> l = new </a:t>
            </a:r>
            <a:r>
              <a:rPr lang="es-MX" sz="1800" b="0" strike="noStrike" spc="-1" dirty="0" err="1">
                <a:solidFill>
                  <a:srgbClr val="000000"/>
                </a:solidFill>
                <a:latin typeface="Courier New"/>
                <a:ea typeface="DejaVu Sans"/>
              </a:rPr>
              <a:t>ReentrantLock</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Condition</a:t>
            </a:r>
            <a:r>
              <a:rPr lang="es-MX" sz="1800" b="0" strike="noStrike" spc="-1" dirty="0">
                <a:solidFill>
                  <a:srgbClr val="000000"/>
                </a:solidFill>
                <a:latin typeface="Courier New"/>
                <a:ea typeface="DejaVu Sans"/>
              </a:rPr>
              <a:t> c = </a:t>
            </a:r>
            <a:r>
              <a:rPr lang="es-MX" sz="1800" b="0" strike="noStrike" spc="-1" dirty="0" err="1">
                <a:solidFill>
                  <a:srgbClr val="000000"/>
                </a:solidFill>
                <a:latin typeface="Courier New"/>
                <a:ea typeface="DejaVu Sans"/>
              </a:rPr>
              <a:t>l.newCondition</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l.lock</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try{</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try{</a:t>
            </a:r>
          </a:p>
          <a:p>
            <a:pPr>
              <a:lnSpc>
                <a:spcPct val="90000"/>
              </a:lnSpc>
              <a:spcBef>
                <a:spcPts val="1001"/>
              </a:spcBef>
            </a:pPr>
            <a:r>
              <a:rPr lang="es-MX" spc="-1" dirty="0">
                <a:solidFill>
                  <a:srgbClr val="000000"/>
                </a:solidFill>
                <a:latin typeface="Courier New"/>
              </a:rPr>
              <a:t>           </a:t>
            </a:r>
            <a:r>
              <a:rPr lang="es-MX" spc="-1" dirty="0" err="1">
                <a:solidFill>
                  <a:srgbClr val="000000"/>
                </a:solidFill>
                <a:latin typeface="Courier New"/>
              </a:rPr>
              <a:t>if</a:t>
            </a:r>
            <a:r>
              <a:rPr lang="es-MX" spc="-1" dirty="0">
                <a:solidFill>
                  <a:srgbClr val="000000"/>
                </a:solidFill>
                <a:latin typeface="Courier New"/>
              </a:rPr>
              <a:t>(!condición){</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c.await</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}catch(</a:t>
            </a:r>
            <a:r>
              <a:rPr lang="es-MX" sz="1800" b="0" strike="noStrike" spc="-1" dirty="0" err="1">
                <a:solidFill>
                  <a:srgbClr val="000000"/>
                </a:solidFill>
                <a:latin typeface="Courier New"/>
                <a:ea typeface="DejaVu Sans"/>
              </a:rPr>
              <a:t>InterruptedException</a:t>
            </a: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ie</a:t>
            </a:r>
            <a:r>
              <a:rPr lang="es-MX" sz="1800" b="0" strike="noStrike" spc="-1" dirty="0">
                <a:solidFill>
                  <a:srgbClr val="000000"/>
                </a:solidFill>
                <a:latin typeface="Courier New"/>
                <a:ea typeface="DejaVu Sans"/>
              </a:rPr>
              <a:t>){}</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//…instrucciones a ser ejecutadas al regresar del bloqueo</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}catch(</a:t>
            </a:r>
            <a:r>
              <a:rPr lang="es-MX" sz="1800" b="0" strike="noStrike" spc="-1" dirty="0" err="1">
                <a:solidFill>
                  <a:srgbClr val="000000"/>
                </a:solidFill>
                <a:latin typeface="Courier New"/>
                <a:ea typeface="DejaVu Sans"/>
              </a:rPr>
              <a:t>Exception</a:t>
            </a:r>
            <a:r>
              <a:rPr lang="es-MX" sz="1800" b="0" strike="noStrike" spc="-1" dirty="0">
                <a:solidFill>
                  <a:srgbClr val="000000"/>
                </a:solidFill>
                <a:latin typeface="Courier New"/>
                <a:ea typeface="DejaVu Sans"/>
              </a:rPr>
              <a:t> e){}</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finally</a:t>
            </a:r>
            <a:r>
              <a:rPr lang="es-MX" sz="1800" b="0" strike="noStrike" spc="-1" dirty="0">
                <a:solidFill>
                  <a:srgbClr val="000000"/>
                </a:solidFill>
                <a:latin typeface="Courier New"/>
                <a:ea typeface="DejaVu Sans"/>
              </a:rPr>
              <a:t>{</a:t>
            </a:r>
            <a:r>
              <a:rPr lang="es-MX" sz="1800" b="0" strike="noStrike" spc="-1" dirty="0" err="1">
                <a:solidFill>
                  <a:srgbClr val="000000"/>
                </a:solidFill>
                <a:latin typeface="Courier New"/>
                <a:ea typeface="DejaVu Sans"/>
              </a:rPr>
              <a:t>l.unlock</a:t>
            </a:r>
            <a:r>
              <a:rPr lang="es-MX" sz="1800" b="0" strike="noStrike" spc="-1" dirty="0">
                <a:solidFill>
                  <a:srgbClr val="000000"/>
                </a:solidFill>
                <a:latin typeface="Courier New"/>
                <a:ea typeface="DejaVu Sans"/>
              </a:rPr>
              <a:t>();}</a:t>
            </a:r>
            <a:endParaRPr lang="es-MX" sz="1800" b="0" strike="noStrike" spc="-1" dirty="0">
              <a:latin typeface="Arial"/>
            </a:endParaRPr>
          </a:p>
          <a:p>
            <a:pPr>
              <a:lnSpc>
                <a:spcPct val="90000"/>
              </a:lnSpc>
              <a:spcBef>
                <a:spcPts val="1001"/>
              </a:spcBef>
            </a:pP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Ej. </a:t>
            </a:r>
            <a:r>
              <a:rPr lang="es-MX" sz="1800" b="0" strike="noStrike" spc="-1" dirty="0" err="1">
                <a:solidFill>
                  <a:srgbClr val="000000"/>
                </a:solidFill>
                <a:latin typeface="Courier New"/>
                <a:ea typeface="DejaVu Sans"/>
              </a:rPr>
              <a:t>LLenaVacia</a:t>
            </a:r>
            <a:endParaRPr lang="es-MX" sz="1800" b="0" strike="noStrike" spc="-1" dirty="0">
              <a:latin typeface="Arial"/>
            </a:endParaRPr>
          </a:p>
          <a:p>
            <a:pPr>
              <a:lnSpc>
                <a:spcPct val="90000"/>
              </a:lnSpc>
              <a:spcBef>
                <a:spcPts val="1001"/>
              </a:spcBef>
            </a:pPr>
            <a:endParaRPr lang="es-MX" sz="1800" b="0" strike="noStrike" spc="-1" dirty="0">
              <a:latin typeface="Arial"/>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 name="CustomShape 1"/>
          <p:cNvSpPr/>
          <p:nvPr/>
        </p:nvSpPr>
        <p:spPr>
          <a:xfrm>
            <a:off x="322920" y="12348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Semáforos</a:t>
            </a:r>
            <a:endParaRPr lang="es-MX" sz="4400" b="0" strike="noStrike" spc="-1">
              <a:latin typeface="Arial"/>
            </a:endParaRPr>
          </a:p>
        </p:txBody>
      </p:sp>
      <p:sp>
        <p:nvSpPr>
          <p:cNvPr id="762" name="CustomShape 2"/>
          <p:cNvSpPr/>
          <p:nvPr/>
        </p:nvSpPr>
        <p:spPr>
          <a:xfrm>
            <a:off x="473040" y="1406520"/>
            <a:ext cx="10971000" cy="44334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Un semáforo es un entero cuyo valor nunca puede estar por debajo de “0”</a:t>
            </a:r>
            <a:endParaRPr lang="es-MX" sz="2800" b="0" strike="noStrike" spc="-1">
              <a:latin typeface="Arial"/>
            </a:endParaRPr>
          </a:p>
          <a:p>
            <a:pPr>
              <a:lnSpc>
                <a:spcPct val="90000"/>
              </a:lnSpc>
              <a:spcBef>
                <a:spcPts val="1001"/>
              </a:spcBef>
            </a:pP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Se permiten 2 operaciones</a:t>
            </a:r>
            <a:endParaRPr lang="es-MX" sz="2800" b="0" strike="noStrike" spc="-1">
              <a:latin typeface="Arial"/>
            </a:endParaRPr>
          </a:p>
          <a:p>
            <a:pPr marL="743040" lvl="1" indent="-741600">
              <a:lnSpc>
                <a:spcPct val="90000"/>
              </a:lnSpc>
              <a:spcBef>
                <a:spcPts val="499"/>
              </a:spcBef>
              <a:buClr>
                <a:srgbClr val="000000"/>
              </a:buClr>
              <a:buFont typeface="Arial"/>
              <a:buChar char="•"/>
            </a:pPr>
            <a:r>
              <a:rPr lang="es-MX" sz="2800" b="0" strike="noStrike" spc="-1">
                <a:solidFill>
                  <a:srgbClr val="000000"/>
                </a:solidFill>
                <a:latin typeface="Arial"/>
                <a:ea typeface="DejaVu Sans"/>
              </a:rPr>
              <a:t>Incrementar el valor del semáforo</a:t>
            </a:r>
            <a:endParaRPr lang="es-MX" sz="2800" b="0" strike="noStrike" spc="-1">
              <a:latin typeface="Arial"/>
            </a:endParaRPr>
          </a:p>
          <a:p>
            <a:pPr marL="743040" lvl="1" indent="-741600">
              <a:lnSpc>
                <a:spcPct val="90000"/>
              </a:lnSpc>
              <a:spcBef>
                <a:spcPts val="499"/>
              </a:spcBef>
              <a:buClr>
                <a:srgbClr val="000000"/>
              </a:buClr>
              <a:buFont typeface="Arial"/>
              <a:buChar char="•"/>
            </a:pPr>
            <a:r>
              <a:rPr lang="es-MX" sz="2800" b="0" strike="noStrike" spc="-1">
                <a:solidFill>
                  <a:srgbClr val="000000"/>
                </a:solidFill>
                <a:latin typeface="Arial"/>
                <a:ea typeface="DejaVu Sans"/>
              </a:rPr>
              <a:t>Decrementar el valor del semáforo</a:t>
            </a:r>
            <a:endParaRPr lang="es-MX" sz="2800" b="0" strike="noStrike" spc="-1">
              <a:latin typeface="Arial"/>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Usos</a:t>
            </a:r>
            <a:endParaRPr lang="es-MX" sz="4400" b="0" strike="noStrike" spc="-1">
              <a:latin typeface="Arial"/>
            </a:endParaRPr>
          </a:p>
        </p:txBody>
      </p:sp>
      <p:sp>
        <p:nvSpPr>
          <p:cNvPr id="764" name="CustomShape 2"/>
          <p:cNvSpPr/>
          <p:nvPr/>
        </p:nvSpPr>
        <p:spPr>
          <a:xfrm>
            <a:off x="445680" y="2047320"/>
            <a:ext cx="10971000" cy="42566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Un semáforo permite limitar el número de accesos a un recurso compartido.</a:t>
            </a:r>
            <a:endParaRPr lang="es-MX" sz="2900" b="0" strike="noStrike" spc="-1">
              <a:latin typeface="Arial"/>
            </a:endParaRPr>
          </a:p>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A diferencia de un mutex, el semáforo permite hasta n accesos concurrentes a un recurso compartido; donde n= número de permisos brindados por el semáforo.</a:t>
            </a:r>
            <a:endParaRPr lang="es-MX" sz="2900" b="0" strike="noStrike" spc="-1">
              <a:latin typeface="Arial"/>
            </a:endParaRPr>
          </a:p>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Cuando n=1 el semáforo actúa como un mutex</a:t>
            </a:r>
            <a:endParaRPr lang="es-MX" sz="2900" b="0" strike="noStrike" spc="-1">
              <a:latin typeface="Arial"/>
            </a:endParaRPr>
          </a:p>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Son la base de los pools de hilos.</a:t>
            </a:r>
            <a:endParaRPr lang="es-MX" sz="2900" b="0" strike="noStrike" spc="-1">
              <a:latin typeface="Arial"/>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CustomShape 1"/>
          <p:cNvSpPr/>
          <p:nvPr/>
        </p:nvSpPr>
        <p:spPr>
          <a:xfrm>
            <a:off x="609480" y="273600"/>
            <a:ext cx="10971000" cy="1158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Tipos de semáforos</a:t>
            </a:r>
            <a:endParaRPr lang="es-MX" sz="4400" b="0" strike="noStrike" spc="-1">
              <a:latin typeface="Arial"/>
            </a:endParaRPr>
          </a:p>
        </p:txBody>
      </p:sp>
      <p:sp>
        <p:nvSpPr>
          <p:cNvPr id="766" name="CustomShape 2"/>
          <p:cNvSpPr/>
          <p:nvPr/>
        </p:nvSpPr>
        <p:spPr>
          <a:xfrm>
            <a:off x="609480" y="2824920"/>
            <a:ext cx="10971000" cy="38880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u="sng" strike="noStrike" spc="-1">
                <a:solidFill>
                  <a:srgbClr val="000000"/>
                </a:solidFill>
                <a:uFillTx/>
                <a:latin typeface="Arial"/>
                <a:ea typeface="DejaVu Sans"/>
              </a:rPr>
              <a:t>Sin nombre</a:t>
            </a:r>
            <a:r>
              <a:rPr lang="es-MX" sz="2800" b="0" strike="noStrike" spc="-1">
                <a:solidFill>
                  <a:srgbClr val="000000"/>
                </a:solidFill>
                <a:latin typeface="Arial"/>
                <a:ea typeface="DejaVu Sans"/>
              </a:rPr>
              <a:t>: Son utilizados dentro de un solo proceso (alcance dentro de un solo proceso). Se colocan en un área de memoria compartida entre los hilos de un proceso (var. global).</a:t>
            </a:r>
            <a:endParaRPr lang="es-MX" sz="2800" b="0" strike="noStrike" spc="-1">
              <a:latin typeface="Arial"/>
            </a:endParaRPr>
          </a:p>
          <a:p>
            <a:pPr>
              <a:lnSpc>
                <a:spcPct val="90000"/>
              </a:lnSpc>
              <a:spcBef>
                <a:spcPts val="1001"/>
              </a:spcBef>
            </a:pPr>
            <a:endParaRPr lang="es-MX" sz="2800" b="0" strike="noStrike" spc="-1">
              <a:latin typeface="Arial"/>
            </a:endParaRPr>
          </a:p>
          <a:p>
            <a:pPr marL="228600" indent="-227160">
              <a:lnSpc>
                <a:spcPct val="90000"/>
              </a:lnSpc>
              <a:spcBef>
                <a:spcPts val="1001"/>
              </a:spcBef>
              <a:buClr>
                <a:srgbClr val="000000"/>
              </a:buClr>
              <a:buFont typeface="Arial"/>
              <a:buChar char="•"/>
            </a:pPr>
            <a:r>
              <a:rPr lang="es-MX" sz="2800" b="0" u="sng" strike="noStrike" spc="-1">
                <a:solidFill>
                  <a:srgbClr val="000000"/>
                </a:solidFill>
                <a:uFillTx/>
                <a:latin typeface="Arial"/>
                <a:ea typeface="DejaVu Sans"/>
              </a:rPr>
              <a:t>Con nombre</a:t>
            </a:r>
            <a:r>
              <a:rPr lang="es-MX" sz="2800" b="0" strike="noStrike" spc="-1">
                <a:solidFill>
                  <a:srgbClr val="000000"/>
                </a:solidFill>
                <a:latin typeface="Arial"/>
                <a:ea typeface="DejaVu Sans"/>
              </a:rPr>
              <a:t>: Pueden ser accedidos por todos los demás procesos dentro de la máquina. Son creados en un sistema de archivos virtual (/dev/shm) con nombres de la forma sem.nombre. (Si no son eliminados existirán hasta que se reinicie la máquina). </a:t>
            </a:r>
            <a:endParaRPr lang="es-MX" sz="2800" b="0" strike="noStrike" spc="-1">
              <a:latin typeface="Arial"/>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Semaphore </a:t>
            </a:r>
            <a:r>
              <a:rPr lang="es-MX" sz="3200" b="0" strike="noStrike" spc="-1">
                <a:solidFill>
                  <a:srgbClr val="000000"/>
                </a:solidFill>
                <a:latin typeface="Arial"/>
                <a:ea typeface="DejaVu Sans"/>
              </a:rPr>
              <a:t>(java.util.concurrent.Semaphore)</a:t>
            </a:r>
            <a:endParaRPr lang="es-MX" sz="3200" b="0" strike="noStrike" spc="-1">
              <a:latin typeface="Arial"/>
            </a:endParaRPr>
          </a:p>
        </p:txBody>
      </p:sp>
      <p:sp>
        <p:nvSpPr>
          <p:cNvPr id="768" name="CustomShape 2"/>
          <p:cNvSpPr/>
          <p:nvPr/>
        </p:nvSpPr>
        <p:spPr>
          <a:xfrm>
            <a:off x="868680" y="2007000"/>
            <a:ext cx="10971000" cy="46926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Constructores:</a:t>
            </a:r>
            <a:endParaRPr lang="es-MX" sz="2800" b="0" strike="noStrike" spc="-1">
              <a:latin typeface="Arial"/>
            </a:endParaRPr>
          </a:p>
          <a:p>
            <a:pPr marL="343080" lvl="1" indent="-341640">
              <a:lnSpc>
                <a:spcPct val="90000"/>
              </a:lnSpc>
              <a:spcBef>
                <a:spcPts val="499"/>
              </a:spcBef>
              <a:buClr>
                <a:srgbClr val="000000"/>
              </a:buClr>
              <a:buFont typeface="Arial"/>
              <a:buChar char="•"/>
            </a:pPr>
            <a:r>
              <a:rPr lang="es-MX" sz="2400" b="0" strike="noStrike" spc="-1">
                <a:solidFill>
                  <a:srgbClr val="000000"/>
                </a:solidFill>
                <a:latin typeface="Arial"/>
                <a:ea typeface="DejaVu Sans"/>
              </a:rPr>
              <a:t>Semaphore(int permisos)</a:t>
            </a:r>
            <a:endParaRPr lang="es-MX" sz="2400" b="0" strike="noStrike" spc="-1">
              <a:latin typeface="Arial"/>
            </a:endParaRPr>
          </a:p>
          <a:p>
            <a:pPr marL="343080" lvl="1" indent="-341640">
              <a:lnSpc>
                <a:spcPct val="90000"/>
              </a:lnSpc>
              <a:spcBef>
                <a:spcPts val="499"/>
              </a:spcBef>
              <a:buClr>
                <a:srgbClr val="000000"/>
              </a:buClr>
              <a:buFont typeface="Arial"/>
              <a:buChar char="•"/>
            </a:pPr>
            <a:r>
              <a:rPr lang="es-MX" sz="2400" b="0" strike="noStrike" spc="-1">
                <a:solidFill>
                  <a:srgbClr val="000000"/>
                </a:solidFill>
                <a:latin typeface="Arial"/>
                <a:ea typeface="DejaVu Sans"/>
              </a:rPr>
              <a:t>Semaphore(int permisos, boolean justicia)</a:t>
            </a:r>
            <a:endParaRPr lang="es-MX" sz="2400" b="0" strike="noStrike" spc="-1">
              <a:latin typeface="Arial"/>
            </a:endParaRPr>
          </a:p>
          <a:p>
            <a:pPr>
              <a:lnSpc>
                <a:spcPct val="100000"/>
              </a:lnSpc>
            </a:pPr>
            <a:endParaRPr lang="es-MX" sz="24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Métodos:</a:t>
            </a:r>
            <a:endParaRPr lang="es-MX" sz="2800" b="0" strike="noStrike" spc="-1">
              <a:latin typeface="Arial"/>
            </a:endParaRPr>
          </a:p>
          <a:p>
            <a:pPr marL="343080" lvl="1" indent="-34164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aquire( )</a:t>
            </a:r>
            <a:endParaRPr lang="es-MX" sz="2400" b="0" strike="noStrike" spc="-1">
              <a:latin typeface="Arial"/>
            </a:endParaRPr>
          </a:p>
          <a:p>
            <a:pPr marL="343080" lvl="1" indent="-34164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aquire(int permisos)</a:t>
            </a:r>
            <a:endParaRPr lang="es-MX" sz="2400" b="0" strike="noStrike" spc="-1">
              <a:latin typeface="Arial"/>
            </a:endParaRPr>
          </a:p>
          <a:p>
            <a:pPr marL="343080" lvl="1" indent="-34164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aquireUninterruptibly( )</a:t>
            </a:r>
            <a:endParaRPr lang="es-MX" sz="2400" b="0" strike="noStrike" spc="-1">
              <a:latin typeface="Arial"/>
            </a:endParaRPr>
          </a:p>
          <a:p>
            <a:pPr marL="343080" lvl="1" indent="-341640">
              <a:lnSpc>
                <a:spcPct val="90000"/>
              </a:lnSpc>
              <a:spcBef>
                <a:spcPts val="499"/>
              </a:spcBef>
              <a:buClr>
                <a:srgbClr val="000000"/>
              </a:buClr>
              <a:buFont typeface="Arial"/>
              <a:buChar char="•"/>
            </a:pPr>
            <a:r>
              <a:rPr lang="es-MX" sz="2400" b="0" strike="noStrike" spc="-1">
                <a:solidFill>
                  <a:srgbClr val="000000"/>
                </a:solidFill>
                <a:latin typeface="Arial"/>
                <a:ea typeface="DejaVu Sans"/>
              </a:rPr>
              <a:t>int availablePermits( )</a:t>
            </a:r>
            <a:endParaRPr lang="es-MX" sz="2400" b="0" strike="noStrike" spc="-1">
              <a:latin typeface="Arial"/>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Métodos (continuación)</a:t>
            </a:r>
            <a:endParaRPr lang="es-MX" sz="4400" b="0" strike="noStrike" spc="-1">
              <a:latin typeface="Arial"/>
            </a:endParaRPr>
          </a:p>
        </p:txBody>
      </p:sp>
      <p:sp>
        <p:nvSpPr>
          <p:cNvPr id="770" name="CustomShape 2"/>
          <p:cNvSpPr/>
          <p:nvPr/>
        </p:nvSpPr>
        <p:spPr>
          <a:xfrm>
            <a:off x="609480" y="1604520"/>
            <a:ext cx="10971000" cy="48495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int drainPermits(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int getQueueThreads(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boolean hasQueuedThreads(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boolean isFair(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void release(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void release(int permisos)</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boolean tryAquire( )</a:t>
            </a:r>
            <a:endParaRPr lang="es-MX" sz="2600" b="0" strike="noStrike" spc="-1">
              <a:latin typeface="Arial"/>
            </a:endParaRPr>
          </a:p>
          <a:p>
            <a:pPr>
              <a:lnSpc>
                <a:spcPct val="90000"/>
              </a:lnSpc>
              <a:spcBef>
                <a:spcPts val="1001"/>
              </a:spcBef>
            </a:pPr>
            <a:endParaRPr lang="es-MX" sz="2600" b="0" strike="noStrike" spc="-1">
              <a:latin typeface="Arial"/>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Ej..</a:t>
            </a:r>
            <a:endParaRPr lang="es-MX" sz="4400" b="0" strike="noStrike" spc="-1">
              <a:latin typeface="Arial"/>
            </a:endParaRPr>
          </a:p>
        </p:txBody>
      </p:sp>
      <p:sp>
        <p:nvSpPr>
          <p:cNvPr id="772" name="CustomShape 2"/>
          <p:cNvSpPr/>
          <p:nvPr/>
        </p:nvSpPr>
        <p:spPr>
          <a:xfrm>
            <a:off x="609480" y="1604520"/>
            <a:ext cx="10971000" cy="46584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spcBef>
                <a:spcPts val="1001"/>
              </a:spcBef>
            </a:pPr>
            <a:r>
              <a:rPr lang="es-MX" sz="2800" b="0" strike="noStrike" spc="-1">
                <a:solidFill>
                  <a:srgbClr val="000000"/>
                </a:solidFill>
                <a:latin typeface="Arial"/>
                <a:ea typeface="DejaVu Sans"/>
              </a:rPr>
              <a:t>     </a:t>
            </a:r>
            <a:r>
              <a:rPr lang="es-MX" sz="2400" b="0" strike="noStrike" spc="-1">
                <a:solidFill>
                  <a:srgbClr val="000000"/>
                </a:solidFill>
                <a:latin typeface="Courier New"/>
                <a:ea typeface="DejaVu Sans"/>
              </a:rPr>
              <a:t>final Semaphore sem = new Semaphore(2,true);</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 . .</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try{</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sem.aquire( );</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}finally{</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sem.release( );</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a:t>
            </a:r>
            <a:r>
              <a:rPr lang="es-MX" sz="2400" b="0" strike="noStrike" spc="-1">
                <a:solidFill>
                  <a:srgbClr val="000000"/>
                </a:solidFill>
                <a:latin typeface="Arial"/>
                <a:ea typeface="DejaVu Sans"/>
              </a:rPr>
              <a:t>     </a:t>
            </a:r>
            <a:endParaRPr lang="es-MX" sz="2400" b="0" strike="noStrike" spc="-1">
              <a:latin typeface="Arial"/>
            </a:endParaRPr>
          </a:p>
        </p:txBody>
      </p:sp>
      <p:sp>
        <p:nvSpPr>
          <p:cNvPr id="773" name="CustomShape 3"/>
          <p:cNvSpPr/>
          <p:nvPr/>
        </p:nvSpPr>
        <p:spPr>
          <a:xfrm>
            <a:off x="352080" y="6450120"/>
            <a:ext cx="1841040" cy="363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*Ej. Restaurante</a:t>
            </a:r>
            <a:endParaRPr lang="es-MX" sz="1800" b="0" strike="noStrike" spc="-1">
              <a:latin typeface="Arial"/>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Tuberías (pipes)</a:t>
            </a:r>
            <a:endParaRPr lang="es-MX" sz="4400" b="0" strike="noStrike" spc="-1">
              <a:latin typeface="Arial"/>
            </a:endParaRPr>
          </a:p>
        </p:txBody>
      </p:sp>
      <p:sp>
        <p:nvSpPr>
          <p:cNvPr id="775" name="CustomShape 2"/>
          <p:cNvSpPr/>
          <p:nvPr/>
        </p:nvSpPr>
        <p:spPr>
          <a:xfrm>
            <a:off x="609480" y="1665000"/>
            <a:ext cx="10971000" cy="49525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700" b="0" strike="noStrike" spc="-1">
                <a:solidFill>
                  <a:srgbClr val="000000"/>
                </a:solidFill>
                <a:latin typeface="Arial"/>
                <a:ea typeface="DejaVu Sans"/>
              </a:rPr>
              <a:t>Dado que los hilos solo comparten variables globales pues c/u tiene su propia pila, a veces necesitan compartir datos contenidos en variables locales.</a:t>
            </a:r>
            <a:endParaRPr lang="es-MX" sz="2700" b="0" strike="noStrike" spc="-1">
              <a:latin typeface="Arial"/>
            </a:endParaRPr>
          </a:p>
          <a:p>
            <a:pPr>
              <a:lnSpc>
                <a:spcPct val="90000"/>
              </a:lnSpc>
              <a:spcBef>
                <a:spcPts val="1001"/>
              </a:spcBef>
            </a:pPr>
            <a:endParaRPr lang="es-MX" sz="2700" b="0" strike="noStrike" spc="-1">
              <a:latin typeface="Arial"/>
            </a:endParaRPr>
          </a:p>
          <a:p>
            <a:pPr marL="228600" indent="-227160">
              <a:lnSpc>
                <a:spcPct val="90000"/>
              </a:lnSpc>
              <a:spcBef>
                <a:spcPts val="1001"/>
              </a:spcBef>
              <a:buClr>
                <a:srgbClr val="000000"/>
              </a:buClr>
              <a:buFont typeface="Arial"/>
              <a:buChar char="•"/>
            </a:pPr>
            <a:r>
              <a:rPr lang="es-MX" sz="2700" b="0" strike="noStrike" spc="-1">
                <a:solidFill>
                  <a:srgbClr val="000000"/>
                </a:solidFill>
                <a:latin typeface="Arial"/>
                <a:ea typeface="DejaVu Sans"/>
              </a:rPr>
              <a:t>Las tuberías permiten redireccionar la salida de un hilo con la entrada de otro permitiendo así el manejo de memoria compartida.</a:t>
            </a:r>
            <a:endParaRPr lang="es-MX" sz="2700" b="0" strike="noStrike" spc="-1">
              <a:latin typeface="Aria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java.io.PipedInputStream</a:t>
            </a:r>
            <a:endParaRPr lang="es-MX" sz="4400" b="0" strike="noStrike" spc="-1">
              <a:latin typeface="Arial"/>
            </a:endParaRPr>
          </a:p>
        </p:txBody>
      </p:sp>
      <p:sp>
        <p:nvSpPr>
          <p:cNvPr id="777" name="CustomShape 2"/>
          <p:cNvSpPr/>
          <p:nvPr/>
        </p:nvSpPr>
        <p:spPr>
          <a:xfrm>
            <a:off x="609480" y="1604520"/>
            <a:ext cx="10971000" cy="5122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Campos: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byte[ ] buffer</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int in  //posición donde se almacena</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int out   //posición de donde se extrae</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static int PIPE_SIZE //default 1024</a:t>
            </a:r>
            <a:endParaRPr lang="es-MX" sz="24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Constructores: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PipedInputStream(int tam)</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PipedInputStream(PipedOutputStream src)</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PipedInputStream(PipedOutputStream src, int tam)</a:t>
            </a:r>
            <a:endParaRPr lang="es-MX" sz="2400" b="0" strike="noStrike" spc="-1">
              <a:latin typeface="Arial"/>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java.io.PipedInputStream</a:t>
            </a:r>
            <a:endParaRPr lang="es-MX" sz="4400" b="0" strike="noStrike" spc="-1">
              <a:latin typeface="Arial"/>
            </a:endParaRPr>
          </a:p>
        </p:txBody>
      </p:sp>
      <p:sp>
        <p:nvSpPr>
          <p:cNvPr id="779" name="CustomShape 2"/>
          <p:cNvSpPr/>
          <p:nvPr/>
        </p:nvSpPr>
        <p:spPr>
          <a:xfrm>
            <a:off x="609480" y="1604520"/>
            <a:ext cx="10971000" cy="4794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3200" b="0" strike="noStrike" spc="-1">
                <a:solidFill>
                  <a:srgbClr val="000000"/>
                </a:solidFill>
                <a:latin typeface="Arial"/>
                <a:ea typeface="DejaVu Sans"/>
              </a:rPr>
              <a:t>Métodos:</a:t>
            </a:r>
            <a:endParaRPr lang="es-MX" sz="32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int available( )</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close( )</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connect(PipedOutputStream src)</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int read( )</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Int read(byte[b], int off, int tam)</a:t>
            </a:r>
            <a:endParaRPr lang="es-MX" sz="2400" b="0" strike="noStrike" spc="-1">
              <a:latin typeface="Arial"/>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java.io.PipedOutputStream</a:t>
            </a:r>
            <a:endParaRPr lang="es-MX" sz="4400" b="0" strike="noStrike" spc="-1">
              <a:latin typeface="Arial"/>
            </a:endParaRPr>
          </a:p>
        </p:txBody>
      </p:sp>
      <p:sp>
        <p:nvSpPr>
          <p:cNvPr id="781" name="CustomShape 2"/>
          <p:cNvSpPr/>
          <p:nvPr/>
        </p:nvSpPr>
        <p:spPr>
          <a:xfrm>
            <a:off x="514080" y="1937880"/>
            <a:ext cx="10971000" cy="4311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Constructores: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PipedOutputStream(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PipedOutputStream(PipedInputStream dst)</a:t>
            </a:r>
            <a:endParaRPr lang="es-MX" sz="2400" b="0" strike="noStrike" spc="-1">
              <a:latin typeface="Arial"/>
            </a:endParaRPr>
          </a:p>
          <a:p>
            <a:pPr>
              <a:lnSpc>
                <a:spcPct val="100000"/>
              </a:lnSpc>
            </a:pPr>
            <a:endParaRPr lang="es-MX" sz="24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Métodos: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close(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connect(PipedInputStream dst)</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flush(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write(int b)</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write(byte[ ]b, int off, int tam)</a:t>
            </a:r>
            <a:endParaRPr lang="es-MX" sz="2400" b="0" strike="noStrike" spc="-1">
              <a:latin typeface="Arial"/>
            </a:endParaRPr>
          </a:p>
        </p:txBody>
      </p:sp>
      <p:sp>
        <p:nvSpPr>
          <p:cNvPr id="782" name="CustomShape 3"/>
          <p:cNvSpPr/>
          <p:nvPr/>
        </p:nvSpPr>
        <p:spPr>
          <a:xfrm>
            <a:off x="1339200" y="6250680"/>
            <a:ext cx="2665800" cy="363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*Ej. PipeTest, PipeDemo</a:t>
            </a:r>
            <a:endParaRPr lang="es-MX" sz="1800" b="0" strike="noStrike" spc="-1">
              <a:latin typeface="Arial"/>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Pthreads  &lt;pthread.h&gt;</a:t>
            </a:r>
            <a:endParaRPr lang="es-MX" sz="4400" b="0" strike="noStrike" spc="-1">
              <a:latin typeface="Arial"/>
            </a:endParaRPr>
          </a:p>
        </p:txBody>
      </p:sp>
      <p:sp>
        <p:nvSpPr>
          <p:cNvPr id="784" name="CustomShape 2"/>
          <p:cNvSpPr/>
          <p:nvPr/>
        </p:nvSpPr>
        <p:spPr>
          <a:xfrm>
            <a:off x="609480" y="1418760"/>
            <a:ext cx="10971000" cy="5171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400" b="1" strike="noStrike" spc="-1">
                <a:solidFill>
                  <a:srgbClr val="000000"/>
                </a:solidFill>
                <a:latin typeface="Arial"/>
                <a:ea typeface="DejaVu Sans"/>
              </a:rPr>
              <a:t>pthread.h no viene incluido por defecto en gcc, hay que incluirlo al compilar:     </a:t>
            </a:r>
            <a:r>
              <a:rPr lang="es-MX" sz="2400" b="1" i="1" strike="noStrike" spc="-1">
                <a:solidFill>
                  <a:srgbClr val="953735"/>
                </a:solidFill>
                <a:latin typeface="Courier New"/>
                <a:ea typeface="DejaVu Sans"/>
              </a:rPr>
              <a:t>gcc –pthread miprograma.c –o salida</a:t>
            </a:r>
            <a:endParaRPr lang="es-MX" sz="2400" b="0" strike="noStrike" spc="-1">
              <a:latin typeface="Arial"/>
            </a:endParaRPr>
          </a:p>
          <a:p>
            <a:pPr>
              <a:lnSpc>
                <a:spcPct val="90000"/>
              </a:lnSpc>
              <a:spcBef>
                <a:spcPts val="1001"/>
              </a:spcBef>
            </a:pP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pthread_create(pthread_t *, const pthread_attr_t *, void *(*)(void *), void *);</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pthread_equal(pthread_t, pthread_t);</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pthread_detach(pthread_t);</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pthread_join(pthread_t, void **);</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void  pthread_exit(void * ret);  //mismo hilo</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pthread_cancel(pthread_t);</a:t>
            </a:r>
            <a:endParaRPr lang="es-MX" sz="2400" b="0" strike="noStrike" spc="-1">
              <a:latin typeface="Arial"/>
            </a:endParaRPr>
          </a:p>
          <a:p>
            <a:pPr>
              <a:lnSpc>
                <a:spcPct val="90000"/>
              </a:lnSpc>
              <a:spcBef>
                <a:spcPts val="1001"/>
              </a:spcBef>
            </a:pPr>
            <a:endParaRPr lang="es-MX" sz="2400" b="0" strike="noStrike" spc="-1">
              <a:latin typeface="Arial"/>
            </a:endParaRPr>
          </a:p>
          <a:p>
            <a:pPr marL="228600" indent="-227160">
              <a:lnSpc>
                <a:spcPct val="90000"/>
              </a:lnSpc>
              <a:spcBef>
                <a:spcPts val="1001"/>
              </a:spcBef>
              <a:buClr>
                <a:srgbClr val="000000"/>
              </a:buClr>
              <a:buFont typeface="Arial"/>
              <a:buChar char="•"/>
            </a:pPr>
            <a:r>
              <a:rPr lang="es-MX" sz="2400" b="0" strike="noStrike" spc="-1">
                <a:solidFill>
                  <a:srgbClr val="000000"/>
                </a:solidFill>
                <a:latin typeface="Arial"/>
                <a:ea typeface="DejaVu Sans"/>
              </a:rPr>
              <a:t>Ej. pthread.c, </a:t>
            </a: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 name="CustomShape 1"/>
          <p:cNvSpPr/>
          <p:nvPr/>
        </p:nvSpPr>
        <p:spPr>
          <a:xfrm>
            <a:off x="609480" y="15077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1" strike="noStrike" spc="-1" dirty="0">
                <a:solidFill>
                  <a:srgbClr val="000000"/>
                </a:solidFill>
                <a:latin typeface="Arial"/>
                <a:ea typeface="DejaVu Sans"/>
              </a:rPr>
              <a:t>Atributos de un hilo</a:t>
            </a:r>
            <a:endParaRPr lang="es-MX" sz="4000" b="1" strike="noStrike" spc="-1" dirty="0">
              <a:latin typeface="Arial"/>
            </a:endParaRPr>
          </a:p>
        </p:txBody>
      </p:sp>
      <p:sp>
        <p:nvSpPr>
          <p:cNvPr id="786" name="CustomShape 2"/>
          <p:cNvSpPr/>
          <p:nvPr/>
        </p:nvSpPr>
        <p:spPr>
          <a:xfrm>
            <a:off x="609480" y="1432886"/>
            <a:ext cx="10971000" cy="5425114"/>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b="1" strike="noStrike" spc="-1" dirty="0">
                <a:solidFill>
                  <a:srgbClr val="000000"/>
                </a:solidFill>
                <a:latin typeface="Arial"/>
                <a:ea typeface="DejaVu Sans"/>
              </a:rPr>
              <a:t>Alcance (</a:t>
            </a:r>
            <a:r>
              <a:rPr lang="es-MX" b="1" strike="noStrike" spc="-1" dirty="0" err="1">
                <a:solidFill>
                  <a:srgbClr val="000000"/>
                </a:solidFill>
                <a:latin typeface="Arial"/>
                <a:ea typeface="DejaVu Sans"/>
              </a:rPr>
              <a:t>scope</a:t>
            </a:r>
            <a:r>
              <a:rPr lang="es-MX" b="1" strike="noStrike" spc="-1" dirty="0">
                <a:solidFill>
                  <a:srgbClr val="000000"/>
                </a:solidFill>
                <a:latin typeface="Arial"/>
                <a:ea typeface="DejaVu Sans"/>
              </a:rPr>
              <a:t>)</a:t>
            </a:r>
            <a:r>
              <a:rPr lang="es-MX" b="0" strike="noStrike" spc="-1" dirty="0">
                <a:solidFill>
                  <a:srgbClr val="000000"/>
                </a:solidFill>
                <a:latin typeface="Arial"/>
                <a:ea typeface="DejaVu Sans"/>
              </a:rPr>
              <a:t>: PTHREAD_SCOPE_SYSTEM, PTHREAD_SCOPE_PROCESS</a:t>
            </a:r>
            <a:endParaRPr lang="es-MX" b="0" strike="noStrike" spc="-1" dirty="0">
              <a:latin typeface="Arial"/>
            </a:endParaRPr>
          </a:p>
          <a:p>
            <a:pPr>
              <a:lnSpc>
                <a:spcPct val="90000"/>
              </a:lnSpc>
              <a:spcBef>
                <a:spcPts val="1001"/>
              </a:spcBef>
            </a:pPr>
            <a:endParaRPr lang="es-MX" b="0" strike="noStrike" spc="-1" dirty="0">
              <a:latin typeface="Arial"/>
            </a:endParaRPr>
          </a:p>
          <a:p>
            <a:pPr marL="343080" indent="-341640">
              <a:lnSpc>
                <a:spcPct val="90000"/>
              </a:lnSpc>
              <a:spcBef>
                <a:spcPts val="1001"/>
              </a:spcBef>
              <a:buClr>
                <a:srgbClr val="000000"/>
              </a:buClr>
              <a:buFont typeface="Arial"/>
              <a:buChar char="•"/>
            </a:pPr>
            <a:r>
              <a:rPr lang="es-MX" b="1" strike="noStrike" spc="-1" dirty="0">
                <a:solidFill>
                  <a:srgbClr val="000000"/>
                </a:solidFill>
                <a:latin typeface="Arial"/>
                <a:ea typeface="DejaVu Sans"/>
              </a:rPr>
              <a:t>Política de planificación</a:t>
            </a:r>
            <a:r>
              <a:rPr lang="es-MX" b="0" strike="noStrike" spc="-1" dirty="0">
                <a:solidFill>
                  <a:srgbClr val="000000"/>
                </a:solidFill>
                <a:latin typeface="Arial"/>
                <a:ea typeface="DejaVu Sans"/>
              </a:rPr>
              <a:t>: </a:t>
            </a:r>
            <a:endParaRPr lang="es-MX" b="0" strike="noStrike" spc="-1" dirty="0">
              <a:latin typeface="Arial"/>
            </a:endParaRPr>
          </a:p>
          <a:p>
            <a:pPr marL="228600" indent="-227160">
              <a:lnSpc>
                <a:spcPct val="90000"/>
              </a:lnSpc>
              <a:spcBef>
                <a:spcPts val="1001"/>
              </a:spcBef>
              <a:buClr>
                <a:srgbClr val="000000"/>
              </a:buClr>
              <a:buFont typeface="Arial"/>
              <a:buChar char="•"/>
            </a:pPr>
            <a:r>
              <a:rPr lang="es-MX" b="0" strike="noStrike" spc="-1" dirty="0">
                <a:solidFill>
                  <a:srgbClr val="000000"/>
                </a:solidFill>
                <a:latin typeface="Arial"/>
                <a:ea typeface="DejaVu Sans"/>
              </a:rPr>
              <a:t>    - Tiempo real: SCHED_FIFO, SCHED_RR </a:t>
            </a:r>
          </a:p>
          <a:p>
            <a:pPr marL="723900" indent="-723900">
              <a:lnSpc>
                <a:spcPct val="90000"/>
              </a:lnSpc>
              <a:spcBef>
                <a:spcPts val="1001"/>
              </a:spcBef>
              <a:buClr>
                <a:srgbClr val="000000"/>
              </a:buClr>
            </a:pPr>
            <a:r>
              <a:rPr lang="es-MX" sz="1400" b="0" strike="noStrike" spc="-1" dirty="0">
                <a:solidFill>
                  <a:srgbClr val="000000"/>
                </a:solidFill>
                <a:latin typeface="Arial"/>
              </a:rPr>
              <a:t>         (1 tarea puede ejecutarse indefinidamente </a:t>
            </a:r>
            <a:r>
              <a:rPr lang="es-MX" sz="1400" b="0" strike="noStrike" spc="-1">
                <a:solidFill>
                  <a:srgbClr val="000000"/>
                </a:solidFill>
                <a:latin typeface="Arial"/>
              </a:rPr>
              <a:t>si ésta </a:t>
            </a:r>
            <a:r>
              <a:rPr lang="es-MX" sz="1400" b="0" strike="noStrike" spc="-1" dirty="0">
                <a:solidFill>
                  <a:srgbClr val="000000"/>
                </a:solidFill>
                <a:latin typeface="Arial"/>
              </a:rPr>
              <a:t>no es bloqueada por un recurso            sincronizado, o reemplazada por subtareas 	con la misma o mayor prioridad)</a:t>
            </a:r>
            <a:endParaRPr lang="es-MX" sz="1400" b="0" strike="noStrike" spc="-1" dirty="0">
              <a:latin typeface="Arial"/>
            </a:endParaRPr>
          </a:p>
          <a:p>
            <a:pPr marL="228600" indent="-227160">
              <a:lnSpc>
                <a:spcPct val="90000"/>
              </a:lnSpc>
              <a:spcBef>
                <a:spcPts val="1001"/>
              </a:spcBef>
              <a:buClr>
                <a:srgbClr val="000000"/>
              </a:buClr>
              <a:buFont typeface="Arial"/>
              <a:buChar char="•"/>
            </a:pPr>
            <a:r>
              <a:rPr lang="es-MX" b="0" strike="noStrike" spc="-1" dirty="0">
                <a:solidFill>
                  <a:srgbClr val="000000"/>
                </a:solidFill>
                <a:latin typeface="Arial"/>
                <a:ea typeface="DejaVu Sans"/>
              </a:rPr>
              <a:t>    - Normal(preferencias): SCHED_OTHER (RR </a:t>
            </a:r>
            <a:r>
              <a:rPr lang="es-MX" b="0" strike="noStrike" spc="-1" dirty="0" err="1">
                <a:solidFill>
                  <a:srgbClr val="000000"/>
                </a:solidFill>
                <a:latin typeface="Arial"/>
                <a:ea typeface="DejaVu Sans"/>
              </a:rPr>
              <a:t>std</a:t>
            </a:r>
            <a:r>
              <a:rPr lang="es-MX" b="0" strike="noStrike" spc="-1" dirty="0">
                <a:solidFill>
                  <a:srgbClr val="000000"/>
                </a:solidFill>
                <a:latin typeface="Arial"/>
                <a:ea typeface="DejaVu Sans"/>
              </a:rPr>
              <a:t>.), SCHED_IDLE (</a:t>
            </a:r>
            <a:r>
              <a:rPr lang="es-MX" b="0" strike="noStrike" spc="-1" dirty="0" err="1">
                <a:solidFill>
                  <a:srgbClr val="000000"/>
                </a:solidFill>
                <a:latin typeface="Arial"/>
                <a:ea typeface="DejaVu Sans"/>
              </a:rPr>
              <a:t>low</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pr</a:t>
            </a:r>
            <a:r>
              <a:rPr lang="es-MX" b="0" strike="noStrike" spc="-1" dirty="0">
                <a:solidFill>
                  <a:srgbClr val="000000"/>
                </a:solidFill>
                <a:latin typeface="Arial"/>
                <a:ea typeface="DejaVu Sans"/>
              </a:rPr>
              <a:t>.), SCHED_BATCH</a:t>
            </a:r>
          </a:p>
          <a:p>
            <a:pPr marL="1440">
              <a:lnSpc>
                <a:spcPct val="90000"/>
              </a:lnSpc>
              <a:spcBef>
                <a:spcPts val="1001"/>
              </a:spcBef>
              <a:buClr>
                <a:srgbClr val="000000"/>
              </a:buClr>
            </a:pPr>
            <a:r>
              <a:rPr lang="es-MX" spc="-1" dirty="0">
                <a:solidFill>
                  <a:srgbClr val="000000"/>
                </a:solidFill>
                <a:latin typeface="Arial"/>
              </a:rPr>
              <a:t>         </a:t>
            </a:r>
            <a:r>
              <a:rPr lang="es-MX" sz="1400" spc="-1" dirty="0">
                <a:solidFill>
                  <a:srgbClr val="000000"/>
                </a:solidFill>
                <a:latin typeface="Arial"/>
              </a:rPr>
              <a:t>(&gt;prioridad = &gt;tiempo procesador; no se monopoliza sin importar for(;;) )</a:t>
            </a:r>
            <a:endParaRPr lang="es-MX" sz="1400" b="0" strike="noStrike" spc="-1" dirty="0">
              <a:latin typeface="Arial"/>
            </a:endParaRPr>
          </a:p>
          <a:p>
            <a:pPr>
              <a:lnSpc>
                <a:spcPct val="90000"/>
              </a:lnSpc>
              <a:spcBef>
                <a:spcPts val="1001"/>
              </a:spcBef>
            </a:pPr>
            <a:endParaRPr lang="es-MX" b="0" strike="noStrike" spc="-1" dirty="0">
              <a:latin typeface="Arial"/>
            </a:endParaRPr>
          </a:p>
          <a:p>
            <a:pPr marL="343080" indent="-341640">
              <a:lnSpc>
                <a:spcPct val="90000"/>
              </a:lnSpc>
              <a:spcBef>
                <a:spcPts val="1001"/>
              </a:spcBef>
              <a:buClr>
                <a:srgbClr val="000000"/>
              </a:buClr>
              <a:buFont typeface="Arial"/>
              <a:buChar char="•"/>
            </a:pPr>
            <a:r>
              <a:rPr lang="es-MX" b="1" strike="noStrike" spc="-1" dirty="0">
                <a:solidFill>
                  <a:srgbClr val="000000"/>
                </a:solidFill>
                <a:latin typeface="Arial"/>
                <a:ea typeface="DejaVu Sans"/>
              </a:rPr>
              <a:t>Prioridad</a:t>
            </a:r>
            <a:r>
              <a:rPr lang="es-MX" b="0" strike="noStrike" spc="-1" dirty="0">
                <a:solidFill>
                  <a:srgbClr val="000000"/>
                </a:solidFill>
                <a:latin typeface="Arial"/>
                <a:ea typeface="DejaVu Sans"/>
              </a:rPr>
              <a:t>: políticas en tiempo real usan un rango de 1- 99</a:t>
            </a:r>
          </a:p>
          <a:p>
            <a:pPr marL="1440">
              <a:lnSpc>
                <a:spcPct val="90000"/>
              </a:lnSpc>
              <a:spcBef>
                <a:spcPts val="1001"/>
              </a:spcBef>
              <a:buClr>
                <a:srgbClr val="000000"/>
              </a:buClr>
            </a:pPr>
            <a:r>
              <a:rPr lang="es-MX" spc="-1" dirty="0">
                <a:solidFill>
                  <a:srgbClr val="000000"/>
                </a:solidFill>
                <a:latin typeface="Arial"/>
              </a:rPr>
              <a:t>                       políticas normales no consideran la prioridad</a:t>
            </a:r>
            <a:endParaRPr lang="es-MX" b="0" strike="noStrike" spc="-1" dirty="0">
              <a:latin typeface="Arial"/>
            </a:endParaRPr>
          </a:p>
          <a:p>
            <a:pPr>
              <a:lnSpc>
                <a:spcPct val="90000"/>
              </a:lnSpc>
              <a:spcBef>
                <a:spcPts val="1001"/>
              </a:spcBef>
            </a:pPr>
            <a:endParaRPr lang="es-MX"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a:solidFill>
                  <a:srgbClr val="000000"/>
                </a:solidFill>
                <a:latin typeface="Arial"/>
                <a:ea typeface="DejaVu Sans"/>
              </a:rPr>
              <a:t>Herencia</a:t>
            </a:r>
            <a:endParaRPr lang="es-MX"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a:solidFill>
                  <a:srgbClr val="000000"/>
                </a:solidFill>
                <a:latin typeface="Arial"/>
                <a:ea typeface="DejaVu Sans"/>
              </a:rPr>
              <a:t>Pila</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a:solidFill>
                  <a:srgbClr val="000000"/>
                </a:solidFill>
                <a:latin typeface="Arial"/>
                <a:ea typeface="DejaVu Sans"/>
              </a:rPr>
              <a:t>Independencia </a:t>
            </a:r>
            <a:endParaRPr lang="es-MX" sz="2200" b="0" strike="noStrike" spc="-1" dirty="0">
              <a:latin typeface="Arial"/>
            </a:endParaRPr>
          </a:p>
          <a:p>
            <a:pPr>
              <a:lnSpc>
                <a:spcPct val="90000"/>
              </a:lnSpc>
              <a:spcBef>
                <a:spcPts val="1001"/>
              </a:spcBef>
            </a:pPr>
            <a:endParaRPr lang="es-MX" sz="2200" b="0" strike="noStrike" spc="-1" dirty="0">
              <a:latin typeface="Arial"/>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Diagrama&#10;&#10;Descripción generada automáticamente">
            <a:extLst>
              <a:ext uri="{FF2B5EF4-FFF2-40B4-BE49-F238E27FC236}">
                <a16:creationId xmlns:a16="http://schemas.microsoft.com/office/drawing/2014/main" id="{6078CAA4-1F42-4915-843F-BEE88330F7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7559" y="158005"/>
            <a:ext cx="8256881" cy="6541990"/>
          </a:xfrm>
          <a:prstGeom prst="rect">
            <a:avLst/>
          </a:prstGeom>
        </p:spPr>
      </p:pic>
    </p:spTree>
    <p:extLst>
      <p:ext uri="{BB962C8B-B14F-4D97-AF65-F5344CB8AC3E}">
        <p14:creationId xmlns:p14="http://schemas.microsoft.com/office/powerpoint/2010/main" val="385523445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 name="CustomShape 1"/>
          <p:cNvSpPr/>
          <p:nvPr/>
        </p:nvSpPr>
        <p:spPr>
          <a:xfrm>
            <a:off x="609479" y="103680"/>
            <a:ext cx="10971000" cy="8864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dirty="0">
                <a:solidFill>
                  <a:srgbClr val="000000"/>
                </a:solidFill>
                <a:latin typeface="Arial"/>
                <a:ea typeface="DejaVu Sans"/>
              </a:rPr>
              <a:t>Atributos</a:t>
            </a:r>
            <a:endParaRPr lang="es-MX" sz="4000" b="0" strike="noStrike" spc="-1" dirty="0">
              <a:latin typeface="Arial"/>
            </a:endParaRPr>
          </a:p>
        </p:txBody>
      </p:sp>
      <p:sp>
        <p:nvSpPr>
          <p:cNvPr id="788" name="CustomShape 2"/>
          <p:cNvSpPr/>
          <p:nvPr/>
        </p:nvSpPr>
        <p:spPr>
          <a:xfrm>
            <a:off x="609479" y="1113200"/>
            <a:ext cx="11345959" cy="5744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b="0" strike="noStrike" spc="-1" dirty="0" err="1">
                <a:solidFill>
                  <a:srgbClr val="FF0000"/>
                </a:solidFill>
                <a:latin typeface="Arial"/>
                <a:ea typeface="DejaVu Sans"/>
              </a:rPr>
              <a:t>int</a:t>
            </a:r>
            <a:r>
              <a:rPr lang="es-MX" b="0" strike="noStrike" spc="-1" dirty="0">
                <a:solidFill>
                  <a:srgbClr val="FF0000"/>
                </a:solidFill>
                <a:latin typeface="Arial"/>
                <a:ea typeface="DejaVu Sans"/>
              </a:rPr>
              <a:t>   </a:t>
            </a:r>
            <a:r>
              <a:rPr lang="es-MX" b="0" strike="noStrike" spc="-1" dirty="0" err="1">
                <a:solidFill>
                  <a:srgbClr val="FF0000"/>
                </a:solidFill>
                <a:latin typeface="Arial"/>
                <a:ea typeface="DejaVu Sans"/>
              </a:rPr>
              <a:t>pthread_attr_init</a:t>
            </a:r>
            <a:r>
              <a:rPr lang="es-MX" b="0" strike="noStrike" spc="-1" dirty="0">
                <a:solidFill>
                  <a:srgbClr val="FF0000"/>
                </a:solidFill>
                <a:latin typeface="Arial"/>
                <a:ea typeface="DejaVu Sans"/>
              </a:rPr>
              <a:t>(</a:t>
            </a:r>
            <a:r>
              <a:rPr lang="es-MX" b="0" strike="noStrike" spc="-1" dirty="0" err="1">
                <a:solidFill>
                  <a:srgbClr val="FF0000"/>
                </a:solidFill>
                <a:latin typeface="Arial"/>
                <a:ea typeface="DejaVu Sans"/>
              </a:rPr>
              <a:t>pthread_attr_t</a:t>
            </a:r>
            <a:r>
              <a:rPr lang="es-MX" b="0" strike="noStrike" spc="-1" dirty="0">
                <a:solidFill>
                  <a:srgbClr val="FF0000"/>
                </a:solidFill>
                <a:latin typeface="Arial"/>
                <a:ea typeface="DejaVu Sans"/>
              </a:rPr>
              <a:t> *);</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FF0000"/>
                </a:solidFill>
                <a:latin typeface="Arial"/>
                <a:ea typeface="DejaVu Sans"/>
              </a:rPr>
              <a:t>int</a:t>
            </a:r>
            <a:r>
              <a:rPr lang="es-MX" b="0" strike="noStrike" spc="-1" dirty="0">
                <a:solidFill>
                  <a:srgbClr val="FF0000"/>
                </a:solidFill>
                <a:latin typeface="Arial"/>
                <a:ea typeface="DejaVu Sans"/>
              </a:rPr>
              <a:t>   </a:t>
            </a:r>
            <a:r>
              <a:rPr lang="es-MX" b="0" strike="noStrike" spc="-1" dirty="0" err="1">
                <a:solidFill>
                  <a:srgbClr val="FF0000"/>
                </a:solidFill>
                <a:latin typeface="Arial"/>
                <a:ea typeface="DejaVu Sans"/>
              </a:rPr>
              <a:t>pthread_attr_destroy</a:t>
            </a:r>
            <a:r>
              <a:rPr lang="es-MX" b="0" strike="noStrike" spc="-1" dirty="0">
                <a:solidFill>
                  <a:srgbClr val="FF0000"/>
                </a:solidFill>
                <a:latin typeface="Arial"/>
                <a:ea typeface="DejaVu Sans"/>
              </a:rPr>
              <a:t>(</a:t>
            </a:r>
            <a:r>
              <a:rPr lang="es-MX" b="0" strike="noStrike" spc="-1" dirty="0" err="1">
                <a:solidFill>
                  <a:srgbClr val="FF0000"/>
                </a:solidFill>
                <a:latin typeface="Arial"/>
                <a:ea typeface="DejaVu Sans"/>
              </a:rPr>
              <a:t>pthread_attr_t</a:t>
            </a:r>
            <a:r>
              <a:rPr lang="es-MX" b="0" strike="noStrike" spc="-1" dirty="0">
                <a:solidFill>
                  <a:srgbClr val="FF0000"/>
                </a:solidFill>
                <a:latin typeface="Arial"/>
                <a:ea typeface="DejaVu Sans"/>
              </a:rPr>
              <a:t> *);</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pthread_attr_getdetachstate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 </a:t>
            </a:r>
            <a:r>
              <a:rPr lang="en-US" sz="1400" b="0" strike="noStrike" spc="-1" dirty="0">
                <a:solidFill>
                  <a:srgbClr val="FF0000"/>
                </a:solidFill>
                <a:latin typeface="Arial"/>
                <a:ea typeface="DejaVu Sans"/>
              </a:rPr>
              <a:t>//PTHREAD_CREATE_DETACHED, PTHREAD_CREATE_JOINABLE</a:t>
            </a:r>
            <a:endParaRPr lang="es-MX" sz="14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pthread_attr_getguardsize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size_t</a:t>
            </a:r>
            <a:r>
              <a:rPr lang="es-MX" b="0" strike="noStrike" spc="-1" dirty="0">
                <a:solidFill>
                  <a:srgbClr val="000000"/>
                </a:solidFill>
                <a:latin typeface="Arial"/>
                <a:ea typeface="DejaVu Sans"/>
              </a:rPr>
              <a:t> *);</a:t>
            </a:r>
            <a:endParaRPr lang="es-MX"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pthread_attr_getinheritsched</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 //atributo planificación heredada/tomado del objeto atributo </a:t>
            </a:r>
            <a:r>
              <a:rPr lang="es-MX" sz="1400" b="0" strike="noStrike" spc="-1" dirty="0">
                <a:solidFill>
                  <a:srgbClr val="FF0000"/>
                </a:solidFill>
                <a:latin typeface="Arial"/>
                <a:ea typeface="DejaVu Sans"/>
              </a:rPr>
              <a:t>// PTHREAD_INHERIT_SCHED, PTHREAD_EXPLICIT_SCHED</a:t>
            </a:r>
            <a:endParaRPr lang="es-MX" sz="14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pthread_attr_getschedparam</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struct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sched_param</a:t>
            </a:r>
            <a:r>
              <a:rPr lang="es-MX" b="0" strike="noStrike" spc="-1" dirty="0">
                <a:solidFill>
                  <a:srgbClr val="000000"/>
                </a:solidFill>
                <a:latin typeface="Arial"/>
                <a:ea typeface="DejaVu Sans"/>
              </a:rPr>
              <a:t> *);</a:t>
            </a:r>
          </a:p>
          <a:p>
            <a:pPr marL="1440">
              <a:lnSpc>
                <a:spcPct val="90000"/>
              </a:lnSpc>
              <a:spcBef>
                <a:spcPts val="1001"/>
              </a:spcBef>
              <a:buClr>
                <a:srgbClr val="000000"/>
              </a:buClr>
            </a:pPr>
            <a:r>
              <a:rPr lang="en-US" b="0" strike="noStrike" spc="-1" dirty="0">
                <a:latin typeface="Arial"/>
              </a:rPr>
              <a:t>       </a:t>
            </a:r>
            <a:r>
              <a:rPr lang="en-US" b="0" strike="noStrike" spc="-1" dirty="0">
                <a:solidFill>
                  <a:srgbClr val="FF0000"/>
                </a:solidFill>
                <a:latin typeface="Arial"/>
              </a:rPr>
              <a:t>struct </a:t>
            </a:r>
            <a:r>
              <a:rPr lang="en-US" b="0" strike="noStrike" spc="-1" dirty="0" err="1">
                <a:solidFill>
                  <a:srgbClr val="FF0000"/>
                </a:solidFill>
                <a:latin typeface="Arial"/>
              </a:rPr>
              <a:t>sched_param</a:t>
            </a:r>
            <a:r>
              <a:rPr lang="en-US" b="0" strike="noStrike" spc="-1" dirty="0">
                <a:solidFill>
                  <a:srgbClr val="FF0000"/>
                </a:solidFill>
                <a:latin typeface="Arial"/>
              </a:rPr>
              <a:t> {</a:t>
            </a:r>
          </a:p>
          <a:p>
            <a:pPr marL="1440">
              <a:lnSpc>
                <a:spcPct val="90000"/>
              </a:lnSpc>
              <a:spcBef>
                <a:spcPts val="1001"/>
              </a:spcBef>
              <a:buClr>
                <a:srgbClr val="000000"/>
              </a:buClr>
            </a:pPr>
            <a:r>
              <a:rPr lang="en-US" b="0" strike="noStrike" spc="-1" dirty="0">
                <a:solidFill>
                  <a:srgbClr val="FF0000"/>
                </a:solidFill>
                <a:latin typeface="Arial"/>
              </a:rPr>
              <a:t>           int </a:t>
            </a:r>
            <a:r>
              <a:rPr lang="en-US" b="0" strike="noStrike" spc="-1" dirty="0" err="1">
                <a:solidFill>
                  <a:srgbClr val="FF0000"/>
                </a:solidFill>
                <a:latin typeface="Arial"/>
              </a:rPr>
              <a:t>sched_priority</a:t>
            </a:r>
            <a:r>
              <a:rPr lang="en-US" b="0" strike="noStrike" spc="-1" dirty="0">
                <a:solidFill>
                  <a:srgbClr val="FF0000"/>
                </a:solidFill>
                <a:latin typeface="Arial"/>
              </a:rPr>
              <a:t>;     /* Scheduling priority (1-99 </a:t>
            </a:r>
            <a:r>
              <a:rPr lang="en-US" b="0" strike="noStrike" spc="-1" dirty="0" err="1">
                <a:solidFill>
                  <a:srgbClr val="FF0000"/>
                </a:solidFill>
                <a:latin typeface="Arial"/>
              </a:rPr>
              <a:t>tiempo</a:t>
            </a:r>
            <a:r>
              <a:rPr lang="en-US" b="0" strike="noStrike" spc="-1" dirty="0">
                <a:solidFill>
                  <a:srgbClr val="FF0000"/>
                </a:solidFill>
                <a:latin typeface="Arial"/>
              </a:rPr>
              <a:t> real,  0 normal no </a:t>
            </a:r>
            <a:r>
              <a:rPr lang="en-US" b="0" strike="noStrike" spc="-1" dirty="0" err="1">
                <a:solidFill>
                  <a:srgbClr val="FF0000"/>
                </a:solidFill>
                <a:latin typeface="Arial"/>
              </a:rPr>
              <a:t>usada</a:t>
            </a:r>
            <a:r>
              <a:rPr lang="en-US" b="0" strike="noStrike" spc="-1" dirty="0">
                <a:solidFill>
                  <a:srgbClr val="FF0000"/>
                </a:solidFill>
                <a:latin typeface="Arial"/>
              </a:rPr>
              <a:t>)*/</a:t>
            </a:r>
          </a:p>
          <a:p>
            <a:pPr marL="1440">
              <a:lnSpc>
                <a:spcPct val="90000"/>
              </a:lnSpc>
              <a:spcBef>
                <a:spcPts val="1001"/>
              </a:spcBef>
              <a:buClr>
                <a:srgbClr val="000000"/>
              </a:buClr>
            </a:pPr>
            <a:r>
              <a:rPr lang="en-US" b="0" strike="noStrike" spc="-1" dirty="0">
                <a:solidFill>
                  <a:srgbClr val="FF0000"/>
                </a:solidFill>
                <a:latin typeface="Arial"/>
              </a:rPr>
              <a:t>        };</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pthread_attr_getschedpolicy</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a:solidFill>
                  <a:srgbClr val="FF0000"/>
                </a:solidFill>
                <a:latin typeface="Arial"/>
                <a:ea typeface="DejaVu Sans"/>
              </a:rPr>
              <a:t> </a:t>
            </a:r>
            <a:r>
              <a:rPr lang="es-MX" sz="1400" b="0" strike="noStrike" spc="-1" dirty="0">
                <a:solidFill>
                  <a:srgbClr val="FF0000"/>
                </a:solidFill>
                <a:latin typeface="Arial"/>
                <a:ea typeface="DejaVu Sans"/>
              </a:rPr>
              <a:t>//SCHED_FIFO,SCHED_RR</a:t>
            </a:r>
            <a:r>
              <a:rPr lang="es-MX" sz="1400" spc="-1" dirty="0">
                <a:solidFill>
                  <a:srgbClr val="FF0000"/>
                </a:solidFill>
                <a:latin typeface="Arial"/>
                <a:ea typeface="DejaVu Sans"/>
              </a:rPr>
              <a:t> //Tiempo real</a:t>
            </a:r>
            <a:endParaRPr lang="es-MX" sz="1400" b="0" strike="noStrike" spc="-1" dirty="0">
              <a:solidFill>
                <a:srgbClr val="FF0000"/>
              </a:solidFill>
              <a:latin typeface="Arial"/>
              <a:ea typeface="DejaVu Sans"/>
            </a:endParaRPr>
          </a:p>
          <a:p>
            <a:pPr marL="1440">
              <a:lnSpc>
                <a:spcPct val="90000"/>
              </a:lnSpc>
              <a:spcBef>
                <a:spcPts val="1001"/>
              </a:spcBef>
              <a:buClr>
                <a:srgbClr val="000000"/>
              </a:buClr>
            </a:pPr>
            <a:r>
              <a:rPr lang="es-MX" sz="1400" spc="-1" dirty="0">
                <a:solidFill>
                  <a:srgbClr val="FF0000"/>
                </a:solidFill>
                <a:latin typeface="Arial"/>
                <a:ea typeface="DejaVu Sans"/>
              </a:rPr>
              <a:t>        </a:t>
            </a:r>
            <a:r>
              <a:rPr lang="es-MX" sz="1400" b="0" strike="noStrike" spc="-1" dirty="0">
                <a:solidFill>
                  <a:srgbClr val="FF0000"/>
                </a:solidFill>
                <a:latin typeface="Arial"/>
                <a:ea typeface="DejaVu Sans"/>
              </a:rPr>
              <a:t>  SCHED_OTHER (RR tiempo compartido), SCHED_IDLE(</a:t>
            </a:r>
            <a:r>
              <a:rPr lang="es-MX" sz="1400" b="0" strike="noStrike" spc="-1" dirty="0" err="1">
                <a:solidFill>
                  <a:srgbClr val="FF0000"/>
                </a:solidFill>
                <a:latin typeface="Arial"/>
                <a:ea typeface="DejaVu Sans"/>
              </a:rPr>
              <a:t>low</a:t>
            </a:r>
            <a:r>
              <a:rPr lang="es-MX" sz="1400" b="0" strike="noStrike" spc="-1" dirty="0">
                <a:solidFill>
                  <a:srgbClr val="FF0000"/>
                </a:solidFill>
                <a:latin typeface="Arial"/>
                <a:ea typeface="DejaVu Sans"/>
              </a:rPr>
              <a:t> </a:t>
            </a:r>
            <a:r>
              <a:rPr lang="es-MX" sz="1400" b="0" strike="noStrike" spc="-1" dirty="0" err="1">
                <a:solidFill>
                  <a:srgbClr val="FF0000"/>
                </a:solidFill>
                <a:latin typeface="Arial"/>
                <a:ea typeface="DejaVu Sans"/>
              </a:rPr>
              <a:t>pr</a:t>
            </a:r>
            <a:r>
              <a:rPr lang="es-MX" sz="1400" b="0" strike="noStrike" spc="-1" dirty="0">
                <a:solidFill>
                  <a:srgbClr val="FF0000"/>
                </a:solidFill>
                <a:latin typeface="Arial"/>
                <a:ea typeface="DejaVu Sans"/>
              </a:rPr>
              <a:t>), SCHED_BATCH//Tiempo normal</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pthread_attr_getscope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sz="1400" b="0" strike="noStrike" spc="-1" dirty="0">
                <a:solidFill>
                  <a:srgbClr val="000000"/>
                </a:solidFill>
                <a:latin typeface="Arial"/>
                <a:ea typeface="DejaVu Sans"/>
              </a:rPr>
              <a:t> </a:t>
            </a:r>
            <a:r>
              <a:rPr lang="es-MX" sz="1400" b="0" strike="noStrike" spc="-1" dirty="0">
                <a:solidFill>
                  <a:srgbClr val="FF0000"/>
                </a:solidFill>
                <a:latin typeface="Arial"/>
                <a:ea typeface="DejaVu Sans"/>
              </a:rPr>
              <a:t>//PTHREAD_SCOPE_SYSTEM, PTHREAD_SCOPE_PROCESS</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pthread_attr_getstackaddr</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void</a:t>
            </a:r>
            <a:r>
              <a:rPr lang="es-MX" b="0" strike="noStrike" spc="-1" dirty="0">
                <a:solidFill>
                  <a:srgbClr val="000000"/>
                </a:solidFill>
                <a:latin typeface="Arial"/>
                <a:ea typeface="DejaVu Sans"/>
              </a:rPr>
              <a:t> **);</a:t>
            </a:r>
            <a:endParaRPr lang="es-MX"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pthread_attr_getstacksize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size_t</a:t>
            </a:r>
            <a:r>
              <a:rPr lang="es-MX" b="0" strike="noStrike" spc="-1" dirty="0">
                <a:solidFill>
                  <a:srgbClr val="000000"/>
                </a:solidFill>
                <a:latin typeface="Arial"/>
                <a:ea typeface="DejaVu Sans"/>
              </a:rPr>
              <a:t> *);</a:t>
            </a:r>
            <a:endParaRPr lang="es-MX" b="0" strike="noStrike" spc="-1" dirty="0">
              <a:latin typeface="Arial"/>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CustomShape 1"/>
          <p:cNvSpPr/>
          <p:nvPr/>
        </p:nvSpPr>
        <p:spPr>
          <a:xfrm>
            <a:off x="609480" y="750600"/>
            <a:ext cx="10971000" cy="58399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pthread_attr_setdetachstate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1600" b="0" strike="noStrike" spc="-1" dirty="0">
                <a:solidFill>
                  <a:srgbClr val="FF0000"/>
                </a:solidFill>
                <a:latin typeface="Arial"/>
                <a:ea typeface="DejaVu Sans"/>
              </a:rPr>
              <a:t>//PTHREAD_CREATE_DETACHED, PTHREAD_CREATE_JOINABLE</a:t>
            </a:r>
            <a:endParaRPr lang="es-MX" sz="16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pthread_setschedprio</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thread</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prio</a:t>
            </a:r>
            <a:r>
              <a:rPr lang="es-MX" sz="2200" b="0" strike="noStrike" spc="-1" dirty="0">
                <a:solidFill>
                  <a:srgbClr val="000000"/>
                </a:solidFill>
                <a:latin typeface="Arial"/>
                <a:ea typeface="DejaVu Sans"/>
              </a:rPr>
              <a:t>);  //1-99 tiempo real</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pthread_attr_setguardsize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size_t</a:t>
            </a:r>
            <a:r>
              <a:rPr lang="es-MX" sz="2200" b="0" strike="noStrike" spc="-1" dirty="0">
                <a:solidFill>
                  <a:srgbClr val="000000"/>
                </a:solidFill>
                <a:latin typeface="Arial"/>
                <a:ea typeface="DejaVu Sans"/>
              </a:rPr>
              <a:t>);</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pthread_attr_setinheritsched</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p>
          <a:p>
            <a:pPr marL="1440">
              <a:lnSpc>
                <a:spcPct val="90000"/>
              </a:lnSpc>
              <a:spcBef>
                <a:spcPts val="1001"/>
              </a:spcBef>
              <a:buClr>
                <a:srgbClr val="000000"/>
              </a:buClr>
            </a:pPr>
            <a:r>
              <a:rPr lang="es-MX" sz="1400" spc="-1" dirty="0">
                <a:solidFill>
                  <a:srgbClr val="FF0000"/>
                </a:solidFill>
                <a:latin typeface="Arial"/>
              </a:rPr>
              <a:t>     // PTHREAD_INHERIT_SCHED</a:t>
            </a:r>
            <a:r>
              <a:rPr lang="es-MX" sz="1400" spc="-1" dirty="0">
                <a:solidFill>
                  <a:srgbClr val="000000"/>
                </a:solidFill>
                <a:latin typeface="Arial"/>
              </a:rPr>
              <a:t>: heredan atributo de planificación, se ignora el atributo de la tabla</a:t>
            </a:r>
          </a:p>
          <a:p>
            <a:pPr marL="1440">
              <a:lnSpc>
                <a:spcPct val="90000"/>
              </a:lnSpc>
              <a:spcBef>
                <a:spcPts val="1001"/>
              </a:spcBef>
              <a:buClr>
                <a:srgbClr val="000000"/>
              </a:buClr>
            </a:pPr>
            <a:r>
              <a:rPr lang="es-MX" sz="1400" b="0" strike="noStrike" spc="-1" dirty="0">
                <a:solidFill>
                  <a:srgbClr val="000000"/>
                </a:solidFill>
                <a:latin typeface="Arial"/>
              </a:rPr>
              <a:t>    </a:t>
            </a:r>
            <a:r>
              <a:rPr lang="es-MX" sz="1400" b="0" strike="noStrike" spc="-1" dirty="0">
                <a:solidFill>
                  <a:srgbClr val="FF0000"/>
                </a:solidFill>
                <a:latin typeface="Arial"/>
              </a:rPr>
              <a:t>// PTHREAD_EXPLICIT_SCHED</a:t>
            </a:r>
            <a:r>
              <a:rPr lang="es-MX" sz="1400" b="0" strike="noStrike" spc="-1" dirty="0">
                <a:solidFill>
                  <a:srgbClr val="000000"/>
                </a:solidFill>
                <a:latin typeface="Arial"/>
              </a:rPr>
              <a:t>: se toma el atributo de planificación de la tabla de atributos</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pthread_attr_setschedpolicy</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1400" b="1" strike="noStrike" spc="-1" dirty="0">
                <a:solidFill>
                  <a:srgbClr val="FF0000"/>
                </a:solidFill>
                <a:latin typeface="Arial"/>
                <a:ea typeface="DejaVu Sans"/>
              </a:rPr>
              <a:t>//SCHED_FIFO,SCHED_RR</a:t>
            </a:r>
            <a:r>
              <a:rPr lang="es-MX" sz="1400" b="1" spc="-1" dirty="0">
                <a:solidFill>
                  <a:srgbClr val="FF0000"/>
                </a:solidFill>
                <a:latin typeface="Arial"/>
                <a:ea typeface="DejaVu Sans"/>
              </a:rPr>
              <a:t> //Tiempo real</a:t>
            </a:r>
            <a:endParaRPr lang="es-MX" sz="1400" b="1" strike="noStrike" spc="-1" dirty="0">
              <a:solidFill>
                <a:srgbClr val="FF0000"/>
              </a:solidFill>
              <a:latin typeface="Arial"/>
              <a:ea typeface="DejaVu Sans"/>
            </a:endParaRPr>
          </a:p>
          <a:p>
            <a:pPr marL="1440">
              <a:lnSpc>
                <a:spcPct val="90000"/>
              </a:lnSpc>
              <a:spcBef>
                <a:spcPts val="1001"/>
              </a:spcBef>
              <a:buClr>
                <a:srgbClr val="000000"/>
              </a:buClr>
            </a:pPr>
            <a:r>
              <a:rPr lang="es-MX" sz="1400" b="1" spc="-1" dirty="0">
                <a:solidFill>
                  <a:srgbClr val="FF0000"/>
                </a:solidFill>
                <a:latin typeface="Arial"/>
                <a:ea typeface="DejaVu Sans"/>
              </a:rPr>
              <a:t>        </a:t>
            </a:r>
            <a:r>
              <a:rPr lang="es-MX" sz="1400" b="1" strike="noStrike" spc="-1" dirty="0">
                <a:solidFill>
                  <a:srgbClr val="FF0000"/>
                </a:solidFill>
                <a:latin typeface="Arial"/>
                <a:ea typeface="DejaVu Sans"/>
              </a:rPr>
              <a:t>  SCHED_OTHER (RR tiempo compartido), SCHED_IDLE(</a:t>
            </a:r>
            <a:r>
              <a:rPr lang="es-MX" sz="1400" b="1" strike="noStrike" spc="-1" dirty="0" err="1">
                <a:solidFill>
                  <a:srgbClr val="FF0000"/>
                </a:solidFill>
                <a:latin typeface="Arial"/>
                <a:ea typeface="DejaVu Sans"/>
              </a:rPr>
              <a:t>low</a:t>
            </a:r>
            <a:r>
              <a:rPr lang="es-MX" sz="1400" b="1" strike="noStrike" spc="-1" dirty="0">
                <a:solidFill>
                  <a:srgbClr val="FF0000"/>
                </a:solidFill>
                <a:latin typeface="Arial"/>
                <a:ea typeface="DejaVu Sans"/>
              </a:rPr>
              <a:t> </a:t>
            </a:r>
            <a:r>
              <a:rPr lang="es-MX" sz="1400" b="1" strike="noStrike" spc="-1" dirty="0" err="1">
                <a:solidFill>
                  <a:srgbClr val="FF0000"/>
                </a:solidFill>
                <a:latin typeface="Arial"/>
                <a:ea typeface="DejaVu Sans"/>
              </a:rPr>
              <a:t>pr</a:t>
            </a:r>
            <a:r>
              <a:rPr lang="es-MX" sz="1400" b="1" strike="noStrike" spc="-1" dirty="0">
                <a:solidFill>
                  <a:srgbClr val="FF0000"/>
                </a:solidFill>
                <a:latin typeface="Arial"/>
                <a:ea typeface="DejaVu Sans"/>
              </a:rPr>
              <a:t>), SCHED_BATCH//Tiempo normal</a:t>
            </a:r>
            <a:endParaRPr lang="es-MX" sz="1400" b="1"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pthread_attr_setscope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1600" b="0" strike="noStrike" spc="-1" dirty="0">
                <a:solidFill>
                  <a:srgbClr val="FF0000"/>
                </a:solidFill>
                <a:latin typeface="Arial"/>
                <a:ea typeface="DejaVu Sans"/>
              </a:rPr>
              <a:t>//PTHREAD_SCOPE_SYSTEM,                                                         PTHREAD_SCOPE_PROCESS</a:t>
            </a:r>
            <a:endParaRPr lang="es-MX" sz="16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pthread_attr_setstackaddr</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void</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pthread_attr_setstacksize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size_t</a:t>
            </a:r>
            <a:r>
              <a:rPr lang="es-MX" sz="2200" b="0" strike="noStrike" spc="-1" dirty="0">
                <a:solidFill>
                  <a:srgbClr val="000000"/>
                </a:solidFill>
                <a:latin typeface="Arial"/>
                <a:ea typeface="DejaVu Sans"/>
              </a:rPr>
              <a:t>);</a:t>
            </a:r>
            <a:endParaRPr lang="es-MX" sz="2200" b="0" strike="noStrike" spc="-1" dirty="0">
              <a:latin typeface="Arial"/>
            </a:endParaRPr>
          </a:p>
          <a:p>
            <a:pPr>
              <a:lnSpc>
                <a:spcPct val="90000"/>
              </a:lnSpc>
              <a:spcBef>
                <a:spcPts val="1001"/>
              </a:spcBef>
            </a:pPr>
            <a:endParaRPr lang="es-MX" sz="2200" b="0" strike="noStrike" spc="-1" dirty="0">
              <a:latin typeface="Arial"/>
            </a:endParaRPr>
          </a:p>
          <a:p>
            <a:pPr>
              <a:lnSpc>
                <a:spcPct val="90000"/>
              </a:lnSpc>
              <a:spcBef>
                <a:spcPts val="1001"/>
              </a:spcBef>
            </a:pPr>
            <a:endParaRPr lang="es-MX" sz="2200" b="0" strike="noStrike" spc="-1" dirty="0">
              <a:latin typeface="Arial"/>
            </a:endParaRPr>
          </a:p>
          <a:p>
            <a:pPr>
              <a:lnSpc>
                <a:spcPct val="90000"/>
              </a:lnSpc>
              <a:spcBef>
                <a:spcPts val="1001"/>
              </a:spcBef>
            </a:pPr>
            <a:r>
              <a:rPr lang="es-MX" sz="2400" b="0" strike="noStrike" spc="-1" dirty="0">
                <a:solidFill>
                  <a:srgbClr val="0070C0"/>
                </a:solidFill>
                <a:latin typeface="Arial"/>
                <a:ea typeface="DejaVu Sans"/>
              </a:rPr>
              <a:t>*Ej. Atributo, </a:t>
            </a:r>
            <a:r>
              <a:rPr lang="es-MX" sz="2400" b="0" strike="noStrike" spc="-1" dirty="0" err="1">
                <a:solidFill>
                  <a:srgbClr val="0070C0"/>
                </a:solidFill>
                <a:latin typeface="Arial"/>
                <a:ea typeface="DejaVu Sans"/>
              </a:rPr>
              <a:t>hilo_retorno</a:t>
            </a:r>
            <a:endParaRPr lang="es-MX" sz="2400" b="0" strike="noStrike" spc="-1" dirty="0">
              <a:latin typeface="Arial"/>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Sincronización de hilos</a:t>
            </a:r>
            <a:endParaRPr lang="es-MX" sz="4400" b="0" strike="noStrike" spc="-1">
              <a:latin typeface="Arial"/>
            </a:endParaRPr>
          </a:p>
        </p:txBody>
      </p:sp>
      <p:sp>
        <p:nvSpPr>
          <p:cNvPr id="791" name="CustomShape 2"/>
          <p:cNvSpPr/>
          <p:nvPr/>
        </p:nvSpPr>
        <p:spPr>
          <a:xfrm>
            <a:off x="609480" y="2266200"/>
            <a:ext cx="10971000" cy="34509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Mutex</a:t>
            </a: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ReadWrite lock</a:t>
            </a: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Variables de condición</a:t>
            </a: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Semáforos</a:t>
            </a:r>
            <a:endParaRPr lang="es-MX" sz="2800" b="0" strike="noStrike" spc="-1">
              <a:latin typeface="Arial"/>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Mutex</a:t>
            </a:r>
            <a:endParaRPr lang="es-MX" sz="4400" b="0" strike="noStrike" spc="-1">
              <a:latin typeface="Arial"/>
            </a:endParaRPr>
          </a:p>
        </p:txBody>
      </p:sp>
      <p:sp>
        <p:nvSpPr>
          <p:cNvPr id="793" name="CustomShape 2"/>
          <p:cNvSpPr/>
          <p:nvPr/>
        </p:nvSpPr>
        <p:spPr>
          <a:xfrm>
            <a:off x="432000" y="1665000"/>
            <a:ext cx="10971000" cy="50619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m = PTHREAD_MUTEX_INITIALIZER;</a:t>
            </a:r>
            <a:endParaRPr lang="es-MX" sz="2200" b="0" strike="noStrike" spc="-1" dirty="0">
              <a:latin typeface="Arial"/>
            </a:endParaRPr>
          </a:p>
          <a:p>
            <a:pPr>
              <a:lnSpc>
                <a:spcPct val="90000"/>
              </a:lnSpc>
              <a:spcBef>
                <a:spcPts val="1001"/>
              </a:spcBef>
            </a:pP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pthread_mutex_init</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pthread_mutex_destroy</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pthread_mutex_getprioceiling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b="0" strike="noStrike" spc="-1" dirty="0">
                <a:solidFill>
                  <a:srgbClr val="FF0000"/>
                </a:solidFill>
                <a:latin typeface="Arial"/>
                <a:ea typeface="DejaVu Sans"/>
              </a:rPr>
              <a:t>//prioridad </a:t>
            </a:r>
            <a:r>
              <a:rPr lang="es-MX" b="0" strike="noStrike" spc="-1" dirty="0" err="1">
                <a:solidFill>
                  <a:srgbClr val="FF0000"/>
                </a:solidFill>
                <a:latin typeface="Arial"/>
                <a:ea typeface="DejaVu Sans"/>
              </a:rPr>
              <a:t>mutex</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pthread_mutex_lock</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pthread_mutex_setprioceiling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b="0" strike="noStrike" spc="-1" dirty="0">
                <a:solidFill>
                  <a:srgbClr val="FF0000"/>
                </a:solidFill>
                <a:latin typeface="Arial"/>
                <a:ea typeface="DejaVu Sans"/>
              </a:rPr>
              <a:t>//prioridad </a:t>
            </a:r>
            <a:r>
              <a:rPr lang="es-MX" b="0" strike="noStrike" spc="-1" dirty="0" err="1">
                <a:solidFill>
                  <a:srgbClr val="FF0000"/>
                </a:solidFill>
                <a:latin typeface="Arial"/>
                <a:ea typeface="DejaVu Sans"/>
              </a:rPr>
              <a:t>mutex</a:t>
            </a:r>
            <a:endParaRPr lang="es-MX"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pthread_mutex_trylock</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pthread_mutex_unlock</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 name="CustomShape 1"/>
          <p:cNvSpPr/>
          <p:nvPr/>
        </p:nvSpPr>
        <p:spPr>
          <a:xfrm>
            <a:off x="404640" y="362520"/>
            <a:ext cx="11385360" cy="4920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pthread_mutexattr_init</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pthread_mutexattr_destroy</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sz="1600" b="0" strike="noStrike" spc="-1" dirty="0">
                <a:solidFill>
                  <a:srgbClr val="FF0000"/>
                </a:solidFill>
                <a:latin typeface="Arial"/>
                <a:ea typeface="DejaVu Sans"/>
              </a:rPr>
              <a:t>//prioridad con que se ejecuta sección crítica protegida por el </a:t>
            </a:r>
            <a:r>
              <a:rPr lang="es-MX" sz="1600" b="0" strike="noStrike" spc="-1" dirty="0" err="1">
                <a:solidFill>
                  <a:srgbClr val="FF0000"/>
                </a:solidFill>
                <a:latin typeface="Arial"/>
                <a:ea typeface="DejaVu Sans"/>
              </a:rPr>
              <a:t>mutex</a:t>
            </a:r>
            <a:endParaRPr lang="es-MX" sz="16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pthread_mutexattr_getprotocol</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proto_prot_mux</a:t>
            </a:r>
            <a:endParaRPr lang="es-MX" sz="2200" b="0" strike="noStrike" spc="-1" dirty="0">
              <a:latin typeface="Arial"/>
            </a:endParaRPr>
          </a:p>
          <a:p>
            <a:pPr marL="685800" lvl="1" indent="-227160">
              <a:lnSpc>
                <a:spcPct val="90000"/>
              </a:lnSpc>
              <a:spcBef>
                <a:spcPts val="499"/>
              </a:spcBef>
              <a:buClr>
                <a:srgbClr val="000000"/>
              </a:buClr>
              <a:buFont typeface="Arial"/>
              <a:buChar char="•"/>
            </a:pPr>
            <a:r>
              <a:rPr lang="es-MX" sz="2400" b="0" strike="noStrike" spc="-1" dirty="0">
                <a:solidFill>
                  <a:srgbClr val="000000"/>
                </a:solidFill>
                <a:latin typeface="Arial"/>
                <a:ea typeface="DejaVu Sans"/>
              </a:rPr>
              <a:t>     - </a:t>
            </a:r>
            <a:r>
              <a:rPr lang="es-MX" sz="1800" b="0" strike="noStrike" spc="-1" dirty="0">
                <a:solidFill>
                  <a:srgbClr val="FF0000"/>
                </a:solidFill>
                <a:latin typeface="Arial"/>
                <a:ea typeface="DejaVu Sans"/>
              </a:rPr>
              <a:t>PTHREAD_PRIO_NONE, PTHREAD_PRIO_INHERIT, PTHREAD_PRIO_PROTECT</a:t>
            </a:r>
            <a:endParaRPr lang="es-MX" sz="18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pthread_mutexattr_setprotocol</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marL="685800" lvl="1" indent="-227160">
              <a:lnSpc>
                <a:spcPct val="90000"/>
              </a:lnSpc>
              <a:spcBef>
                <a:spcPts val="499"/>
              </a:spcBef>
              <a:buClr>
                <a:srgbClr val="000000"/>
              </a:buClr>
              <a:buFont typeface="Arial"/>
              <a:buChar char="•"/>
            </a:pPr>
            <a:r>
              <a:rPr lang="es-MX" sz="2400" b="0" strike="noStrike" spc="-1" dirty="0">
                <a:solidFill>
                  <a:srgbClr val="000000"/>
                </a:solidFill>
                <a:latin typeface="Arial"/>
                <a:ea typeface="DejaVu Sans"/>
              </a:rPr>
              <a:t>    </a:t>
            </a:r>
            <a:r>
              <a:rPr lang="es-MX" sz="2400" b="0" strike="noStrike" spc="-1" dirty="0">
                <a:solidFill>
                  <a:srgbClr val="FF0000"/>
                </a:solidFill>
                <a:latin typeface="Arial"/>
                <a:ea typeface="DejaVu Sans"/>
              </a:rPr>
              <a:t>-</a:t>
            </a:r>
            <a:r>
              <a:rPr lang="es-MX" sz="1800" b="0" strike="noStrike" spc="-1" dirty="0">
                <a:solidFill>
                  <a:srgbClr val="FF0000"/>
                </a:solidFill>
                <a:latin typeface="Arial"/>
                <a:ea typeface="DejaVu Sans"/>
              </a:rPr>
              <a:t>  PTHREAD_PRIO_NONE: prioridad y planificación no son afectadas por </a:t>
            </a:r>
            <a:r>
              <a:rPr lang="es-MX" sz="1800" b="0" strike="noStrike" spc="-1" dirty="0" err="1">
                <a:solidFill>
                  <a:srgbClr val="FF0000"/>
                </a:solidFill>
                <a:latin typeface="Arial"/>
                <a:ea typeface="DejaVu Sans"/>
              </a:rPr>
              <a:t>mutex</a:t>
            </a:r>
            <a:endParaRPr lang="es-MX" sz="1800" b="0" strike="noStrike" spc="-1" dirty="0">
              <a:solidFill>
                <a:srgbClr val="FF0000"/>
              </a:solidFill>
              <a:latin typeface="Arial"/>
            </a:endParaRPr>
          </a:p>
          <a:p>
            <a:pPr marL="685800" lvl="1" indent="-227160">
              <a:lnSpc>
                <a:spcPct val="90000"/>
              </a:lnSpc>
              <a:spcBef>
                <a:spcPts val="499"/>
              </a:spcBef>
              <a:buClr>
                <a:srgbClr val="000000"/>
              </a:buClr>
              <a:buFont typeface="Arial"/>
              <a:buChar char="•"/>
            </a:pPr>
            <a:r>
              <a:rPr lang="es-MX" sz="1800" b="0" strike="noStrike" spc="-1" dirty="0">
                <a:solidFill>
                  <a:srgbClr val="FF0000"/>
                </a:solidFill>
                <a:latin typeface="Arial"/>
                <a:ea typeface="DejaVu Sans"/>
              </a:rPr>
              <a:t>      -  PTHREAD_PRIO_INHERIT: el hilo se ejecuta con la prioridad más alta de los hilos en espera</a:t>
            </a:r>
            <a:endParaRPr lang="es-MX" sz="1800" b="0" strike="noStrike" spc="-1" dirty="0">
              <a:solidFill>
                <a:srgbClr val="FF0000"/>
              </a:solidFill>
              <a:latin typeface="Arial"/>
            </a:endParaRPr>
          </a:p>
          <a:p>
            <a:pPr marL="685800" lvl="1" indent="-227160">
              <a:lnSpc>
                <a:spcPct val="90000"/>
              </a:lnSpc>
              <a:spcBef>
                <a:spcPts val="499"/>
              </a:spcBef>
              <a:buClr>
                <a:srgbClr val="000000"/>
              </a:buClr>
              <a:buFont typeface="Arial"/>
              <a:buChar char="•"/>
            </a:pPr>
            <a:r>
              <a:rPr lang="es-MX" sz="1800" b="0" strike="noStrike" spc="-1" dirty="0">
                <a:solidFill>
                  <a:srgbClr val="FF0000"/>
                </a:solidFill>
                <a:latin typeface="Arial"/>
                <a:ea typeface="DejaVu Sans"/>
              </a:rPr>
              <a:t>      -  PTHREAD_PRIO_PROTECT: el hilo se ejecuta con la prioridad más alta de los hilos o de los </a:t>
            </a:r>
            <a:r>
              <a:rPr lang="es-MX" sz="1800" b="0" strike="noStrike" spc="-1" dirty="0" err="1">
                <a:solidFill>
                  <a:srgbClr val="FF0000"/>
                </a:solidFill>
                <a:latin typeface="Arial"/>
                <a:ea typeface="DejaVu Sans"/>
              </a:rPr>
              <a:t>mutex</a:t>
            </a:r>
            <a:endParaRPr lang="es-MX" sz="1800" b="0" strike="noStrike" spc="-1" dirty="0">
              <a:solidFill>
                <a:srgbClr val="FF0000"/>
              </a:solidFill>
              <a:latin typeface="Arial"/>
            </a:endParaRPr>
          </a:p>
          <a:p>
            <a:pPr>
              <a:lnSpc>
                <a:spcPct val="100000"/>
              </a:lnSpc>
            </a:pPr>
            <a:endParaRPr lang="es-MX" sz="18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pthread_mutexattr_getpshared</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pthread_mutexattr_setpshared</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marL="1440" lvl="1">
              <a:lnSpc>
                <a:spcPct val="90000"/>
              </a:lnSpc>
              <a:spcBef>
                <a:spcPts val="499"/>
              </a:spcBef>
              <a:buClr>
                <a:srgbClr val="000000"/>
              </a:buClr>
            </a:pPr>
            <a:r>
              <a:rPr lang="es-MX" sz="1800" b="0" strike="noStrike" spc="-1" dirty="0">
                <a:solidFill>
                  <a:srgbClr val="FF0000"/>
                </a:solidFill>
                <a:latin typeface="Arial"/>
                <a:ea typeface="DejaVu Sans"/>
              </a:rPr>
              <a:t>      </a:t>
            </a:r>
            <a:r>
              <a:rPr lang="es-MX" sz="1600" b="0" strike="noStrike" spc="-1" dirty="0">
                <a:solidFill>
                  <a:srgbClr val="FF0000"/>
                </a:solidFill>
                <a:latin typeface="Arial"/>
                <a:ea typeface="DejaVu Sans"/>
              </a:rPr>
              <a:t>//PTHREAD_PROCESS_PRIVATE,     PTHREAD_PROCESS_SHARED</a:t>
            </a:r>
            <a:endParaRPr lang="es-MX" sz="1600" b="0" strike="noStrike" spc="-1" dirty="0">
              <a:solidFill>
                <a:srgbClr val="FF0000"/>
              </a:solidFill>
              <a:latin typeface="Arial"/>
            </a:endParaRPr>
          </a:p>
        </p:txBody>
      </p:sp>
      <p:sp>
        <p:nvSpPr>
          <p:cNvPr id="795" name="CustomShape 2"/>
          <p:cNvSpPr/>
          <p:nvPr/>
        </p:nvSpPr>
        <p:spPr>
          <a:xfrm>
            <a:off x="515160" y="5914080"/>
            <a:ext cx="1040508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*protocolo define el protocolo a ser seguido al usar mutex</a:t>
            </a:r>
            <a:endParaRPr lang="es-MX" sz="1800" b="0" strike="noStrike" spc="-1">
              <a:latin typeface="Arial"/>
            </a:endParaRPr>
          </a:p>
          <a:p>
            <a:pPr>
              <a:lnSpc>
                <a:spcPct val="100000"/>
              </a:lnSpc>
            </a:pPr>
            <a:r>
              <a:rPr lang="en-US" sz="1800" b="0" strike="noStrike" spc="-1">
                <a:solidFill>
                  <a:srgbClr val="000000"/>
                </a:solidFill>
                <a:latin typeface="Arial"/>
                <a:ea typeface="DejaVu Sans"/>
              </a:rPr>
              <a:t>*prioceiling obtiene la prioridad más alta de todos los hilos que pueden bloquear ese mutex</a:t>
            </a:r>
            <a:endParaRPr lang="es-MX" sz="1800" b="0" strike="noStrike" spc="-1">
              <a:latin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 name="CustomShape 1"/>
          <p:cNvSpPr/>
          <p:nvPr/>
        </p:nvSpPr>
        <p:spPr>
          <a:xfrm>
            <a:off x="286560" y="559440"/>
            <a:ext cx="11503800" cy="50209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pthread_mutexattr_gettype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pthread_mutexattr_settype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a:lnSpc>
                <a:spcPct val="90000"/>
              </a:lnSpc>
              <a:spcBef>
                <a:spcPts val="1001"/>
              </a:spcBef>
            </a:pPr>
            <a:endParaRPr lang="es-MX" sz="2200" b="0" strike="noStrike" spc="-1" dirty="0">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PTHREAD_MUTEX_NORMAL</a:t>
            </a:r>
            <a:r>
              <a:rPr lang="es-MX" sz="1600" b="0" strike="noStrike" spc="-1" dirty="0">
                <a:solidFill>
                  <a:srgbClr val="FF0000"/>
                </a:solidFill>
                <a:latin typeface="Arial"/>
                <a:ea typeface="DejaVu Sans"/>
              </a:rPr>
              <a:t>: no detecta </a:t>
            </a:r>
            <a:r>
              <a:rPr lang="es-MX" sz="1600" b="0" strike="noStrike" spc="-1" dirty="0" err="1">
                <a:solidFill>
                  <a:srgbClr val="FF0000"/>
                </a:solidFill>
                <a:latin typeface="Arial"/>
                <a:ea typeface="DejaVu Sans"/>
              </a:rPr>
              <a:t>deadlocks</a:t>
            </a:r>
            <a:endParaRPr lang="es-MX" sz="1600" b="0" strike="noStrike" spc="-1" dirty="0">
              <a:solidFill>
                <a:srgbClr val="FF0000"/>
              </a:solidFill>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PTHREAD_MUTEX_ERRORCHECK</a:t>
            </a:r>
            <a:r>
              <a:rPr lang="es-MX" sz="1600" b="0" strike="noStrike" spc="-1" dirty="0">
                <a:solidFill>
                  <a:srgbClr val="FF0000"/>
                </a:solidFill>
                <a:latin typeface="Arial"/>
                <a:ea typeface="DejaVu Sans"/>
              </a:rPr>
              <a:t>: verifica errores (t1 intenta desbloquear m puesta por t2, t1 intenta desbloquear m que no está bloqueada, t1 intenta bloquear m que ya estaba bloqueada, </a:t>
            </a:r>
            <a:r>
              <a:rPr lang="es-MX" sz="1600" b="0" strike="noStrike" spc="-1" dirty="0" err="1">
                <a:solidFill>
                  <a:srgbClr val="FF0000"/>
                </a:solidFill>
                <a:latin typeface="Arial"/>
                <a:ea typeface="DejaVu Sans"/>
              </a:rPr>
              <a:t>etc</a:t>
            </a:r>
            <a:r>
              <a:rPr lang="es-MX" sz="1600" b="0" strike="noStrike" spc="-1" dirty="0">
                <a:solidFill>
                  <a:srgbClr val="FF0000"/>
                </a:solidFill>
                <a:latin typeface="Arial"/>
                <a:ea typeface="DejaVu Sans"/>
              </a:rPr>
              <a:t>)</a:t>
            </a:r>
            <a:endParaRPr lang="es-MX" sz="1600" b="0" strike="noStrike" spc="-1" dirty="0">
              <a:solidFill>
                <a:srgbClr val="FF0000"/>
              </a:solidFill>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PTHREAD_MUTEX_RECURSIVE</a:t>
            </a:r>
            <a:r>
              <a:rPr lang="es-MX" sz="1600" b="0" strike="noStrike" spc="-1" dirty="0">
                <a:solidFill>
                  <a:srgbClr val="FF0000"/>
                </a:solidFill>
                <a:latin typeface="Arial"/>
                <a:ea typeface="DejaVu Sans"/>
              </a:rPr>
              <a:t>: múltiples </a:t>
            </a:r>
            <a:r>
              <a:rPr lang="es-MX" sz="1600" b="0" strike="noStrike" spc="-1" dirty="0" err="1">
                <a:solidFill>
                  <a:srgbClr val="FF0000"/>
                </a:solidFill>
                <a:latin typeface="Arial"/>
                <a:ea typeface="DejaVu Sans"/>
              </a:rPr>
              <a:t>unlock</a:t>
            </a:r>
            <a:r>
              <a:rPr lang="es-MX" sz="1600" b="0" strike="noStrike" spc="-1" dirty="0">
                <a:solidFill>
                  <a:srgbClr val="FF0000"/>
                </a:solidFill>
                <a:latin typeface="Arial"/>
                <a:ea typeface="DejaVu Sans"/>
              </a:rPr>
              <a:t> para múltiples </a:t>
            </a:r>
            <a:r>
              <a:rPr lang="es-MX" sz="1600" b="0" strike="noStrike" spc="-1" dirty="0" err="1">
                <a:solidFill>
                  <a:srgbClr val="FF0000"/>
                </a:solidFill>
                <a:latin typeface="Arial"/>
                <a:ea typeface="DejaVu Sans"/>
              </a:rPr>
              <a:t>lock</a:t>
            </a:r>
            <a:r>
              <a:rPr lang="es-MX" sz="1600" b="0" strike="noStrike" spc="-1" dirty="0">
                <a:solidFill>
                  <a:srgbClr val="FF0000"/>
                </a:solidFill>
                <a:latin typeface="Arial"/>
                <a:ea typeface="DejaVu Sans"/>
              </a:rPr>
              <a:t> sobre un </a:t>
            </a:r>
            <a:r>
              <a:rPr lang="es-MX" sz="1600" b="0" strike="noStrike" spc="-1" dirty="0" err="1">
                <a:solidFill>
                  <a:srgbClr val="FF0000"/>
                </a:solidFill>
                <a:latin typeface="Arial"/>
                <a:ea typeface="DejaVu Sans"/>
              </a:rPr>
              <a:t>mutex</a:t>
            </a:r>
            <a:r>
              <a:rPr lang="es-MX" sz="1600" b="0" strike="noStrike" spc="-1" dirty="0">
                <a:solidFill>
                  <a:srgbClr val="FF0000"/>
                </a:solidFill>
                <a:latin typeface="Arial"/>
                <a:ea typeface="DejaVu Sans"/>
              </a:rPr>
              <a:t> para que otro hilo pueda bloquearlos.</a:t>
            </a:r>
            <a:endParaRPr lang="es-MX" sz="1600" b="0" strike="noStrike" spc="-1" dirty="0">
              <a:solidFill>
                <a:srgbClr val="FF0000"/>
              </a:solidFill>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PTHREAD_MUTEX_DEFAULT</a:t>
            </a:r>
            <a:r>
              <a:rPr lang="es-MX" sz="1600" b="0" strike="noStrike" spc="-1" dirty="0">
                <a:solidFill>
                  <a:srgbClr val="FF0000"/>
                </a:solidFill>
                <a:latin typeface="Arial"/>
                <a:ea typeface="DejaVu Sans"/>
              </a:rPr>
              <a:t>: permite mapear este tipo a cualquier otro</a:t>
            </a:r>
            <a:endParaRPr lang="es-MX" sz="1600" b="0" strike="noStrike" spc="-1" dirty="0">
              <a:solidFill>
                <a:srgbClr val="FF0000"/>
              </a:solidFill>
              <a:latin typeface="Arial"/>
            </a:endParaRPr>
          </a:p>
          <a:p>
            <a:pPr>
              <a:lnSpc>
                <a:spcPct val="90000"/>
              </a:lnSpc>
              <a:spcBef>
                <a:spcPts val="1001"/>
              </a:spcBef>
            </a:pPr>
            <a:endParaRPr lang="es-MX" sz="1600" b="0" strike="noStrike" spc="-1" dirty="0">
              <a:solidFill>
                <a:srgbClr val="FF0000"/>
              </a:solidFill>
              <a:latin typeface="Arial"/>
            </a:endParaRPr>
          </a:p>
          <a:p>
            <a:pPr>
              <a:lnSpc>
                <a:spcPct val="90000"/>
              </a:lnSpc>
              <a:spcBef>
                <a:spcPts val="1001"/>
              </a:spcBef>
            </a:pPr>
            <a:endParaRPr lang="es-MX" sz="1800" b="0" strike="noStrike" spc="-1" dirty="0">
              <a:latin typeface="Arial"/>
            </a:endParaRPr>
          </a:p>
          <a:p>
            <a:pPr marL="228600" indent="-227160">
              <a:lnSpc>
                <a:spcPct val="90000"/>
              </a:lnSpc>
              <a:spcBef>
                <a:spcPts val="1001"/>
              </a:spcBef>
              <a:buClr>
                <a:srgbClr val="0070C0"/>
              </a:buClr>
              <a:buFont typeface="Arial"/>
              <a:buChar char="•"/>
            </a:pPr>
            <a:r>
              <a:rPr lang="es-MX" sz="2400" b="0" strike="noStrike" spc="-1" dirty="0">
                <a:solidFill>
                  <a:srgbClr val="0070C0"/>
                </a:solidFill>
                <a:latin typeface="Arial"/>
                <a:ea typeface="DejaVu Sans"/>
              </a:rPr>
              <a:t>*Ej. Mutex1.c, </a:t>
            </a:r>
            <a:r>
              <a:rPr lang="es-MX" sz="2400" b="0" strike="noStrike" spc="-1" dirty="0" err="1">
                <a:solidFill>
                  <a:srgbClr val="0070C0"/>
                </a:solidFill>
                <a:latin typeface="Arial"/>
                <a:ea typeface="DejaVu Sans"/>
              </a:rPr>
              <a:t>reentrantMutex.c</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CustomShape 1"/>
          <p:cNvSpPr/>
          <p:nvPr/>
        </p:nvSpPr>
        <p:spPr>
          <a:xfrm>
            <a:off x="1980720" y="273240"/>
            <a:ext cx="822816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3990" b="0" strike="noStrike" spc="-1">
                <a:solidFill>
                  <a:srgbClr val="000000"/>
                </a:solidFill>
                <a:latin typeface="Arial"/>
                <a:ea typeface="DejaVu Sans"/>
              </a:rPr>
              <a:t>Read-Write Locks</a:t>
            </a:r>
            <a:endParaRPr lang="es-MX" sz="3990" b="0" strike="noStrike" spc="-1">
              <a:latin typeface="Arial"/>
            </a:endParaRPr>
          </a:p>
        </p:txBody>
      </p:sp>
      <p:sp>
        <p:nvSpPr>
          <p:cNvPr id="798" name="CustomShape 2"/>
          <p:cNvSpPr/>
          <p:nvPr/>
        </p:nvSpPr>
        <p:spPr>
          <a:xfrm>
            <a:off x="640653" y="1215486"/>
            <a:ext cx="10223658" cy="5251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pthread_rwlock_t</a:t>
            </a:r>
            <a:r>
              <a:rPr lang="en-US" sz="2000" b="0" strike="noStrike" spc="-1" dirty="0">
                <a:solidFill>
                  <a:srgbClr val="000000"/>
                </a:solidFill>
                <a:latin typeface="Arial"/>
                <a:ea typeface="DejaVu Sans"/>
              </a:rPr>
              <a:t> lock;</a:t>
            </a:r>
          </a:p>
          <a:p>
            <a:pPr marL="195840" indent="-194400">
              <a:lnSpc>
                <a:spcPct val="100000"/>
              </a:lnSpc>
              <a:buClr>
                <a:srgbClr val="000000"/>
              </a:buClr>
              <a:buSzPct val="45000"/>
              <a:buFont typeface="Symbol"/>
              <a:buChar char=""/>
            </a:pPr>
            <a:endParaRPr lang="en-US" sz="2000" spc="-1" dirty="0">
              <a:solidFill>
                <a:srgbClr val="000000"/>
              </a:solidFill>
              <a:latin typeface="Arial"/>
            </a:endParaRPr>
          </a:p>
          <a:p>
            <a:pPr marL="1440">
              <a:lnSpc>
                <a:spcPct val="100000"/>
              </a:lnSpc>
              <a:buClr>
                <a:srgbClr val="000000"/>
              </a:buClr>
              <a:buSzPct val="45000"/>
            </a:pPr>
            <a:endParaRPr lang="es-MX" sz="2000" b="0" strike="noStrike" spc="-1" dirty="0">
              <a:latin typeface="Arial"/>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Inicializado</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como</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pthread_rwlock_init</a:t>
            </a:r>
            <a:r>
              <a:rPr lang="en-US" sz="2000" b="0" strike="noStrike" spc="-1" dirty="0">
                <a:solidFill>
                  <a:srgbClr val="000000"/>
                </a:solidFill>
                <a:latin typeface="Arial"/>
                <a:ea typeface="DejaVu Sans"/>
              </a:rPr>
              <a:t>(&amp;lock, const </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spc="-1" dirty="0">
                <a:solidFill>
                  <a:srgbClr val="000000"/>
                </a:solidFill>
                <a:latin typeface="Arial"/>
                <a:ea typeface="DejaVu Sans"/>
              </a:rPr>
              <a:t> </a:t>
            </a:r>
            <a:r>
              <a:rPr lang="en-US" sz="2000" spc="-1" dirty="0" err="1">
                <a:solidFill>
                  <a:srgbClr val="000000"/>
                </a:solidFill>
                <a:latin typeface="Arial"/>
                <a:ea typeface="DejaVu Sans"/>
              </a:rPr>
              <a:t>attr</a:t>
            </a:r>
            <a:r>
              <a:rPr lang="en-US" sz="2000" b="0" strike="noStrike" spc="-1" dirty="0">
                <a:solidFill>
                  <a:srgbClr val="000000"/>
                </a:solidFill>
                <a:latin typeface="Arial"/>
                <a:ea typeface="DejaVu Sans"/>
              </a:rPr>
              <a:t>);</a:t>
            </a:r>
            <a:endParaRPr lang="es-MX" sz="2000" b="0" strike="noStrike" spc="-1" dirty="0">
              <a:latin typeface="Arial"/>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pthread_rwlockattr_getpshared</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attr</a:t>
            </a:r>
            <a:r>
              <a:rPr lang="en-US" sz="2000" b="0" strike="noStrike" spc="-1" dirty="0">
                <a:solidFill>
                  <a:srgbClr val="000000"/>
                </a:solidFill>
                <a:latin typeface="Arial"/>
                <a:ea typeface="DejaVu Sans"/>
              </a:rPr>
              <a:t>, int </a:t>
            </a:r>
            <a:r>
              <a:rPr lang="en-US" sz="2000" b="0" strike="noStrike" spc="-1" dirty="0" err="1">
                <a:solidFill>
                  <a:srgbClr val="000000"/>
                </a:solidFill>
                <a:latin typeface="Arial"/>
                <a:ea typeface="DejaVu Sans"/>
              </a:rPr>
              <a:t>pshared</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pthread_rwlockattr_setpshared</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attr</a:t>
            </a:r>
            <a:r>
              <a:rPr lang="en-US" sz="2000" b="0" strike="noStrike" spc="-1" dirty="0">
                <a:solidFill>
                  <a:srgbClr val="000000"/>
                </a:solidFill>
                <a:latin typeface="Arial"/>
                <a:ea typeface="DejaVu Sans"/>
              </a:rPr>
              <a:t>, int </a:t>
            </a:r>
            <a:r>
              <a:rPr lang="en-US" sz="2000" b="0" strike="noStrike" spc="-1" dirty="0" err="1">
                <a:solidFill>
                  <a:srgbClr val="000000"/>
                </a:solidFill>
                <a:latin typeface="Arial"/>
                <a:ea typeface="DejaVu Sans"/>
              </a:rPr>
              <a:t>pshared</a:t>
            </a:r>
            <a:r>
              <a:rPr lang="en-US" sz="2000" b="0" strike="noStrike" spc="-1" dirty="0">
                <a:solidFill>
                  <a:srgbClr val="000000"/>
                </a:solidFill>
                <a:latin typeface="Arial"/>
                <a:ea typeface="DejaVu Sans"/>
              </a:rPr>
              <a:t>) </a:t>
            </a:r>
            <a:r>
              <a:rPr lang="en-US" sz="1600" b="0" strike="noStrike" spc="-1" dirty="0">
                <a:solidFill>
                  <a:srgbClr val="FF0000"/>
                </a:solidFill>
                <a:latin typeface="Arial"/>
                <a:ea typeface="DejaVu Sans"/>
              </a:rPr>
              <a:t>//PTHREAD_PROCESS_SHARED, PTHREAD_PROCESS_PRIVATE</a:t>
            </a:r>
          </a:p>
          <a:p>
            <a:pPr marL="195840" indent="-194400">
              <a:lnSpc>
                <a:spcPct val="100000"/>
              </a:lnSpc>
              <a:buClr>
                <a:srgbClr val="000000"/>
              </a:buClr>
              <a:buSzPct val="45000"/>
              <a:buFont typeface="Symbol"/>
              <a:buChar char=""/>
            </a:pPr>
            <a:endParaRPr lang="en-US" sz="2000" spc="-1" dirty="0">
              <a:solidFill>
                <a:srgbClr val="000000"/>
              </a:solidFill>
              <a:latin typeface="Arial"/>
              <a:ea typeface="DejaVu Sans"/>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Provee</a:t>
            </a:r>
            <a:r>
              <a:rPr lang="en-US" sz="2000" b="0" strike="noStrike" spc="-1" dirty="0">
                <a:solidFill>
                  <a:srgbClr val="000000"/>
                </a:solidFill>
                <a:latin typeface="Arial"/>
                <a:ea typeface="DejaVu Sans"/>
              </a:rPr>
              <a:t> 2 </a:t>
            </a:r>
            <a:r>
              <a:rPr lang="en-US" sz="2000" b="0" strike="noStrike" spc="-1" dirty="0" err="1">
                <a:solidFill>
                  <a:srgbClr val="000000"/>
                </a:solidFill>
                <a:latin typeface="Arial"/>
                <a:ea typeface="DejaVu Sans"/>
              </a:rPr>
              <a:t>candados</a:t>
            </a:r>
            <a:r>
              <a:rPr lang="en-US" sz="2000" b="0" strike="noStrike" spc="-1" dirty="0">
                <a:solidFill>
                  <a:srgbClr val="000000"/>
                </a:solidFill>
                <a:latin typeface="Arial"/>
                <a:ea typeface="DejaVu Sans"/>
              </a:rPr>
              <a:t>, uno para </a:t>
            </a:r>
            <a:r>
              <a:rPr lang="en-US" sz="2000" b="0" strike="noStrike" spc="-1" dirty="0" err="1">
                <a:solidFill>
                  <a:srgbClr val="000000"/>
                </a:solidFill>
                <a:latin typeface="Arial"/>
                <a:ea typeface="DejaVu Sans"/>
              </a:rPr>
              <a:t>acceso</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lectura-escritura</a:t>
            </a:r>
            <a:r>
              <a:rPr lang="en-US" sz="2000" b="0" strike="noStrike" spc="-1" dirty="0">
                <a:solidFill>
                  <a:srgbClr val="000000"/>
                </a:solidFill>
                <a:latin typeface="Arial"/>
                <a:ea typeface="DejaVu Sans"/>
              </a:rPr>
              <a:t> y uno para solo </a:t>
            </a:r>
            <a:r>
              <a:rPr lang="en-US" sz="2000" b="0" strike="noStrike" spc="-1" dirty="0" err="1">
                <a:solidFill>
                  <a:srgbClr val="000000"/>
                </a:solidFill>
                <a:latin typeface="Arial"/>
                <a:ea typeface="DejaVu Sans"/>
              </a:rPr>
              <a:t>lectura</a:t>
            </a:r>
            <a:endParaRPr lang="es-MX" sz="2000" b="0" strike="noStrike" spc="-1" dirty="0">
              <a:latin typeface="Arial"/>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Bloqueo</a:t>
            </a:r>
            <a:r>
              <a:rPr lang="en-US" sz="2000" b="0" strike="noStrike" spc="-1" dirty="0">
                <a:solidFill>
                  <a:srgbClr val="000000"/>
                </a:solidFill>
                <a:latin typeface="Arial"/>
                <a:ea typeface="DejaVu Sans"/>
              </a:rPr>
              <a:t>:</a:t>
            </a:r>
          </a:p>
          <a:p>
            <a:pPr marL="195840" indent="-194400">
              <a:lnSpc>
                <a:spcPct val="100000"/>
              </a:lnSpc>
              <a:buClr>
                <a:srgbClr val="000000"/>
              </a:buClr>
              <a:buSzPct val="45000"/>
              <a:buFont typeface="Symbol"/>
              <a:buChar char=""/>
            </a:pP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pthread_rwlock_rdlock</a:t>
            </a:r>
            <a:r>
              <a:rPr lang="en-US" sz="2000" b="0" strike="noStrike" spc="-1" dirty="0">
                <a:solidFill>
                  <a:srgbClr val="000000"/>
                </a:solidFill>
                <a:latin typeface="Arial"/>
                <a:ea typeface="DejaVu Sans"/>
              </a:rPr>
              <a:t>(&amp;lock); //</a:t>
            </a:r>
            <a:r>
              <a:rPr lang="en-US" sz="2000" b="0" strike="noStrike" spc="-1" dirty="0" err="1">
                <a:solidFill>
                  <a:srgbClr val="000000"/>
                </a:solidFill>
                <a:latin typeface="Arial"/>
                <a:ea typeface="DejaVu Sans"/>
              </a:rPr>
              <a:t>lectura</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pthread_rwlock_wrlock</a:t>
            </a:r>
            <a:r>
              <a:rPr lang="en-US" sz="2000" b="0" strike="noStrike" spc="-1" dirty="0">
                <a:solidFill>
                  <a:srgbClr val="000000"/>
                </a:solidFill>
                <a:latin typeface="Arial"/>
                <a:ea typeface="DejaVu Sans"/>
              </a:rPr>
              <a:t>(&amp;lock); //</a:t>
            </a:r>
            <a:r>
              <a:rPr lang="en-US" sz="2000" b="0" strike="noStrike" spc="-1" dirty="0" err="1">
                <a:solidFill>
                  <a:srgbClr val="000000"/>
                </a:solidFill>
                <a:latin typeface="Arial"/>
                <a:ea typeface="DejaVu Sans"/>
              </a:rPr>
              <a:t>lectura</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escritura</a:t>
            </a:r>
            <a:endParaRPr lang="es-MX" sz="2000" b="0" strike="noStrike" spc="-1" dirty="0">
              <a:latin typeface="Arial"/>
            </a:endParaRPr>
          </a:p>
          <a:p>
            <a:pPr marL="195840" indent="-194400">
              <a:lnSpc>
                <a:spcPct val="100000"/>
              </a:lnSpc>
              <a:buClr>
                <a:srgbClr val="000000"/>
              </a:buClr>
              <a:buSzPct val="45000"/>
              <a:buFont typeface="Symbol"/>
              <a:buChar char=""/>
            </a:pPr>
            <a:endParaRPr lang="en-US" sz="2000" b="0" strike="noStrike" spc="-1" dirty="0">
              <a:solidFill>
                <a:srgbClr val="000000"/>
              </a:solidFill>
              <a:latin typeface="Arial"/>
              <a:ea typeface="DejaVu Sans"/>
            </a:endParaRPr>
          </a:p>
          <a:p>
            <a:pPr marL="195840" indent="-194400">
              <a:lnSpc>
                <a:spcPct val="100000"/>
              </a:lnSpc>
              <a:buClr>
                <a:srgbClr val="000000"/>
              </a:buClr>
              <a:buSzPct val="45000"/>
              <a:buFont typeface="Symbol"/>
              <a:buChar char=""/>
            </a:pPr>
            <a:endParaRPr lang="en-US" sz="2000" spc="-1" dirty="0">
              <a:solidFill>
                <a:srgbClr val="000000"/>
              </a:solidFill>
              <a:latin typeface="Arial"/>
              <a:ea typeface="DejaVu Sans"/>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Desbloqueo</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pthread_rwlock_unlock</a:t>
            </a:r>
            <a:r>
              <a:rPr lang="en-US" sz="2000" b="0" strike="noStrike" spc="-1" dirty="0">
                <a:solidFill>
                  <a:srgbClr val="000000"/>
                </a:solidFill>
                <a:latin typeface="Arial"/>
                <a:ea typeface="DejaVu Sans"/>
              </a:rPr>
              <a:t>(&amp;lock);</a:t>
            </a:r>
            <a:endParaRPr lang="es-MX" sz="2000" b="0" strike="noStrike" spc="-1" dirty="0">
              <a:latin typeface="Arial"/>
            </a:endParaRPr>
          </a:p>
          <a:p>
            <a:pPr>
              <a:lnSpc>
                <a:spcPct val="100000"/>
              </a:lnSpc>
            </a:pPr>
            <a:endParaRPr lang="es-MX" sz="2910" b="0" strike="noStrike" spc="-1" dirty="0">
              <a:latin typeface="Arial"/>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Read-Write Lock</a:t>
            </a:r>
            <a:endParaRPr lang="es-MX" sz="4400" b="0" strike="noStrike" spc="-1">
              <a:latin typeface="Arial"/>
            </a:endParaRPr>
          </a:p>
        </p:txBody>
      </p:sp>
      <p:sp>
        <p:nvSpPr>
          <p:cNvPr id="800" name="CustomShape 2"/>
          <p:cNvSpPr/>
          <p:nvPr/>
        </p:nvSpPr>
        <p:spPr>
          <a:xfrm>
            <a:off x="609480" y="1604520"/>
            <a:ext cx="10971000" cy="720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Ej. Lista.c, mutexLista.c, rwLista.c</a:t>
            </a:r>
            <a:endParaRPr lang="es-MX" sz="2800" b="0" strike="noStrike" spc="-1">
              <a:latin typeface="Arial"/>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Variables de condición</a:t>
            </a:r>
            <a:endParaRPr lang="es-MX" sz="4400" b="0" strike="noStrike" spc="-1">
              <a:latin typeface="Arial"/>
            </a:endParaRPr>
          </a:p>
        </p:txBody>
      </p:sp>
      <p:sp>
        <p:nvSpPr>
          <p:cNvPr id="802" name="CustomShape 2"/>
          <p:cNvSpPr/>
          <p:nvPr/>
        </p:nvSpPr>
        <p:spPr>
          <a:xfrm>
            <a:off x="247973" y="1417320"/>
            <a:ext cx="11623729" cy="51732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c = PTHREAD_COND_INITIALIZER;</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pthread_cond_init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 </a:t>
            </a:r>
            <a:r>
              <a:rPr lang="es-MX" sz="2000" b="0" strike="noStrike" spc="-1" dirty="0" err="1">
                <a:solidFill>
                  <a:srgbClr val="000000"/>
                </a:solidFill>
                <a:latin typeface="Arial"/>
                <a:ea typeface="DejaVu Sans"/>
              </a:rPr>
              <a:t>const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pthread_condattr_t</a:t>
            </a:r>
            <a:r>
              <a:rPr lang="es-MX" sz="2000" b="0" strike="noStrike" spc="-1" dirty="0">
                <a:solidFill>
                  <a:srgbClr val="000000"/>
                </a:solidFill>
                <a:latin typeface="Arial"/>
                <a:ea typeface="DejaVu Sans"/>
              </a:rPr>
              <a:t> *);</a:t>
            </a:r>
          </a:p>
          <a:p>
            <a:pPr marL="228600" indent="-227160">
              <a:lnSpc>
                <a:spcPct val="90000"/>
              </a:lnSpc>
              <a:spcBef>
                <a:spcPts val="1001"/>
              </a:spcBef>
              <a:buClr>
                <a:srgbClr val="000000"/>
              </a:buClr>
              <a:buFont typeface="Arial"/>
              <a:buChar char="•"/>
            </a:pP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pthread_cond_wait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 </a:t>
            </a:r>
            <a:r>
              <a:rPr lang="es-MX" sz="2000" b="0" strike="noStrike" spc="-1" dirty="0" err="1">
                <a:solidFill>
                  <a:srgbClr val="000000"/>
                </a:solidFill>
                <a:latin typeface="Arial"/>
                <a:ea typeface="DejaVu Sans"/>
              </a:rPr>
              <a:t>pthread_mutex_t</a:t>
            </a:r>
            <a:r>
              <a:rPr lang="es-MX" sz="2000" b="0" strike="noStrike" spc="-1" dirty="0">
                <a:solidFill>
                  <a:srgbClr val="000000"/>
                </a:solidFill>
                <a:latin typeface="Arial"/>
                <a:ea typeface="DejaVu Sans"/>
              </a:rPr>
              <a:t> *);</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pthread_cond_timedwait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 pt </a:t>
            </a:r>
            <a:r>
              <a:rPr lang="es-MX" sz="2000" b="0" strike="noStrike" spc="-1" dirty="0" err="1">
                <a:solidFill>
                  <a:srgbClr val="000000"/>
                </a:solidFill>
                <a:latin typeface="Arial"/>
                <a:ea typeface="DejaVu Sans"/>
              </a:rPr>
              <a:t>hread_mutex_t</a:t>
            </a:r>
            <a:r>
              <a:rPr lang="es-MX" sz="2000" b="0" strike="noStrike" spc="-1" dirty="0">
                <a:solidFill>
                  <a:srgbClr val="000000"/>
                </a:solidFill>
                <a:latin typeface="Arial"/>
                <a:ea typeface="DejaVu Sans"/>
              </a:rPr>
              <a:t> *, </a:t>
            </a:r>
            <a:r>
              <a:rPr lang="es-MX" sz="2000" b="0" strike="noStrike" spc="-1" dirty="0" err="1">
                <a:solidFill>
                  <a:srgbClr val="000000"/>
                </a:solidFill>
                <a:latin typeface="Arial"/>
                <a:ea typeface="DejaVu Sans"/>
              </a:rPr>
              <a:t>const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struct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timespec</a:t>
            </a:r>
            <a:r>
              <a:rPr lang="es-MX" sz="2000" b="0" strike="noStrike" spc="-1" dirty="0">
                <a:solidFill>
                  <a:srgbClr val="000000"/>
                </a:solidFill>
                <a:latin typeface="Arial"/>
                <a:ea typeface="DejaVu Sans"/>
              </a:rPr>
              <a:t> *);</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struct </a:t>
            </a:r>
            <a:r>
              <a:rPr lang="en-US" sz="2000" b="0" strike="noStrike" spc="-1" dirty="0" err="1">
                <a:solidFill>
                  <a:srgbClr val="FF0000"/>
                </a:solidFill>
                <a:latin typeface="Arial"/>
              </a:rPr>
              <a:t>timespec</a:t>
            </a:r>
            <a:r>
              <a:rPr lang="en-US" sz="2000" b="0" strike="noStrike" spc="-1" dirty="0">
                <a:solidFill>
                  <a:srgbClr val="FF0000"/>
                </a:solidFill>
                <a:latin typeface="Arial"/>
              </a:rPr>
              <a:t> {  //&lt;</a:t>
            </a:r>
            <a:r>
              <a:rPr lang="en-US" sz="2000" b="0" strike="noStrike" spc="-1" dirty="0" err="1">
                <a:solidFill>
                  <a:srgbClr val="FF0000"/>
                </a:solidFill>
                <a:latin typeface="Arial"/>
              </a:rPr>
              <a:t>time.h</a:t>
            </a:r>
            <a:r>
              <a:rPr lang="en-US" sz="2000" b="0" strike="noStrike" spc="-1" dirty="0">
                <a:solidFill>
                  <a:srgbClr val="FF0000"/>
                </a:solidFill>
                <a:latin typeface="Arial"/>
              </a:rPr>
              <a:t>&gt;</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        </a:t>
            </a:r>
            <a:r>
              <a:rPr lang="en-US" sz="2000" b="0" strike="noStrike" spc="-1" dirty="0" err="1">
                <a:solidFill>
                  <a:srgbClr val="FF0000"/>
                </a:solidFill>
                <a:latin typeface="Arial"/>
              </a:rPr>
              <a:t>time_t</a:t>
            </a:r>
            <a:r>
              <a:rPr lang="en-US" sz="2000" b="0" strike="noStrike" spc="-1" dirty="0">
                <a:solidFill>
                  <a:srgbClr val="FF0000"/>
                </a:solidFill>
                <a:latin typeface="Arial"/>
              </a:rPr>
              <a:t>   </a:t>
            </a:r>
            <a:r>
              <a:rPr lang="en-US" sz="2000" b="0" strike="noStrike" spc="-1" dirty="0" err="1">
                <a:solidFill>
                  <a:srgbClr val="FF0000"/>
                </a:solidFill>
                <a:latin typeface="Arial"/>
              </a:rPr>
              <a:t>tv_sec</a:t>
            </a:r>
            <a:r>
              <a:rPr lang="en-US" sz="2000" b="0" strike="noStrike" spc="-1" dirty="0">
                <a:solidFill>
                  <a:srgbClr val="FF0000"/>
                </a:solidFill>
                <a:latin typeface="Arial"/>
              </a:rPr>
              <a:t>;        /* seconds */</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        long     </a:t>
            </a:r>
            <a:r>
              <a:rPr lang="en-US" sz="2000" b="0" strike="noStrike" spc="-1" dirty="0" err="1">
                <a:solidFill>
                  <a:srgbClr val="FF0000"/>
                </a:solidFill>
                <a:latin typeface="Arial"/>
              </a:rPr>
              <a:t>tv_nsec</a:t>
            </a:r>
            <a:r>
              <a:rPr lang="en-US" sz="2000" b="0" strike="noStrike" spc="-1" dirty="0">
                <a:solidFill>
                  <a:srgbClr val="FF0000"/>
                </a:solidFill>
                <a:latin typeface="Arial"/>
              </a:rPr>
              <a:t>;       /* nanoseconds */</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a:t>
            </a:r>
            <a:endParaRPr lang="es-MX" sz="20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pthread_cond_destroy</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pthread_cond_signal</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pthread_cond_broadcast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a:t>
            </a:r>
            <a:endParaRPr lang="es-MX" sz="20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Atributos</a:t>
            </a:r>
            <a:endParaRPr lang="es-MX" sz="4400" b="0" strike="noStrike" spc="-1">
              <a:latin typeface="Arial"/>
            </a:endParaRPr>
          </a:p>
        </p:txBody>
      </p:sp>
      <p:sp>
        <p:nvSpPr>
          <p:cNvPr id="804" name="CustomShape 2"/>
          <p:cNvSpPr/>
          <p:nvPr/>
        </p:nvSpPr>
        <p:spPr>
          <a:xfrm>
            <a:off x="609480" y="1925620"/>
            <a:ext cx="10971000" cy="3514283"/>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pthread_condattr_init</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pthread_condattr_getpshared</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const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 </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pthread_condattr_setpshared</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 </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pthread_condattr_destroy</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  </a:t>
            </a:r>
            <a:r>
              <a:rPr lang="es-MX" sz="2400" b="0" strike="noStrike" spc="-1" dirty="0">
                <a:solidFill>
                  <a:srgbClr val="FF0000"/>
                </a:solidFill>
                <a:latin typeface="Arial"/>
                <a:ea typeface="DejaVu Sans"/>
              </a:rPr>
              <a:t>- PTHREAD_PROCESS_PRIVATE</a:t>
            </a:r>
            <a:endParaRPr lang="es-MX" sz="2400" b="0" strike="noStrike" spc="-1" dirty="0">
              <a:solidFill>
                <a:srgbClr val="FF0000"/>
              </a:solidFill>
              <a:latin typeface="Arial"/>
            </a:endParaRPr>
          </a:p>
          <a:p>
            <a:pPr>
              <a:lnSpc>
                <a:spcPct val="90000"/>
              </a:lnSpc>
              <a:spcBef>
                <a:spcPts val="1001"/>
              </a:spcBef>
            </a:pPr>
            <a:r>
              <a:rPr lang="es-MX" sz="2400" b="0" strike="noStrike" spc="-1" dirty="0">
                <a:solidFill>
                  <a:srgbClr val="FF0000"/>
                </a:solidFill>
                <a:latin typeface="Arial"/>
                <a:ea typeface="DejaVu Sans"/>
              </a:rPr>
              <a:t>  - PTHREAD_PROCESS SHARED</a:t>
            </a:r>
            <a:endParaRPr lang="es-MX" sz="2400" b="0" strike="noStrike" spc="-1" dirty="0">
              <a:solidFill>
                <a:srgbClr val="FF0000"/>
              </a:solidFill>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*Ej.cond1.c</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 name="CustomShape 1"/>
          <p:cNvSpPr/>
          <p:nvPr/>
        </p:nvSpPr>
        <p:spPr>
          <a:xfrm>
            <a:off x="500992" y="-37414"/>
            <a:ext cx="10971000" cy="884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dirty="0">
                <a:solidFill>
                  <a:srgbClr val="000000"/>
                </a:solidFill>
                <a:latin typeface="Arial"/>
                <a:ea typeface="DejaVu Sans"/>
              </a:rPr>
              <a:t>Semáforos  &lt;</a:t>
            </a:r>
            <a:r>
              <a:rPr lang="es-MX" sz="4000" b="0" strike="noStrike" spc="-1" dirty="0" err="1">
                <a:solidFill>
                  <a:srgbClr val="000000"/>
                </a:solidFill>
                <a:latin typeface="Arial"/>
                <a:ea typeface="DejaVu Sans"/>
              </a:rPr>
              <a:t>semaphore.h</a:t>
            </a:r>
            <a:r>
              <a:rPr lang="es-MX" sz="4000" b="0" strike="noStrike" spc="-1" dirty="0">
                <a:solidFill>
                  <a:srgbClr val="000000"/>
                </a:solidFill>
                <a:latin typeface="Arial"/>
                <a:ea typeface="DejaVu Sans"/>
              </a:rPr>
              <a:t>&gt;</a:t>
            </a:r>
            <a:endParaRPr lang="es-MX" sz="4000" b="0" strike="noStrike" spc="-1" dirty="0">
              <a:latin typeface="Arial"/>
            </a:endParaRPr>
          </a:p>
        </p:txBody>
      </p:sp>
      <p:sp>
        <p:nvSpPr>
          <p:cNvPr id="806" name="CustomShape 2"/>
          <p:cNvSpPr/>
          <p:nvPr/>
        </p:nvSpPr>
        <p:spPr>
          <a:xfrm>
            <a:off x="609480" y="1049765"/>
            <a:ext cx="10971000" cy="55666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s;</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sem_init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FF0000"/>
                </a:solidFill>
                <a:latin typeface="Arial"/>
                <a:ea typeface="DejaVu Sans"/>
              </a:rPr>
              <a:t>pshared</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unsigned</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permits</a:t>
            </a:r>
            <a:r>
              <a:rPr lang="es-MX" sz="1700" b="0" strike="noStrike" spc="-1" dirty="0">
                <a:solidFill>
                  <a:srgbClr val="000000"/>
                </a:solidFill>
                <a:latin typeface="Arial"/>
                <a:ea typeface="DejaVu Sans"/>
              </a:rPr>
              <a:t>); </a:t>
            </a:r>
            <a:r>
              <a:rPr lang="es-MX" sz="1700" b="0" strike="noStrike" spc="-1" dirty="0">
                <a:solidFill>
                  <a:srgbClr val="FF0000"/>
                </a:solidFill>
                <a:latin typeface="Arial"/>
                <a:ea typeface="DejaVu Sans"/>
              </a:rPr>
              <a:t>//</a:t>
            </a:r>
            <a:r>
              <a:rPr lang="es-MX" sz="1700" b="0" strike="noStrike" spc="-1" dirty="0" err="1">
                <a:solidFill>
                  <a:srgbClr val="FF0000"/>
                </a:solidFill>
                <a:latin typeface="Arial"/>
                <a:ea typeface="DejaVu Sans"/>
              </a:rPr>
              <a:t>pshared</a:t>
            </a:r>
            <a:r>
              <a:rPr lang="es-MX" sz="1700" b="0" strike="noStrike" spc="-1" dirty="0">
                <a:solidFill>
                  <a:srgbClr val="FF0000"/>
                </a:solidFill>
                <a:latin typeface="Arial"/>
                <a:ea typeface="DejaVu Sans"/>
              </a:rPr>
              <a:t>!=0 </a:t>
            </a:r>
            <a:r>
              <a:rPr lang="es-MX" sz="1700" b="0" strike="noStrike" spc="-1" dirty="0" err="1">
                <a:solidFill>
                  <a:srgbClr val="FF0000"/>
                </a:solidFill>
                <a:latin typeface="Arial"/>
                <a:ea typeface="DejaVu Sans"/>
              </a:rPr>
              <a:t>pshared</a:t>
            </a:r>
            <a:endParaRPr lang="es-MX" sz="1700" b="0" strike="noStrike" spc="-1" dirty="0">
              <a:solidFill>
                <a:srgbClr val="FF0000"/>
              </a:solidFill>
              <a:latin typeface="Arial"/>
            </a:endParaRPr>
          </a:p>
          <a:p>
            <a:pPr marL="1944000" lvl="0">
              <a:lnSpc>
                <a:spcPct val="90000"/>
              </a:lnSpc>
              <a:spcBef>
                <a:spcPts val="1001"/>
              </a:spcBef>
              <a:buClr>
                <a:srgbClr val="000000"/>
              </a:buClr>
              <a:buSzPct val="45000"/>
            </a:pPr>
            <a:r>
              <a:rPr lang="es-MX" sz="1700" b="0" strike="noStrike" spc="-1" dirty="0">
                <a:solidFill>
                  <a:srgbClr val="55308D"/>
                </a:solidFill>
                <a:latin typeface="Arial"/>
                <a:ea typeface="DejaVu Sans"/>
              </a:rPr>
              <a:t>                                                                        </a:t>
            </a:r>
            <a:r>
              <a:rPr lang="es-MX" sz="1700" b="0" strike="noStrike" spc="-1" dirty="0">
                <a:solidFill>
                  <a:srgbClr val="FF0000"/>
                </a:solidFill>
                <a:latin typeface="Arial"/>
                <a:ea typeface="DejaVu Sans"/>
              </a:rPr>
              <a:t>//</a:t>
            </a:r>
            <a:r>
              <a:rPr lang="es-MX" sz="1700" b="0" strike="noStrike" spc="-1" dirty="0" err="1">
                <a:solidFill>
                  <a:srgbClr val="FF0000"/>
                </a:solidFill>
                <a:latin typeface="Arial"/>
                <a:ea typeface="DejaVu Sans"/>
              </a:rPr>
              <a:t>pshared</a:t>
            </a:r>
            <a:r>
              <a:rPr lang="es-MX" sz="1700" b="0" strike="noStrike" spc="-1" dirty="0">
                <a:solidFill>
                  <a:srgbClr val="FF0000"/>
                </a:solidFill>
                <a:latin typeface="Arial"/>
                <a:ea typeface="DejaVu Sans"/>
              </a:rPr>
              <a:t>==0 local</a:t>
            </a:r>
            <a:endParaRPr lang="es-MX" sz="17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sem_wait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sem_trywait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a:solidFill>
                  <a:srgbClr val="FF0000"/>
                </a:solidFill>
                <a:latin typeface="Arial"/>
                <a:ea typeface="DejaVu Sans"/>
              </a:rPr>
              <a:t>// 0, EAGAIN</a:t>
            </a:r>
            <a:endParaRPr lang="es-MX" sz="17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sem_post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sem_close</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a:solidFill>
                  <a:srgbClr val="FF0000"/>
                </a:solidFill>
                <a:latin typeface="Arial"/>
                <a:ea typeface="DejaVu Sans"/>
              </a:rPr>
              <a:t>//</a:t>
            </a:r>
            <a:r>
              <a:rPr lang="es-MX" sz="1700" b="0" strike="noStrike" spc="-1" dirty="0" err="1">
                <a:solidFill>
                  <a:srgbClr val="FF0000"/>
                </a:solidFill>
                <a:latin typeface="Arial"/>
                <a:ea typeface="DejaVu Sans"/>
              </a:rPr>
              <a:t>sem</a:t>
            </a:r>
            <a:r>
              <a:rPr lang="es-MX" sz="1700" b="0" strike="noStrike" spc="-1" dirty="0">
                <a:solidFill>
                  <a:srgbClr val="FF0000"/>
                </a:solidFill>
                <a:latin typeface="Arial"/>
                <a:ea typeface="DejaVu Sans"/>
              </a:rPr>
              <a:t> nombre</a:t>
            </a:r>
            <a:endParaRPr lang="es-MX" sz="17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sem_destroy</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a:solidFill>
                  <a:srgbClr val="FF0000"/>
                </a:solidFill>
                <a:latin typeface="Arial"/>
                <a:ea typeface="DejaVu Sans"/>
              </a:rPr>
              <a:t>//</a:t>
            </a:r>
            <a:r>
              <a:rPr lang="es-MX" sz="1700" b="0" strike="noStrike" spc="-1" dirty="0" err="1">
                <a:solidFill>
                  <a:srgbClr val="FF0000"/>
                </a:solidFill>
                <a:latin typeface="Arial"/>
                <a:ea typeface="DejaVu Sans"/>
              </a:rPr>
              <a:t>sem</a:t>
            </a:r>
            <a:r>
              <a:rPr lang="es-MX" sz="1700" b="0" strike="noStrike" spc="-1" dirty="0">
                <a:solidFill>
                  <a:srgbClr val="FF0000"/>
                </a:solidFill>
                <a:latin typeface="Arial"/>
                <a:ea typeface="DejaVu Sans"/>
              </a:rPr>
              <a:t> sin nombre </a:t>
            </a:r>
            <a:r>
              <a:rPr lang="es-MX" sz="1700" b="0" strike="noStrike" spc="-1" dirty="0" err="1">
                <a:solidFill>
                  <a:srgbClr val="FF0000"/>
                </a:solidFill>
                <a:latin typeface="Arial"/>
                <a:ea typeface="DejaVu Sans"/>
              </a:rPr>
              <a:t>sem_init</a:t>
            </a:r>
            <a:endParaRPr lang="es-MX" sz="17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sem_getvalue</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 v);</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chemeClr val="tx2">
                    <a:lumMod val="75000"/>
                  </a:schemeClr>
                </a:solidFill>
                <a:latin typeface="Arial"/>
                <a:ea typeface="DejaVu Sans"/>
              </a:rPr>
              <a:t>sem_t</a:t>
            </a:r>
            <a:r>
              <a:rPr lang="es-MX" sz="1700" b="0" strike="noStrike" spc="-1" dirty="0">
                <a:solidFill>
                  <a:schemeClr val="tx2">
                    <a:lumMod val="75000"/>
                  </a:schemeClr>
                </a:solidFill>
                <a:latin typeface="Arial"/>
                <a:ea typeface="DejaVu Sans"/>
              </a:rPr>
              <a:t> *</a:t>
            </a:r>
            <a:r>
              <a:rPr lang="es-MX" sz="1700" b="0" strike="noStrike" spc="-1" dirty="0" err="1">
                <a:solidFill>
                  <a:schemeClr val="tx2">
                    <a:lumMod val="75000"/>
                  </a:schemeClr>
                </a:solidFill>
                <a:latin typeface="Arial"/>
                <a:ea typeface="DejaVu Sans"/>
              </a:rPr>
              <a:t>sem_open</a:t>
            </a:r>
            <a:r>
              <a:rPr lang="es-MX" sz="1700" b="0" strike="noStrike" spc="-1" dirty="0">
                <a:solidFill>
                  <a:schemeClr val="tx2">
                    <a:lumMod val="75000"/>
                  </a:schemeClr>
                </a:solidFill>
                <a:latin typeface="Arial"/>
                <a:ea typeface="DejaVu Sans"/>
              </a:rPr>
              <a:t>(</a:t>
            </a:r>
            <a:r>
              <a:rPr lang="es-MX" sz="1700" b="0" strike="noStrike" spc="-1" dirty="0" err="1">
                <a:solidFill>
                  <a:schemeClr val="tx2">
                    <a:lumMod val="75000"/>
                  </a:schemeClr>
                </a:solidFill>
                <a:latin typeface="Arial"/>
                <a:ea typeface="DejaVu Sans"/>
              </a:rPr>
              <a:t>const</a:t>
            </a:r>
            <a:r>
              <a:rPr lang="es-MX" sz="1700" b="0" strike="noStrike" spc="-1" dirty="0">
                <a:solidFill>
                  <a:schemeClr val="tx2">
                    <a:lumMod val="75000"/>
                  </a:schemeClr>
                </a:solidFill>
                <a:latin typeface="Arial"/>
                <a:ea typeface="DejaVu Sans"/>
              </a:rPr>
              <a:t> </a:t>
            </a:r>
            <a:r>
              <a:rPr lang="es-MX" sz="1700" b="0" strike="noStrike" spc="-1" dirty="0" err="1">
                <a:solidFill>
                  <a:schemeClr val="tx2">
                    <a:lumMod val="75000"/>
                  </a:schemeClr>
                </a:solidFill>
                <a:latin typeface="Arial"/>
                <a:ea typeface="DejaVu Sans"/>
              </a:rPr>
              <a:t>char</a:t>
            </a:r>
            <a:r>
              <a:rPr lang="es-MX" sz="1700" b="0" strike="noStrike" spc="-1" dirty="0">
                <a:solidFill>
                  <a:schemeClr val="tx2">
                    <a:lumMod val="75000"/>
                  </a:schemeClr>
                </a:solidFill>
                <a:latin typeface="Arial"/>
                <a:ea typeface="DejaVu Sans"/>
              </a:rPr>
              <a:t> * nombre, </a:t>
            </a:r>
            <a:r>
              <a:rPr lang="es-MX" sz="1700" b="0" strike="noStrike" spc="-1" dirty="0" err="1">
                <a:solidFill>
                  <a:schemeClr val="tx2">
                    <a:lumMod val="75000"/>
                  </a:schemeClr>
                </a:solidFill>
                <a:latin typeface="Arial"/>
                <a:ea typeface="DejaVu Sans"/>
              </a:rPr>
              <a:t>int</a:t>
            </a:r>
            <a:r>
              <a:rPr lang="es-MX" sz="1700" b="0" strike="noStrike" spc="-1" dirty="0">
                <a:solidFill>
                  <a:schemeClr val="tx2">
                    <a:lumMod val="75000"/>
                  </a:schemeClr>
                </a:solidFill>
                <a:latin typeface="Arial"/>
                <a:ea typeface="DejaVu Sans"/>
              </a:rPr>
              <a:t> bandera, modo, valor); </a:t>
            </a:r>
          </a:p>
          <a:p>
            <a:pPr marL="228600" indent="-227160">
              <a:lnSpc>
                <a:spcPct val="90000"/>
              </a:lnSpc>
              <a:spcBef>
                <a:spcPts val="1001"/>
              </a:spcBef>
              <a:buClr>
                <a:srgbClr val="000000"/>
              </a:buClr>
              <a:buFont typeface="Arial"/>
              <a:buChar char="•"/>
            </a:pPr>
            <a:r>
              <a:rPr lang="es-MX" sz="1700" spc="-1" dirty="0">
                <a:solidFill>
                  <a:schemeClr val="tx2">
                    <a:lumMod val="75000"/>
                  </a:schemeClr>
                </a:solidFill>
                <a:latin typeface="Arial"/>
                <a:ea typeface="DejaVu Sans"/>
              </a:rPr>
              <a:t>//</a:t>
            </a:r>
            <a:r>
              <a:rPr lang="es-MX" sz="1700" spc="-1" dirty="0" err="1">
                <a:solidFill>
                  <a:schemeClr val="tx2">
                    <a:lumMod val="75000"/>
                  </a:schemeClr>
                </a:solidFill>
                <a:latin typeface="Arial"/>
                <a:ea typeface="DejaVu Sans"/>
              </a:rPr>
              <a:t>sem_open</a:t>
            </a:r>
            <a:r>
              <a:rPr lang="es-MX" sz="1700" spc="-1" dirty="0">
                <a:solidFill>
                  <a:schemeClr val="tx2">
                    <a:lumMod val="75000"/>
                  </a:schemeClr>
                </a:solidFill>
                <a:latin typeface="Arial"/>
                <a:ea typeface="DejaVu Sans"/>
              </a:rPr>
              <a:t>(“semáforo”, O_CREAT, 0644, 1);</a:t>
            </a:r>
            <a:endParaRPr lang="es-MX" sz="1700" b="0" strike="noStrike" spc="-1" dirty="0">
              <a:solidFill>
                <a:schemeClr val="tx2">
                  <a:lumMod val="75000"/>
                </a:schemeClr>
              </a:solidFill>
              <a:latin typeface="Arial"/>
              <a:ea typeface="DejaVu Sans"/>
            </a:endParaRPr>
          </a:p>
          <a:p>
            <a:pPr marL="228600" indent="-227160">
              <a:lnSpc>
                <a:spcPct val="90000"/>
              </a:lnSpc>
              <a:spcBef>
                <a:spcPts val="1001"/>
              </a:spcBef>
              <a:buClr>
                <a:srgbClr val="000000"/>
              </a:buClr>
              <a:buFont typeface="Arial"/>
              <a:buChar char="•"/>
            </a:pPr>
            <a:r>
              <a:rPr lang="es-MX" sz="1700" b="0" strike="noStrike" spc="-1" dirty="0">
                <a:solidFill>
                  <a:schemeClr val="tx2">
                    <a:lumMod val="75000"/>
                  </a:schemeClr>
                </a:solidFill>
                <a:latin typeface="Arial"/>
                <a:ea typeface="DejaVu Sans"/>
              </a:rPr>
              <a:t> </a:t>
            </a:r>
            <a:r>
              <a:rPr lang="es-MX" sz="1700" b="0" strike="noStrike" spc="-1" dirty="0">
                <a:solidFill>
                  <a:srgbClr val="F10D0C"/>
                </a:solidFill>
                <a:latin typeface="Arial"/>
                <a:ea typeface="DejaVu Sans"/>
              </a:rPr>
              <a:t>//virtual file </a:t>
            </a:r>
            <a:r>
              <a:rPr lang="es-MX" sz="1700" b="0" strike="noStrike" spc="-1" dirty="0" err="1">
                <a:solidFill>
                  <a:srgbClr val="F10D0C"/>
                </a:solidFill>
                <a:latin typeface="Arial"/>
                <a:ea typeface="DejaVu Sans"/>
              </a:rPr>
              <a:t>system</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dev</a:t>
            </a:r>
            <a:r>
              <a:rPr lang="es-MX" sz="1700" b="0" strike="noStrike" spc="-1" dirty="0">
                <a:solidFill>
                  <a:srgbClr val="F10D0C"/>
                </a:solidFill>
                <a:latin typeface="Arial"/>
                <a:ea typeface="DejaVu Sans"/>
              </a:rPr>
              <a:t>/</a:t>
            </a:r>
            <a:r>
              <a:rPr lang="es-MX" sz="1700" b="0" strike="noStrike" spc="-1" dirty="0" err="1">
                <a:solidFill>
                  <a:srgbClr val="F10D0C"/>
                </a:solidFill>
                <a:latin typeface="Arial"/>
                <a:ea typeface="DejaVu Sans"/>
              </a:rPr>
              <a:t>shm</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sem.nombre</a:t>
            </a:r>
            <a:endParaRPr lang="es-MX" sz="1700" b="0" strike="noStrike" spc="-1" dirty="0">
              <a:latin typeface="Arial"/>
            </a:endParaRPr>
          </a:p>
          <a:p>
            <a:pPr>
              <a:lnSpc>
                <a:spcPct val="90000"/>
              </a:lnSpc>
              <a:spcBef>
                <a:spcPts val="1001"/>
              </a:spcBef>
            </a:pPr>
            <a:r>
              <a:rPr lang="es-MX" sz="1700" b="0" strike="noStrike" spc="-1" dirty="0">
                <a:solidFill>
                  <a:srgbClr val="F10D0C"/>
                </a:solidFill>
                <a:latin typeface="Arial"/>
                <a:ea typeface="DejaVu Sans"/>
              </a:rPr>
              <a:t>   - O_CREAT: crea un semáforo con nombre si aún no existe UID </a:t>
            </a:r>
            <a:r>
              <a:rPr lang="es-MX" sz="1700" b="0" strike="noStrike" spc="-1" dirty="0" err="1">
                <a:solidFill>
                  <a:srgbClr val="F10D0C"/>
                </a:solidFill>
                <a:latin typeface="Arial"/>
                <a:ea typeface="DejaVu Sans"/>
              </a:rPr>
              <a:t>sem</a:t>
            </a:r>
            <a:r>
              <a:rPr lang="es-MX" sz="1700" b="0" strike="noStrike" spc="-1" dirty="0">
                <a:solidFill>
                  <a:srgbClr val="F10D0C"/>
                </a:solidFill>
                <a:latin typeface="Arial"/>
                <a:ea typeface="DejaVu Sans"/>
              </a:rPr>
              <a:t>=UID proceso</a:t>
            </a:r>
            <a:endParaRPr lang="es-MX" sz="1700" b="0" strike="noStrike" spc="-1" dirty="0">
              <a:latin typeface="Arial"/>
            </a:endParaRPr>
          </a:p>
          <a:p>
            <a:pPr>
              <a:lnSpc>
                <a:spcPct val="90000"/>
              </a:lnSpc>
              <a:spcBef>
                <a:spcPts val="1001"/>
              </a:spcBef>
            </a:pPr>
            <a:r>
              <a:rPr lang="es-MX" sz="1700" b="0" strike="noStrike" spc="-1" dirty="0">
                <a:solidFill>
                  <a:srgbClr val="F10D0C"/>
                </a:solidFill>
                <a:latin typeface="Arial"/>
                <a:ea typeface="DejaVu Sans"/>
              </a:rPr>
              <a:t>   - O_EXCL: Verifica la existencia y creación del semáforo respecto a otros procesos</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F10D0C"/>
                </a:solidFill>
                <a:latin typeface="Arial"/>
                <a:ea typeface="DejaVu Sans"/>
              </a:rPr>
              <a:t>int</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sem_unlink</a:t>
            </a:r>
            <a:r>
              <a:rPr lang="es-MX" sz="1700" b="0" strike="noStrike" spc="-1" dirty="0">
                <a:solidFill>
                  <a:srgbClr val="F10D0C"/>
                </a:solidFill>
                <a:latin typeface="Arial"/>
                <a:ea typeface="DejaVu Sans"/>
              </a:rPr>
              <a:t>(</a:t>
            </a:r>
            <a:r>
              <a:rPr lang="es-MX" sz="1700" b="0" strike="noStrike" spc="-1" dirty="0" err="1">
                <a:solidFill>
                  <a:srgbClr val="F10D0C"/>
                </a:solidFill>
                <a:latin typeface="Arial"/>
                <a:ea typeface="DejaVu Sans"/>
              </a:rPr>
              <a:t>const</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char</a:t>
            </a:r>
            <a:r>
              <a:rPr lang="es-MX" sz="1700" b="0" strike="noStrike" spc="-1" dirty="0">
                <a:solidFill>
                  <a:srgbClr val="F10D0C"/>
                </a:solidFill>
                <a:latin typeface="Arial"/>
                <a:ea typeface="DejaVu Sans"/>
              </a:rPr>
              <a:t> *);    //borra semáforo después de ser cerrado  </a:t>
            </a:r>
          </a:p>
          <a:p>
            <a:pPr marL="1440" algn="r">
              <a:lnSpc>
                <a:spcPct val="90000"/>
              </a:lnSpc>
              <a:spcBef>
                <a:spcPts val="1001"/>
              </a:spcBef>
              <a:buClr>
                <a:srgbClr val="000000"/>
              </a:buClr>
            </a:pPr>
            <a:r>
              <a:rPr lang="es-MX" sz="1700" b="0" strike="noStrike" spc="-1" dirty="0">
                <a:solidFill>
                  <a:srgbClr val="F10D0C"/>
                </a:solidFill>
                <a:latin typeface="Arial"/>
                <a:ea typeface="DejaVu Sans"/>
              </a:rPr>
              <a:t>                               </a:t>
            </a:r>
            <a:r>
              <a:rPr lang="es-MX" sz="1700" b="0" strike="noStrike" spc="-1" dirty="0">
                <a:solidFill>
                  <a:srgbClr val="000000"/>
                </a:solidFill>
                <a:latin typeface="Arial"/>
                <a:ea typeface="DejaVu Sans"/>
              </a:rPr>
              <a:t>          *Ej. Sem-ex2.c, </a:t>
            </a:r>
            <a:r>
              <a:rPr lang="es-MX" sz="1700" b="0" strike="noStrike" spc="-1" dirty="0" err="1">
                <a:solidFill>
                  <a:srgbClr val="000000"/>
                </a:solidFill>
                <a:latin typeface="Arial"/>
                <a:ea typeface="DejaVu Sans"/>
              </a:rPr>
              <a:t>sem-nombre.c</a:t>
            </a:r>
            <a:endParaRPr lang="es-MX" sz="1700" b="0" strike="noStrike" spc="-1" dirty="0">
              <a:latin typeface="Arial"/>
            </a:endParaRPr>
          </a:p>
          <a:p>
            <a:pPr>
              <a:lnSpc>
                <a:spcPct val="90000"/>
              </a:lnSpc>
              <a:spcBef>
                <a:spcPts val="1001"/>
              </a:spcBef>
            </a:pPr>
            <a:r>
              <a:rPr lang="es-MX" sz="1500" b="1" strike="noStrike" spc="-1" dirty="0">
                <a:solidFill>
                  <a:srgbClr val="000000"/>
                </a:solidFill>
                <a:latin typeface="Arial"/>
                <a:ea typeface="DejaVu Sans"/>
              </a:rPr>
              <a:t>**https://www.softprayog.in/programming/posix-semaphores</a:t>
            </a:r>
            <a:endParaRPr lang="es-MX" sz="1500" b="0" strike="noStrike" spc="-1" dirty="0">
              <a:latin typeface="Arial"/>
            </a:endParaRPr>
          </a:p>
          <a:p>
            <a:pPr>
              <a:lnSpc>
                <a:spcPct val="90000"/>
              </a:lnSpc>
              <a:spcBef>
                <a:spcPts val="1001"/>
              </a:spcBef>
            </a:pPr>
            <a:endParaRPr lang="es-MX" sz="1500" b="0" strike="noStrike" spc="-1" dirty="0">
              <a:latin typeface="Arial"/>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Tuberías (pipes)  &lt;unistd.h&gt;</a:t>
            </a:r>
            <a:endParaRPr lang="es-MX" sz="4400" b="0" strike="noStrike" spc="-1">
              <a:latin typeface="Arial"/>
            </a:endParaRPr>
          </a:p>
        </p:txBody>
      </p:sp>
      <p:sp>
        <p:nvSpPr>
          <p:cNvPr id="808" name="CustomShape 2"/>
          <p:cNvSpPr/>
          <p:nvPr/>
        </p:nvSpPr>
        <p:spPr>
          <a:xfrm>
            <a:off x="905760" y="2337480"/>
            <a:ext cx="11046240" cy="36385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[2];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[0]=lectura;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[1]=escritura</a:t>
            </a:r>
          </a:p>
          <a:p>
            <a:pPr marL="228600" indent="-227160">
              <a:lnSpc>
                <a:spcPct val="90000"/>
              </a:lnSpc>
              <a:spcBef>
                <a:spcPts val="1001"/>
              </a:spcBef>
              <a:buClr>
                <a:srgbClr val="000000"/>
              </a:buClr>
              <a:buFont typeface="Arial"/>
              <a:buChar char="•"/>
            </a:pP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pipe(</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pipefd</a:t>
            </a:r>
            <a:r>
              <a:rPr lang="es-MX" sz="2400" b="0" strike="noStrike" spc="-1" dirty="0">
                <a:solidFill>
                  <a:srgbClr val="000000"/>
                </a:solidFill>
                <a:latin typeface="Arial"/>
                <a:ea typeface="DejaVu Sans"/>
              </a:rPr>
              <a:t>[2]);     //retorna 0 </a:t>
            </a:r>
            <a:r>
              <a:rPr lang="es-MX" sz="2400" b="0" strike="noStrike" spc="-1" dirty="0" err="1">
                <a:solidFill>
                  <a:srgbClr val="000000"/>
                </a:solidFill>
                <a:latin typeface="Arial"/>
                <a:ea typeface="DejaVu Sans"/>
              </a:rPr>
              <a:t>ó</a:t>
            </a:r>
            <a:r>
              <a:rPr lang="es-MX" sz="2400" b="0" strike="noStrike" spc="-1" dirty="0">
                <a:solidFill>
                  <a:srgbClr val="000000"/>
                </a:solidFill>
                <a:latin typeface="Arial"/>
                <a:ea typeface="DejaVu Sans"/>
              </a:rPr>
              <a:t> -1</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read</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const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 b, </a:t>
            </a:r>
            <a:r>
              <a:rPr lang="es-MX" sz="2400" b="0" strike="noStrike" spc="-1" dirty="0" err="1">
                <a:solidFill>
                  <a:srgbClr val="000000"/>
                </a:solidFill>
                <a:latin typeface="Arial"/>
                <a:ea typeface="DejaVu Sans"/>
              </a:rPr>
              <a:t>size_t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tam</a:t>
            </a:r>
            <a:r>
              <a:rPr lang="es-MX" sz="2400" b="0" strike="noStrike" spc="-1" dirty="0">
                <a:solidFill>
                  <a:srgbClr val="000000"/>
                </a:solidFill>
                <a:latin typeface="Arial"/>
                <a:ea typeface="DejaVu Sans"/>
              </a:rPr>
              <a:t>);</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write</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const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*b, </a:t>
            </a:r>
            <a:r>
              <a:rPr lang="es-MX" sz="2400" b="0" strike="noStrike" spc="-1" dirty="0" err="1">
                <a:solidFill>
                  <a:srgbClr val="000000"/>
                </a:solidFill>
                <a:latin typeface="Arial"/>
                <a:ea typeface="DejaVu Sans"/>
              </a:rPr>
              <a:t>size_t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tam</a:t>
            </a:r>
            <a:r>
              <a:rPr lang="es-MX" sz="2400" b="0" strike="noStrike" spc="-1" dirty="0">
                <a:solidFill>
                  <a:srgbClr val="000000"/>
                </a:solidFill>
                <a:latin typeface="Arial"/>
                <a:ea typeface="DejaVu Sans"/>
              </a:rPr>
              <a:t>);</a:t>
            </a:r>
            <a:endParaRPr lang="es-MX" sz="2400" b="0" strike="noStrike" spc="-1" dirty="0">
              <a:latin typeface="Arial"/>
            </a:endParaRPr>
          </a:p>
          <a:p>
            <a:pPr marL="228600" indent="-227160">
              <a:lnSpc>
                <a:spcPct val="90000"/>
              </a:lnSpc>
              <a:spcBef>
                <a:spcPts val="1001"/>
              </a:spcBef>
              <a:buClr>
                <a:srgbClr val="000000"/>
              </a:buClr>
              <a:buFont typeface="Arial"/>
              <a:buChar char="•"/>
            </a:pP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Ej. </a:t>
            </a:r>
            <a:r>
              <a:rPr lang="es-MX" sz="2400" b="0" strike="noStrike" spc="-1" dirty="0" err="1">
                <a:solidFill>
                  <a:srgbClr val="000000"/>
                </a:solidFill>
                <a:latin typeface="Arial"/>
                <a:ea typeface="DejaVu Sans"/>
              </a:rPr>
              <a:t>pipe.c</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r>
              <a:rPr lang="es-MX" sz="2400" b="0" strike="noStrike" spc="-1" dirty="0">
                <a:solidFill>
                  <a:srgbClr val="0070C0"/>
                </a:solidFill>
                <a:latin typeface="Arial"/>
                <a:ea typeface="DejaVu Sans"/>
              </a:rPr>
              <a:t>*Ej. </a:t>
            </a:r>
            <a:r>
              <a:rPr lang="es-MX" sz="2400" b="0" strike="noStrike" spc="-1" dirty="0" err="1">
                <a:solidFill>
                  <a:srgbClr val="0070C0"/>
                </a:solidFill>
                <a:latin typeface="Arial"/>
                <a:ea typeface="DejaVu Sans"/>
              </a:rPr>
              <a:t>pipe.c</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Desventajas</a:t>
            </a:r>
            <a:endParaRPr lang="es-MX" sz="4400" b="0" strike="noStrike" spc="-1">
              <a:latin typeface="Arial"/>
            </a:endParaRPr>
          </a:p>
        </p:txBody>
      </p:sp>
      <p:sp>
        <p:nvSpPr>
          <p:cNvPr id="810" name="CustomShape 2"/>
          <p:cNvSpPr/>
          <p:nvPr/>
        </p:nvSpPr>
        <p:spPr>
          <a:xfrm>
            <a:off x="609480" y="175464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El descriptor del pipe solo existe mientras exista el proceso (no son persistentes)</a:t>
            </a:r>
            <a:endParaRPr lang="es-MX" sz="2800" b="0" strike="noStrike" spc="-1">
              <a:latin typeface="Arial"/>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Pipe con nombre (persistentes) </a:t>
            </a:r>
            <a:endParaRPr lang="es-MX" sz="4400" b="0" strike="noStrike" spc="-1">
              <a:latin typeface="Arial"/>
            </a:endParaRPr>
          </a:p>
        </p:txBody>
      </p:sp>
      <p:sp>
        <p:nvSpPr>
          <p:cNvPr id="812" name="CustomShape 2"/>
          <p:cNvSpPr/>
          <p:nvPr/>
        </p:nvSpPr>
        <p:spPr>
          <a:xfrm>
            <a:off x="609480" y="1604520"/>
            <a:ext cx="10971000" cy="494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#include &lt;</a:t>
            </a:r>
            <a:r>
              <a:rPr lang="es-MX" sz="3200" b="0" strike="noStrike" spc="-1" dirty="0" err="1">
                <a:solidFill>
                  <a:srgbClr val="000000"/>
                </a:solidFill>
                <a:latin typeface="Arial"/>
                <a:ea typeface="DejaVu Sans"/>
              </a:rPr>
              <a:t>sys</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types.h</a:t>
            </a:r>
            <a:r>
              <a:rPr lang="es-MX" sz="3200" b="0" strike="noStrike" spc="-1" dirty="0">
                <a:solidFill>
                  <a:srgbClr val="000000"/>
                </a:solidFill>
                <a:latin typeface="Arial"/>
                <a:ea typeface="DejaVu Sans"/>
              </a:rPr>
              <a:t>&gt;#include &lt;</a:t>
            </a:r>
            <a:r>
              <a:rPr lang="es-MX" sz="3200" b="0" strike="noStrike" spc="-1" dirty="0" err="1">
                <a:solidFill>
                  <a:srgbClr val="000000"/>
                </a:solidFill>
                <a:latin typeface="Arial"/>
                <a:ea typeface="DejaVu Sans"/>
              </a:rPr>
              <a:t>sys</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stat.h</a:t>
            </a:r>
            <a:r>
              <a:rPr lang="es-MX" sz="3200" b="0" strike="noStrike" spc="-1" dirty="0">
                <a:solidFill>
                  <a:srgbClr val="000000"/>
                </a:solidFill>
                <a:latin typeface="Arial"/>
                <a:ea typeface="DejaVu Sans"/>
              </a:rPr>
              <a:t>&gt;</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Creación de pipe:</a:t>
            </a:r>
            <a:endParaRPr lang="es-MX" sz="3200" b="0" strike="noStrike" spc="-1" dirty="0">
              <a:latin typeface="Arial"/>
            </a:endParaRPr>
          </a:p>
          <a:p>
            <a:pPr>
              <a:lnSpc>
                <a:spcPct val="90000"/>
              </a:lnSpc>
              <a:spcBef>
                <a:spcPts val="1001"/>
              </a:spcBef>
            </a:pP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int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mkfifo</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const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char</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pathname</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mode_t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mode</a:t>
            </a:r>
            <a:r>
              <a:rPr lang="es-MX" sz="3200" b="0" strike="noStrike" spc="-1" dirty="0">
                <a:solidFill>
                  <a:srgbClr val="000000"/>
                </a:solidFill>
                <a:latin typeface="Arial"/>
                <a:ea typeface="DejaVu Sans"/>
              </a:rPr>
              <a:t>); //devuelve 0</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Una vez creado el FIFO, éste debe ser abierto para lectura /escritura en ambos extremos al mismo tiempo (lectura sin escritura o viceversa se bloqueará).</a:t>
            </a:r>
          </a:p>
          <a:p>
            <a:pPr marL="228600" indent="-227160">
              <a:lnSpc>
                <a:spcPct val="90000"/>
              </a:lnSpc>
              <a:spcBef>
                <a:spcPts val="1001"/>
              </a:spcBef>
              <a:buClr>
                <a:srgbClr val="000000"/>
              </a:buClr>
              <a:buFont typeface="Arial"/>
              <a:buChar char="•"/>
            </a:pP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Ej.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char</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pipeName</a:t>
            </a:r>
            <a:r>
              <a:rPr lang="es-MX" sz="2400" b="0" strike="noStrike" spc="-1" dirty="0">
                <a:solidFill>
                  <a:srgbClr val="000000"/>
                </a:solidFill>
                <a:latin typeface="Arial"/>
                <a:ea typeface="DejaVu Sans"/>
              </a:rPr>
              <a:t>[ ] = "/</a:t>
            </a:r>
            <a:r>
              <a:rPr lang="es-MX" sz="2400" b="0" strike="noStrike" spc="-1" dirty="0" err="1">
                <a:solidFill>
                  <a:srgbClr val="000000"/>
                </a:solidFill>
                <a:latin typeface="Arial"/>
                <a:ea typeface="DejaVu Sans"/>
              </a:rPr>
              <a:t>tmp</a:t>
            </a:r>
            <a:r>
              <a:rPr lang="es-MX" sz="2400" b="0" strike="noStrike" spc="-1" dirty="0">
                <a:solidFill>
                  <a:srgbClr val="000000"/>
                </a:solidFill>
                <a:latin typeface="Arial"/>
                <a:ea typeface="DejaVu Sans"/>
              </a:rPr>
              <a:t>/pipe";</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ret_val</a:t>
            </a:r>
            <a:r>
              <a:rPr lang="es-MX" sz="2400" b="0" strike="noStrike" spc="-1" dirty="0">
                <a:solidFill>
                  <a:srgbClr val="000000"/>
                </a:solidFill>
                <a:latin typeface="Arial"/>
                <a:ea typeface="DejaVu Sans"/>
              </a:rPr>
              <a:t> = </a:t>
            </a:r>
            <a:r>
              <a:rPr lang="es-MX" sz="2400" b="0" strike="noStrike" spc="-1" dirty="0" err="1">
                <a:solidFill>
                  <a:srgbClr val="000000"/>
                </a:solidFill>
                <a:latin typeface="Arial"/>
                <a:ea typeface="DejaVu Sans"/>
              </a:rPr>
              <a:t>mkfifo</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pipeName</a:t>
            </a:r>
            <a:r>
              <a:rPr lang="es-MX" sz="2400" b="0" strike="noStrike" spc="-1" dirty="0">
                <a:solidFill>
                  <a:srgbClr val="000000"/>
                </a:solidFill>
                <a:latin typeface="Arial"/>
                <a:ea typeface="DejaVu Sans"/>
              </a:rPr>
              <a:t>, 0666);</a:t>
            </a:r>
            <a:endParaRPr lang="es-MX" sz="2400" b="0" strike="noStrike" spc="-1" dirty="0">
              <a:latin typeface="Arial"/>
            </a:endParaRPr>
          </a:p>
          <a:p>
            <a:pPr>
              <a:lnSpc>
                <a:spcPct val="90000"/>
              </a:lnSpc>
              <a:spcBef>
                <a:spcPts val="1001"/>
              </a:spcBef>
            </a:pPr>
            <a:endParaRPr lang="es-MX" sz="3200" b="0" strike="noStrike" spc="-1" dirty="0">
              <a:latin typeface="Arial"/>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Modos </a:t>
            </a:r>
            <a:endParaRPr lang="es-MX" sz="4400" b="0" strike="noStrike" spc="-1">
              <a:latin typeface="Arial"/>
            </a:endParaRPr>
          </a:p>
        </p:txBody>
      </p:sp>
      <p:sp>
        <p:nvSpPr>
          <p:cNvPr id="814" name="CustomShape 2"/>
          <p:cNvSpPr/>
          <p:nvPr/>
        </p:nvSpPr>
        <p:spPr>
          <a:xfrm>
            <a:off x="651600" y="1332000"/>
            <a:ext cx="10971000" cy="51591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Dependen de la máscara de usuario utilizada(umask) (/etc/bashrc ó /etc/profile)</a:t>
            </a:r>
            <a:endParaRPr lang="es-MX" sz="3200" b="0" strike="noStrike" spc="-1">
              <a:latin typeface="Arial"/>
            </a:endParaRPr>
          </a:p>
          <a:p>
            <a:pPr>
              <a:lnSpc>
                <a:spcPct val="90000"/>
              </a:lnSpc>
              <a:spcBef>
                <a:spcPts val="1001"/>
              </a:spcBef>
            </a:pP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Esta máscara es un número octal y ayuda a determinar el permiso de un archivo recién creado (RWX).</a:t>
            </a: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Por default se utiliza la máscara 022 para usuario root y 002 para usuarios regulares.</a:t>
            </a: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Para los directorios, los permisos de base son 777 (rwxrwxrwx) y para los archivos son 666 (rw-rw-rw).</a:t>
            </a:r>
            <a:endParaRPr lang="es-MX" sz="3200" b="0" strike="noStrike" spc="-1">
              <a:latin typeface="Arial"/>
            </a:endParaRPr>
          </a:p>
          <a:p>
            <a:pPr>
              <a:lnSpc>
                <a:spcPct val="90000"/>
              </a:lnSpc>
              <a:spcBef>
                <a:spcPts val="1001"/>
              </a:spcBef>
            </a:pPr>
            <a:endParaRPr lang="es-MX" sz="3200" b="0" strike="noStrike" spc="-1">
              <a:latin typeface="Arial"/>
            </a:endParaRPr>
          </a:p>
          <a:p>
            <a:pPr>
              <a:lnSpc>
                <a:spcPct val="90000"/>
              </a:lnSpc>
              <a:spcBef>
                <a:spcPts val="1001"/>
              </a:spcBef>
            </a:pPr>
            <a:endParaRPr lang="es-MX" sz="3200" b="0" strike="noStrike" spc="-1">
              <a:latin typeface="Arial"/>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Cálculo de permisos para directorios</a:t>
            </a:r>
            <a:endParaRPr lang="es-MX" sz="4400" b="0" strike="noStrike" spc="-1">
              <a:latin typeface="Arial"/>
            </a:endParaRPr>
          </a:p>
        </p:txBody>
      </p:sp>
      <p:sp>
        <p:nvSpPr>
          <p:cNvPr id="816" name="CustomShape 2"/>
          <p:cNvSpPr/>
          <p:nvPr/>
        </p:nvSpPr>
        <p:spPr>
          <a:xfrm>
            <a:off x="609480" y="1970640"/>
            <a:ext cx="10971000" cy="35035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Para calcular los permisos de los directorios para un valor </a:t>
            </a:r>
            <a:r>
              <a:rPr lang="es-MX" sz="3200" b="0" strike="noStrike" spc="-1" dirty="0" err="1">
                <a:solidFill>
                  <a:srgbClr val="000000"/>
                </a:solidFill>
                <a:latin typeface="Arial"/>
                <a:ea typeface="DejaVu Sans"/>
              </a:rPr>
              <a:t>umask</a:t>
            </a:r>
            <a:r>
              <a:rPr lang="es-MX" sz="3200" b="0" strike="noStrike" spc="-1" dirty="0">
                <a:solidFill>
                  <a:srgbClr val="000000"/>
                </a:solidFill>
                <a:latin typeface="Arial"/>
                <a:ea typeface="DejaVu Sans"/>
              </a:rPr>
              <a:t> de 022 (usuario </a:t>
            </a:r>
            <a:r>
              <a:rPr lang="es-MX" sz="3200" b="0" strike="noStrike" spc="-1" dirty="0" err="1">
                <a:solidFill>
                  <a:srgbClr val="000000"/>
                </a:solidFill>
                <a:latin typeface="Arial"/>
                <a:ea typeface="DejaVu Sans"/>
              </a:rPr>
              <a:t>root</a:t>
            </a:r>
            <a:r>
              <a:rPr lang="es-MX" sz="3200" b="0" strike="noStrike" spc="-1" dirty="0">
                <a:solidFill>
                  <a:srgbClr val="000000"/>
                </a:solidFill>
                <a:latin typeface="Arial"/>
                <a:ea typeface="DejaVu Sans"/>
              </a:rPr>
              <a:t>):</a:t>
            </a:r>
            <a:endParaRPr lang="es-MX" sz="3200" b="0" strike="noStrike" spc="-1" dirty="0">
              <a:latin typeface="Arial"/>
            </a:endParaRPr>
          </a:p>
          <a:p>
            <a:pPr>
              <a:lnSpc>
                <a:spcPct val="90000"/>
              </a:lnSpc>
              <a:spcBef>
                <a:spcPts val="1001"/>
              </a:spcBef>
            </a:pP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Default </a:t>
            </a:r>
            <a:r>
              <a:rPr lang="es-MX" sz="3200" b="0" strike="noStrike" spc="-1" dirty="0" err="1">
                <a:solidFill>
                  <a:srgbClr val="000000"/>
                </a:solidFill>
                <a:latin typeface="Arial"/>
                <a:ea typeface="DejaVu Sans"/>
              </a:rPr>
              <a:t>permission</a:t>
            </a:r>
            <a:r>
              <a:rPr lang="es-MX" sz="3200" b="0" strike="noStrike" spc="-1" dirty="0">
                <a:solidFill>
                  <a:srgbClr val="000000"/>
                </a:solidFill>
                <a:latin typeface="Arial"/>
                <a:ea typeface="DejaVu Sans"/>
              </a:rPr>
              <a:t>: 777</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err="1">
                <a:solidFill>
                  <a:srgbClr val="000000"/>
                </a:solidFill>
                <a:latin typeface="Arial"/>
                <a:ea typeface="DejaVu Sans"/>
              </a:rPr>
              <a:t>Subtract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umask</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value</a:t>
            </a:r>
            <a:r>
              <a:rPr lang="es-MX" sz="3200" b="0" strike="noStrike" spc="-1" dirty="0">
                <a:solidFill>
                  <a:srgbClr val="000000"/>
                </a:solidFill>
                <a:latin typeface="Arial"/>
                <a:ea typeface="DejaVu Sans"/>
              </a:rPr>
              <a:t>: 022 (-)</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err="1">
                <a:solidFill>
                  <a:srgbClr val="000000"/>
                </a:solidFill>
                <a:latin typeface="Arial"/>
                <a:ea typeface="DejaVu Sans"/>
              </a:rPr>
              <a:t>Directory</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permission</a:t>
            </a:r>
            <a:r>
              <a:rPr lang="es-MX" sz="3200" b="0" strike="noStrike" spc="-1" dirty="0">
                <a:solidFill>
                  <a:srgbClr val="000000"/>
                </a:solidFill>
                <a:latin typeface="Arial"/>
                <a:ea typeface="DejaVu Sans"/>
              </a:rPr>
              <a:t>: 755 (</a:t>
            </a:r>
            <a:r>
              <a:rPr lang="es-MX" sz="3200" b="0" strike="noStrike" spc="-1" dirty="0" err="1">
                <a:solidFill>
                  <a:srgbClr val="000000"/>
                </a:solidFill>
                <a:latin typeface="Arial"/>
                <a:ea typeface="DejaVu Sans"/>
              </a:rPr>
              <a:t>usuario,grupo,otros</a:t>
            </a:r>
            <a:r>
              <a:rPr lang="es-MX" sz="3200" b="0" strike="noStrike" spc="-1" dirty="0">
                <a:solidFill>
                  <a:srgbClr val="000000"/>
                </a:solidFill>
                <a:latin typeface="Arial"/>
                <a:ea typeface="DejaVu Sans"/>
              </a:rPr>
              <a:t>)</a:t>
            </a:r>
            <a:endParaRPr lang="es-MX" sz="3200" b="0" strike="noStrike" spc="-1" dirty="0">
              <a:latin typeface="Arial"/>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Cálculo de permisos para archivos</a:t>
            </a:r>
            <a:endParaRPr lang="es-MX" sz="4400" b="0" strike="noStrike" spc="-1">
              <a:latin typeface="Arial"/>
            </a:endParaRPr>
          </a:p>
        </p:txBody>
      </p:sp>
      <p:sp>
        <p:nvSpPr>
          <p:cNvPr id="818" name="CustomShape 2"/>
          <p:cNvSpPr/>
          <p:nvPr/>
        </p:nvSpPr>
        <p:spPr>
          <a:xfrm>
            <a:off x="457200" y="1920240"/>
            <a:ext cx="10971000" cy="64605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Para calcular los permisos de los archivos para un valor umask de 022 (usuario root):</a:t>
            </a:r>
            <a:endParaRPr lang="es-MX" sz="3200" b="0" strike="noStrike" spc="-1">
              <a:latin typeface="Arial"/>
            </a:endParaRPr>
          </a:p>
          <a:p>
            <a:pPr>
              <a:lnSpc>
                <a:spcPct val="90000"/>
              </a:lnSpc>
              <a:spcBef>
                <a:spcPts val="1001"/>
              </a:spcBef>
            </a:pP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Default permission: 666</a:t>
            </a: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Subtract umask value: 022 (-)</a:t>
            </a: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File permission: 644</a:t>
            </a:r>
            <a:endParaRPr lang="es-MX" sz="3200" b="0" strike="noStrike" spc="-1">
              <a:latin typeface="Arial"/>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Apertura de pipe</a:t>
            </a:r>
            <a:endParaRPr lang="es-MX" sz="4400" b="0" strike="noStrike" spc="-1">
              <a:latin typeface="Arial"/>
            </a:endParaRPr>
          </a:p>
        </p:txBody>
      </p:sp>
      <p:sp>
        <p:nvSpPr>
          <p:cNvPr id="820" name="CustomShape 2"/>
          <p:cNvSpPr/>
          <p:nvPr/>
        </p:nvSpPr>
        <p:spPr>
          <a:xfrm>
            <a:off x="609480" y="1604520"/>
            <a:ext cx="10971000" cy="49294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open(</a:t>
            </a:r>
            <a:r>
              <a:rPr lang="es-MX" sz="2800" b="0" strike="noStrike" spc="-1" dirty="0" err="1">
                <a:solidFill>
                  <a:srgbClr val="000000"/>
                </a:solidFill>
                <a:latin typeface="Arial"/>
                <a:ea typeface="DejaVu Sans"/>
              </a:rPr>
              <a:t>const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char</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pathname</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flags</a:t>
            </a:r>
            <a:r>
              <a:rPr lang="es-MX" sz="2800" b="0" strike="noStrike" spc="-1" dirty="0">
                <a:solidFill>
                  <a:srgbClr val="000000"/>
                </a:solidFill>
                <a:latin typeface="Arial"/>
                <a:ea typeface="DejaVu Sans"/>
              </a:rPr>
              <a:t>); </a:t>
            </a:r>
            <a:endParaRPr lang="es-MX" sz="2800" b="0" strike="noStrike" spc="-1" dirty="0">
              <a:latin typeface="Arial"/>
            </a:endParaRPr>
          </a:p>
          <a:p>
            <a:pPr marL="228600" indent="-227160">
              <a:lnSpc>
                <a:spcPct val="90000"/>
              </a:lnSpc>
              <a:spcBef>
                <a:spcPts val="1001"/>
              </a:spcBef>
              <a:buClr>
                <a:srgbClr val="000000"/>
              </a:buClr>
              <a:buFont typeface="Arial"/>
              <a:buChar char="•"/>
            </a:pPr>
            <a:r>
              <a:rPr lang="es-MX" sz="2800" b="0" strike="noStrike" spc="-1" dirty="0">
                <a:solidFill>
                  <a:srgbClr val="000000"/>
                </a:solidFill>
                <a:latin typeface="Arial"/>
                <a:ea typeface="DejaVu Sans"/>
              </a:rPr>
              <a:t>// devuelve el descriptor de archivo o -1 en caso de error</a:t>
            </a:r>
            <a:endParaRPr lang="es-MX" sz="2800" b="0" strike="noStrike" spc="-1" dirty="0">
              <a:latin typeface="Arial"/>
            </a:endParaRPr>
          </a:p>
          <a:p>
            <a:pPr marL="228600" indent="-227160">
              <a:lnSpc>
                <a:spcPct val="90000"/>
              </a:lnSpc>
              <a:spcBef>
                <a:spcPts val="1001"/>
              </a:spcBef>
              <a:buClr>
                <a:srgbClr val="000000"/>
              </a:buClr>
              <a:buFont typeface="Arial"/>
              <a:buChar char="•"/>
            </a:pPr>
            <a:r>
              <a:rPr lang="es-MX" sz="2800" b="0" strike="noStrike" spc="-1" dirty="0" err="1">
                <a:solidFill>
                  <a:srgbClr val="000000"/>
                </a:solidFill>
                <a:latin typeface="Arial"/>
                <a:ea typeface="DejaVu Sans"/>
              </a:rPr>
              <a:t>Flags</a:t>
            </a:r>
            <a:r>
              <a:rPr lang="es-MX" sz="2800" b="0" strike="noStrike" spc="-1" dirty="0">
                <a:solidFill>
                  <a:srgbClr val="000000"/>
                </a:solidFill>
                <a:latin typeface="Arial"/>
                <a:ea typeface="DejaVu Sans"/>
              </a:rPr>
              <a:t>: O_RDONLY, O_WRONLY, O_NONBLOCK,O_RDWR</a:t>
            </a:r>
            <a:endParaRPr lang="es-MX" sz="2800" b="0" strike="noStrike" spc="-1" dirty="0">
              <a:latin typeface="Arial"/>
            </a:endParaRPr>
          </a:p>
          <a:p>
            <a:pPr marL="228600" indent="-227160">
              <a:lnSpc>
                <a:spcPct val="90000"/>
              </a:lnSpc>
              <a:spcBef>
                <a:spcPts val="1001"/>
              </a:spcBef>
              <a:buClr>
                <a:srgbClr val="000000"/>
              </a:buClr>
              <a:buFont typeface="Arial"/>
              <a:buChar char="•"/>
            </a:pPr>
            <a:r>
              <a:rPr lang="es-MX" sz="2800" b="0" strike="noStrike" spc="-1" dirty="0">
                <a:solidFill>
                  <a:srgbClr val="000000"/>
                </a:solidFill>
                <a:latin typeface="Arial"/>
                <a:ea typeface="DejaVu Sans"/>
              </a:rPr>
              <a:t>Ej.</a:t>
            </a:r>
            <a:endParaRPr lang="es-MX" sz="2800" b="0" strike="noStrike" spc="-1" dirty="0">
              <a:latin typeface="Arial"/>
            </a:endParaRPr>
          </a:p>
          <a:p>
            <a:pPr>
              <a:lnSpc>
                <a:spcPct val="90000"/>
              </a:lnSpc>
              <a:spcBef>
                <a:spcPts val="1001"/>
              </a:spcBef>
            </a:pP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readFd</a:t>
            </a:r>
            <a:r>
              <a:rPr lang="es-MX" sz="2800" b="0" strike="noStrike" spc="-1" dirty="0">
                <a:solidFill>
                  <a:srgbClr val="000000"/>
                </a:solidFill>
                <a:latin typeface="Arial"/>
                <a:ea typeface="DejaVu Sans"/>
              </a:rPr>
              <a:t> = open(</a:t>
            </a:r>
            <a:r>
              <a:rPr lang="es-MX" sz="2800" b="0" strike="noStrike" spc="-1" dirty="0" err="1">
                <a:solidFill>
                  <a:srgbClr val="000000"/>
                </a:solidFill>
                <a:latin typeface="Arial"/>
                <a:ea typeface="DejaVu Sans"/>
              </a:rPr>
              <a:t>pipeName</a:t>
            </a:r>
            <a:r>
              <a:rPr lang="es-MX" sz="2800" b="0" strike="noStrike" spc="-1" dirty="0">
                <a:solidFill>
                  <a:srgbClr val="000000"/>
                </a:solidFill>
                <a:latin typeface="Arial"/>
                <a:ea typeface="DejaVu Sans"/>
              </a:rPr>
              <a:t>, O_RDONLY|O_NONBLOCK);</a:t>
            </a:r>
            <a:endParaRPr lang="es-MX" sz="2800" b="0" strike="noStrike" spc="-1" dirty="0">
              <a:latin typeface="Arial"/>
            </a:endParaRPr>
          </a:p>
          <a:p>
            <a:pPr>
              <a:lnSpc>
                <a:spcPct val="90000"/>
              </a:lnSpc>
              <a:spcBef>
                <a:spcPts val="1001"/>
              </a:spcBef>
            </a:pP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writeFd</a:t>
            </a:r>
            <a:r>
              <a:rPr lang="es-MX" sz="2800" b="0" strike="noStrike" spc="-1" dirty="0">
                <a:solidFill>
                  <a:srgbClr val="000000"/>
                </a:solidFill>
                <a:latin typeface="Arial"/>
                <a:ea typeface="DejaVu Sans"/>
              </a:rPr>
              <a:t> = open(</a:t>
            </a:r>
            <a:r>
              <a:rPr lang="es-MX" sz="2800" b="0" strike="noStrike" spc="-1" dirty="0" err="1">
                <a:solidFill>
                  <a:srgbClr val="000000"/>
                </a:solidFill>
                <a:latin typeface="Arial"/>
                <a:ea typeface="DejaVu Sans"/>
              </a:rPr>
              <a:t>pipeName</a:t>
            </a:r>
            <a:r>
              <a:rPr lang="es-MX" sz="2800" b="0" strike="noStrike" spc="-1" dirty="0">
                <a:solidFill>
                  <a:srgbClr val="000000"/>
                </a:solidFill>
                <a:latin typeface="Arial"/>
                <a:ea typeface="DejaVu Sans"/>
              </a:rPr>
              <a:t>, O_WRONLY|O_NONBLOCK);</a:t>
            </a:r>
            <a:endParaRPr lang="es-MX" sz="2800" b="0" strike="noStrike" spc="-1" dirty="0">
              <a:latin typeface="Arial"/>
            </a:endParaRPr>
          </a:p>
          <a:p>
            <a:pPr>
              <a:lnSpc>
                <a:spcPct val="90000"/>
              </a:lnSpc>
              <a:spcBef>
                <a:spcPts val="1001"/>
              </a:spcBef>
            </a:pPr>
            <a:endParaRPr lang="es-MX" sz="2800" b="0" strike="noStrike" spc="-1" dirty="0">
              <a:latin typeface="Arial"/>
            </a:endParaRPr>
          </a:p>
          <a:p>
            <a:pPr>
              <a:lnSpc>
                <a:spcPct val="90000"/>
              </a:lnSpc>
              <a:spcBef>
                <a:spcPts val="1001"/>
              </a:spcBef>
            </a:pPr>
            <a:endParaRPr lang="es-MX" sz="2800" b="0" strike="noStrike" spc="-1" dirty="0">
              <a:latin typeface="Arial"/>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Cierre y destrucción de pipe</a:t>
            </a:r>
            <a:endParaRPr lang="es-MX" sz="4400" b="0" strike="noStrike" spc="-1">
              <a:latin typeface="Arial"/>
            </a:endParaRPr>
          </a:p>
        </p:txBody>
      </p:sp>
      <p:sp>
        <p:nvSpPr>
          <p:cNvPr id="822" name="CustomShape 2"/>
          <p:cNvSpPr/>
          <p:nvPr/>
        </p:nvSpPr>
        <p:spPr>
          <a:xfrm>
            <a:off x="609480" y="1604520"/>
            <a:ext cx="10971000" cy="397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int close (int fd);</a:t>
            </a:r>
            <a:endParaRPr lang="es-MX" sz="2800" b="0" strike="noStrike" spc="-1">
              <a:latin typeface="Arial"/>
            </a:endParaRPr>
          </a:p>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int unlink(const char *pathname);</a:t>
            </a:r>
            <a:endParaRPr lang="es-MX" sz="2800" b="0" strike="noStrike" spc="-1">
              <a:latin typeface="Arial"/>
            </a:endParaRPr>
          </a:p>
          <a:p>
            <a:pPr>
              <a:lnSpc>
                <a:spcPct val="90000"/>
              </a:lnSpc>
              <a:spcBef>
                <a:spcPts val="1001"/>
              </a:spcBef>
            </a:pPr>
            <a:endParaRPr lang="es-MX" sz="2800" b="0" strike="noStrike" spc="-1">
              <a:latin typeface="Arial"/>
            </a:endParaRPr>
          </a:p>
          <a:p>
            <a:pPr>
              <a:lnSpc>
                <a:spcPct val="90000"/>
              </a:lnSpc>
              <a:spcBef>
                <a:spcPts val="1001"/>
              </a:spcBef>
            </a:pPr>
            <a:endParaRPr lang="es-MX" sz="2800" b="0" strike="noStrike" spc="-1">
              <a:latin typeface="Arial"/>
            </a:endParaRPr>
          </a:p>
          <a:p>
            <a:pPr>
              <a:lnSpc>
                <a:spcPct val="90000"/>
              </a:lnSpc>
              <a:spcBef>
                <a:spcPts val="1001"/>
              </a:spcBef>
            </a:pPr>
            <a:endParaRPr lang="es-MX" sz="2800" b="0" strike="noStrike" spc="-1">
              <a:latin typeface="Arial"/>
            </a:endParaRPr>
          </a:p>
          <a:p>
            <a:pPr>
              <a:lnSpc>
                <a:spcPct val="90000"/>
              </a:lnSpc>
              <a:spcBef>
                <a:spcPts val="1001"/>
              </a:spcBef>
            </a:pPr>
            <a:endParaRPr lang="es-MX" sz="2800" b="0" strike="noStrike" spc="-1">
              <a:latin typeface="Arial"/>
            </a:endParaRPr>
          </a:p>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Ej. pipenombre.c </a:t>
            </a:r>
            <a:endParaRPr lang="es-MX" sz="2800" b="0" strike="noStrike" spc="-1">
              <a:latin typeface="Arial"/>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1.3.2 Sockets orientados a conexión no bloqueantes</a:t>
            </a:r>
            <a:endParaRPr lang="es-MX" sz="6000" b="0" strike="noStrike" spc="-1">
              <a:latin typeface="Arial"/>
            </a:endParaRPr>
          </a:p>
        </p:txBody>
      </p:sp>
      <p:sp>
        <p:nvSpPr>
          <p:cNvPr id="824"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bloqueante (1/2)</a:t>
            </a:r>
            <a:endParaRPr lang="es-MX" sz="4400" b="0" strike="noStrike" spc="-1">
              <a:latin typeface="Arial"/>
            </a:endParaRPr>
          </a:p>
        </p:txBody>
      </p:sp>
      <p:sp>
        <p:nvSpPr>
          <p:cNvPr id="82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Las entradas y salidas son por naturaleza bloqueantes (no permiten realizar nada mas hasta que terminen)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el caso de los sockets si no hay nada que procesar la instrucción se queda dormida hasta que ocurra un evento que permita terminar la operación</a:t>
            </a:r>
            <a:endParaRPr lang="es-MX" sz="2800" b="0" strike="noStrike" spc="-1">
              <a:latin typeface="Arial"/>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bloqueante (2/2)</a:t>
            </a:r>
            <a:endParaRPr lang="es-MX" sz="4400" b="0" strike="noStrike" spc="-1">
              <a:latin typeface="Arial"/>
            </a:endParaRPr>
          </a:p>
        </p:txBody>
      </p:sp>
      <p:sp>
        <p:nvSpPr>
          <p:cNvPr id="82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realizamos operaciones de entrada (</a:t>
            </a:r>
            <a:r>
              <a:rPr lang="en-US" sz="2800" b="0" i="1" strike="noStrike" spc="-1">
                <a:solidFill>
                  <a:srgbClr val="000000"/>
                </a:solidFill>
                <a:latin typeface="Calibri"/>
                <a:ea typeface="DejaVu Sans"/>
              </a:rPr>
              <a:t>read, recv, recvfrom</a:t>
            </a:r>
            <a:r>
              <a:rPr lang="en-US" sz="2800" b="0" strike="noStrike" spc="-1">
                <a:solidFill>
                  <a:srgbClr val="000000"/>
                </a:solidFill>
                <a:latin typeface="Calibri"/>
                <a:ea typeface="DejaVu Sans"/>
              </a:rPr>
              <a:t>, </a:t>
            </a:r>
            <a:r>
              <a:rPr lang="en-US" sz="2800" b="0" i="1" strike="noStrike" spc="-1">
                <a:solidFill>
                  <a:srgbClr val="000000"/>
                </a:solidFill>
                <a:latin typeface="Calibri"/>
                <a:ea typeface="DejaVu Sans"/>
              </a:rPr>
              <a:t>etc</a:t>
            </a:r>
            <a:r>
              <a:rPr lang="en-US" sz="2800" b="0" strike="noStrike" spc="-1">
                <a:solidFill>
                  <a:srgbClr val="000000"/>
                </a:solidFill>
                <a:latin typeface="Calibri"/>
                <a:ea typeface="DejaVu Sans"/>
              </a:rPr>
              <a:t>.) sobre el socket y no hay datos disponibles es proceso entrara al estado de dormido hasta que haya datos para leer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realizamos operaciones de salida (</a:t>
            </a:r>
            <a:r>
              <a:rPr lang="en-US" sz="2800" b="0" i="1" strike="noStrike" spc="-1">
                <a:solidFill>
                  <a:srgbClr val="000000"/>
                </a:solidFill>
                <a:latin typeface="Calibri"/>
                <a:ea typeface="DejaVu Sans"/>
              </a:rPr>
              <a:t>write, send, sendto</a:t>
            </a:r>
            <a:r>
              <a:rPr lang="en-US" sz="2800" b="0" strike="noStrike" spc="-1">
                <a:solidFill>
                  <a:srgbClr val="000000"/>
                </a:solidFill>
                <a:latin typeface="Calibri"/>
                <a:ea typeface="DejaVu Sans"/>
              </a:rPr>
              <a:t>, </a:t>
            </a:r>
            <a:r>
              <a:rPr lang="en-US" sz="2800" b="0" i="1" strike="noStrike" spc="-1">
                <a:solidFill>
                  <a:srgbClr val="000000"/>
                </a:solidFill>
                <a:latin typeface="Calibri"/>
                <a:ea typeface="DejaVu Sans"/>
              </a:rPr>
              <a:t>etc</a:t>
            </a:r>
            <a:r>
              <a:rPr lang="en-US" sz="2800" b="0" strike="noStrike" spc="-1">
                <a:solidFill>
                  <a:srgbClr val="000000"/>
                </a:solidFill>
                <a:latin typeface="Calibri"/>
                <a:ea typeface="DejaVu Sans"/>
              </a:rPr>
              <a:t>.) sobre el socket, el kerner copia los datos del buffer de la aplicación en el buffer de envio de datos, si no hay espacio en este último el proceso se bloqueara hasta tener suficiente espacio</a:t>
            </a:r>
            <a:endParaRPr lang="es-MX" sz="2800" b="0" strike="noStrike" spc="-1">
              <a:latin typeface="Arial"/>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no bloqueante</a:t>
            </a:r>
            <a:endParaRPr lang="es-MX" sz="4400" b="0" strike="noStrike" spc="-1">
              <a:latin typeface="Arial"/>
            </a:endParaRPr>
          </a:p>
        </p:txBody>
      </p:sp>
      <p:sp>
        <p:nvSpPr>
          <p:cNvPr id="83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algunas ocasiones es preferible que no exista el bloqueo mencionado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Permite realizar otras tareas si no hay datos que manejar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Hay dos maneras básicas de manejo:</a:t>
            </a:r>
            <a:endParaRPr lang="es-MX" sz="2800" b="0" strike="noStrike" spc="-1">
              <a:latin typeface="Arial"/>
            </a:endParaRPr>
          </a:p>
          <a:p>
            <a:pPr marL="457200" lvl="1" indent="-214920">
              <a:lnSpc>
                <a:spcPct val="100000"/>
              </a:lnSpc>
              <a:buClr>
                <a:srgbClr val="000000"/>
              </a:buClr>
              <a:buFont typeface="Arial"/>
              <a:buChar char="•"/>
            </a:pPr>
            <a:r>
              <a:rPr lang="en-US" sz="2400" b="0" i="1" strike="noStrike" spc="-1">
                <a:solidFill>
                  <a:srgbClr val="000000"/>
                </a:solidFill>
                <a:latin typeface="Calibri"/>
                <a:ea typeface="DejaVu Sans"/>
              </a:rPr>
              <a:t>Polling</a:t>
            </a:r>
            <a:endParaRPr lang="es-MX" sz="2400" b="0" strike="noStrike" spc="-1">
              <a:latin typeface="Arial"/>
            </a:endParaRPr>
          </a:p>
          <a:p>
            <a:pPr marL="457200" lvl="1" indent="-214920">
              <a:lnSpc>
                <a:spcPct val="100000"/>
              </a:lnSpc>
              <a:buClr>
                <a:srgbClr val="000000"/>
              </a:buClr>
              <a:buFont typeface="Arial"/>
              <a:buChar char="•"/>
            </a:pPr>
            <a:r>
              <a:rPr lang="en-US" sz="2400" b="0" i="1" strike="noStrike" spc="-1">
                <a:solidFill>
                  <a:srgbClr val="000000"/>
                </a:solidFill>
                <a:latin typeface="Calibri"/>
                <a:ea typeface="DejaVu Sans"/>
              </a:rPr>
              <a:t>Asíncrono</a:t>
            </a:r>
            <a:endParaRPr lang="es-MX" sz="2400" b="0" strike="noStrike" spc="-1">
              <a:latin typeface="Arial"/>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Polling</a:t>
            </a:r>
            <a:endParaRPr lang="es-MX" sz="4400" b="0" strike="noStrike" spc="-1">
              <a:latin typeface="Arial"/>
            </a:endParaRPr>
          </a:p>
        </p:txBody>
      </p:sp>
      <p:sp>
        <p:nvSpPr>
          <p:cNvPr id="83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Consiste en una operación de consulta constante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Eso lo vuelve síncrono, ya que solo se procesa en un momento determinado</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Polling</a:t>
            </a:r>
            <a:endParaRPr lang="es-MX" sz="4400" b="0" strike="noStrike" spc="-1">
              <a:latin typeface="Arial"/>
            </a:endParaRPr>
          </a:p>
        </p:txBody>
      </p:sp>
      <p:pic>
        <p:nvPicPr>
          <p:cNvPr id="834" name="Picture 2"/>
          <p:cNvPicPr/>
          <p:nvPr/>
        </p:nvPicPr>
        <p:blipFill>
          <a:blip r:embed="rId2"/>
          <a:stretch/>
        </p:blipFill>
        <p:spPr>
          <a:xfrm>
            <a:off x="2279520" y="2277000"/>
            <a:ext cx="8113320" cy="2854080"/>
          </a:xfrm>
          <a:prstGeom prst="rect">
            <a:avLst/>
          </a:prstGeom>
          <a:ln>
            <a:noFill/>
          </a:ln>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Asíncrono</a:t>
            </a:r>
            <a:endParaRPr lang="es-MX" sz="4400" b="0" strike="noStrike" spc="-1">
              <a:latin typeface="Arial"/>
            </a:endParaRPr>
          </a:p>
        </p:txBody>
      </p:sp>
      <p:sp>
        <p:nvSpPr>
          <p:cNvPr id="83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este caso, hay que esperar a que ocurra un evento de entrada o salida y actuar en consecuencia</a:t>
            </a:r>
            <a:endParaRPr lang="es-MX" sz="2800" b="0" strike="noStrike" spc="-1">
              <a:latin typeface="Arial"/>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Sockets orientados a conexión no bloqueantes en java</a:t>
            </a:r>
            <a:endParaRPr lang="es-MX" sz="6000" b="0" strike="noStrike" spc="-1">
              <a:latin typeface="Arial"/>
            </a:endParaRPr>
          </a:p>
        </p:txBody>
      </p:sp>
      <p:sp>
        <p:nvSpPr>
          <p:cNvPr id="838"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Dos tópicos</a:t>
            </a:r>
            <a:endParaRPr lang="es-MX" sz="4400" b="0" strike="noStrike" spc="-1">
              <a:latin typeface="Arial"/>
            </a:endParaRPr>
          </a:p>
        </p:txBody>
      </p:sp>
      <p:sp>
        <p:nvSpPr>
          <p:cNvPr id="84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i="1" strike="noStrike" spc="-1">
                <a:solidFill>
                  <a:srgbClr val="000000"/>
                </a:solidFill>
                <a:latin typeface="Calibri"/>
                <a:ea typeface="DejaVu Sans"/>
              </a:rPr>
              <a:t>ServerSocketChannel</a:t>
            </a:r>
            <a:endParaRPr lang="es-MX" sz="2800" b="0" strike="noStrike" spc="-1">
              <a:latin typeface="Arial"/>
            </a:endParaRPr>
          </a:p>
          <a:p>
            <a:pPr marL="216000" indent="-214920">
              <a:lnSpc>
                <a:spcPct val="90000"/>
              </a:lnSpc>
              <a:buClr>
                <a:srgbClr val="000000"/>
              </a:buClr>
              <a:buFont typeface="Arial"/>
              <a:buChar char="•"/>
            </a:pPr>
            <a:r>
              <a:rPr lang="en-US" sz="2800" b="0" i="1" strike="noStrike" spc="-1">
                <a:solidFill>
                  <a:srgbClr val="000000"/>
                </a:solidFill>
                <a:latin typeface="Calibri"/>
                <a:ea typeface="DejaVu Sans"/>
              </a:rPr>
              <a:t>Iterator</a:t>
            </a:r>
            <a:endParaRPr lang="es-MX" sz="2800" b="0" strike="noStrike" spc="-1">
              <a:latin typeface="Arial"/>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Según la documentación oficial de Java un canal es:</a:t>
            </a:r>
            <a:endParaRPr lang="es-MX" sz="2800" b="0" strike="noStrike" spc="-1">
              <a:latin typeface="Arial"/>
            </a:endParaRPr>
          </a:p>
          <a:p>
            <a:pPr>
              <a:lnSpc>
                <a:spcPct val="100000"/>
              </a:lnSpc>
            </a:pPr>
            <a:r>
              <a:rPr lang="en-US" sz="2400" b="0" strike="noStrike" spc="-1">
                <a:solidFill>
                  <a:srgbClr val="000000"/>
                </a:solidFill>
                <a:latin typeface="Calibri"/>
                <a:ea typeface="DejaVu Sans"/>
              </a:rPr>
              <a:t>[…] representa una conexión abierta a una entidad como un dispositivo de hardware, un archivo, un socket de red o un componente de software que es capaz de realizar una o mas operaciones distintas de E/S; por ejemplo, leer o escribir. Un canal está abierto tras su creación, y una vez cerrado permanece cerrado. Una vez que un canal está cerrado, cualquier intento de llamar a una operación de E/S sobre él causará que se arroje una </a:t>
            </a:r>
            <a:r>
              <a:rPr lang="en-US" sz="2400" b="0" i="1" strike="noStrike" spc="-1">
                <a:solidFill>
                  <a:srgbClr val="000000"/>
                </a:solidFill>
                <a:latin typeface="Calibri"/>
                <a:ea typeface="DejaVu Sans"/>
              </a:rPr>
              <a:t>CloseChannerException</a:t>
            </a:r>
            <a:r>
              <a:rPr lang="en-US" sz="2400" b="0" strike="noStrike" spc="-1">
                <a:solidFill>
                  <a:srgbClr val="000000"/>
                </a:solidFill>
                <a:latin typeface="Calibri"/>
                <a:ea typeface="DejaVu Sans"/>
              </a:rPr>
              <a:t>.</a:t>
            </a:r>
            <a:endParaRPr lang="es-MX" sz="2400" b="0" strike="noStrike" spc="-1">
              <a:latin typeface="Arial"/>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Dicho de otra forma: un canal es una conexión entre un buffer y una fuente o un consumidor de datos.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datos pueden leerse de los canales mediante buffer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datos de un buffer se pueden escribirse en los canales</a:t>
            </a:r>
            <a:endParaRPr lang="es-MX" sz="2800" b="0" strike="noStrike" spc="-1">
              <a:latin typeface="Arial"/>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canales pueden funcionar con bloqueo o sin el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operación de E/S con bloqueo no retorna hasta que se produce una de estas situaciones:</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completa la operación</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produce una interrupción debido al SO</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lanza una exception</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Todos los métodos </a:t>
            </a:r>
            <a:r>
              <a:rPr lang="en-US" sz="4300" b="0" strike="noStrike" spc="-1">
                <a:solidFill>
                  <a:srgbClr val="000000"/>
                </a:solidFill>
                <a:latin typeface="MoolBoran"/>
                <a:ea typeface="DejaVu Sans"/>
              </a:rPr>
              <a:t>read() y write() </a:t>
            </a:r>
            <a:r>
              <a:rPr lang="en-US" sz="2800" b="0" strike="noStrike" spc="-1">
                <a:solidFill>
                  <a:srgbClr val="000000"/>
                </a:solidFill>
                <a:latin typeface="Calibri"/>
                <a:ea typeface="DejaVu Sans"/>
              </a:rPr>
              <a:t>de </a:t>
            </a:r>
            <a:r>
              <a:rPr lang="en-US" sz="4300" b="0" strike="noStrike" spc="-1">
                <a:solidFill>
                  <a:srgbClr val="000000"/>
                </a:solidFill>
                <a:latin typeface="MoolBoran"/>
                <a:ea typeface="DejaVu Sans"/>
              </a:rPr>
              <a:t>java.io</a:t>
            </a:r>
            <a:r>
              <a:rPr lang="en-US" sz="2800" b="0" strike="noStrike" spc="-1">
                <a:solidFill>
                  <a:srgbClr val="000000"/>
                </a:solidFill>
                <a:latin typeface="Calibri"/>
                <a:ea typeface="DejaVu Sans"/>
              </a:rPr>
              <a:t> producen bloqueo hasta que se produce alguno de los casos anteriores</a:t>
            </a:r>
            <a:endParaRPr lang="es-MX" sz="2800" b="0" strike="noStrike" spc="-1">
              <a:latin typeface="Arial"/>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operación de E/S sin bloqueo retorna al instante, devolviendo algún valor de retorno que indique si la operación fue exitosa o no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programa o hilo que ejecute una operación sin bloque no se quedara dormido esperando datos, una interrupción o una excepción; su curso de ejecución continuara.</a:t>
            </a:r>
            <a:endParaRPr lang="es-MX" sz="2800" b="0" strike="noStrike" spc="-1">
              <a:latin typeface="Arial"/>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5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buffers son lo intermediarios entre canales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 es posible pasar directamente los datos de un canal a otro</a:t>
            </a:r>
            <a:endParaRPr lang="es-MX" sz="2800" b="0" strike="noStrike" spc="-1">
              <a:latin typeface="Arial"/>
            </a:endParaRPr>
          </a:p>
        </p:txBody>
      </p:sp>
      <p:pic>
        <p:nvPicPr>
          <p:cNvPr id="851" name="Picture 2"/>
          <p:cNvPicPr/>
          <p:nvPr/>
        </p:nvPicPr>
        <p:blipFill>
          <a:blip r:embed="rId2"/>
          <a:stretch/>
        </p:blipFill>
        <p:spPr>
          <a:xfrm>
            <a:off x="2486160" y="3429000"/>
            <a:ext cx="7217640" cy="2817360"/>
          </a:xfrm>
          <a:prstGeom prst="rect">
            <a:avLst/>
          </a:prstGeom>
          <a:ln>
            <a:noFill/>
          </a:ln>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Jerarquia simplificada de java.nio.channel </a:t>
            </a:r>
            <a:endParaRPr lang="es-MX" sz="4400" b="0" strike="noStrike" spc="-1">
              <a:latin typeface="Arial"/>
            </a:endParaRPr>
          </a:p>
        </p:txBody>
      </p:sp>
      <p:pic>
        <p:nvPicPr>
          <p:cNvPr id="853" name="Picture 2"/>
          <p:cNvPicPr/>
          <p:nvPr/>
        </p:nvPicPr>
        <p:blipFill>
          <a:blip r:embed="rId2"/>
          <a:stretch/>
        </p:blipFill>
        <p:spPr>
          <a:xfrm>
            <a:off x="2814480" y="1771560"/>
            <a:ext cx="6560640" cy="3312720"/>
          </a:xfrm>
          <a:prstGeom prst="rect">
            <a:avLst/>
          </a:prstGeom>
          <a:ln>
            <a:noFill/>
          </a:ln>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ServerSocketChannel</a:t>
            </a:r>
            <a:endParaRPr lang="es-MX" sz="4400" b="0" strike="noStrike" spc="-1">
              <a:latin typeface="Arial"/>
            </a:endParaRPr>
          </a:p>
        </p:txBody>
      </p:sp>
      <p:sp>
        <p:nvSpPr>
          <p:cNvPr id="85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a:t>
            </a:r>
            <a:r>
              <a:rPr lang="en-US" sz="4000" b="0" strike="noStrike" spc="-1">
                <a:solidFill>
                  <a:srgbClr val="000000"/>
                </a:solidFill>
                <a:latin typeface="MoolBoran"/>
                <a:ea typeface="DejaVu Sans"/>
              </a:rPr>
              <a:t>java.nio.channels.ServerSocketChanel</a:t>
            </a:r>
            <a:r>
              <a:rPr lang="en-US" sz="2800" b="0" strike="noStrike" spc="-1">
                <a:solidFill>
                  <a:srgbClr val="000000"/>
                </a:solidFill>
                <a:latin typeface="Calibri"/>
                <a:ea typeface="DejaVu Sans"/>
              </a:rPr>
              <a:t> es un canal seleccionable para sockets TCP pasivos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Viene a ser un envoltorio para un objeto </a:t>
            </a:r>
            <a:r>
              <a:rPr lang="en-US" sz="4000" b="0" strike="noStrike" spc="-1">
                <a:solidFill>
                  <a:srgbClr val="000000"/>
                </a:solidFill>
                <a:latin typeface="MoolBoran"/>
                <a:ea typeface="DejaVu Sans"/>
              </a:rPr>
              <a:t>ServerSocket</a:t>
            </a:r>
            <a:r>
              <a:rPr lang="en-US" sz="2800" b="0" strike="noStrike" spc="-1">
                <a:solidFill>
                  <a:srgbClr val="000000"/>
                </a:solidFill>
                <a:latin typeface="Calibri"/>
                <a:ea typeface="DejaVu Sans"/>
              </a:rPr>
              <a:t>, al cual asocia un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crearlo hay que usar el método </a:t>
            </a:r>
            <a:r>
              <a:rPr lang="en-US" sz="4000" b="0" strike="noStrike" spc="-1">
                <a:solidFill>
                  <a:srgbClr val="000000"/>
                </a:solidFill>
                <a:latin typeface="MoolBoran"/>
                <a:ea typeface="DejaVu Sans"/>
              </a:rPr>
              <a:t>public static</a:t>
            </a:r>
            <a:r>
              <a:rPr lang="en-US" sz="2800" b="0" strike="noStrike" spc="-1">
                <a:solidFill>
                  <a:srgbClr val="000000"/>
                </a:solidFill>
                <a:latin typeface="Calibri"/>
                <a:ea typeface="DejaVu Sans"/>
              </a:rPr>
              <a:t> </a:t>
            </a:r>
            <a:r>
              <a:rPr lang="en-US" sz="4000" b="0" strike="noStrike" spc="-1">
                <a:solidFill>
                  <a:srgbClr val="000000"/>
                </a:solidFill>
                <a:latin typeface="MoolBoran"/>
                <a:ea typeface="DejaVu Sans"/>
              </a:rPr>
              <a:t>ServerSocketChannel open() throws IOException</a:t>
            </a:r>
            <a:endParaRPr lang="es-MX" sz="4000" b="0" strike="noStrike" spc="-1">
              <a:latin typeface="Arial"/>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ServerSocketChannel</a:t>
            </a:r>
            <a:endParaRPr lang="es-MX" sz="4400" b="0" strike="noStrike" spc="-1">
              <a:latin typeface="Arial"/>
            </a:endParaRPr>
          </a:p>
        </p:txBody>
      </p:sp>
      <p:sp>
        <p:nvSpPr>
          <p:cNvPr id="85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a:t>
            </a:r>
            <a:r>
              <a:rPr lang="en-US" sz="4700" b="0" strike="noStrike" spc="-1">
                <a:solidFill>
                  <a:srgbClr val="000000"/>
                </a:solidFill>
                <a:latin typeface="MoolBoran"/>
                <a:ea typeface="DejaVu Sans"/>
              </a:rPr>
              <a:t>ServerSocketChannel</a:t>
            </a:r>
            <a:r>
              <a:rPr lang="en-US" sz="2800" b="0" strike="noStrike" spc="-1">
                <a:solidFill>
                  <a:srgbClr val="000000"/>
                </a:solidFill>
                <a:latin typeface="Calibri"/>
                <a:ea typeface="DejaVu Sans"/>
              </a:rPr>
              <a:t> recién creado no está ligado a ningún puerto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liga se consigue usando el método </a:t>
            </a:r>
            <a:r>
              <a:rPr lang="en-US" sz="5200" b="0" strike="noStrike" spc="-1">
                <a:solidFill>
                  <a:srgbClr val="000000"/>
                </a:solidFill>
                <a:latin typeface="MoolBoran"/>
                <a:ea typeface="DejaVu Sans"/>
              </a:rPr>
              <a:t>bind()</a:t>
            </a:r>
            <a:endParaRPr lang="es-MX" sz="52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5200" b="0" strike="noStrike" spc="-1">
                <a:solidFill>
                  <a:srgbClr val="000000"/>
                </a:solidFill>
                <a:latin typeface="MoolBoran"/>
                <a:ea typeface="DejaVu Sans"/>
              </a:rPr>
              <a:t>socket() </a:t>
            </a:r>
            <a:r>
              <a:rPr lang="en-US" sz="2800" b="0" strike="noStrike" spc="-1">
                <a:solidFill>
                  <a:srgbClr val="000000"/>
                </a:solidFill>
                <a:latin typeface="Calibri"/>
                <a:ea typeface="DejaVu Sans"/>
              </a:rPr>
              <a:t>regresa el socket de servidor asociado al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5200" b="0" strike="noStrike" spc="-1">
                <a:solidFill>
                  <a:srgbClr val="000000"/>
                </a:solidFill>
                <a:latin typeface="MoolBoran"/>
                <a:ea typeface="DejaVu Sans"/>
              </a:rPr>
              <a:t>accept() </a:t>
            </a:r>
            <a:r>
              <a:rPr lang="en-US" sz="2800" b="0" strike="noStrike" spc="-1">
                <a:solidFill>
                  <a:srgbClr val="000000"/>
                </a:solidFill>
                <a:latin typeface="Calibri"/>
                <a:ea typeface="DejaVu Sans"/>
              </a:rPr>
              <a:t>acepta una conexión echa al socket del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5700" b="0" strike="noStrike" spc="-1">
                <a:solidFill>
                  <a:srgbClr val="000000"/>
                </a:solidFill>
                <a:latin typeface="MoolBoran"/>
                <a:ea typeface="DejaVu Sans"/>
              </a:rPr>
              <a:t>configureBlocking(boolean bloqueo</a:t>
            </a:r>
            <a:r>
              <a:rPr lang="en-US" sz="2800" b="0" strike="noStrike" spc="-1">
                <a:solidFill>
                  <a:srgbClr val="000000"/>
                </a:solidFill>
                <a:latin typeface="Calibri"/>
                <a:ea typeface="DejaVu Sans"/>
              </a:rPr>
              <a:t>) estable si el canal se bloquea o no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se configura sin bloque, el método </a:t>
            </a:r>
            <a:r>
              <a:rPr lang="en-US" sz="5700" b="0" strike="noStrike" spc="-1">
                <a:solidFill>
                  <a:srgbClr val="000000"/>
                </a:solidFill>
                <a:latin typeface="MoolBoran"/>
                <a:ea typeface="DejaVu Sans"/>
              </a:rPr>
              <a:t>accept()</a:t>
            </a:r>
            <a:r>
              <a:rPr lang="en-US" sz="2800" b="0" strike="noStrike" spc="-1">
                <a:solidFill>
                  <a:srgbClr val="000000"/>
                </a:solidFill>
                <a:latin typeface="Calibri"/>
                <a:ea typeface="DejaVu Sans"/>
              </a:rPr>
              <a:t> no bloqueará el programa en ejecución hasta que reciba una conexión</a:t>
            </a:r>
            <a:endParaRPr lang="es-MX" sz="2800" b="0" strike="noStrike" spc="-1">
              <a:latin typeface="Arial"/>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5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4000" b="0" strike="noStrike" spc="-1">
                <a:solidFill>
                  <a:srgbClr val="000000"/>
                </a:solidFill>
                <a:latin typeface="MoolBoran"/>
                <a:ea typeface="DejaVu Sans"/>
              </a:rPr>
              <a:t>ServerSocketChannel canalServidor = ServerSocketChannel.open();</a:t>
            </a:r>
            <a:endParaRPr lang="es-MX" sz="4000" b="0" strike="noStrike" spc="-1">
              <a:latin typeface="Arial"/>
            </a:endParaRPr>
          </a:p>
          <a:p>
            <a:pPr>
              <a:lnSpc>
                <a:spcPct val="100000"/>
              </a:lnSpc>
            </a:pPr>
            <a:endParaRPr lang="es-MX" sz="4000" b="0" strike="noStrike" spc="-1">
              <a:latin typeface="Arial"/>
            </a:endParaRPr>
          </a:p>
          <a:p>
            <a:pPr>
              <a:lnSpc>
                <a:spcPct val="100000"/>
              </a:lnSpc>
            </a:pPr>
            <a:r>
              <a:rPr lang="en-US" sz="4000" b="0" strike="noStrike" spc="-1">
                <a:solidFill>
                  <a:srgbClr val="000000"/>
                </a:solidFill>
                <a:latin typeface="MoolBoran"/>
                <a:ea typeface="DejaVu Sans"/>
              </a:rPr>
              <a:t>canalServidor.socket().bind(new InetSocketAddres(“localhost”,9000));</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canalServidor.configureBlocking(false);</a:t>
            </a:r>
            <a:endParaRPr lang="es-MX" sz="4000" b="0" strike="noStrike" spc="-1">
              <a:latin typeface="Arial"/>
            </a:endParaRPr>
          </a:p>
          <a:p>
            <a:pPr>
              <a:lnSpc>
                <a:spcPct val="100000"/>
              </a:lnSpc>
            </a:pPr>
            <a:endParaRPr lang="es-MX" sz="4000" b="0" strike="noStrike" spc="-1">
              <a:latin typeface="Arial"/>
            </a:endParaRPr>
          </a:p>
          <a:p>
            <a:pPr>
              <a:lnSpc>
                <a:spcPct val="100000"/>
              </a:lnSpc>
            </a:pPr>
            <a:r>
              <a:rPr lang="en-US" sz="4000" b="0" strike="noStrike" spc="-1">
                <a:solidFill>
                  <a:srgbClr val="000000"/>
                </a:solidFill>
                <a:latin typeface="MoolBoran"/>
                <a:ea typeface="DejaVu Sans"/>
              </a:rPr>
              <a:t>While(true){</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SocketChannel canalSocket =canalServidor.accept();</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if(canalSocket == null){</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//Continua con su trabajo normal</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}else{</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//Aquí se manejan las conexiones</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a:t>
            </a:r>
            <a:endParaRPr lang="es-MX" sz="4000" b="0" strike="noStrike" spc="-1">
              <a:latin typeface="Arial"/>
            </a:endParaRPr>
          </a:p>
          <a:p>
            <a:pPr>
              <a:lnSpc>
                <a:spcPct val="100000"/>
              </a:lnSpc>
            </a:pPr>
            <a:endParaRPr lang="es-MX" sz="4000" b="0" strike="noStrike" spc="-1">
              <a:latin typeface="Arial"/>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SocketChannel</a:t>
            </a:r>
            <a:endParaRPr lang="es-MX" sz="4400" b="0" strike="noStrike" spc="-1">
              <a:latin typeface="Arial"/>
            </a:endParaRPr>
          </a:p>
        </p:txBody>
      </p:sp>
      <p:sp>
        <p:nvSpPr>
          <p:cNvPr id="86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j</a:t>
            </a:r>
            <a:r>
              <a:rPr lang="en-US" sz="4300" b="0" strike="noStrike" spc="-1">
                <a:solidFill>
                  <a:srgbClr val="000000"/>
                </a:solidFill>
                <a:latin typeface="MoolBoran"/>
                <a:ea typeface="DejaVu Sans"/>
              </a:rPr>
              <a:t>ava.nio.channels.SocketChannel</a:t>
            </a:r>
            <a:r>
              <a:rPr lang="en-US" sz="2800" b="0" strike="noStrike" spc="-1">
                <a:solidFill>
                  <a:srgbClr val="000000"/>
                </a:solidFill>
                <a:latin typeface="Calibri"/>
                <a:ea typeface="DejaVu Sans"/>
              </a:rPr>
              <a:t> es un canal seleccionable para sockets TCP activos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 un envoltorio para un objeto socket , que permite asociarlo a un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objetos de esta clase se crean mediante llamadas al método  estático </a:t>
            </a:r>
            <a:r>
              <a:rPr lang="en-US" sz="4000" b="0" strike="noStrike" spc="-1">
                <a:solidFill>
                  <a:srgbClr val="000000"/>
                </a:solidFill>
                <a:latin typeface="MoolBoran"/>
                <a:ea typeface="DejaVu Sans"/>
              </a:rPr>
              <a:t>open()</a:t>
            </a: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De la misma forma que el canal anterior se puede definir como bloqueante o no bloqueante</a:t>
            </a:r>
            <a:endParaRPr lang="es-MX" sz="2800" b="0" strike="noStrike" spc="-1">
              <a:latin typeface="Arial"/>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6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a:solidFill>
                  <a:srgbClr val="000000"/>
                </a:solidFill>
                <a:latin typeface="MoolBoran"/>
                <a:ea typeface="DejaVu Sans"/>
              </a:rPr>
              <a:t>//Se crea un objeto SocketChannel</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SocketChannel canalSocket = SocketChannel.open();</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//Se conecta usando un objeto InetSocketAddress</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canalSocket.connect(new InetSocketAddres(“localhost”,9000);</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//Se configura sin bloqueo</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canalSocket.configureBlocking(false);</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//Se crea un buffer y se lee del canal</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ByteBuffer buffer = ByteBuffer.allocate(1024);</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Buffer.clear();</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canalSocket.read(buffer);</a:t>
            </a:r>
            <a:endParaRPr lang="es-MX" sz="2400" b="0" strike="noStrike" spc="-1">
              <a:latin typeface="Arial"/>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SelectableChannel</a:t>
            </a:r>
            <a:endParaRPr lang="es-MX" sz="4400" b="0" strike="noStrike" spc="-1">
              <a:latin typeface="Arial"/>
            </a:endParaRPr>
          </a:p>
        </p:txBody>
      </p:sp>
      <p:pic>
        <p:nvPicPr>
          <p:cNvPr id="865" name="Picture 2"/>
          <p:cNvPicPr/>
          <p:nvPr/>
        </p:nvPicPr>
        <p:blipFill>
          <a:blip r:embed="rId2"/>
          <a:stretch/>
        </p:blipFill>
        <p:spPr>
          <a:xfrm>
            <a:off x="2457360" y="2324160"/>
            <a:ext cx="7274880" cy="2207520"/>
          </a:xfrm>
          <a:prstGeom prst="rect">
            <a:avLst/>
          </a:prstGeom>
          <a:ln>
            <a:noFill/>
          </a:ln>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Selector y SelectorKey</a:t>
            </a:r>
            <a:endParaRPr lang="es-MX" sz="4400" b="0" strike="noStrike" spc="-1">
              <a:latin typeface="Arial"/>
            </a:endParaRPr>
          </a:p>
        </p:txBody>
      </p:sp>
      <p:sp>
        <p:nvSpPr>
          <p:cNvPr id="86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a:t>
            </a:r>
            <a:r>
              <a:rPr lang="en-US" sz="4000" b="0" strike="noStrike" spc="-1">
                <a:solidFill>
                  <a:srgbClr val="000000"/>
                </a:solidFill>
                <a:latin typeface="MoolBoran"/>
                <a:ea typeface="DejaVu Sans"/>
              </a:rPr>
              <a:t>java.nio.channels.Selector</a:t>
            </a:r>
            <a:r>
              <a:rPr lang="en-US" sz="2800" b="0" strike="noStrike" spc="-1">
                <a:solidFill>
                  <a:srgbClr val="000000"/>
                </a:solidFill>
                <a:latin typeface="Calibri"/>
                <a:ea typeface="DejaVu Sans"/>
              </a:rPr>
              <a:t> es una de las principales de la API NIO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objeto </a:t>
            </a:r>
            <a:r>
              <a:rPr lang="en-US" sz="2800" b="0" i="1" strike="noStrike" spc="-1">
                <a:solidFill>
                  <a:srgbClr val="000000"/>
                </a:solidFill>
                <a:latin typeface="Calibri"/>
                <a:ea typeface="DejaVu Sans"/>
              </a:rPr>
              <a:t>Selector</a:t>
            </a:r>
            <a:r>
              <a:rPr lang="en-US" sz="2800" b="0" strike="noStrike" spc="-1">
                <a:solidFill>
                  <a:srgbClr val="000000"/>
                </a:solidFill>
                <a:latin typeface="Calibri"/>
                <a:ea typeface="DejaVu Sans"/>
              </a:rPr>
              <a:t> controla una serie de canales y lanza un aviso cuando uno de ellos lanza un suceso 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Selector informa a la aplicación  de las operaciones de E/S que ocurren los canales que están activos</a:t>
            </a:r>
            <a:endParaRPr lang="es-MX" sz="2800" b="0" strike="noStrike" spc="-1">
              <a:latin typeface="Arial"/>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Selector y SelectorKey</a:t>
            </a:r>
            <a:endParaRPr lang="es-MX" sz="4400" b="0" strike="noStrike" spc="-1">
              <a:latin typeface="Arial"/>
            </a:endParaRPr>
          </a:p>
        </p:txBody>
      </p:sp>
      <p:sp>
        <p:nvSpPr>
          <p:cNvPr id="86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información sobre las operaciones de E/S se registra en un conjunto de claves, que son instancias de la clase </a:t>
            </a:r>
            <a:r>
              <a:rPr lang="en-US" sz="2800" b="0" i="1" strike="noStrike" spc="-1">
                <a:solidFill>
                  <a:srgbClr val="000000"/>
                </a:solidFill>
                <a:latin typeface="Calibri"/>
                <a:ea typeface="DejaVu Sans"/>
              </a:rPr>
              <a:t>SelectorKey</a:t>
            </a:r>
            <a:r>
              <a:rPr lang="en-US" sz="2800" b="0" strike="noStrike" spc="-1">
                <a:solidFill>
                  <a:srgbClr val="000000"/>
                </a:solidFill>
                <a:latin typeface="Calibri"/>
                <a:ea typeface="DejaVu Sans"/>
              </a:rPr>
              <a:t>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Cada clave almacena información sobre el canal que desencadena  la operación y el tipo de ella (lectura, escritura, conexión entrante, conexión aceptada)</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la clase </a:t>
            </a:r>
            <a:r>
              <a:rPr lang="en-US" sz="2800" b="0" i="1" strike="noStrike" spc="-1">
                <a:solidFill>
                  <a:srgbClr val="000000"/>
                </a:solidFill>
                <a:latin typeface="Calibri"/>
                <a:ea typeface="DejaVu Sans"/>
              </a:rPr>
              <a:t>Selector</a:t>
            </a:r>
            <a:r>
              <a:rPr lang="en-US" sz="2800" b="0" strike="noStrike" spc="-1">
                <a:solidFill>
                  <a:srgbClr val="000000"/>
                </a:solidFill>
                <a:latin typeface="Calibri"/>
                <a:ea typeface="DejaVu Sans"/>
              </a:rPr>
              <a:t>, las instancias se crean con el método estático open()</a:t>
            </a:r>
            <a:endParaRPr lang="es-MX" sz="2800" b="0" strike="noStrike" spc="-1">
              <a:latin typeface="Arial"/>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 select()</a:t>
            </a:r>
            <a:endParaRPr lang="es-MX" sz="4400" b="0" strike="noStrike" spc="-1">
              <a:latin typeface="Arial"/>
            </a:endParaRPr>
          </a:p>
        </p:txBody>
      </p:sp>
      <p:sp>
        <p:nvSpPr>
          <p:cNvPr id="87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4400" b="0" strike="noStrike" spc="-1">
                <a:solidFill>
                  <a:srgbClr val="000000"/>
                </a:solidFill>
                <a:latin typeface="MoolBoran"/>
                <a:ea typeface="DejaVu Sans"/>
              </a:rPr>
              <a:t>select()</a:t>
            </a:r>
            <a:r>
              <a:rPr lang="en-US" sz="2800" b="0" strike="noStrike" spc="-1">
                <a:solidFill>
                  <a:srgbClr val="000000"/>
                </a:solidFill>
                <a:latin typeface="Calibri"/>
                <a:ea typeface="DejaVu Sans"/>
              </a:rPr>
              <a:t> bloquea el programa hasta que algún canal recibe datos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Su origen proviene de una llamada al sistema operativo UNIX, aunque mucho menos engorroso que en C</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 una sola llamada a </a:t>
            </a:r>
            <a:r>
              <a:rPr lang="en-US" sz="4400" b="0" strike="noStrike" spc="-1">
                <a:solidFill>
                  <a:srgbClr val="000000"/>
                </a:solidFill>
                <a:latin typeface="MoolBoran"/>
                <a:ea typeface="DejaVu Sans"/>
              </a:rPr>
              <a:t>select() </a:t>
            </a:r>
            <a:r>
              <a:rPr lang="en-US" sz="2800" b="0" strike="noStrike" spc="-1">
                <a:solidFill>
                  <a:srgbClr val="000000"/>
                </a:solidFill>
                <a:latin typeface="Calibri"/>
                <a:ea typeface="DejaVu Sans"/>
              </a:rPr>
              <a:t>se espera simultáneamente a todas las entradas de los clientes</a:t>
            </a:r>
            <a:endParaRPr lang="es-MX" sz="2800" b="0" strike="noStrike" spc="-1">
              <a:latin typeface="Arial"/>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7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000000"/>
                </a:solidFill>
                <a:latin typeface="MoolBoran"/>
                <a:ea typeface="DejaVu Sans"/>
              </a:rPr>
              <a:t>//Se obtiene una dirección de socket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InetSocketAddres dir = new InetSocketAddres(“localhost”,9000);</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 crea el canal</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ServerSocketChannel canalServer = ServerSocketChannel.open();</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canalServer.configureBlocking(false);</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canalServer.socket().bind(dir);</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 crea un objeto Selector</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Selector selector = Selector.open();</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 registra el canal con el selector para que esté al tanto de lo que ocurre</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canalServer.register(selector, SelectionKey.OP_CONNECT | SelectionKey.OP_READ </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|SelectionKey.OP_WRITE);</a:t>
            </a:r>
            <a:endParaRPr lang="es-MX" sz="2000" b="0" strike="noStrike" spc="-1">
              <a:latin typeface="Arial"/>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Selector</a:t>
            </a:r>
            <a:endParaRPr lang="es-MX" sz="4400" b="0" strike="noStrike" spc="-1">
              <a:latin typeface="Arial"/>
            </a:endParaRPr>
          </a:p>
        </p:txBody>
      </p:sp>
      <p:sp>
        <p:nvSpPr>
          <p:cNvPr id="87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poder saber que suceso de E/S de los que estamos interesados ocurre, es necesario registrar el canal con un selector y especificar el tipo o tipos de sucesos de interés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clase es seleccionable si puede registrarse con un selector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Todos los canales que descienden  de la clase </a:t>
            </a:r>
            <a:r>
              <a:rPr lang="en-US" sz="2800" b="0" i="1" strike="noStrike" spc="-1">
                <a:solidFill>
                  <a:srgbClr val="000000"/>
                </a:solidFill>
                <a:latin typeface="Calibri"/>
                <a:ea typeface="DejaVu Sans"/>
              </a:rPr>
              <a:t>SelectableChanne</a:t>
            </a:r>
            <a:r>
              <a:rPr lang="en-US" sz="2800" b="0" strike="noStrike" spc="-1">
                <a:solidFill>
                  <a:srgbClr val="000000"/>
                </a:solidFill>
                <a:latin typeface="Calibri"/>
                <a:ea typeface="DejaVu Sans"/>
              </a:rPr>
              <a:t>l son seleccionables</a:t>
            </a:r>
            <a:endParaRPr lang="es-MX" sz="2800" b="0" strike="noStrike" spc="-1">
              <a:latin typeface="Arial"/>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Sucesos de un selector</a:t>
            </a:r>
            <a:endParaRPr lang="es-MX" sz="4400" b="0" strike="noStrike" spc="-1">
              <a:latin typeface="Arial"/>
            </a:endParaRPr>
          </a:p>
        </p:txBody>
      </p:sp>
      <p:sp>
        <p:nvSpPr>
          <p:cNvPr id="87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sucesos que se pueden registrar mediante un selector se especifican con las siguientes constantes enteras:</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SelectionKey.OP_READ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SelectionKey.OP_WRITE</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SelectionKey.OP_ACCEPT</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SelectionKey.OP_CONNECT</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Distintos canales pueden registrarse para diversos sucesos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De ahí que se diga que un conjunto de canales se multiplexa con un selector</a:t>
            </a:r>
            <a:endParaRPr lang="es-MX" sz="2800" b="0" strike="noStrike" spc="-1">
              <a:latin typeface="Arial"/>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Multiplexación de canales</a:t>
            </a:r>
            <a:endParaRPr lang="es-MX" sz="4400" b="0" strike="noStrike" spc="-1">
              <a:latin typeface="Arial"/>
            </a:endParaRPr>
          </a:p>
        </p:txBody>
      </p:sp>
      <p:pic>
        <p:nvPicPr>
          <p:cNvPr id="879" name="Picture 2"/>
          <p:cNvPicPr/>
          <p:nvPr/>
        </p:nvPicPr>
        <p:blipFill>
          <a:blip r:embed="rId2"/>
          <a:stretch/>
        </p:blipFill>
        <p:spPr>
          <a:xfrm>
            <a:off x="2855520" y="1484640"/>
            <a:ext cx="6122520" cy="5017680"/>
          </a:xfrm>
          <a:prstGeom prst="rect">
            <a:avLst/>
          </a:prstGeom>
          <a:ln>
            <a:noFill/>
          </a:ln>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Interfaz Iterator</a:t>
            </a:r>
            <a:endParaRPr lang="es-MX" sz="4400" b="0" strike="noStrike" spc="-1">
              <a:latin typeface="Arial"/>
            </a:endParaRPr>
          </a:p>
        </p:txBody>
      </p:sp>
      <p:sp>
        <p:nvSpPr>
          <p:cNvPr id="88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interfaz </a:t>
            </a:r>
            <a:r>
              <a:rPr lang="en-US" sz="2800" b="0" i="1" strike="noStrike" spc="-1">
                <a:solidFill>
                  <a:srgbClr val="000000"/>
                </a:solidFill>
                <a:latin typeface="Calibri"/>
                <a:ea typeface="DejaVu Sans"/>
              </a:rPr>
              <a:t>Iterator</a:t>
            </a:r>
            <a:r>
              <a:rPr lang="en-US" sz="2800" b="0" strike="noStrike" spc="-1">
                <a:solidFill>
                  <a:srgbClr val="000000"/>
                </a:solidFill>
                <a:latin typeface="Calibri"/>
                <a:ea typeface="DejaVu Sans"/>
              </a:rPr>
              <a:t> se encuentra en </a:t>
            </a:r>
            <a:r>
              <a:rPr lang="en-US" sz="4000" b="0" strike="noStrike" spc="-1">
                <a:solidFill>
                  <a:srgbClr val="000000"/>
                </a:solidFill>
                <a:latin typeface="MoolBoran"/>
                <a:ea typeface="DejaVu Sans"/>
              </a:rPr>
              <a:t>java.lang</a:t>
            </a: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Implementar Iterable tan solo obliga a sobrescribir el método </a:t>
            </a:r>
            <a:r>
              <a:rPr lang="en-US" sz="4300" b="0" strike="noStrike" spc="-1">
                <a:solidFill>
                  <a:srgbClr val="000000"/>
                </a:solidFill>
                <a:latin typeface="MoolBoran"/>
                <a:ea typeface="DejaVu Sans"/>
              </a:rPr>
              <a:t>iterator()</a:t>
            </a:r>
            <a:endParaRPr lang="es-MX" sz="43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Iterator es un tipo abstracto definido por la interfaz </a:t>
            </a:r>
            <a:r>
              <a:rPr lang="en-US" sz="2800" b="0" i="1" strike="noStrike" spc="-1">
                <a:solidFill>
                  <a:srgbClr val="000000"/>
                </a:solidFill>
                <a:latin typeface="Calibri"/>
                <a:ea typeface="DejaVu Sans"/>
              </a:rPr>
              <a:t>List</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 puede ser instanciado porque carece de constructor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puede definir un objeto si se instancia en una clase que implemente la interface</a:t>
            </a:r>
            <a:endParaRPr lang="es-MX" sz="2800" b="0" strike="noStrike" spc="-1">
              <a:latin typeface="Arial"/>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8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Erroneo:</a:t>
            </a:r>
            <a:endParaRPr lang="es-MX" sz="2800" b="0" strike="noStrike" spc="-1">
              <a:latin typeface="Arial"/>
            </a:endParaRPr>
          </a:p>
          <a:p>
            <a:pPr>
              <a:lnSpc>
                <a:spcPct val="100000"/>
              </a:lnSpc>
            </a:pPr>
            <a:r>
              <a:rPr lang="en-US" sz="2400" b="0" strike="noStrike" spc="-1">
                <a:solidFill>
                  <a:srgbClr val="000000"/>
                </a:solidFill>
                <a:latin typeface="MoolBoran"/>
                <a:ea typeface="DejaVu Sans"/>
              </a:rPr>
              <a:t>Iterator &lt;SelectionKey&gt; selecciones =  new Iterator &lt;SelectionKey&gt;();</a:t>
            </a:r>
            <a:endParaRPr lang="es-MX" sz="2400" b="0" strike="noStrike" spc="-1">
              <a:latin typeface="Arial"/>
            </a:endParaRPr>
          </a:p>
          <a:p>
            <a:pPr marL="216000" indent="-214920">
              <a:lnSpc>
                <a:spcPct val="100000"/>
              </a:lnSpc>
              <a:buClr>
                <a:srgbClr val="000000"/>
              </a:buClr>
              <a:buFont typeface="Arial"/>
              <a:buChar char="•"/>
            </a:pPr>
            <a:r>
              <a:rPr lang="en-US" sz="2800" b="0" strike="noStrike" spc="-1">
                <a:solidFill>
                  <a:srgbClr val="000000"/>
                </a:solidFill>
                <a:latin typeface="Calibri"/>
                <a:ea typeface="DejaVu Sans"/>
              </a:rPr>
              <a:t>Correcto:</a:t>
            </a:r>
            <a:endParaRPr lang="es-MX" sz="2800" b="0" strike="noStrike" spc="-1">
              <a:latin typeface="Arial"/>
            </a:endParaRPr>
          </a:p>
          <a:p>
            <a:pPr>
              <a:lnSpc>
                <a:spcPct val="100000"/>
              </a:lnSpc>
            </a:pPr>
            <a:r>
              <a:rPr lang="en-US" sz="2400" b="0" strike="noStrike" spc="-1">
                <a:solidFill>
                  <a:srgbClr val="000000"/>
                </a:solidFill>
                <a:latin typeface="Calibri"/>
                <a:ea typeface="DejaVu Sans"/>
              </a:rPr>
              <a:t> </a:t>
            </a:r>
            <a:r>
              <a:rPr lang="en-US" sz="2400" b="0" strike="noStrike" spc="-1">
                <a:solidFill>
                  <a:srgbClr val="000000"/>
                </a:solidFill>
                <a:latin typeface="MoolBoran"/>
                <a:ea typeface="DejaVu Sans"/>
              </a:rPr>
              <a:t>Iterator &lt;SelectionKey&gt;it =  selector.selectedKey().iterator();</a:t>
            </a:r>
            <a:endParaRPr lang="es-MX" sz="2400" b="0" strike="noStrike" spc="-1">
              <a:latin typeface="Arial"/>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Sockets orientados a conexión no bloqueantes en C</a:t>
            </a:r>
            <a:endParaRPr lang="es-MX" sz="6000" b="0" strike="noStrike" spc="-1">
              <a:latin typeface="Arial"/>
            </a:endParaRPr>
          </a:p>
        </p:txBody>
      </p:sp>
      <p:sp>
        <p:nvSpPr>
          <p:cNvPr id="885"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fcntl() y el polling</a:t>
            </a:r>
            <a:endParaRPr lang="es-MX" sz="4400" b="0" strike="noStrike" spc="-1">
              <a:latin typeface="Arial"/>
            </a:endParaRPr>
          </a:p>
        </p:txBody>
      </p:sp>
      <p:sp>
        <p:nvSpPr>
          <p:cNvPr id="88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fcntl() </a:t>
            </a:r>
            <a:r>
              <a:rPr lang="en-US" sz="2800" b="0" strike="noStrike" spc="-1">
                <a:solidFill>
                  <a:srgbClr val="000000"/>
                </a:solidFill>
                <a:latin typeface="Calibri"/>
                <a:ea typeface="DejaVu Sans"/>
              </a:rPr>
              <a:t>es una función  que permite realizar diferentes operaciones sobre descriptores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prototipo de la función es:</a:t>
            </a:r>
            <a:endParaRPr lang="es-MX" sz="2800" b="0" strike="noStrike" spc="-1">
              <a:latin typeface="Arial"/>
            </a:endParaRPr>
          </a:p>
          <a:p>
            <a:pPr>
              <a:lnSpc>
                <a:spcPct val="100000"/>
              </a:lnSpc>
            </a:pPr>
            <a:r>
              <a:rPr lang="en-US" sz="3600" b="0" strike="noStrike" spc="-1">
                <a:solidFill>
                  <a:srgbClr val="000000"/>
                </a:solidFill>
                <a:latin typeface="MoolBoran"/>
                <a:ea typeface="DejaVu Sans"/>
              </a:rPr>
              <a:t>#include &lt;fcntl.h&gt;</a:t>
            </a:r>
            <a:endParaRPr lang="es-MX" sz="3600" b="0" strike="noStrike" spc="-1">
              <a:latin typeface="Arial"/>
            </a:endParaRPr>
          </a:p>
          <a:p>
            <a:pPr>
              <a:lnSpc>
                <a:spcPct val="100000"/>
              </a:lnSpc>
            </a:pPr>
            <a:r>
              <a:rPr lang="en-US" sz="3600" b="0" strike="noStrike" spc="-1">
                <a:solidFill>
                  <a:srgbClr val="000000"/>
                </a:solidFill>
                <a:latin typeface="MoolBoran"/>
                <a:ea typeface="DejaVu Sans"/>
              </a:rPr>
              <a:t>int fcntl(int fd, int cmd, /*int arg*/)</a:t>
            </a:r>
            <a:endParaRPr lang="es-MX" sz="3600" b="0" strike="noStrike" spc="-1">
              <a:latin typeface="Arial"/>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fcntl() y el polling</a:t>
            </a:r>
            <a:endParaRPr lang="es-MX" sz="4400" b="0" strike="noStrike" spc="-1">
              <a:latin typeface="Arial"/>
            </a:endParaRPr>
          </a:p>
        </p:txBody>
      </p:sp>
      <p:sp>
        <p:nvSpPr>
          <p:cNvPr id="88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Cada descriptor tiene asociado una serie de banderas que nos permite obtener información de dicho descriptor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obtener el valor de las banderas se hace una llamada a </a:t>
            </a:r>
            <a:r>
              <a:rPr lang="en-US" sz="4000" b="0" strike="noStrike" spc="-1">
                <a:solidFill>
                  <a:srgbClr val="000000"/>
                </a:solidFill>
                <a:latin typeface="MoolBoran"/>
                <a:ea typeface="DejaVu Sans"/>
              </a:rPr>
              <a:t>fcntl()</a:t>
            </a:r>
            <a:r>
              <a:rPr lang="en-US" sz="4000" b="0" strike="noStrike" spc="-1">
                <a:solidFill>
                  <a:srgbClr val="000000"/>
                </a:solidFill>
                <a:latin typeface="Calibri"/>
                <a:ea typeface="DejaVu Sans"/>
              </a:rPr>
              <a:t> </a:t>
            </a:r>
            <a:r>
              <a:rPr lang="en-US" sz="2800" b="0" strike="noStrike" spc="-1">
                <a:solidFill>
                  <a:srgbClr val="000000"/>
                </a:solidFill>
                <a:latin typeface="Calibri"/>
                <a:ea typeface="DejaVu Sans"/>
              </a:rPr>
              <a:t>con el segundo parámetro con valor </a:t>
            </a:r>
            <a:r>
              <a:rPr lang="en-US" sz="4000" b="0" strike="noStrike" spc="-1">
                <a:solidFill>
                  <a:srgbClr val="000000"/>
                </a:solidFill>
                <a:latin typeface="MoolBoran"/>
                <a:ea typeface="DejaVu Sans"/>
              </a:rPr>
              <a:t>F_GETFL</a:t>
            </a: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queremos modificar el valor de una bandera se pasa como segundo parámetro </a:t>
            </a:r>
            <a:r>
              <a:rPr lang="en-US" sz="4000" b="0" strike="noStrike" spc="-1">
                <a:solidFill>
                  <a:srgbClr val="000000"/>
                </a:solidFill>
                <a:latin typeface="MoolBoran"/>
                <a:ea typeface="DejaVu Sans"/>
              </a:rPr>
              <a:t>F_SETFL</a:t>
            </a:r>
            <a:endParaRPr lang="es-MX" sz="4000" b="0" strike="noStrike" spc="-1">
              <a:latin typeface="Arial"/>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fcntl() y el polling</a:t>
            </a:r>
            <a:endParaRPr lang="es-MX" sz="4400" b="0" strike="noStrike" spc="-1">
              <a:latin typeface="Arial"/>
            </a:endParaRPr>
          </a:p>
        </p:txBody>
      </p:sp>
      <p:sp>
        <p:nvSpPr>
          <p:cNvPr id="89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hacer que un socket sea no bloqueante hay que activar la bandera </a:t>
            </a:r>
            <a:r>
              <a:rPr lang="en-US" sz="4000" b="0" strike="noStrike" spc="-1">
                <a:solidFill>
                  <a:srgbClr val="000000"/>
                </a:solidFill>
                <a:latin typeface="MoolBoran"/>
                <a:ea typeface="DejaVu Sans"/>
              </a:rPr>
              <a:t>O_NONBLOCK</a:t>
            </a:r>
            <a:endParaRPr lang="es-MX" sz="4000" b="0" strike="noStrike" spc="-1">
              <a:latin typeface="Arial"/>
            </a:endParaRPr>
          </a:p>
          <a:p>
            <a:pPr>
              <a:lnSpc>
                <a:spcPct val="100000"/>
              </a:lnSpc>
            </a:pPr>
            <a:r>
              <a:rPr lang="en-US" sz="2000" b="0" strike="noStrike" spc="-1">
                <a:solidFill>
                  <a:srgbClr val="000000"/>
                </a:solidFill>
                <a:latin typeface="MoolBoran"/>
                <a:ea typeface="DejaVu Sans"/>
              </a:rPr>
              <a:t>if(fcntl(sd, F_SETFL, O_NONBLOCK) &lt; 0)</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perror(“fcntl: no se puede fijar operación no bloqueante”);</a:t>
            </a:r>
            <a:endParaRPr lang="es-MX" sz="2000" b="0" strike="noStrike" spc="-1">
              <a:latin typeface="Arial"/>
            </a:endParaRPr>
          </a:p>
          <a:p>
            <a:pPr marL="216000" indent="-214920">
              <a:lnSpc>
                <a:spcPct val="100000"/>
              </a:lnSpc>
              <a:buClr>
                <a:srgbClr val="000000"/>
              </a:buClr>
              <a:buFont typeface="Arial"/>
              <a:buChar char="•"/>
            </a:pPr>
            <a:r>
              <a:rPr lang="en-US" sz="2800" b="0" strike="noStrike" spc="-1">
                <a:solidFill>
                  <a:srgbClr val="000000"/>
                </a:solidFill>
                <a:latin typeface="Calibri"/>
                <a:ea typeface="DejaVu Sans"/>
              </a:rPr>
              <a:t>Ahora, cuando se realice una operación de lectura o escritura en un socket y no se pueda completar, la función regresará un valor de -1 y se asignara el valor de </a:t>
            </a:r>
            <a:r>
              <a:rPr lang="en-US" sz="4000" b="0" strike="noStrike" spc="-1">
                <a:solidFill>
                  <a:srgbClr val="000000"/>
                </a:solidFill>
                <a:latin typeface="MoolBoran"/>
                <a:ea typeface="DejaVu Sans"/>
              </a:rPr>
              <a:t>EWOULDBLOCK</a:t>
            </a:r>
            <a:r>
              <a:rPr lang="en-US" sz="2800" b="0" strike="noStrike" spc="-1">
                <a:solidFill>
                  <a:srgbClr val="000000"/>
                </a:solidFill>
                <a:latin typeface="Calibri"/>
                <a:ea typeface="DejaVu Sans"/>
              </a:rPr>
              <a:t> a la variable </a:t>
            </a:r>
            <a:r>
              <a:rPr lang="en-US" sz="2800" b="0" i="1" strike="noStrike" spc="-1">
                <a:solidFill>
                  <a:srgbClr val="000000"/>
                </a:solidFill>
                <a:latin typeface="Calibri"/>
                <a:ea typeface="DejaVu Sans"/>
              </a:rPr>
              <a:t>errno</a:t>
            </a:r>
            <a:endParaRPr lang="es-MX" sz="2800" b="0" strike="noStrike" spc="-1">
              <a:latin typeface="Arial"/>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 sincronía usando señales</a:t>
            </a:r>
            <a:endParaRPr lang="es-MX" sz="4400" b="0" strike="noStrike" spc="-1">
              <a:latin typeface="Arial"/>
            </a:endParaRPr>
          </a:p>
        </p:txBody>
      </p:sp>
      <p:sp>
        <p:nvSpPr>
          <p:cNvPr id="89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señal </a:t>
            </a:r>
            <a:r>
              <a:rPr lang="en-US" sz="2800" b="0" i="1" strike="noStrike" spc="-1">
                <a:solidFill>
                  <a:srgbClr val="000000"/>
                </a:solidFill>
                <a:latin typeface="Calibri"/>
                <a:ea typeface="DejaVu Sans"/>
              </a:rPr>
              <a:t>SIGIO</a:t>
            </a:r>
            <a:r>
              <a:rPr lang="en-US" sz="2800" b="0" strike="noStrike" spc="-1">
                <a:solidFill>
                  <a:srgbClr val="000000"/>
                </a:solidFill>
                <a:latin typeface="Calibri"/>
                <a:ea typeface="DejaVu Sans"/>
              </a:rPr>
              <a:t> se genera cuando cambia el estado de un socket, por ejemplo:</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Existen nuevos datos en el buffer o se ha liberado espacio</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Hay nuevas solicitudes de conexión</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que el socket genere la señal SIGIO debemos de modificar la bandera </a:t>
            </a:r>
            <a:r>
              <a:rPr lang="en-US" sz="3800" b="0" strike="noStrike" spc="-1">
                <a:solidFill>
                  <a:srgbClr val="000000"/>
                </a:solidFill>
                <a:latin typeface="MoolBoran"/>
                <a:ea typeface="DejaVu Sans"/>
              </a:rPr>
              <a:t>O_ASYNC</a:t>
            </a:r>
            <a:endParaRPr lang="es-MX" sz="3800" b="0" strike="noStrike" spc="-1">
              <a:latin typeface="Arial"/>
            </a:endParaRPr>
          </a:p>
          <a:p>
            <a:pPr>
              <a:lnSpc>
                <a:spcPct val="100000"/>
              </a:lnSpc>
            </a:pPr>
            <a:r>
              <a:rPr lang="en-US" sz="2000" b="0" strike="noStrike" spc="-1">
                <a:solidFill>
                  <a:srgbClr val="000000"/>
                </a:solidFill>
                <a:latin typeface="MoolBoran"/>
                <a:ea typeface="DejaVu Sans"/>
              </a:rPr>
              <a:t>if(fcntl(sd, F_SETFL, O_ASYNC | O_NONBLOCK) &lt; 0)</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perror(“Error en el fcntl”);</a:t>
            </a:r>
            <a:endParaRPr lang="es-MX" sz="2000" b="0" strike="noStrike" spc="-1">
              <a:latin typeface="Arial"/>
            </a:endParaRPr>
          </a:p>
          <a:p>
            <a:pPr marL="216000" indent="-214920">
              <a:lnSpc>
                <a:spcPct val="100000"/>
              </a:lnSpc>
              <a:buClr>
                <a:srgbClr val="000000"/>
              </a:buClr>
              <a:buFont typeface="Arial"/>
              <a:buChar char="•"/>
            </a:pPr>
            <a:r>
              <a:rPr lang="en-US" sz="2800" b="0" strike="noStrike" spc="-1">
                <a:solidFill>
                  <a:srgbClr val="000000"/>
                </a:solidFill>
                <a:latin typeface="Calibri"/>
                <a:ea typeface="DejaVu Sans"/>
              </a:rPr>
              <a:t>Los mecanismos asíncronos utilizan esta señal para saber cuando están listos los datos en un socket</a:t>
            </a:r>
            <a:endParaRPr lang="es-MX" sz="2800" b="0" strike="noStrike" spc="-1">
              <a:latin typeface="Arial"/>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a:t>
            </a:r>
            <a:endParaRPr lang="es-MX" sz="4400" b="0" strike="noStrike" spc="-1">
              <a:latin typeface="Arial"/>
            </a:endParaRPr>
          </a:p>
        </p:txBody>
      </p:sp>
      <p:sp>
        <p:nvSpPr>
          <p:cNvPr id="89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Esta función te permite comprobar varios sockets al mismo tiempo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Te da información sobre los sockets del tipo:</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Listo para leer</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Listo para escribir</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A ocurrido una excepción</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función comprueba conjuntos de descriptores de fichero</a:t>
            </a:r>
            <a:endParaRPr lang="es-MX" sz="2800" b="0" strike="noStrike" spc="-1">
              <a:latin typeface="Arial"/>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Prototipo de select</a:t>
            </a:r>
            <a:endParaRPr lang="es-MX" sz="4400" b="0" strike="noStrike" spc="-1">
              <a:latin typeface="Arial"/>
            </a:endParaRPr>
          </a:p>
        </p:txBody>
      </p:sp>
      <p:sp>
        <p:nvSpPr>
          <p:cNvPr id="89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Prototipo:</a:t>
            </a:r>
            <a:endParaRPr lang="es-MX" sz="2800" b="0" strike="noStrike" spc="-1">
              <a:latin typeface="Arial"/>
            </a:endParaRPr>
          </a:p>
          <a:p>
            <a:pPr>
              <a:lnSpc>
                <a:spcPct val="100000"/>
              </a:lnSpc>
            </a:pPr>
            <a:r>
              <a:rPr lang="en-US" sz="2000" b="0" strike="noStrike" spc="-1">
                <a:solidFill>
                  <a:srgbClr val="000000"/>
                </a:solidFill>
                <a:latin typeface="MoolBoran"/>
                <a:ea typeface="DejaVu Sans"/>
              </a:rPr>
              <a:t>#include &lt;sys/time.h&gt;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#include &lt;sys/types.h&gt;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#include &lt;unistd.h&gt;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int select(int numfds, fd_set *readfds, fd_set *writefds, fd_set *exceptfds, struct timeval *timeout)</a:t>
            </a:r>
            <a:endParaRPr lang="es-MX" sz="2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Donde:</a:t>
            </a:r>
            <a:endParaRPr lang="es-MX" sz="28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numfds</a:t>
            </a:r>
            <a:r>
              <a:rPr lang="en-US" sz="2000" b="0" strike="noStrike" spc="-1">
                <a:solidFill>
                  <a:srgbClr val="000000"/>
                </a:solidFill>
                <a:latin typeface="Calibri"/>
                <a:ea typeface="DejaVu Sans"/>
              </a:rPr>
              <a:t> debe de tener el mayor número de descriptor mas uno</a:t>
            </a:r>
            <a:endParaRPr lang="es-MX" sz="20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readfds</a:t>
            </a:r>
            <a:r>
              <a:rPr lang="en-US" sz="2000" b="0" strike="noStrike" spc="-1">
                <a:solidFill>
                  <a:srgbClr val="000000"/>
                </a:solidFill>
                <a:latin typeface="Calibri"/>
                <a:ea typeface="DejaVu Sans"/>
              </a:rPr>
              <a:t> es el conjunto de descriptores de lectura</a:t>
            </a:r>
            <a:endParaRPr lang="es-MX" sz="20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writefds</a:t>
            </a:r>
            <a:r>
              <a:rPr lang="en-US" sz="2000" b="0" strike="noStrike" spc="-1">
                <a:solidFill>
                  <a:srgbClr val="000000"/>
                </a:solidFill>
                <a:latin typeface="Calibri"/>
                <a:ea typeface="DejaVu Sans"/>
              </a:rPr>
              <a:t> es el conjunto de descriptores de escritura</a:t>
            </a:r>
            <a:endParaRPr lang="es-MX" sz="20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exceptfds</a:t>
            </a:r>
            <a:r>
              <a:rPr lang="en-US" sz="2000" b="0" strike="noStrike" spc="-1">
                <a:solidFill>
                  <a:srgbClr val="000000"/>
                </a:solidFill>
                <a:latin typeface="Calibri"/>
                <a:ea typeface="DejaVu Sans"/>
              </a:rPr>
              <a:t> es el conjunto de descriptores de excepciones</a:t>
            </a:r>
            <a:endParaRPr lang="es-MX" sz="2000" b="0" strike="noStrike" spc="-1">
              <a:latin typeface="Arial"/>
            </a:endParaRPr>
          </a:p>
          <a:p>
            <a:pPr>
              <a:lnSpc>
                <a:spcPct val="100000"/>
              </a:lnSpc>
            </a:pPr>
            <a:endParaRPr lang="es-MX" sz="2000" b="0" strike="noStrike" spc="-1">
              <a:latin typeface="Arial"/>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a:t>
            </a:r>
            <a:endParaRPr lang="es-MX" sz="4400" b="0" strike="noStrike" spc="-1">
              <a:latin typeface="Arial"/>
            </a:endParaRPr>
          </a:p>
        </p:txBody>
      </p:sp>
      <p:sp>
        <p:nvSpPr>
          <p:cNvPr id="89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se quiere saber si se puede leer desde un socket se agrega este al conjunto </a:t>
            </a:r>
            <a:r>
              <a:rPr lang="en-US" sz="2800" b="0" i="1" strike="noStrike" spc="-1">
                <a:solidFill>
                  <a:srgbClr val="000000"/>
                </a:solidFill>
                <a:latin typeface="Calibri"/>
                <a:ea typeface="DejaVu Sans"/>
              </a:rPr>
              <a:t>readfds</a:t>
            </a:r>
            <a:r>
              <a:rPr lang="en-US" sz="2800" b="0" strike="noStrike" spc="-1">
                <a:solidFill>
                  <a:srgbClr val="000000"/>
                </a:solidFill>
                <a:latin typeface="Calibri"/>
                <a:ea typeface="DejaVu Sans"/>
              </a:rPr>
              <a:t>, si se quiere saber si se escribió en un socket se agrega a </a:t>
            </a:r>
            <a:r>
              <a:rPr lang="en-US" sz="2800" b="0" i="1" strike="noStrike" spc="-1">
                <a:solidFill>
                  <a:srgbClr val="000000"/>
                </a:solidFill>
                <a:latin typeface="Calibri"/>
                <a:ea typeface="DejaVu Sans"/>
              </a:rPr>
              <a:t>writefds</a:t>
            </a:r>
            <a:r>
              <a:rPr lang="en-US" sz="2800" b="0" strike="noStrike" spc="-1">
                <a:solidFill>
                  <a:srgbClr val="000000"/>
                </a:solidFill>
                <a:latin typeface="Calibri"/>
                <a:ea typeface="DejaVu Sans"/>
              </a:rPr>
              <a:t> y de igual forma con las excepciones usando </a:t>
            </a:r>
            <a:r>
              <a:rPr lang="en-US" sz="2800" b="0" i="1" strike="noStrike" spc="-1">
                <a:solidFill>
                  <a:srgbClr val="000000"/>
                </a:solidFill>
                <a:latin typeface="Calibri"/>
                <a:ea typeface="DejaVu Sans"/>
              </a:rPr>
              <a:t>excepfds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poder hacerlo se usan las siguientes macros:</a:t>
            </a:r>
            <a:endParaRPr lang="es-MX" sz="2800" b="0" strike="noStrike" spc="-1">
              <a:latin typeface="Arial"/>
            </a:endParaRPr>
          </a:p>
          <a:p>
            <a:pPr marL="457200" lvl="1" indent="-214920">
              <a:lnSpc>
                <a:spcPct val="100000"/>
              </a:lnSpc>
              <a:buClr>
                <a:srgbClr val="000000"/>
              </a:buClr>
              <a:buFont typeface="Arial"/>
              <a:buChar char="•"/>
            </a:pPr>
            <a:r>
              <a:rPr lang="en-US" sz="3800" b="0" strike="noStrike" spc="-1">
                <a:solidFill>
                  <a:srgbClr val="000000"/>
                </a:solidFill>
                <a:latin typeface="MoolBoran"/>
                <a:ea typeface="DejaVu Sans"/>
              </a:rPr>
              <a:t>FD_ZERO (fd_set *set)</a:t>
            </a:r>
            <a:r>
              <a:rPr lang="en-US" sz="2400" b="0" strike="noStrike" spc="-1">
                <a:solidFill>
                  <a:srgbClr val="000000"/>
                </a:solidFill>
                <a:latin typeface="Calibri"/>
                <a:ea typeface="DejaVu Sans"/>
              </a:rPr>
              <a:t>; borra un conjunto de descriptores</a:t>
            </a:r>
            <a:endParaRPr lang="es-MX" sz="2400" b="0" strike="noStrike" spc="-1">
              <a:latin typeface="Arial"/>
            </a:endParaRPr>
          </a:p>
          <a:p>
            <a:pPr marL="457200" lvl="1" indent="-214920">
              <a:lnSpc>
                <a:spcPct val="100000"/>
              </a:lnSpc>
              <a:buClr>
                <a:srgbClr val="000000"/>
              </a:buClr>
              <a:buFont typeface="Arial"/>
              <a:buChar char="•"/>
            </a:pPr>
            <a:r>
              <a:rPr lang="en-US" sz="3800" b="0" strike="noStrike" spc="-1">
                <a:solidFill>
                  <a:srgbClr val="000000"/>
                </a:solidFill>
                <a:latin typeface="MoolBoran"/>
                <a:ea typeface="DejaVu Sans"/>
              </a:rPr>
              <a:t>FD_SET(int fd, fd_set *set); </a:t>
            </a:r>
            <a:r>
              <a:rPr lang="en-US" sz="2400" b="0" strike="noStrike" spc="-1">
                <a:solidFill>
                  <a:srgbClr val="000000"/>
                </a:solidFill>
                <a:latin typeface="Calibri"/>
                <a:ea typeface="DejaVu Sans"/>
              </a:rPr>
              <a:t>agrega un descriptor a un conjunto</a:t>
            </a:r>
            <a:endParaRPr lang="es-MX" sz="2400" b="0" strike="noStrike" spc="-1">
              <a:latin typeface="Arial"/>
            </a:endParaRPr>
          </a:p>
          <a:p>
            <a:pPr marL="457200" lvl="1" indent="-214920">
              <a:lnSpc>
                <a:spcPct val="100000"/>
              </a:lnSpc>
              <a:buClr>
                <a:srgbClr val="000000"/>
              </a:buClr>
              <a:buFont typeface="Arial"/>
              <a:buChar char="•"/>
            </a:pPr>
            <a:r>
              <a:rPr lang="en-US" sz="3800" b="0" strike="noStrike" spc="-1">
                <a:solidFill>
                  <a:srgbClr val="000000"/>
                </a:solidFill>
                <a:latin typeface="MoolBoran"/>
                <a:ea typeface="DejaVu Sans"/>
              </a:rPr>
              <a:t>FD_CLR(int fd, fd_set *set); </a:t>
            </a:r>
            <a:r>
              <a:rPr lang="en-US" sz="2400" b="0" strike="noStrike" spc="-1">
                <a:solidFill>
                  <a:srgbClr val="000000"/>
                </a:solidFill>
                <a:latin typeface="Calibri"/>
                <a:ea typeface="DejaVu Sans"/>
              </a:rPr>
              <a:t>borra un descriptor de un conjunto</a:t>
            </a:r>
            <a:endParaRPr lang="es-MX" sz="2400" b="0" strike="noStrike" spc="-1">
              <a:latin typeface="Arial"/>
            </a:endParaRPr>
          </a:p>
          <a:p>
            <a:pPr marL="457200" lvl="1" indent="-214920">
              <a:lnSpc>
                <a:spcPct val="100000"/>
              </a:lnSpc>
              <a:buClr>
                <a:srgbClr val="000000"/>
              </a:buClr>
              <a:buFont typeface="Arial"/>
              <a:buChar char="•"/>
            </a:pPr>
            <a:r>
              <a:rPr lang="en-US" sz="4100" b="0" strike="noStrike" spc="-1">
                <a:solidFill>
                  <a:srgbClr val="000000"/>
                </a:solidFill>
                <a:latin typeface="MoolBoran"/>
                <a:ea typeface="DejaVu Sans"/>
              </a:rPr>
              <a:t>FD_ISSET(int fd, fd_set *set); </a:t>
            </a:r>
            <a:r>
              <a:rPr lang="en-US" sz="2400" b="0" strike="noStrike" spc="-1">
                <a:solidFill>
                  <a:srgbClr val="000000"/>
                </a:solidFill>
                <a:latin typeface="Calibri"/>
                <a:ea typeface="DejaVu Sans"/>
              </a:rPr>
              <a:t>pregunta si </a:t>
            </a:r>
            <a:r>
              <a:rPr lang="en-US" sz="2400" b="0" i="1" strike="noStrike" spc="-1">
                <a:solidFill>
                  <a:srgbClr val="000000"/>
                </a:solidFill>
                <a:latin typeface="Calibri"/>
                <a:ea typeface="DejaVu Sans"/>
              </a:rPr>
              <a:t>fd</a:t>
            </a:r>
            <a:r>
              <a:rPr lang="en-US" sz="2400" b="0" strike="noStrike" spc="-1">
                <a:solidFill>
                  <a:srgbClr val="000000"/>
                </a:solidFill>
                <a:latin typeface="Calibri"/>
                <a:ea typeface="DejaVu Sans"/>
              </a:rPr>
              <a:t> está en un conjunto</a:t>
            </a:r>
            <a:endParaRPr lang="es-MX" sz="2400" b="0" strike="noStrike" spc="-1">
              <a:latin typeface="Arial"/>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struct timeval</a:t>
            </a:r>
            <a:endParaRPr lang="es-MX" sz="4400" b="0" strike="noStrike" spc="-1">
              <a:latin typeface="Arial"/>
            </a:endParaRPr>
          </a:p>
        </p:txBody>
      </p:sp>
      <p:sp>
        <p:nvSpPr>
          <p:cNvPr id="90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 una estructura de tiempo que permite establecer un periodo máximo de espera</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estructura tiene los campos:</a:t>
            </a:r>
            <a:endParaRPr lang="es-MX" sz="2800" b="0" strike="noStrike" spc="-1">
              <a:latin typeface="Arial"/>
            </a:endParaRPr>
          </a:p>
          <a:p>
            <a:pPr>
              <a:lnSpc>
                <a:spcPct val="100000"/>
              </a:lnSpc>
            </a:pPr>
            <a:r>
              <a:rPr lang="en-US" sz="2000" b="0" strike="noStrike" spc="-1">
                <a:solidFill>
                  <a:srgbClr val="000000"/>
                </a:solidFill>
                <a:latin typeface="MoolBoran"/>
                <a:ea typeface="DejaVu Sans"/>
              </a:rPr>
              <a:t>struct timeval {</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int tv_sec;   // Número de segundos</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int tv_usec;// Número de microsegundo</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a:t>
            </a:r>
            <a:endParaRPr lang="es-MX" sz="20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147645</TotalTime>
  <Words>15883</Words>
  <Application>Microsoft Office PowerPoint</Application>
  <PresentationFormat>Panorámica</PresentationFormat>
  <Paragraphs>1974</Paragraphs>
  <Slides>229</Slides>
  <Notes>3</Notes>
  <HiddenSlides>0</HiddenSlides>
  <MMClips>0</MMClips>
  <ScaleCrop>false</ScaleCrop>
  <HeadingPairs>
    <vt:vector size="6" baseType="variant">
      <vt:variant>
        <vt:lpstr>Fuentes usadas</vt:lpstr>
      </vt:variant>
      <vt:variant>
        <vt:i4>11</vt:i4>
      </vt:variant>
      <vt:variant>
        <vt:lpstr>Tema</vt:lpstr>
      </vt:variant>
      <vt:variant>
        <vt:i4>7</vt:i4>
      </vt:variant>
      <vt:variant>
        <vt:lpstr>Títulos de diapositiva</vt:lpstr>
      </vt:variant>
      <vt:variant>
        <vt:i4>229</vt:i4>
      </vt:variant>
    </vt:vector>
  </HeadingPairs>
  <TitlesOfParts>
    <vt:vector size="247" baseType="lpstr">
      <vt:lpstr>Arial</vt:lpstr>
      <vt:lpstr>Arial Unicode MS</vt:lpstr>
      <vt:lpstr>Calibri</vt:lpstr>
      <vt:lpstr>Calibri Light</vt:lpstr>
      <vt:lpstr>Courier New</vt:lpstr>
      <vt:lpstr>MoolBoran</vt:lpstr>
      <vt:lpstr>Noto Sans</vt:lpstr>
      <vt:lpstr>StarSymbol</vt:lpstr>
      <vt:lpstr>Symbol</vt:lpstr>
      <vt:lpstr>Times New Roman</vt:lpstr>
      <vt:lpstr>Wingdings</vt:lpstr>
      <vt:lpstr>Office Theme</vt:lpstr>
      <vt:lpstr>Office Theme</vt:lpstr>
      <vt:lpstr>Office Theme</vt:lpstr>
      <vt:lpstr>Office Theme</vt:lpstr>
      <vt:lpstr>Office Theme</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Formato de encabezado TCP</vt:lpstr>
      <vt:lpstr>Formato de encabezado TCP</vt:lpstr>
      <vt:lpstr>Formato de encabezado TCP</vt:lpstr>
      <vt:lpstr>Formato de encabezado TCP</vt:lpstr>
      <vt:lpstr>Formato de encabezado TCP</vt:lpstr>
      <vt:lpstr>Formato de encabezado TCP</vt:lpstr>
      <vt:lpstr>Servicios Diferenciados</vt:lpstr>
      <vt:lpstr>Formato de encabezado TCP</vt:lpstr>
      <vt:lpstr>Formato de encabezado TCP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Arquitecturas de red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IGMP (Protocolo de Gestión de Grupos de Internet, Internet Group Management Protocol)</vt:lpstr>
      <vt:lpstr>Versiones de IGMP</vt:lpstr>
      <vt:lpstr>Funcionamiento IGMP</vt:lpstr>
      <vt:lpstr>Funcionamiento IGMP</vt:lpstr>
      <vt:lpstr>Funcionamiento IGMP</vt:lpstr>
      <vt:lpstr>Formato de mensaje IGMP</vt:lpstr>
      <vt:lpstr>Formato de mensaje IGMP</vt:lpstr>
      <vt:lpstr>Formato de mensaje IGMP</vt:lpstr>
      <vt:lpstr>Formato de mensaje IGMP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Axel</dc:creator>
  <dc:description/>
  <cp:lastModifiedBy>Axel Moreno</cp:lastModifiedBy>
  <cp:revision>204</cp:revision>
  <dcterms:modified xsi:type="dcterms:W3CDTF">2022-11-16T02:08:33Z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Panorámica</vt:lpwstr>
  </property>
  <property fmtid="{D5CDD505-2E9C-101B-9397-08002B2CF9AE}" pid="9" name="ScaleCrop">
    <vt:bool>false</vt:bool>
  </property>
  <property fmtid="{D5CDD505-2E9C-101B-9397-08002B2CF9AE}" pid="10" name="ShareDoc">
    <vt:bool>false</vt:bool>
  </property>
  <property fmtid="{D5CDD505-2E9C-101B-9397-08002B2CF9AE}" pid="11" name="Slides">
    <vt:i4>210</vt:i4>
  </property>
</Properties>
</file>