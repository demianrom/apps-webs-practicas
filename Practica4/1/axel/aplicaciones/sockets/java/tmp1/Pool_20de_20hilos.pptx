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63" r:id="rId6"/>
    <p:sldId id="264" r:id="rId7"/>
    <p:sldId id="265" r:id="rId8"/>
    <p:sldId id="258" r:id="rId9"/>
    <p:sldId id="261" r:id="rId10"/>
    <p:sldId id="262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81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1632-4BDB-450D-BDD9-53808E3F1C0B}" type="datetimeFigureOut">
              <a:rPr lang="es-MX" smtClean="0"/>
              <a:t>19/04/2024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9E95-F352-4338-BFC4-7C75FBD8D4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201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1632-4BDB-450D-BDD9-53808E3F1C0B}" type="datetimeFigureOut">
              <a:rPr lang="es-MX" smtClean="0"/>
              <a:t>19/04/2024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9E95-F352-4338-BFC4-7C75FBD8D4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2216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1632-4BDB-450D-BDD9-53808E3F1C0B}" type="datetimeFigureOut">
              <a:rPr lang="es-MX" smtClean="0"/>
              <a:t>19/04/2024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9E95-F352-4338-BFC4-7C75FBD8D4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7147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1632-4BDB-450D-BDD9-53808E3F1C0B}" type="datetimeFigureOut">
              <a:rPr lang="es-MX" smtClean="0"/>
              <a:t>19/04/2024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9E95-F352-4338-BFC4-7C75FBD8D4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2519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1632-4BDB-450D-BDD9-53808E3F1C0B}" type="datetimeFigureOut">
              <a:rPr lang="es-MX" smtClean="0"/>
              <a:t>19/04/2024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9E95-F352-4338-BFC4-7C75FBD8D4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36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1632-4BDB-450D-BDD9-53808E3F1C0B}" type="datetimeFigureOut">
              <a:rPr lang="es-MX" smtClean="0"/>
              <a:t>19/04/2024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9E95-F352-4338-BFC4-7C75FBD8D4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149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1632-4BDB-450D-BDD9-53808E3F1C0B}" type="datetimeFigureOut">
              <a:rPr lang="es-MX" smtClean="0"/>
              <a:t>19/04/2024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9E95-F352-4338-BFC4-7C75FBD8D4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811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1632-4BDB-450D-BDD9-53808E3F1C0B}" type="datetimeFigureOut">
              <a:rPr lang="es-MX" smtClean="0"/>
              <a:t>19/04/2024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9E95-F352-4338-BFC4-7C75FBD8D4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9889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1632-4BDB-450D-BDD9-53808E3F1C0B}" type="datetimeFigureOut">
              <a:rPr lang="es-MX" smtClean="0"/>
              <a:t>19/04/2024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9E95-F352-4338-BFC4-7C75FBD8D4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660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1632-4BDB-450D-BDD9-53808E3F1C0B}" type="datetimeFigureOut">
              <a:rPr lang="es-MX" smtClean="0"/>
              <a:t>19/04/2024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9E95-F352-4338-BFC4-7C75FBD8D4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9446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1632-4BDB-450D-BDD9-53808E3F1C0B}" type="datetimeFigureOut">
              <a:rPr lang="es-MX" smtClean="0"/>
              <a:t>19/04/2024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9E95-F352-4338-BFC4-7C75FBD8D4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2504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91632-4BDB-450D-BDD9-53808E3F1C0B}" type="datetimeFigureOut">
              <a:rPr lang="es-MX" smtClean="0"/>
              <a:t>19/04/2024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09E95-F352-4338-BFC4-7C75FBD8D4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6386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Pool de hilos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439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Estructura del pool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11" y="2043113"/>
            <a:ext cx="9017845" cy="277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92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3911"/>
          </a:xfrm>
        </p:spPr>
        <p:txBody>
          <a:bodyPr/>
          <a:lstStyle/>
          <a:p>
            <a:r>
              <a:rPr lang="es-MX" dirty="0"/>
              <a:t>Estructura interna del pool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53703" y="1142232"/>
            <a:ext cx="415731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1800" dirty="0" err="1"/>
              <a:t>public</a:t>
            </a:r>
            <a:r>
              <a:rPr lang="es-MX" sz="1800" dirty="0"/>
              <a:t> </a:t>
            </a:r>
            <a:r>
              <a:rPr lang="es-MX" sz="1800" dirty="0" err="1"/>
              <a:t>class</a:t>
            </a:r>
            <a:r>
              <a:rPr lang="es-MX" sz="1800" dirty="0"/>
              <a:t> </a:t>
            </a:r>
            <a:r>
              <a:rPr lang="es-MX" sz="1800" dirty="0" err="1"/>
              <a:t>BlockingQueue</a:t>
            </a:r>
            <a:r>
              <a:rPr lang="es-MX" sz="1800" dirty="0"/>
              <a:t> {</a:t>
            </a:r>
          </a:p>
          <a:p>
            <a:pPr marL="0" indent="0">
              <a:buNone/>
            </a:pPr>
            <a:r>
              <a:rPr lang="es-MX" sz="1800" dirty="0"/>
              <a:t>  </a:t>
            </a:r>
            <a:r>
              <a:rPr lang="es-MX" sz="1800" dirty="0" err="1"/>
              <a:t>private</a:t>
            </a:r>
            <a:r>
              <a:rPr lang="es-MX" sz="1800" dirty="0"/>
              <a:t> </a:t>
            </a:r>
            <a:r>
              <a:rPr lang="es-MX" sz="1800" dirty="0" err="1"/>
              <a:t>List</a:t>
            </a:r>
            <a:r>
              <a:rPr lang="es-MX" sz="1800" dirty="0"/>
              <a:t> </a:t>
            </a:r>
            <a:r>
              <a:rPr lang="es-MX" sz="1800" dirty="0" err="1"/>
              <a:t>queue</a:t>
            </a:r>
            <a:r>
              <a:rPr lang="es-MX" sz="1800" dirty="0"/>
              <a:t> = new </a:t>
            </a:r>
            <a:r>
              <a:rPr lang="es-MX" sz="1800" dirty="0" err="1"/>
              <a:t>LinkedList</a:t>
            </a:r>
            <a:r>
              <a:rPr lang="es-MX" sz="1800" dirty="0"/>
              <a:t>();</a:t>
            </a:r>
          </a:p>
          <a:p>
            <a:pPr marL="0" indent="0">
              <a:buNone/>
            </a:pPr>
            <a:r>
              <a:rPr lang="es-MX" sz="1800" dirty="0"/>
              <a:t>  </a:t>
            </a:r>
            <a:r>
              <a:rPr lang="es-MX" sz="1800" dirty="0" err="1"/>
              <a:t>private</a:t>
            </a:r>
            <a:r>
              <a:rPr lang="es-MX" sz="1800" dirty="0"/>
              <a:t> </a:t>
            </a:r>
            <a:r>
              <a:rPr lang="es-MX" sz="1800" dirty="0" err="1"/>
              <a:t>int</a:t>
            </a:r>
            <a:r>
              <a:rPr lang="es-MX" sz="1800" dirty="0"/>
              <a:t>  </a:t>
            </a:r>
            <a:r>
              <a:rPr lang="es-MX" sz="1800" dirty="0" err="1"/>
              <a:t>limit</a:t>
            </a:r>
            <a:r>
              <a:rPr lang="es-MX" sz="1800" dirty="0"/>
              <a:t> = 10;</a:t>
            </a:r>
          </a:p>
          <a:p>
            <a:pPr marL="0" indent="0">
              <a:buNone/>
            </a:pPr>
            <a:endParaRPr lang="es-MX" sz="1800" dirty="0"/>
          </a:p>
          <a:p>
            <a:pPr marL="0" indent="0">
              <a:buNone/>
            </a:pPr>
            <a:r>
              <a:rPr lang="es-MX" sz="1800" dirty="0"/>
              <a:t>  </a:t>
            </a:r>
            <a:r>
              <a:rPr lang="es-MX" sz="1800" dirty="0" err="1"/>
              <a:t>public</a:t>
            </a:r>
            <a:r>
              <a:rPr lang="es-MX" sz="1800" dirty="0"/>
              <a:t> </a:t>
            </a:r>
            <a:r>
              <a:rPr lang="es-MX" sz="1800" dirty="0" err="1"/>
              <a:t>BlockingQueue</a:t>
            </a:r>
            <a:r>
              <a:rPr lang="es-MX" sz="1800" dirty="0"/>
              <a:t>(</a:t>
            </a:r>
            <a:r>
              <a:rPr lang="es-MX" sz="1800" dirty="0" err="1"/>
              <a:t>int</a:t>
            </a:r>
            <a:r>
              <a:rPr lang="es-MX" sz="1800" dirty="0"/>
              <a:t> </a:t>
            </a:r>
            <a:r>
              <a:rPr lang="es-MX" sz="1800" dirty="0" err="1"/>
              <a:t>limit</a:t>
            </a:r>
            <a:r>
              <a:rPr lang="es-MX" sz="1800" dirty="0"/>
              <a:t>){</a:t>
            </a:r>
          </a:p>
          <a:p>
            <a:pPr marL="0" indent="0">
              <a:buNone/>
            </a:pPr>
            <a:r>
              <a:rPr lang="es-MX" sz="1800" dirty="0"/>
              <a:t>    </a:t>
            </a:r>
            <a:r>
              <a:rPr lang="es-MX" sz="1800" dirty="0" err="1"/>
              <a:t>this.limit</a:t>
            </a:r>
            <a:r>
              <a:rPr lang="es-MX" sz="1800" dirty="0"/>
              <a:t> = </a:t>
            </a:r>
            <a:r>
              <a:rPr lang="es-MX" sz="1800" dirty="0" err="1"/>
              <a:t>limit</a:t>
            </a:r>
            <a:r>
              <a:rPr lang="es-MX" sz="1800" dirty="0"/>
              <a:t>;</a:t>
            </a:r>
          </a:p>
          <a:p>
            <a:pPr marL="0" indent="0">
              <a:buNone/>
            </a:pPr>
            <a:r>
              <a:rPr lang="es-MX" sz="1800" dirty="0"/>
              <a:t>  }</a:t>
            </a:r>
          </a:p>
          <a:p>
            <a:pPr marL="0" indent="0">
              <a:buNone/>
            </a:pPr>
            <a:endParaRPr lang="es-MX" sz="1800" dirty="0"/>
          </a:p>
          <a:p>
            <a:pPr marL="0" indent="0">
              <a:buNone/>
            </a:pPr>
            <a:r>
              <a:rPr lang="es-MX" sz="1800" dirty="0"/>
              <a:t>  </a:t>
            </a:r>
            <a:r>
              <a:rPr lang="es-MX" sz="1800" dirty="0" err="1"/>
              <a:t>public</a:t>
            </a:r>
            <a:r>
              <a:rPr lang="es-MX" sz="1800" dirty="0"/>
              <a:t> </a:t>
            </a:r>
            <a:r>
              <a:rPr lang="es-MX" sz="1800" dirty="0" err="1"/>
              <a:t>synchronized</a:t>
            </a:r>
            <a:r>
              <a:rPr lang="es-MX" sz="1800" dirty="0"/>
              <a:t> </a:t>
            </a:r>
            <a:r>
              <a:rPr lang="es-MX" sz="1800" dirty="0" err="1"/>
              <a:t>void</a:t>
            </a:r>
            <a:r>
              <a:rPr lang="es-MX" sz="1800" dirty="0"/>
              <a:t> </a:t>
            </a:r>
            <a:r>
              <a:rPr lang="es-MX" sz="1800" dirty="0" err="1"/>
              <a:t>enqueue</a:t>
            </a:r>
            <a:r>
              <a:rPr lang="es-MX" sz="1800" dirty="0"/>
              <a:t>(</a:t>
            </a:r>
            <a:r>
              <a:rPr lang="es-MX" sz="1800" dirty="0" err="1"/>
              <a:t>Object</a:t>
            </a:r>
            <a:r>
              <a:rPr lang="es-MX" sz="1800" dirty="0"/>
              <a:t> </a:t>
            </a:r>
            <a:r>
              <a:rPr lang="es-MX" sz="1800" dirty="0" err="1"/>
              <a:t>item</a:t>
            </a:r>
            <a:r>
              <a:rPr lang="es-MX" sz="1800" dirty="0"/>
              <a:t>)</a:t>
            </a:r>
          </a:p>
          <a:p>
            <a:pPr marL="0" indent="0">
              <a:buNone/>
            </a:pPr>
            <a:r>
              <a:rPr lang="es-MX" sz="1800" dirty="0"/>
              <a:t>  </a:t>
            </a:r>
            <a:r>
              <a:rPr lang="es-MX" sz="1800" dirty="0" err="1"/>
              <a:t>throws</a:t>
            </a:r>
            <a:r>
              <a:rPr lang="es-MX" sz="1800" dirty="0"/>
              <a:t> </a:t>
            </a:r>
            <a:r>
              <a:rPr lang="es-MX" sz="1800" dirty="0" err="1"/>
              <a:t>InterruptedException</a:t>
            </a:r>
            <a:r>
              <a:rPr lang="es-MX" sz="1800" dirty="0"/>
              <a:t>  {</a:t>
            </a:r>
          </a:p>
          <a:p>
            <a:pPr marL="0" indent="0">
              <a:buNone/>
            </a:pPr>
            <a:r>
              <a:rPr lang="es-MX" sz="1800" dirty="0"/>
              <a:t>    </a:t>
            </a:r>
            <a:r>
              <a:rPr lang="es-MX" sz="1800" dirty="0" err="1"/>
              <a:t>while</a:t>
            </a:r>
            <a:r>
              <a:rPr lang="es-MX" sz="1800" dirty="0"/>
              <a:t>(</a:t>
            </a:r>
            <a:r>
              <a:rPr lang="es-MX" sz="1800" dirty="0" err="1"/>
              <a:t>this.queue.size</a:t>
            </a:r>
            <a:r>
              <a:rPr lang="es-MX" sz="1800" dirty="0"/>
              <a:t>() == </a:t>
            </a:r>
            <a:r>
              <a:rPr lang="es-MX" sz="1800" dirty="0" err="1"/>
              <a:t>this.limit</a:t>
            </a:r>
            <a:r>
              <a:rPr lang="es-MX" sz="1800" dirty="0"/>
              <a:t>) {</a:t>
            </a:r>
          </a:p>
          <a:p>
            <a:pPr marL="0" indent="0">
              <a:buNone/>
            </a:pPr>
            <a:r>
              <a:rPr lang="es-MX" sz="1800" dirty="0"/>
              <a:t>      </a:t>
            </a:r>
            <a:r>
              <a:rPr lang="es-MX" sz="1800" dirty="0" err="1"/>
              <a:t>wait</a:t>
            </a:r>
            <a:r>
              <a:rPr lang="es-MX" sz="1800" dirty="0"/>
              <a:t>();</a:t>
            </a:r>
          </a:p>
          <a:p>
            <a:pPr marL="0" indent="0">
              <a:buNone/>
            </a:pPr>
            <a:r>
              <a:rPr lang="es-MX" sz="1800" dirty="0"/>
              <a:t>    }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632834" y="1225689"/>
            <a:ext cx="3839256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 </a:t>
            </a:r>
            <a:r>
              <a:rPr lang="es-MX" dirty="0" err="1"/>
              <a:t>if</a:t>
            </a:r>
            <a:r>
              <a:rPr lang="es-MX" dirty="0"/>
              <a:t>(</a:t>
            </a:r>
            <a:r>
              <a:rPr lang="es-MX" dirty="0" err="1"/>
              <a:t>this.queue.size</a:t>
            </a:r>
            <a:r>
              <a:rPr lang="es-MX" dirty="0"/>
              <a:t>() == 0) {</a:t>
            </a:r>
          </a:p>
          <a:p>
            <a:r>
              <a:rPr lang="es-MX" dirty="0"/>
              <a:t>      </a:t>
            </a:r>
            <a:r>
              <a:rPr lang="es-MX" dirty="0" err="1"/>
              <a:t>notifyAll</a:t>
            </a:r>
            <a:r>
              <a:rPr lang="es-MX" dirty="0"/>
              <a:t>();</a:t>
            </a:r>
          </a:p>
          <a:p>
            <a:r>
              <a:rPr lang="es-MX" dirty="0"/>
              <a:t>    }</a:t>
            </a:r>
          </a:p>
          <a:p>
            <a:r>
              <a:rPr lang="es-MX" dirty="0"/>
              <a:t>    </a:t>
            </a:r>
            <a:r>
              <a:rPr lang="es-MX" dirty="0" err="1"/>
              <a:t>this.queue.add</a:t>
            </a:r>
            <a:r>
              <a:rPr lang="es-MX" dirty="0"/>
              <a:t>(</a:t>
            </a:r>
            <a:r>
              <a:rPr lang="es-MX" dirty="0" err="1"/>
              <a:t>item</a:t>
            </a:r>
            <a:r>
              <a:rPr lang="es-MX" dirty="0"/>
              <a:t>);</a:t>
            </a:r>
          </a:p>
          <a:p>
            <a:r>
              <a:rPr lang="es-MX" dirty="0"/>
              <a:t>  }</a:t>
            </a:r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synchronized</a:t>
            </a:r>
            <a:r>
              <a:rPr lang="es-MX" dirty="0"/>
              <a:t> </a:t>
            </a:r>
            <a:r>
              <a:rPr lang="es-MX" dirty="0" err="1"/>
              <a:t>Object</a:t>
            </a:r>
            <a:r>
              <a:rPr lang="es-MX" dirty="0"/>
              <a:t> </a:t>
            </a:r>
            <a:r>
              <a:rPr lang="es-MX" dirty="0" err="1"/>
              <a:t>dequeue</a:t>
            </a:r>
            <a:r>
              <a:rPr lang="es-MX" dirty="0"/>
              <a:t>()</a:t>
            </a:r>
          </a:p>
          <a:p>
            <a:r>
              <a:rPr lang="es-MX" dirty="0"/>
              <a:t>  </a:t>
            </a:r>
            <a:r>
              <a:rPr lang="es-MX" dirty="0" err="1"/>
              <a:t>throws</a:t>
            </a:r>
            <a:r>
              <a:rPr lang="es-MX" dirty="0"/>
              <a:t> </a:t>
            </a:r>
            <a:r>
              <a:rPr lang="es-MX" dirty="0" err="1"/>
              <a:t>InterruptedException</a:t>
            </a:r>
            <a:r>
              <a:rPr lang="es-MX" dirty="0"/>
              <a:t>{</a:t>
            </a:r>
          </a:p>
          <a:p>
            <a:r>
              <a:rPr lang="es-MX" dirty="0"/>
              <a:t>    </a:t>
            </a:r>
            <a:r>
              <a:rPr lang="es-MX" dirty="0" err="1"/>
              <a:t>while</a:t>
            </a:r>
            <a:r>
              <a:rPr lang="es-MX" dirty="0"/>
              <a:t>(</a:t>
            </a:r>
            <a:r>
              <a:rPr lang="es-MX" dirty="0" err="1"/>
              <a:t>this.queue.size</a:t>
            </a:r>
            <a:r>
              <a:rPr lang="es-MX" dirty="0"/>
              <a:t>() == 0){</a:t>
            </a:r>
          </a:p>
          <a:p>
            <a:r>
              <a:rPr lang="es-MX" dirty="0"/>
              <a:t>      </a:t>
            </a:r>
            <a:r>
              <a:rPr lang="es-MX" dirty="0" err="1"/>
              <a:t>wait</a:t>
            </a:r>
            <a:r>
              <a:rPr lang="es-MX" dirty="0"/>
              <a:t>();</a:t>
            </a:r>
          </a:p>
          <a:p>
            <a:r>
              <a:rPr lang="es-MX" dirty="0"/>
              <a:t>    }</a:t>
            </a:r>
          </a:p>
          <a:p>
            <a:r>
              <a:rPr lang="es-MX" dirty="0"/>
              <a:t>    </a:t>
            </a:r>
            <a:r>
              <a:rPr lang="es-MX" dirty="0" err="1"/>
              <a:t>if</a:t>
            </a:r>
            <a:r>
              <a:rPr lang="es-MX" dirty="0"/>
              <a:t>(</a:t>
            </a:r>
            <a:r>
              <a:rPr lang="es-MX" dirty="0" err="1"/>
              <a:t>this.queue.size</a:t>
            </a:r>
            <a:r>
              <a:rPr lang="es-MX" dirty="0"/>
              <a:t>() == </a:t>
            </a:r>
            <a:r>
              <a:rPr lang="es-MX" dirty="0" err="1"/>
              <a:t>this.limit</a:t>
            </a:r>
            <a:r>
              <a:rPr lang="es-MX" dirty="0"/>
              <a:t>){</a:t>
            </a:r>
          </a:p>
          <a:p>
            <a:r>
              <a:rPr lang="es-MX" dirty="0"/>
              <a:t>      </a:t>
            </a:r>
            <a:r>
              <a:rPr lang="es-MX" dirty="0" err="1"/>
              <a:t>notifyAll</a:t>
            </a:r>
            <a:r>
              <a:rPr lang="es-MX" dirty="0"/>
              <a:t>();</a:t>
            </a:r>
          </a:p>
          <a:p>
            <a:r>
              <a:rPr lang="es-MX" dirty="0"/>
              <a:t>    }</a:t>
            </a:r>
          </a:p>
          <a:p>
            <a:endParaRPr lang="es-MX" dirty="0"/>
          </a:p>
          <a:p>
            <a:r>
              <a:rPr lang="es-MX" dirty="0"/>
              <a:t>    </a:t>
            </a:r>
            <a:r>
              <a:rPr lang="es-MX" dirty="0" err="1"/>
              <a:t>return</a:t>
            </a:r>
            <a:r>
              <a:rPr lang="es-MX" dirty="0"/>
              <a:t> </a:t>
            </a:r>
            <a:r>
              <a:rPr lang="es-MX" dirty="0" err="1"/>
              <a:t>this.queue.remove</a:t>
            </a:r>
            <a:r>
              <a:rPr lang="es-MX" dirty="0"/>
              <a:t>(0);</a:t>
            </a:r>
          </a:p>
          <a:p>
            <a:r>
              <a:rPr lang="es-MX" dirty="0"/>
              <a:t>  }</a:t>
            </a:r>
          </a:p>
          <a:p>
            <a:r>
              <a:rPr lang="es-MX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9239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Interfaz </a:t>
            </a:r>
            <a:r>
              <a:rPr lang="es-MX" dirty="0" err="1"/>
              <a:t>ExecutorService</a:t>
            </a:r>
            <a:br>
              <a:rPr lang="es-MX" dirty="0"/>
            </a:br>
            <a:r>
              <a:rPr lang="es-MX" dirty="0"/>
              <a:t>(</a:t>
            </a:r>
            <a:r>
              <a:rPr lang="es-MX" dirty="0" err="1"/>
              <a:t>java.util.concurrent.ExecutorService</a:t>
            </a:r>
            <a:r>
              <a:rPr lang="es-MX" dirty="0"/>
              <a:t>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Brinda métodos para manejar la terminación y rastreo futuro del progreso de la ejecución de tareas</a:t>
            </a:r>
          </a:p>
          <a:p>
            <a:r>
              <a:rPr lang="es-MX" dirty="0"/>
              <a:t>Métodos más importantes:</a:t>
            </a:r>
          </a:p>
          <a:p>
            <a:pPr lvl="1"/>
            <a:r>
              <a:rPr lang="es-MX" dirty="0" err="1"/>
              <a:t>boolean</a:t>
            </a:r>
            <a:r>
              <a:rPr lang="es-MX" dirty="0"/>
              <a:t>	</a:t>
            </a:r>
            <a:r>
              <a:rPr lang="es-MX" dirty="0" err="1"/>
              <a:t>isShutdown</a:t>
            </a:r>
            <a:r>
              <a:rPr lang="es-MX" dirty="0"/>
              <a:t>()</a:t>
            </a:r>
          </a:p>
          <a:p>
            <a:pPr lvl="1"/>
            <a:r>
              <a:rPr lang="es-MX" dirty="0" err="1"/>
              <a:t>void</a:t>
            </a:r>
            <a:r>
              <a:rPr lang="es-MX" dirty="0"/>
              <a:t>	shutdown()                  //terminación ordenada, no nuevas tareas</a:t>
            </a:r>
          </a:p>
          <a:p>
            <a:pPr lvl="1"/>
            <a:r>
              <a:rPr lang="es-MX" dirty="0"/>
              <a:t>Future&lt;?&gt;   </a:t>
            </a:r>
            <a:r>
              <a:rPr lang="es-MX" dirty="0" err="1"/>
              <a:t>submit</a:t>
            </a:r>
            <a:r>
              <a:rPr lang="es-MX" dirty="0"/>
              <a:t>(</a:t>
            </a:r>
            <a:r>
              <a:rPr lang="es-MX" dirty="0" err="1"/>
              <a:t>Runnable</a:t>
            </a:r>
            <a:r>
              <a:rPr lang="es-MX" dirty="0"/>
              <a:t> </a:t>
            </a:r>
            <a:r>
              <a:rPr lang="es-MX" dirty="0" err="1"/>
              <a:t>task</a:t>
            </a:r>
            <a:r>
              <a:rPr lang="es-MX" dirty="0"/>
              <a:t>)          //permite rastrear, cancelar tarea</a:t>
            </a:r>
          </a:p>
          <a:p>
            <a:pPr lvl="1"/>
            <a:r>
              <a:rPr lang="es-MX" dirty="0" err="1"/>
              <a:t>void</a:t>
            </a:r>
            <a:r>
              <a:rPr lang="es-MX" dirty="0"/>
              <a:t> </a:t>
            </a:r>
            <a:r>
              <a:rPr lang="es-MX" dirty="0" err="1"/>
              <a:t>excecute</a:t>
            </a:r>
            <a:r>
              <a:rPr lang="es-MX" dirty="0"/>
              <a:t> (</a:t>
            </a:r>
            <a:r>
              <a:rPr lang="es-MX" dirty="0" err="1"/>
              <a:t>Runnable</a:t>
            </a:r>
            <a:r>
              <a:rPr lang="es-MX" dirty="0"/>
              <a:t> </a:t>
            </a:r>
            <a:r>
              <a:rPr lang="es-MX" dirty="0" err="1"/>
              <a:t>command</a:t>
            </a:r>
            <a:r>
              <a:rPr lang="es-MX" dirty="0"/>
              <a:t>)	//no permite rastrear, cancelar</a:t>
            </a:r>
          </a:p>
        </p:txBody>
      </p:sp>
    </p:spTree>
    <p:extLst>
      <p:ext uri="{BB962C8B-B14F-4D97-AF65-F5344CB8AC3E}">
        <p14:creationId xmlns:p14="http://schemas.microsoft.com/office/powerpoint/2010/main" val="399157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AEF2C-38A7-AF6E-65B6-48D702E79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/>
              <a:t>Interface Future &lt;V&gt; (</a:t>
            </a:r>
            <a:r>
              <a:rPr lang="es-MX" sz="3600" dirty="0" err="1"/>
              <a:t>java.util.concurrent.Future</a:t>
            </a:r>
            <a:r>
              <a:rPr lang="es-MX" sz="3600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289CE5-3510-6E94-6CA7-B4CF9B785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boolean</a:t>
            </a:r>
            <a:r>
              <a:rPr lang="es-MX" dirty="0"/>
              <a:t> cancel(</a:t>
            </a:r>
            <a:r>
              <a:rPr lang="es-MX" dirty="0" err="1"/>
              <a:t>boolean</a:t>
            </a:r>
            <a:r>
              <a:rPr lang="es-MX" dirty="0"/>
              <a:t> b)</a:t>
            </a:r>
          </a:p>
          <a:p>
            <a:r>
              <a:rPr lang="es-MX" dirty="0"/>
              <a:t>V </a:t>
            </a:r>
            <a:r>
              <a:rPr lang="es-MX" dirty="0" err="1"/>
              <a:t>get</a:t>
            </a:r>
            <a:r>
              <a:rPr lang="es-MX" dirty="0"/>
              <a:t>( ) //</a:t>
            </a:r>
            <a:r>
              <a:rPr lang="es-MX" dirty="0" err="1"/>
              <a:t>CancellationException</a:t>
            </a:r>
            <a:endParaRPr lang="es-MX" dirty="0"/>
          </a:p>
          <a:p>
            <a:r>
              <a:rPr lang="es-MX" dirty="0" err="1"/>
              <a:t>boolean</a:t>
            </a:r>
            <a:r>
              <a:rPr lang="es-MX" dirty="0"/>
              <a:t> </a:t>
            </a:r>
            <a:r>
              <a:rPr lang="es-MX" dirty="0" err="1"/>
              <a:t>isDone</a:t>
            </a:r>
            <a:r>
              <a:rPr lang="es-MX" dirty="0"/>
              <a:t>( )</a:t>
            </a:r>
          </a:p>
          <a:p>
            <a:r>
              <a:rPr lang="es-MX" dirty="0" err="1"/>
              <a:t>boolean</a:t>
            </a:r>
            <a:r>
              <a:rPr lang="es-MX" dirty="0"/>
              <a:t> </a:t>
            </a:r>
            <a:r>
              <a:rPr lang="es-MX" dirty="0" err="1"/>
              <a:t>isCancelled</a:t>
            </a:r>
            <a:r>
              <a:rPr lang="es-MX" dirty="0"/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169936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C5868-D56D-DB53-D303-2C388934C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504"/>
          </a:xfrm>
        </p:spPr>
        <p:txBody>
          <a:bodyPr/>
          <a:lstStyle/>
          <a:p>
            <a:r>
              <a:rPr lang="es-MX" dirty="0" err="1"/>
              <a:t>Ej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217985-2EE9-3F2D-58C1-4E901C779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6630"/>
            <a:ext cx="10515600" cy="50303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b="1" i="0" dirty="0" err="1">
                <a:solidFill>
                  <a:srgbClr val="63B175"/>
                </a:solidFill>
                <a:effectLst/>
                <a:latin typeface="Source Code Pro" panose="020B0604020202020204" pitchFamily="49" charset="0"/>
              </a:rPr>
              <a:t>public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 </a:t>
            </a:r>
            <a:r>
              <a:rPr lang="es-MX" sz="1800" b="1" i="0" dirty="0" err="1">
                <a:solidFill>
                  <a:srgbClr val="63B175"/>
                </a:solidFill>
                <a:effectLst/>
                <a:latin typeface="Source Code Pro" panose="020B0604020202020204" pitchFamily="49" charset="0"/>
              </a:rPr>
              <a:t>class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 </a:t>
            </a:r>
            <a:r>
              <a:rPr lang="es-MX" sz="1800" b="1" i="0" dirty="0" err="1">
                <a:solidFill>
                  <a:srgbClr val="267438"/>
                </a:solidFill>
                <a:effectLst/>
                <a:latin typeface="Source Code Pro" panose="020B0604020202020204" pitchFamily="49" charset="0"/>
              </a:rPr>
              <a:t>SquareCalculator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 { </a:t>
            </a:r>
          </a:p>
          <a:p>
            <a:pPr marL="0" indent="0">
              <a:buNone/>
            </a:pPr>
            <a:r>
              <a:rPr lang="es-MX" sz="1800" b="1" i="0" dirty="0" err="1">
                <a:solidFill>
                  <a:srgbClr val="63B175"/>
                </a:solidFill>
                <a:effectLst/>
                <a:latin typeface="Source Code Pro" panose="020B0604020202020204" pitchFamily="49" charset="0"/>
              </a:rPr>
              <a:t>private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 </a:t>
            </a:r>
            <a:r>
              <a:rPr lang="es-MX" sz="1800" b="1" i="0" dirty="0" err="1">
                <a:solidFill>
                  <a:srgbClr val="4E9359"/>
                </a:solidFill>
                <a:effectLst/>
                <a:latin typeface="Source Code Pro" panose="020B0604020202020204" pitchFamily="49" charset="0"/>
              </a:rPr>
              <a:t>ExecutorService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 </a:t>
            </a:r>
            <a:r>
              <a:rPr lang="es-MX" sz="1800" b="0" i="0" dirty="0" err="1">
                <a:solidFill>
                  <a:srgbClr val="BC6060"/>
                </a:solidFill>
                <a:effectLst/>
                <a:latin typeface="Source Code Pro" panose="020B0604020202020204" pitchFamily="49" charset="0"/>
              </a:rPr>
              <a:t>executor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 = </a:t>
            </a:r>
            <a:r>
              <a:rPr lang="es-MX" sz="1800" b="0" i="0" dirty="0" err="1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Executors.newSingleThreadExecutor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();                                           </a:t>
            </a:r>
            <a:r>
              <a:rPr lang="es-MX" sz="1800" b="1" i="0" dirty="0" err="1">
                <a:solidFill>
                  <a:srgbClr val="63B175"/>
                </a:solidFill>
                <a:effectLst/>
                <a:latin typeface="Source Code Pro" panose="020B0604020202020204" pitchFamily="49" charset="0"/>
              </a:rPr>
              <a:t>public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 Future&lt;</a:t>
            </a:r>
            <a:r>
              <a:rPr lang="es-MX" sz="1800" b="0" i="0" dirty="0" err="1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Integer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&gt; </a:t>
            </a:r>
            <a:r>
              <a:rPr lang="es-MX" sz="1800" b="1" i="0" dirty="0" err="1">
                <a:solidFill>
                  <a:srgbClr val="267438"/>
                </a:solidFill>
                <a:effectLst/>
                <a:latin typeface="Source Code Pro" panose="020B0604020202020204" pitchFamily="49" charset="0"/>
              </a:rPr>
              <a:t>calculate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(</a:t>
            </a:r>
            <a:r>
              <a:rPr lang="es-MX" sz="1800" b="0" i="0" dirty="0" err="1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Integer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 input) { </a:t>
            </a:r>
          </a:p>
          <a:p>
            <a:pPr marL="0" indent="0">
              <a:buNone/>
            </a:pPr>
            <a:r>
              <a:rPr lang="es-MX" sz="1800" b="1" i="0" dirty="0">
                <a:solidFill>
                  <a:srgbClr val="63B175"/>
                </a:solidFill>
                <a:effectLst/>
                <a:latin typeface="Source Code Pro" panose="020B0604020202020204" pitchFamily="49" charset="0"/>
              </a:rPr>
              <a:t> </a:t>
            </a:r>
            <a:r>
              <a:rPr lang="es-MX" sz="1800" b="1" i="0" dirty="0" err="1">
                <a:solidFill>
                  <a:srgbClr val="63B175"/>
                </a:solidFill>
                <a:effectLst/>
                <a:latin typeface="Source Code Pro" panose="020B0604020202020204" pitchFamily="49" charset="0"/>
              </a:rPr>
              <a:t>return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 </a:t>
            </a:r>
            <a:r>
              <a:rPr lang="es-MX" sz="1800" b="0" i="0" dirty="0" err="1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executor.submit</a:t>
            </a:r>
            <a:r>
              <a:rPr lang="es-MX" sz="1800" b="1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(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() -&gt; { </a:t>
            </a:r>
            <a:r>
              <a:rPr lang="es-MX" sz="1800" b="0" i="0" dirty="0" err="1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Thread.sleep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(</a:t>
            </a:r>
            <a:r>
              <a:rPr lang="es-MX" sz="1800" b="0" i="0" dirty="0">
                <a:solidFill>
                  <a:srgbClr val="4E9359"/>
                </a:solidFill>
                <a:effectLst/>
                <a:latin typeface="Source Code Pro" panose="020B0604020202020204" pitchFamily="49" charset="0"/>
              </a:rPr>
              <a:t>1000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); </a:t>
            </a:r>
            <a:r>
              <a:rPr lang="es-MX" sz="1800" b="1" i="0" dirty="0" err="1">
                <a:solidFill>
                  <a:srgbClr val="63B175"/>
                </a:solidFill>
                <a:effectLst/>
                <a:latin typeface="Source Code Pro" panose="020B0604020202020204" pitchFamily="49" charset="0"/>
              </a:rPr>
              <a:t>return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 input * input; }</a:t>
            </a:r>
            <a:r>
              <a:rPr lang="es-MX" sz="1800" b="1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)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; </a:t>
            </a:r>
          </a:p>
          <a:p>
            <a:pPr marL="0" indent="0">
              <a:buNone/>
            </a:pPr>
            <a:r>
              <a:rPr lang="es-MX" sz="1800" dirty="0">
                <a:solidFill>
                  <a:srgbClr val="000000"/>
                </a:solidFill>
                <a:latin typeface="Source Code Pro" panose="020B0604020202020204" pitchFamily="49" charset="0"/>
              </a:rPr>
              <a:t> 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} </a:t>
            </a:r>
          </a:p>
          <a:p>
            <a:pPr marL="0" indent="0">
              <a:buNone/>
            </a:pPr>
            <a:r>
              <a:rPr lang="es-MX" sz="1800" b="0" i="0" dirty="0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}//</a:t>
            </a:r>
            <a:r>
              <a:rPr lang="es-MX" sz="1800" b="0" i="0" dirty="0" err="1">
                <a:solidFill>
                  <a:srgbClr val="000000"/>
                </a:solidFill>
                <a:effectLst/>
                <a:latin typeface="Source Code Pro" panose="020B0604020202020204" pitchFamily="49" charset="0"/>
              </a:rPr>
              <a:t>class</a:t>
            </a:r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305791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43622F-7DC8-3147-F077-EEBCC7742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Future&lt;</a:t>
            </a:r>
            <a:r>
              <a:rPr lang="es-MX" sz="1600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Integer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 future =  </a:t>
            </a:r>
            <a:r>
              <a:rPr lang="es-MX" sz="1600" b="1" i="0" dirty="0" err="1">
                <a:solidFill>
                  <a:srgbClr val="267438"/>
                </a:solidFill>
                <a:effectLst/>
                <a:latin typeface="Source Code Pro" panose="020B0509030403020204" pitchFamily="49" charset="0"/>
              </a:rPr>
              <a:t>SquareCalculator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().</a:t>
            </a:r>
            <a:r>
              <a:rPr lang="es-MX" sz="1600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calculate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s-MX" sz="1600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10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 </a:t>
            </a:r>
            <a:r>
              <a:rPr lang="es-MX" sz="1600" b="1" i="0" dirty="0" err="1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while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(!</a:t>
            </a:r>
            <a:r>
              <a:rPr lang="es-MX" sz="1600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future.isDone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()) { </a:t>
            </a:r>
          </a:p>
          <a:p>
            <a:pPr marL="0" indent="0">
              <a:buNone/>
            </a:pP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lang="es-MX" sz="1600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System.out.println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s-MX" sz="1600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</a:t>
            </a:r>
            <a:r>
              <a:rPr lang="es-MX" sz="1600" b="0" i="0" dirty="0" err="1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Calculating</a:t>
            </a:r>
            <a:r>
              <a:rPr lang="es-MX" sz="1600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..."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 </a:t>
            </a:r>
          </a:p>
          <a:p>
            <a:pPr marL="0" indent="0">
              <a:buNone/>
            </a:pPr>
            <a:r>
              <a:rPr lang="es-MX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    </a:t>
            </a:r>
            <a:r>
              <a:rPr lang="es-MX" sz="1600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Thread.sleep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s-MX" sz="1600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300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 </a:t>
            </a:r>
          </a:p>
          <a:p>
            <a:pPr marL="0" indent="0">
              <a:buNone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//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boolean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canceled = 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future.cancel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(true);</a:t>
            </a:r>
            <a:endParaRPr lang="es-MX" sz="1600" b="0" i="0" dirty="0"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s-MX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  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 </a:t>
            </a:r>
          </a:p>
          <a:p>
            <a:pPr marL="0" indent="0">
              <a:buNone/>
            </a:pPr>
            <a:r>
              <a:rPr lang="es-MX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  </a:t>
            </a:r>
            <a:r>
              <a:rPr lang="es-MX" sz="1600" b="1" i="0" dirty="0" err="1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Integer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s-MX" sz="1600" b="0" i="0" dirty="0" err="1">
                <a:solidFill>
                  <a:srgbClr val="BC6060"/>
                </a:solidFill>
                <a:effectLst/>
                <a:latin typeface="Source Code Pro" panose="020B0509030403020204" pitchFamily="49" charset="0"/>
              </a:rPr>
              <a:t>result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 </a:t>
            </a:r>
            <a:r>
              <a:rPr lang="es-MX" sz="1600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future.get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();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2458205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Clase </a:t>
            </a:r>
            <a:r>
              <a:rPr lang="es-MX" dirty="0" err="1"/>
              <a:t>Executors</a:t>
            </a:r>
            <a:br>
              <a:rPr lang="es-MX" dirty="0"/>
            </a:br>
            <a:r>
              <a:rPr lang="es-MX" dirty="0"/>
              <a:t>(</a:t>
            </a:r>
            <a:r>
              <a:rPr lang="es-MX" dirty="0" err="1"/>
              <a:t>java.util.concurrent.Executors</a:t>
            </a:r>
            <a:r>
              <a:rPr lang="es-MX" dirty="0"/>
              <a:t>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0574" y="1825625"/>
            <a:ext cx="11741426" cy="4932984"/>
          </a:xfrm>
        </p:spPr>
        <p:txBody>
          <a:bodyPr/>
          <a:lstStyle/>
          <a:p>
            <a:r>
              <a:rPr lang="es-MX" dirty="0"/>
              <a:t>Provee métodos para crear ejecutores de tareas</a:t>
            </a:r>
          </a:p>
          <a:p>
            <a:r>
              <a:rPr lang="es-MX" dirty="0"/>
              <a:t>Métodos más importantes:</a:t>
            </a:r>
          </a:p>
          <a:p>
            <a:pPr lvl="1"/>
            <a:r>
              <a:rPr lang="es-MX" sz="2000" b="1" dirty="0" err="1"/>
              <a:t>static</a:t>
            </a:r>
            <a:r>
              <a:rPr lang="es-MX" sz="2000" b="1" dirty="0"/>
              <a:t> </a:t>
            </a:r>
            <a:r>
              <a:rPr lang="es-MX" sz="2000" b="1" dirty="0" err="1"/>
              <a:t>ExecutorService</a:t>
            </a:r>
            <a:r>
              <a:rPr lang="es-MX" sz="2000" b="1" dirty="0"/>
              <a:t>	</a:t>
            </a:r>
            <a:r>
              <a:rPr lang="es-MX" sz="2000" b="1" dirty="0" err="1"/>
              <a:t>newFixedThreadPool</a:t>
            </a:r>
            <a:r>
              <a:rPr lang="es-MX" sz="2000" b="1" dirty="0"/>
              <a:t>(</a:t>
            </a:r>
            <a:r>
              <a:rPr lang="es-MX" sz="2000" b="1" dirty="0" err="1"/>
              <a:t>int</a:t>
            </a:r>
            <a:r>
              <a:rPr lang="es-MX" sz="2000" b="1" dirty="0"/>
              <a:t> </a:t>
            </a:r>
            <a:r>
              <a:rPr lang="es-MX" sz="2000" b="1" dirty="0" err="1"/>
              <a:t>nThreads</a:t>
            </a:r>
            <a:r>
              <a:rPr lang="es-MX" sz="2000" b="1" dirty="0"/>
              <a:t>)</a:t>
            </a:r>
          </a:p>
          <a:p>
            <a:pPr lvl="1"/>
            <a:r>
              <a:rPr lang="es-MX" sz="2000" b="1" dirty="0" err="1"/>
              <a:t>static</a:t>
            </a:r>
            <a:r>
              <a:rPr lang="es-MX" sz="2000" b="1" dirty="0"/>
              <a:t> </a:t>
            </a:r>
            <a:r>
              <a:rPr lang="es-MX" sz="2000" b="1" dirty="0" err="1"/>
              <a:t>ScheduledExecutorService</a:t>
            </a:r>
            <a:r>
              <a:rPr lang="es-MX" sz="2000" b="1" dirty="0"/>
              <a:t>  </a:t>
            </a:r>
            <a:r>
              <a:rPr lang="es-MX" sz="2000" b="1" dirty="0" err="1"/>
              <a:t>newScheduledThreadPool</a:t>
            </a:r>
            <a:r>
              <a:rPr lang="es-MX" sz="2000" b="1" dirty="0"/>
              <a:t>(</a:t>
            </a:r>
            <a:r>
              <a:rPr lang="es-MX" sz="2000" b="1" dirty="0" err="1"/>
              <a:t>int</a:t>
            </a:r>
            <a:r>
              <a:rPr lang="es-MX" sz="2000" b="1" dirty="0"/>
              <a:t> </a:t>
            </a:r>
            <a:r>
              <a:rPr lang="es-MX" sz="2000" b="1" dirty="0" err="1"/>
              <a:t>corePoolSize</a:t>
            </a:r>
            <a:r>
              <a:rPr lang="es-MX" sz="2000" b="1" dirty="0"/>
              <a:t>)       //planificación de tareas periódicas</a:t>
            </a:r>
          </a:p>
          <a:p>
            <a:pPr marL="457200" lvl="1" indent="0">
              <a:buNone/>
            </a:pPr>
            <a:r>
              <a:rPr lang="es-MX" sz="2000" b="1" dirty="0">
                <a:solidFill>
                  <a:srgbClr val="FF0000"/>
                </a:solidFill>
              </a:rPr>
              <a:t>   //</a:t>
            </a:r>
            <a:r>
              <a:rPr lang="es-MX" sz="2000" b="1" dirty="0" err="1">
                <a:solidFill>
                  <a:srgbClr val="FF0000"/>
                </a:solidFill>
              </a:rPr>
              <a:t>Runnable</a:t>
            </a:r>
            <a:r>
              <a:rPr lang="es-MX" sz="2000" b="1" dirty="0">
                <a:solidFill>
                  <a:srgbClr val="FF0000"/>
                </a:solidFill>
              </a:rPr>
              <a:t> task2 = () -&gt; </a:t>
            </a:r>
            <a:r>
              <a:rPr lang="es-MX" sz="2000" b="1" dirty="0" err="1">
                <a:solidFill>
                  <a:srgbClr val="FF0000"/>
                </a:solidFill>
              </a:rPr>
              <a:t>System.out.println</a:t>
            </a:r>
            <a:r>
              <a:rPr lang="es-MX" sz="2000" b="1" dirty="0">
                <a:solidFill>
                  <a:srgbClr val="FF0000"/>
                </a:solidFill>
              </a:rPr>
              <a:t>("Running task2...");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   //</a:t>
            </a:r>
            <a:r>
              <a:rPr lang="en-US" sz="2000" b="1" dirty="0" err="1">
                <a:solidFill>
                  <a:srgbClr val="FF0000"/>
                </a:solidFill>
              </a:rPr>
              <a:t>ses.schedule</a:t>
            </a:r>
            <a:r>
              <a:rPr lang="en-US" sz="2000" b="1" dirty="0">
                <a:solidFill>
                  <a:srgbClr val="FF0000"/>
                </a:solidFill>
              </a:rPr>
              <a:t>(task2, 5, </a:t>
            </a:r>
            <a:r>
              <a:rPr lang="en-US" sz="2000" b="1" dirty="0" err="1">
                <a:solidFill>
                  <a:srgbClr val="FF0000"/>
                </a:solidFill>
              </a:rPr>
              <a:t>TimeUnit.SECONDS</a:t>
            </a:r>
            <a:r>
              <a:rPr lang="en-US" sz="2000" b="1" dirty="0">
                <a:solidFill>
                  <a:srgbClr val="FF0000"/>
                </a:solidFill>
              </a:rPr>
              <a:t>);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  //</a:t>
            </a:r>
            <a:r>
              <a:rPr lang="en-US" sz="2000" b="1" dirty="0" err="1">
                <a:solidFill>
                  <a:srgbClr val="FF0000"/>
                </a:solidFill>
              </a:rPr>
              <a:t>ScheduledFuture</a:t>
            </a:r>
            <a:r>
              <a:rPr lang="en-US" sz="2000" b="1" dirty="0">
                <a:solidFill>
                  <a:srgbClr val="FF0000"/>
                </a:solidFill>
              </a:rPr>
              <a:t>&lt;?&gt; </a:t>
            </a:r>
            <a:r>
              <a:rPr lang="en-US" sz="2000" b="1" dirty="0" err="1">
                <a:solidFill>
                  <a:srgbClr val="FF0000"/>
                </a:solidFill>
              </a:rPr>
              <a:t>scheduledFuture</a:t>
            </a:r>
            <a:r>
              <a:rPr lang="en-US" sz="2000" b="1" dirty="0">
                <a:solidFill>
                  <a:srgbClr val="FF0000"/>
                </a:solidFill>
              </a:rPr>
              <a:t> = </a:t>
            </a:r>
            <a:r>
              <a:rPr lang="en-US" sz="2000" b="1" dirty="0" err="1">
                <a:solidFill>
                  <a:srgbClr val="FF0000"/>
                </a:solidFill>
              </a:rPr>
              <a:t>ses.scheduleAtFixedRate</a:t>
            </a:r>
            <a:r>
              <a:rPr lang="en-US" sz="2000" b="1" dirty="0">
                <a:solidFill>
                  <a:srgbClr val="FF0000"/>
                </a:solidFill>
              </a:rPr>
              <a:t>(task2, 5, 1, </a:t>
            </a:r>
            <a:r>
              <a:rPr lang="en-US" sz="2000" b="1" dirty="0" err="1">
                <a:solidFill>
                  <a:srgbClr val="FF0000"/>
                </a:solidFill>
              </a:rPr>
              <a:t>TimeUnit.SECONDS</a:t>
            </a:r>
            <a:r>
              <a:rPr lang="en-US" sz="2000" b="1" dirty="0">
                <a:solidFill>
                  <a:srgbClr val="FF0000"/>
                </a:solidFill>
              </a:rPr>
              <a:t>);</a:t>
            </a:r>
            <a:endParaRPr lang="es-MX" sz="2000" b="1" dirty="0">
              <a:solidFill>
                <a:srgbClr val="FF0000"/>
              </a:solidFill>
            </a:endParaRPr>
          </a:p>
          <a:p>
            <a:pPr lvl="1"/>
            <a:r>
              <a:rPr lang="es-MX" sz="2000" b="1" dirty="0" err="1"/>
              <a:t>static</a:t>
            </a:r>
            <a:r>
              <a:rPr lang="es-MX" sz="2000" b="1" dirty="0"/>
              <a:t> </a:t>
            </a:r>
            <a:r>
              <a:rPr lang="es-MX" sz="2000" b="1" dirty="0" err="1"/>
              <a:t>ExecutorService</a:t>
            </a:r>
            <a:r>
              <a:rPr lang="es-MX" sz="2000" b="1" dirty="0"/>
              <a:t>	</a:t>
            </a:r>
            <a:r>
              <a:rPr lang="es-MX" sz="2000" b="1" dirty="0" err="1"/>
              <a:t>newSingleThreadExecutor</a:t>
            </a:r>
            <a:r>
              <a:rPr lang="es-MX" sz="2000" b="1" dirty="0"/>
              <a:t>() //1 solo </a:t>
            </a:r>
            <a:r>
              <a:rPr lang="es-MX" sz="2000" b="1" dirty="0" err="1"/>
              <a:t>worker</a:t>
            </a:r>
            <a:endParaRPr lang="es-MX" sz="2000" b="1" dirty="0"/>
          </a:p>
          <a:p>
            <a:pPr lvl="1"/>
            <a:r>
              <a:rPr lang="es-MX" sz="2000" b="1" dirty="0" err="1"/>
              <a:t>static</a:t>
            </a:r>
            <a:r>
              <a:rPr lang="es-MX" sz="2000" b="1" dirty="0"/>
              <a:t> </a:t>
            </a:r>
            <a:r>
              <a:rPr lang="es-MX" sz="2000" b="1" dirty="0" err="1"/>
              <a:t>ExecutorService</a:t>
            </a:r>
            <a:r>
              <a:rPr lang="es-MX" sz="2000" b="1" dirty="0"/>
              <a:t>	</a:t>
            </a:r>
            <a:r>
              <a:rPr lang="es-MX" sz="2000" b="1" dirty="0" err="1"/>
              <a:t>newWorkStealingPool</a:t>
            </a:r>
            <a:r>
              <a:rPr lang="es-MX" sz="2000" b="1" dirty="0"/>
              <a:t>() //usa todos los procesadores disponibles</a:t>
            </a:r>
          </a:p>
          <a:p>
            <a:pPr lvl="1"/>
            <a:r>
              <a:rPr lang="es-MX" sz="2000" b="1" dirty="0" err="1"/>
              <a:t>static</a:t>
            </a:r>
            <a:r>
              <a:rPr lang="es-MX" sz="2000" b="1" dirty="0"/>
              <a:t> </a:t>
            </a:r>
            <a:r>
              <a:rPr lang="es-MX" sz="2000" b="1" dirty="0" err="1"/>
              <a:t>ExecutorService</a:t>
            </a:r>
            <a:r>
              <a:rPr lang="es-MX" sz="2000" b="1" dirty="0"/>
              <a:t>	</a:t>
            </a:r>
            <a:r>
              <a:rPr lang="es-MX" sz="2000" b="1" dirty="0" err="1"/>
              <a:t>newWorkStealingPool</a:t>
            </a:r>
            <a:r>
              <a:rPr lang="es-MX" sz="2000" b="1" dirty="0"/>
              <a:t>(</a:t>
            </a:r>
            <a:r>
              <a:rPr lang="es-MX" sz="2000" b="1" dirty="0" err="1"/>
              <a:t>int</a:t>
            </a:r>
            <a:r>
              <a:rPr lang="es-MX" sz="2000" b="1" dirty="0"/>
              <a:t> </a:t>
            </a:r>
            <a:r>
              <a:rPr lang="es-MX" sz="2000" b="1" dirty="0" err="1"/>
              <a:t>parallelism</a:t>
            </a:r>
            <a:r>
              <a:rPr lang="es-MX" sz="2000" b="1" dirty="0"/>
              <a:t>) //permite fijar el nivel de paralelismo en lugar de dejarlo a la </a:t>
            </a:r>
            <a:r>
              <a:rPr lang="es-MX" sz="2000" b="1" dirty="0" err="1"/>
              <a:t>jvm</a:t>
            </a:r>
            <a:endParaRPr lang="es-MX" sz="2000" b="1" dirty="0"/>
          </a:p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95242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ej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479257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1800" dirty="0" err="1"/>
              <a:t>class</a:t>
            </a:r>
            <a:r>
              <a:rPr lang="es-MX" sz="1800" dirty="0"/>
              <a:t> </a:t>
            </a:r>
            <a:r>
              <a:rPr lang="es-MX" sz="1800" dirty="0" err="1"/>
              <a:t>NetworkService</a:t>
            </a:r>
            <a:r>
              <a:rPr lang="es-MX" sz="1800" dirty="0"/>
              <a:t> </a:t>
            </a:r>
            <a:r>
              <a:rPr lang="es-MX" sz="1800" dirty="0" err="1"/>
              <a:t>implements</a:t>
            </a:r>
            <a:r>
              <a:rPr lang="es-MX" sz="1800" dirty="0"/>
              <a:t> </a:t>
            </a:r>
            <a:r>
              <a:rPr lang="es-MX" sz="1800" dirty="0" err="1"/>
              <a:t>Runnable</a:t>
            </a:r>
            <a:r>
              <a:rPr lang="es-MX" sz="1800" dirty="0"/>
              <a:t> {</a:t>
            </a:r>
          </a:p>
          <a:p>
            <a:pPr marL="0" indent="0">
              <a:buNone/>
            </a:pPr>
            <a:r>
              <a:rPr lang="es-MX" sz="1800" dirty="0"/>
              <a:t>   </a:t>
            </a:r>
            <a:r>
              <a:rPr lang="es-MX" sz="1800" dirty="0" err="1"/>
              <a:t>private</a:t>
            </a:r>
            <a:r>
              <a:rPr lang="es-MX" sz="1800" dirty="0"/>
              <a:t> final </a:t>
            </a:r>
            <a:r>
              <a:rPr lang="es-MX" sz="1800" dirty="0" err="1"/>
              <a:t>ServerSocket</a:t>
            </a:r>
            <a:r>
              <a:rPr lang="es-MX" sz="1800" dirty="0"/>
              <a:t> </a:t>
            </a:r>
            <a:r>
              <a:rPr lang="es-MX" sz="1800" dirty="0" err="1"/>
              <a:t>serverSocket</a:t>
            </a:r>
            <a:r>
              <a:rPr lang="es-MX" sz="1800" dirty="0"/>
              <a:t>;</a:t>
            </a:r>
          </a:p>
          <a:p>
            <a:pPr marL="0" indent="0">
              <a:buNone/>
            </a:pPr>
            <a:r>
              <a:rPr lang="es-MX" sz="1800" dirty="0"/>
              <a:t>   </a:t>
            </a:r>
            <a:r>
              <a:rPr lang="es-MX" sz="1800" dirty="0" err="1"/>
              <a:t>private</a:t>
            </a:r>
            <a:r>
              <a:rPr lang="es-MX" sz="1800" dirty="0"/>
              <a:t> final </a:t>
            </a:r>
            <a:r>
              <a:rPr lang="es-MX" sz="1800" dirty="0" err="1"/>
              <a:t>ExecutorService</a:t>
            </a:r>
            <a:r>
              <a:rPr lang="es-MX" sz="1800" dirty="0"/>
              <a:t> pool;</a:t>
            </a:r>
          </a:p>
          <a:p>
            <a:pPr marL="0" indent="0">
              <a:buNone/>
            </a:pPr>
            <a:endParaRPr lang="es-MX" sz="1800" dirty="0"/>
          </a:p>
          <a:p>
            <a:pPr marL="0" indent="0">
              <a:buNone/>
            </a:pPr>
            <a:r>
              <a:rPr lang="es-MX" sz="1800" dirty="0"/>
              <a:t>   </a:t>
            </a:r>
            <a:r>
              <a:rPr lang="es-MX" sz="1800" dirty="0" err="1"/>
              <a:t>public</a:t>
            </a:r>
            <a:r>
              <a:rPr lang="es-MX" sz="1800" dirty="0"/>
              <a:t> </a:t>
            </a:r>
            <a:r>
              <a:rPr lang="es-MX" sz="1800" dirty="0" err="1"/>
              <a:t>NetworkService</a:t>
            </a:r>
            <a:r>
              <a:rPr lang="es-MX" sz="1800" dirty="0"/>
              <a:t>(</a:t>
            </a:r>
            <a:r>
              <a:rPr lang="es-MX" sz="1800" dirty="0" err="1"/>
              <a:t>int</a:t>
            </a:r>
            <a:r>
              <a:rPr lang="es-MX" sz="1800" dirty="0"/>
              <a:t> </a:t>
            </a:r>
            <a:r>
              <a:rPr lang="es-MX" sz="1800" dirty="0" err="1"/>
              <a:t>port</a:t>
            </a:r>
            <a:r>
              <a:rPr lang="es-MX" sz="1800" dirty="0"/>
              <a:t>, </a:t>
            </a:r>
            <a:r>
              <a:rPr lang="es-MX" sz="1800" dirty="0" err="1"/>
              <a:t>int</a:t>
            </a:r>
            <a:r>
              <a:rPr lang="es-MX" sz="1800" dirty="0"/>
              <a:t> </a:t>
            </a:r>
            <a:r>
              <a:rPr lang="es-MX" sz="1800" dirty="0" err="1"/>
              <a:t>poolSize</a:t>
            </a:r>
            <a:r>
              <a:rPr lang="es-MX" sz="1800" dirty="0"/>
              <a:t>)</a:t>
            </a:r>
          </a:p>
          <a:p>
            <a:pPr marL="0" indent="0">
              <a:buNone/>
            </a:pPr>
            <a:r>
              <a:rPr lang="es-MX" sz="1800" dirty="0"/>
              <a:t>       </a:t>
            </a:r>
            <a:r>
              <a:rPr lang="es-MX" sz="1800" dirty="0" err="1"/>
              <a:t>throws</a:t>
            </a:r>
            <a:r>
              <a:rPr lang="es-MX" sz="1800" dirty="0"/>
              <a:t> </a:t>
            </a:r>
            <a:r>
              <a:rPr lang="es-MX" sz="1800" dirty="0" err="1"/>
              <a:t>IOException</a:t>
            </a:r>
            <a:r>
              <a:rPr lang="es-MX" sz="1800" dirty="0"/>
              <a:t> {</a:t>
            </a:r>
          </a:p>
          <a:p>
            <a:pPr marL="0" indent="0">
              <a:buNone/>
            </a:pPr>
            <a:r>
              <a:rPr lang="es-MX" sz="1800" dirty="0"/>
              <a:t>     </a:t>
            </a:r>
            <a:r>
              <a:rPr lang="es-MX" sz="1800" dirty="0" err="1"/>
              <a:t>serverSocket</a:t>
            </a:r>
            <a:r>
              <a:rPr lang="es-MX" sz="1800" dirty="0"/>
              <a:t> = new </a:t>
            </a:r>
            <a:r>
              <a:rPr lang="es-MX" sz="1800" dirty="0" err="1"/>
              <a:t>ServerSocket</a:t>
            </a:r>
            <a:r>
              <a:rPr lang="es-MX" sz="1800" dirty="0"/>
              <a:t>(</a:t>
            </a:r>
            <a:r>
              <a:rPr lang="es-MX" sz="1800" dirty="0" err="1"/>
              <a:t>port</a:t>
            </a:r>
            <a:r>
              <a:rPr lang="es-MX" sz="1800" dirty="0"/>
              <a:t>);</a:t>
            </a:r>
          </a:p>
          <a:p>
            <a:pPr marL="0" indent="0">
              <a:buNone/>
            </a:pPr>
            <a:r>
              <a:rPr lang="es-MX" sz="1800" dirty="0"/>
              <a:t>     pool = </a:t>
            </a:r>
            <a:r>
              <a:rPr lang="es-MX" sz="1800" b="1" dirty="0" err="1"/>
              <a:t>Executors.newFixedThreadPool</a:t>
            </a:r>
            <a:r>
              <a:rPr lang="es-MX" sz="1800" b="1" dirty="0"/>
              <a:t>(</a:t>
            </a:r>
            <a:r>
              <a:rPr lang="es-MX" sz="1800" b="1" dirty="0" err="1"/>
              <a:t>poolSize</a:t>
            </a:r>
            <a:r>
              <a:rPr lang="es-MX" sz="1800" b="1" dirty="0"/>
              <a:t>);</a:t>
            </a:r>
          </a:p>
          <a:p>
            <a:pPr marL="0" indent="0">
              <a:buNone/>
            </a:pPr>
            <a:r>
              <a:rPr lang="es-MX" sz="1800" dirty="0"/>
              <a:t>   }</a:t>
            </a:r>
          </a:p>
          <a:p>
            <a:pPr marL="0" indent="0">
              <a:buNone/>
            </a:pPr>
            <a:endParaRPr lang="es-MX" sz="1200" dirty="0"/>
          </a:p>
        </p:txBody>
      </p:sp>
      <p:sp>
        <p:nvSpPr>
          <p:cNvPr id="4" name="CuadroTexto 3"/>
          <p:cNvSpPr txBox="1"/>
          <p:nvPr/>
        </p:nvSpPr>
        <p:spPr>
          <a:xfrm>
            <a:off x="6530741" y="2040556"/>
            <a:ext cx="551356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void</a:t>
            </a:r>
            <a:r>
              <a:rPr lang="es-MX" dirty="0"/>
              <a:t> run() { // run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service</a:t>
            </a:r>
            <a:endParaRPr lang="es-MX" dirty="0"/>
          </a:p>
          <a:p>
            <a:r>
              <a:rPr lang="es-MX" dirty="0"/>
              <a:t>     try {</a:t>
            </a:r>
          </a:p>
          <a:p>
            <a:r>
              <a:rPr lang="es-MX" dirty="0"/>
              <a:t>       </a:t>
            </a:r>
            <a:r>
              <a:rPr lang="es-MX" dirty="0" err="1"/>
              <a:t>for</a:t>
            </a:r>
            <a:r>
              <a:rPr lang="es-MX" dirty="0"/>
              <a:t> (;;) {</a:t>
            </a:r>
          </a:p>
          <a:p>
            <a:r>
              <a:rPr lang="es-MX" dirty="0"/>
              <a:t>         </a:t>
            </a:r>
            <a:r>
              <a:rPr lang="es-MX" b="1" dirty="0" err="1"/>
              <a:t>pool.execute</a:t>
            </a:r>
            <a:r>
              <a:rPr lang="es-MX" b="1" dirty="0"/>
              <a:t>(new </a:t>
            </a:r>
            <a:r>
              <a:rPr lang="es-MX" b="1" dirty="0" err="1"/>
              <a:t>Handler</a:t>
            </a:r>
            <a:r>
              <a:rPr lang="es-MX" b="1" dirty="0"/>
              <a:t>(</a:t>
            </a:r>
            <a:r>
              <a:rPr lang="es-MX" b="1" dirty="0" err="1"/>
              <a:t>serverSocket.accept</a:t>
            </a:r>
            <a:r>
              <a:rPr lang="es-MX" b="1" dirty="0"/>
              <a:t>()));</a:t>
            </a:r>
          </a:p>
          <a:p>
            <a:r>
              <a:rPr lang="es-MX" dirty="0"/>
              <a:t>       }</a:t>
            </a:r>
          </a:p>
          <a:p>
            <a:r>
              <a:rPr lang="es-MX" dirty="0"/>
              <a:t>     } catch (</a:t>
            </a:r>
            <a:r>
              <a:rPr lang="es-MX" dirty="0" err="1"/>
              <a:t>IOException</a:t>
            </a:r>
            <a:r>
              <a:rPr lang="es-MX" dirty="0"/>
              <a:t> ex) {</a:t>
            </a:r>
          </a:p>
          <a:p>
            <a:r>
              <a:rPr lang="es-MX" dirty="0"/>
              <a:t>      </a:t>
            </a:r>
            <a:r>
              <a:rPr lang="es-MX" b="1" dirty="0"/>
              <a:t> </a:t>
            </a:r>
            <a:r>
              <a:rPr lang="es-MX" b="1" dirty="0" err="1"/>
              <a:t>pool.shutdown</a:t>
            </a:r>
            <a:r>
              <a:rPr lang="es-MX" b="1" dirty="0"/>
              <a:t>();</a:t>
            </a:r>
          </a:p>
          <a:p>
            <a:r>
              <a:rPr lang="es-MX" dirty="0"/>
              <a:t>     }</a:t>
            </a:r>
          </a:p>
          <a:p>
            <a:r>
              <a:rPr lang="es-MX" dirty="0"/>
              <a:t>   }</a:t>
            </a:r>
          </a:p>
          <a:p>
            <a:r>
              <a:rPr lang="es-MX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88863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ej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class</a:t>
            </a:r>
            <a:r>
              <a:rPr lang="es-MX" dirty="0"/>
              <a:t> </a:t>
            </a:r>
            <a:r>
              <a:rPr lang="es-MX" dirty="0" err="1"/>
              <a:t>Handler</a:t>
            </a:r>
            <a:r>
              <a:rPr lang="es-MX" dirty="0"/>
              <a:t> </a:t>
            </a:r>
            <a:r>
              <a:rPr lang="es-MX" dirty="0" err="1"/>
              <a:t>implements</a:t>
            </a:r>
            <a:r>
              <a:rPr lang="es-MX" dirty="0"/>
              <a:t> </a:t>
            </a:r>
            <a:r>
              <a:rPr lang="es-MX" dirty="0" err="1"/>
              <a:t>Runnable</a:t>
            </a:r>
            <a:r>
              <a:rPr lang="es-MX" dirty="0"/>
              <a:t> {</a:t>
            </a:r>
          </a:p>
          <a:p>
            <a:pPr marL="0" indent="0">
              <a:buNone/>
            </a:pPr>
            <a:r>
              <a:rPr lang="es-MX" dirty="0"/>
              <a:t>   </a:t>
            </a:r>
            <a:r>
              <a:rPr lang="es-MX" dirty="0" err="1"/>
              <a:t>private</a:t>
            </a:r>
            <a:r>
              <a:rPr lang="es-MX" dirty="0"/>
              <a:t> final Socket </a:t>
            </a:r>
            <a:r>
              <a:rPr lang="es-MX" dirty="0" err="1"/>
              <a:t>socket</a:t>
            </a:r>
            <a:r>
              <a:rPr lang="es-MX" dirty="0"/>
              <a:t>;</a:t>
            </a:r>
          </a:p>
          <a:p>
            <a:pPr marL="0" indent="0">
              <a:buNone/>
            </a:pPr>
            <a:r>
              <a:rPr lang="es-MX" dirty="0"/>
              <a:t>   </a:t>
            </a:r>
            <a:r>
              <a:rPr lang="es-MX" dirty="0" err="1"/>
              <a:t>Handler</a:t>
            </a:r>
            <a:r>
              <a:rPr lang="es-MX" dirty="0"/>
              <a:t>(Socket socket) { </a:t>
            </a:r>
            <a:r>
              <a:rPr lang="es-MX" dirty="0" err="1"/>
              <a:t>this.socket</a:t>
            </a:r>
            <a:r>
              <a:rPr lang="es-MX" dirty="0"/>
              <a:t> = socket; }</a:t>
            </a:r>
          </a:p>
          <a:p>
            <a:pPr marL="0" indent="0">
              <a:buNone/>
            </a:pPr>
            <a:r>
              <a:rPr lang="es-MX" dirty="0"/>
              <a:t>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void</a:t>
            </a:r>
            <a:r>
              <a:rPr lang="es-MX" dirty="0"/>
              <a:t> run() {</a:t>
            </a:r>
          </a:p>
          <a:p>
            <a:pPr marL="0" indent="0">
              <a:buNone/>
            </a:pPr>
            <a:r>
              <a:rPr lang="es-MX" dirty="0"/>
              <a:t>     // </a:t>
            </a:r>
            <a:r>
              <a:rPr lang="es-MX" dirty="0" err="1"/>
              <a:t>read</a:t>
            </a:r>
            <a:r>
              <a:rPr lang="es-MX" dirty="0"/>
              <a:t> and </a:t>
            </a:r>
            <a:r>
              <a:rPr lang="es-MX" dirty="0" err="1"/>
              <a:t>service</a:t>
            </a:r>
            <a:r>
              <a:rPr lang="es-MX" dirty="0"/>
              <a:t> </a:t>
            </a:r>
            <a:r>
              <a:rPr lang="es-MX" dirty="0" err="1"/>
              <a:t>request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socket</a:t>
            </a:r>
          </a:p>
          <a:p>
            <a:pPr marL="0" indent="0">
              <a:buNone/>
            </a:pPr>
            <a:r>
              <a:rPr lang="es-MX" dirty="0"/>
              <a:t>   }</a:t>
            </a:r>
          </a:p>
          <a:p>
            <a:pPr marL="0" indent="0">
              <a:buNone/>
            </a:pPr>
            <a:r>
              <a:rPr lang="es-MX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6753339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26928</TotalTime>
  <Words>657</Words>
  <Application>Microsoft Office PowerPoint</Application>
  <PresentationFormat>Panorámica</PresentationFormat>
  <Paragraphs>98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Source Code Pro</vt:lpstr>
      <vt:lpstr>Tema de Office</vt:lpstr>
      <vt:lpstr>Pool de hilos</vt:lpstr>
      <vt:lpstr>Estructura del pool</vt:lpstr>
      <vt:lpstr>Estructura interna del pool</vt:lpstr>
      <vt:lpstr>Interfaz ExecutorService (java.util.concurrent.ExecutorService)</vt:lpstr>
      <vt:lpstr>Interface Future &lt;V&gt; (java.util.concurrent.Future)</vt:lpstr>
      <vt:lpstr>Ej</vt:lpstr>
      <vt:lpstr>Presentación de PowerPoint</vt:lpstr>
      <vt:lpstr>Clase Executors (java.util.concurrent.Executors)</vt:lpstr>
      <vt:lpstr>ej</vt:lpstr>
      <vt:lpstr>ej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Pool de hilos</dc:title>
  <dc:creator>escom</dc:creator>
  <cp:lastModifiedBy>Axel Moreno</cp:lastModifiedBy>
  <cp:revision>16</cp:revision>
  <dcterms:created xsi:type="dcterms:W3CDTF">2018-10-18T01:44:43Z</dcterms:created>
  <dcterms:modified xsi:type="dcterms:W3CDTF">2024-05-02T13:04:53Z</dcterms:modified>
</cp:coreProperties>
</file>